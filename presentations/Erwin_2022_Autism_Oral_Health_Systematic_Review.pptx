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id"/>
    </a:defPPr>
    <a:lvl1pPr marL="0" algn="l" defTabSz="457200" rtl="0" eaLnBrk="1" latinLnBrk="0" hangingPunct="1">
      <a:defRPr sz="1800" kern="1200" lang="id">
        <a:solidFill>
          <a:schemeClr val="tx1"/>
        </a:solidFill>
        <a:latin typeface="+mn-lt"/>
        <a:ea typeface="+mn-ea"/>
        <a:cs typeface="+mn-cs"/>
      </a:defRPr>
    </a:lvl1pPr>
    <a:lvl2pPr marL="457200" algn="l" defTabSz="457200" rtl="0" eaLnBrk="1" latinLnBrk="0" hangingPunct="1">
      <a:defRPr sz="1800" kern="1200" lang="id">
        <a:solidFill>
          <a:schemeClr val="tx1"/>
        </a:solidFill>
        <a:latin typeface="+mn-lt"/>
        <a:ea typeface="+mn-ea"/>
        <a:cs typeface="+mn-cs"/>
      </a:defRPr>
    </a:lvl2pPr>
    <a:lvl3pPr marL="914400" algn="l" defTabSz="457200" rtl="0" eaLnBrk="1" latinLnBrk="0" hangingPunct="1">
      <a:defRPr sz="1800" kern="1200" lang="id">
        <a:solidFill>
          <a:schemeClr val="tx1"/>
        </a:solidFill>
        <a:latin typeface="+mn-lt"/>
        <a:ea typeface="+mn-ea"/>
        <a:cs typeface="+mn-cs"/>
      </a:defRPr>
    </a:lvl3pPr>
    <a:lvl4pPr marL="1371600" algn="l" defTabSz="457200" rtl="0" eaLnBrk="1" latinLnBrk="0" hangingPunct="1">
      <a:defRPr sz="1800" kern="1200" lang="id">
        <a:solidFill>
          <a:schemeClr val="tx1"/>
        </a:solidFill>
        <a:latin typeface="+mn-lt"/>
        <a:ea typeface="+mn-ea"/>
        <a:cs typeface="+mn-cs"/>
      </a:defRPr>
    </a:lvl4pPr>
    <a:lvl5pPr marL="1828800" algn="l" defTabSz="457200" rtl="0" eaLnBrk="1" latinLnBrk="0" hangingPunct="1">
      <a:defRPr sz="1800" kern="1200" lang="id">
        <a:solidFill>
          <a:schemeClr val="tx1"/>
        </a:solidFill>
        <a:latin typeface="+mn-lt"/>
        <a:ea typeface="+mn-ea"/>
        <a:cs typeface="+mn-cs"/>
      </a:defRPr>
    </a:lvl5pPr>
    <a:lvl6pPr marL="2286000" algn="l" defTabSz="457200" rtl="0" eaLnBrk="1" latinLnBrk="0" hangingPunct="1">
      <a:defRPr sz="1800" kern="1200" lang="id">
        <a:solidFill>
          <a:schemeClr val="tx1"/>
        </a:solidFill>
        <a:latin typeface="+mn-lt"/>
        <a:ea typeface="+mn-ea"/>
        <a:cs typeface="+mn-cs"/>
      </a:defRPr>
    </a:lvl6pPr>
    <a:lvl7pPr marL="2743200" algn="l" defTabSz="457200" rtl="0" eaLnBrk="1" latinLnBrk="0" hangingPunct="1">
      <a:defRPr sz="1800" kern="1200" lang="id">
        <a:solidFill>
          <a:schemeClr val="tx1"/>
        </a:solidFill>
        <a:latin typeface="+mn-lt"/>
        <a:ea typeface="+mn-ea"/>
        <a:cs typeface="+mn-cs"/>
      </a:defRPr>
    </a:lvl7pPr>
    <a:lvl8pPr marL="3200400" algn="l" defTabSz="457200" rtl="0" eaLnBrk="1" latinLnBrk="0" hangingPunct="1">
      <a:defRPr sz="1800" kern="1200" lang="id">
        <a:solidFill>
          <a:schemeClr val="tx1"/>
        </a:solidFill>
        <a:latin typeface="+mn-lt"/>
        <a:ea typeface="+mn-ea"/>
        <a:cs typeface="+mn-cs"/>
      </a:defRPr>
    </a:lvl8pPr>
    <a:lvl9pPr marL="3657600" algn="l" defTabSz="457200" rtl="0" eaLnBrk="1" latinLnBrk="0" hangingPunct="1">
      <a:defRPr sz="1800" kern="1200" lang="id">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id"/>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id"/>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id"/>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id"/>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id"/>
          </a:p>
        </p:txBody>
      </p:sp>
    </p:spTree>
  </p:cSld>
  <p:clrMap bg1="lt1" tx1="dk1" bg2="lt2" tx2="dk2" accent1="accent1" accent2="accent2" accent3="accent3" accent4="accent4" accent5="accent5" accent6="accent6" hlink="hlink" folHlink="folHlink"/>
  <p:hf/>
  <p:notesStyle>
    <a:lvl1pPr marL="0" algn="l">
      <a:defRPr sz="1200" lang="id"/>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Selamat pagi, dan terima kasih atas kesempatan mempresentasikan journal reading ini. Artikel yang saya baca adalah tinjauan sistematis karya Jo Erwin dan kolega, diterbitkan di Health Expectations tahun 2022, volume 25, halaman 1269 sampai 1318, dengan DOI 10.1111/hex.13544. Protokolnya teregistrasi di PROSPERO dengan nomor CRD42021248764.</a:t>
            </a:r>
          </a:p>
          <a:p>
            <a:pPr/>
            <a:endParaRPr lang="id" dirty="0"/>
          </a:p>
          <a:p>
            <a:pPr/>
            <a:r>
              <a:rPr lang="id" dirty="0"/>
              <a:t>Judulnya adalah faktor yang memengaruhi perilaku kesehatan mulut, akses, dan penyediaan layanan kesehatan gigi bagi anak dan remaja autistik. Ini tinjauan sistematis naratif dengan pendekatan mixed-methods, mencakup lima puluh sembilan studi dari tiga belas negara, dan menghasilkan sembilan tema sintesis.</a:t>
            </a:r>
          </a:p>
          <a:p>
            <a:pPr/>
            <a:endParaRPr lang="id" dirty="0"/>
          </a:p>
          <a:p>
            <a:pPr/>
            <a:r>
              <a:rPr lang="id" dirty="0"/>
              <a:t>Saya ingin menyampaikan satu catatan tentang bahasa lebih dulu, karena ini bukan detail kecil. Penulis menggunakan identity-first language, yaitu istilah anak autistik, bukan anak penyandang autisme atau anak dengan autisme. Pilihan ini diambil bersama kelompok patient and public involvement, atau PPI group, yang dalam tinjauan ini menyertakan suara orang autistik. Alasannya, bahasa yang dipakai penelitian ikut membentuk cara kita memandang orang yang diteliti. Saya akan mengikuti pilihan itu sepanjang presentasi, dengan tetap memakai istilah klinis seperti yang ada di artikel.</a:t>
            </a:r>
          </a:p>
          <a:p>
            <a:pPr/>
            <a:endParaRPr lang="id" dirty="0"/>
          </a:p>
          <a:p>
            <a:pPr/>
            <a:r>
              <a:rPr lang="id" dirty="0"/>
              <a:t>Penelitian ini didanai Peninsula Dental Social Enterprise, dan seperti akan kita lihat, keterlibatan PPI group itu bukan formalitas belaka. Ia memengaruhi interpretasi temuan dan cara penulis menulis manuskripnya.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Mengapa tinjauan ini perlu ada. Kalimat pembuka penulis cukup tegas: kesehatan mulut anak menentukan kualitas hidup, karena karies dan penyakit periodontal menimbulkan nyeri, ketidaknyamanan, dan rasa malu sosial. Sebagian besar masalah itu sebenarnya dapat dicegah. Namun justru kelompok yang paling rentan yang paling sedikit mendapat pencegahan.</a:t>
            </a:r>
          </a:p>
          <a:p>
            <a:pPr/>
            <a:endParaRPr lang="id" dirty="0"/>
          </a:p>
          <a:p>
            <a:pPr/>
            <a:r>
              <a:rPr lang="id" dirty="0"/>
              <a:t>Anak autistik berada di persimpangan beberapa risiko sekaligus. Prevalensi karies dan penyakit periodontal pada kelompok ini tinggi, dan studi-studi secara konsisten menunjukkan tingginya kebutuhan perawatan yang tidak terpenuhi. Mereka juga lebih sering ditangani dengan anestesi umum dibanding anak neurotipikal.</a:t>
            </a:r>
          </a:p>
          <a:p>
            <a:pPr/>
            <a:endParaRPr lang="id" dirty="0"/>
          </a:p>
          <a:p>
            <a:pPr/>
            <a:r>
              <a:rPr lang="id" dirty="0"/>
              <a:t>Risiko ini punya jalur yang bisa dijelaskan. Diet sering restriktif karena sensitivitas rasa, tekstur, dan bau; sebagian anak mengalami avoidant atau restrictive food intake disorder atau pica; kebutuhan akan kesamaan membuat variasi makanan sulit. Medikasi trisiklik, yang efek samping umumnya mulut kering, menambah risiko. Kebersihan mulut sering kurang karena sensitivitas sensorik dan kesulitan motorik halus membatasi kemampuan menyikat gigi, sehingga anak bergantung pada pengasuh.</a:t>
            </a:r>
          </a:p>
          <a:p>
            <a:pPr/>
            <a:endParaRPr lang="id" dirty="0"/>
          </a:p>
          <a:p>
            <a:pPr/>
            <a:r>
              <a:rPr lang="id" dirty="0"/>
              <a:t>Di sisi layanan, kunjungan ke dokter gigi bisa menjadi pengalaman yang penuh stres bagi anak dan keluarganya. Sensitivitas sensorik, kesulitan interaksi sosial dan komunikasi, serta resistensi terhadap perubahan membuat kunjungan tidak menyenangkan. Perilaku anak lalu menjadi tantangan bagi tim gigi, dan kurangnya pengetahuan serta pelatihan tentang autisme di kalangan dental health professionals, atau DHP, berkontribusi pada keengganan sebagian klinisi merawat mereka.</a:t>
            </a:r>
          </a:p>
          <a:p>
            <a:pPr/>
            <a:endParaRPr lang="id" dirty="0"/>
          </a:p>
          <a:p>
            <a:pPr/>
            <a:r>
              <a:rPr lang="id" dirty="0"/>
              <a:t>Kerangka di sebelah kanan membantu kita memisahkan tiga hal yang sering tercampur dalam diskusi sehari-hari: perilaku oral health yang dapat diubah, akses ke layanan, dan penyediaan layanan oleh tim gigi. Tinjauan ini memetakan ketiganya sekaligus.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Metodenya. Ini mixed-methods narrative systematic review dengan protokol a priori yang teregistrasi di PROSPERO. Pelaporan mengikuti PRISMA 2020 dan ENTREQ, dan pencarian diulang dua kali, Februari dan November 2021, supaya studi baru tidak terlewat.</a:t>
            </a:r>
          </a:p>
          <a:p>
            <a:pPr/>
            <a:endParaRPr lang="id" dirty="0"/>
          </a:p>
          <a:p>
            <a:pPr/>
            <a:r>
              <a:rPr lang="id" dirty="0"/>
              <a:t>Kriteria inklusi saya ringkas di tabel. Populasi mencakup anak dan remaja autistik sampai sembilan belas tahun, orang tua atau pengasuh, dan tim gigi. Studi yang mencakup dewasa tetap bisa masuk asalkan data anak dilaporkan terpisah. Setting dibatasi pada negara dengan Human Development Index atau HDI minimal nol koma delapan, yaitu kategori very high. Penulis menjelaskan alasannya: untuk memastikan hasil bisa dibandingkan dan dapat ditransfer ke negara dengan sistem layanan kesehatan yang relatif maju. Tidak ada batas bahasa, dan studi berbahasa Prancis serta Jepang diterjemahkan oleh penulis. Tidak ada batas tanggal publikasi.</a:t>
            </a:r>
          </a:p>
          <a:p>
            <a:pPr/>
            <a:endParaRPr lang="id" dirty="0"/>
          </a:p>
          <a:p>
            <a:pPr/>
            <a:r>
              <a:rPr lang="id" dirty="0"/>
              <a:t>Delapan database dipakai: Scopus menyumbang sembilan ratus lima puluh empat catatan, Embase sembilan ratus sembilan, MEDLINE lima ratus enam puluh dua, Web of Science empat ratus delapan puluh tujuh, CINAHL empat ratus delapan, Dentistry and Oral Sciences Source tiga ratus tiga puluh delapan, PsycINFO enam puluh tujuh, dan SocINDEX empat, dengan total tiga ribu tujuh ratus dua puluh sembilan catatan.</a:t>
            </a:r>
          </a:p>
          <a:p>
            <a:pPr/>
            <a:endParaRPr lang="id" dirty="0"/>
          </a:p>
          <a:p>
            <a:pPr/>
            <a:r>
              <a:rPr lang="id" dirty="0"/>
              <a:t>Grey literature dicari terpisah, terbatas pada sumber Inggris, karena tinjauan ini merupakan bagian dari studi yang lebih luas untuk menginformasikan kebijakan dan praktik di Inggris. Hasilnya tujuh catatan, enam dinilai, satu duplikat dikeluarkan.</a:t>
            </a:r>
          </a:p>
          <a:p>
            <a:pPr/>
            <a:endParaRPr lang="id" dirty="0"/>
          </a:p>
          <a:p>
            <a:pPr/>
            <a:r>
              <a:rPr lang="id" dirty="0"/>
              <a:t>Seleksi dilakukan di Rayyan oleh dua penilai independen, J.E. dan M.P., dengan R.W. sebagai penengah bila terjadi perbedaan. Poin metodologis yang perlu dicatat: pembatasan HDI ini adalah keputusan strategis yang membatasi generalisabilitas, dan penulis sendiri mengakuinya di bagian keterbatasan.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Penilaian kualitas menggunakan Mixed Methods Appraisal Tool, MMAT, versi 2018. Alat ini menilai lima kategori studi, yaitu kualitatif, randomized controlled trial, non-randomized, deskriptif kuantitatif, dan mixed-methods, dengan pertanyaan penilaian yang berbeda untuk setiap kategori. Skornya dilaporkan sebagai persentase domain, dari seratus persen bila lima dari lima kriteria terpenuhi, turun sampai nol persen.</a:t>
            </a:r>
          </a:p>
          <a:p>
            <a:pPr/>
            <a:endParaRPr lang="id" dirty="0"/>
          </a:p>
          <a:p>
            <a:pPr/>
            <a:r>
              <a:rPr lang="id" dirty="0"/>
              <a:t>Ada satu keputusan metodologis yang penting di sini. Meskipun kualitas dinilai, penilaian itu tidak dipakai sebagai gerbang inklusi. Semua lima puluh sembilan studi yang memenuhi kriteria tetap masuk ke analisis, berapa pun skornya. Penulis beralasan bahwa dalam sintesis penelitian kualitatif belum ada konsensus tentang bagaimana hasil penilaian kualitas seharusnya digunakan. Konsekuensinya, pembaca perlu menyadari bahwa temuan bertumpu pada campuran bukti dengan mutu yang sangat beragam.</a:t>
            </a:r>
          </a:p>
          <a:p>
            <a:pPr/>
            <a:endParaRPr lang="id" dirty="0"/>
          </a:p>
          <a:p>
            <a:pPr/>
            <a:r>
              <a:rPr lang="id" dirty="0"/>
              <a:t>Proses sintesisnya bertahap. Pertama, ekstraksi data terarah mengikuti item pada Tabel 2, mencakup desain, partisipan, setting, metode pengumpulan data, dan luaran. Kedua, kualitisasi: data kuantitatif diubah menjadi deskripsi tekstual supaya bisa dianalisis bersama data kualitatif. Ketiga, thematic synthesis mengikuti Thomas dan Harden, dengan metode constant comparative untuk membandingkan konsep antar-studi. Keempat, narrative synthesis mengikuti panduan ESRC, dengan pendekatan convergent integrated, sehingga hasil kuantitatif dan kualitatif disajikan bersama, bukan sebagai dua bagian terpisah.</a:t>
            </a:r>
          </a:p>
          <a:p>
            <a:pPr/>
            <a:endParaRPr lang="id" dirty="0"/>
          </a:p>
          <a:p>
            <a:pPr/>
            <a:r>
              <a:rPr lang="id" dirty="0"/>
              <a:t>Karena desain dan ukuran efek sangat heterogen, tidak ada meta-analisis dalam tinjauan ini, dan itu memang pilihan yang tepat, bukan kekurangan.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Ini diagram alir PRISMA. Saya bacakan angkanya karena inilah yang sering ditanyakan saat journal reading.</a:t>
            </a:r>
          </a:p>
          <a:p>
            <a:pPr/>
            <a:endParaRPr lang="id" dirty="0"/>
          </a:p>
          <a:p>
            <a:pPr/>
            <a:r>
              <a:rPr lang="id" dirty="0"/>
              <a:t>Tiga ribu tujuh ratus dua puluh sembilan catatan teridentifikasi dari delapan database. Seribu sembilan ratus delapan puluh dua duplikat dihapus, menyisakan seribu enam ratus dua puluh lima untuk skrining judul dan abstrak. Seribu empat ratus sembilan puluh tujuh dieksklusi pada tahap ini, menyisakan seratus dua puluh delapan teks lengkap untuk dinilai.</a:t>
            </a:r>
          </a:p>
          <a:p>
            <a:pPr/>
            <a:endParaRPr lang="id" dirty="0"/>
          </a:p>
          <a:p>
            <a:pPr/>
            <a:r>
              <a:rPr lang="id" dirty="0"/>
              <a:t>Dari seratus dua puluh delapan itu, tujuh puluh empat dieksklusi. Rinciannya: dua puluh empat tidak menyebut faktor yang memengaruhi kesehatan mulut atau akses; lima belas tidak memisahkan data partisipan autistik; sepuluh bukan metodologi kuantitatif, kualitatif, atau mixed-methods; delapan berasal dari negara dengan HDI di bawah ambang; enam tidak menyajikan statistik; empat duplikat; empat di luar rentang usia; dan tiga berupa conference paper atau makalah konferensi.</a:t>
            </a:r>
          </a:p>
          <a:p>
            <a:pPr/>
            <a:endParaRPr lang="id" dirty="0"/>
          </a:p>
          <a:p>
            <a:pPr/>
            <a:r>
              <a:rPr lang="id" dirty="0"/>
              <a:t>Alur kedua untuk grey literature: tujuh catatan, enam dinilai dalam teks lengkap, satu duplikat dikeluarkan.</a:t>
            </a:r>
          </a:p>
          <a:p>
            <a:pPr/>
            <a:endParaRPr lang="id" dirty="0"/>
          </a:p>
          <a:p>
            <a:pPr/>
            <a:r>
              <a:rPr lang="id" dirty="0"/>
              <a:t>Totalnya lima puluh sembilan studi, terdiri dari lima puluh enam artikel jurnal peer-reviewed dan tiga tesis pascasarjana. Empat puluh dua kuantitatif, sebelas kualitatif, enam mixed-methods. Delapan belas intervensi dan empat puluh satu deskriptif.</a:t>
            </a:r>
          </a:p>
          <a:p>
            <a:pPr/>
            <a:endParaRPr lang="id" dirty="0"/>
          </a:p>
          <a:p>
            <a:pPr/>
            <a:r>
              <a:rPr lang="id" dirty="0"/>
              <a:t>Saya ingin menarik perhatian pada satu angka di panel kanan. Dari lima puluh sembilan studi, hanya satu yang mewawancarai anak autistik secara langsung tentang tantangan kesehatan mulut mereka. Sisanya berbicara tentang anak melalui orang tua, pengasuh, atau dokter gigi. Untuk topik yang secara eksplisit tentang anak, ini adalah celah yang cukup serius, dan penulis mengangkatnya sebagai temuan, bukan sekadar catatan metodologis.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Profil kelima puluh sembilan studi. Mayoritas kuantitatif, empat puluh dua studi; sebelas kualitatif; enam mixed-methods. Bila dilihat dari tujuannya, empat puluh satu deskriptif dan delapan belas intervensi. Dari delapan belas intervensi itu, dua puluh tiga studi non-randomized dan hanya tiga yang berupa pilot randomized controlled trial. Perhatikan bahwa angka dua puluh tiga lebih besar dari delapan belas karena beberapa studi non-randomized termasuk deskriptif; intinya, bukti intervensi yang benar-benar kuat sangat sedikit.</a:t>
            </a:r>
          </a:p>
          <a:p>
            <a:pPr/>
            <a:endParaRPr lang="id" dirty="0"/>
          </a:p>
          <a:p>
            <a:pPr/>
            <a:r>
              <a:rPr lang="id" dirty="0"/>
              <a:t>Enam puluh tiga persen studi memakai survei atau kuesioner. Metode lain mencakup wawancara, focus group, telaah rekam medis, pemeriksaan klinis, dan uji fisiologis. Rekrutmen dilakukan dari sekolah, kelompok dukungan autisme, rumah sakit, dan layanan gigi swasta.</a:t>
            </a:r>
          </a:p>
          <a:p>
            <a:pPr/>
            <a:endParaRPr lang="id" dirty="0"/>
          </a:p>
          <a:p>
            <a:pPr/>
            <a:r>
              <a:rPr lang="id" dirty="0"/>
              <a:t>Komposisi partisipan penting untuk menafsirkan temuan. Enam puluh lima persen studi melibatkan orang tua atau pengasuh, dua puluh tiga persen melibatkan anak dan remaja sebagai satu-satunya partisipan, dan lima puluh persen sisanya, yaitu lima belas persen, melibatkan DHP. Artinya, perspektif yang paling banyak terdengar adalah perspektif orang tua.</a:t>
            </a:r>
          </a:p>
          <a:p>
            <a:pPr/>
            <a:endParaRPr lang="id" dirty="0"/>
          </a:p>
          <a:p>
            <a:pPr/>
            <a:r>
              <a:rPr lang="id" dirty="0"/>
              <a:t>Asal geografis: empat puluh empat persen dari Amerika Serikat, lalu Inggris, Arab Saudi, Kanada, Hong Kong, dan negara HDI sangat tinggi lainnya. Tidak ada satu pun studi dari Indonesia atau dari negara berpendapatan menengah ke bawah, dan itu konsekuensi langsung dari kriteria HDI tadi.</a:t>
            </a:r>
          </a:p>
          <a:p>
            <a:pPr/>
            <a:endParaRPr lang="id" dirty="0"/>
          </a:p>
          <a:p>
            <a:pPr/>
            <a:r>
              <a:rPr lang="id" dirty="0"/>
              <a:t>Satu angka yang saya minta untuk diingat: satu dari lima puluh sembilan. Hanya Parry dan Shepherd pada 2018 yang benar-benar mewawancarai anak autistik tentang pengalaman kesehatan mulut mereka. Sisanya inferensi orang dewasa tentang anak. Itu memengaruhi seberapa jauh kita boleh mengklaim temuan ini mewakili pengalaman anak.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Ini inti hasil tinjauan: sembilan tema, disusun menurut tiga perspektif aktor, yaitu anak dan remaja autistik, orang tua atau pengasuh, dan tim kesehatan gigi.</a:t>
            </a:r>
          </a:p>
          <a:p>
            <a:pPr/>
            <a:endParaRPr lang="id" dirty="0"/>
          </a:p>
          <a:p>
            <a:pPr/>
            <a:r>
              <a:rPr lang="id" dirty="0"/>
              <a:t>Sembilan tema itu adalah keterjangkauan dan aksesibilitas; faktor terkait autisme serta perbedaan kognitif atau motorik; lingkungan dental; mengelola perilaku anak; merespons dan beradaptasi; sikap DHP; pengetahuan tentang cara merawat dan mendukung kesehatan mulut; pemberdayaan orang tua dan kolaborasi dengan DHP; serta komunikasi dan membangun rapport.</a:t>
            </a:r>
          </a:p>
          <a:p>
            <a:pPr/>
            <a:endParaRPr lang="id" dirty="0"/>
          </a:p>
          <a:p>
            <a:pPr/>
            <a:r>
              <a:rPr lang="id" dirty="0"/>
              <a:t>Cara membaca matriks ini: kolom menunjukkan dari sudut pandang siapa sebuah faktor dilaporkan, bukan siapa yang bertanggung jawab atas masalahnya. Tanda hubung berarti tema tersebut tidak dilaporkan dari perspektif itu dalam literatur yang masuk.</a:t>
            </a:r>
          </a:p>
          <a:p>
            <a:pPr/>
            <a:endParaRPr lang="id" dirty="0"/>
          </a:p>
          <a:p>
            <a:pPr/>
            <a:r>
              <a:rPr lang="id" dirty="0"/>
              <a:t>Ada pola yang langsung terlihat. Kolom orang tua paling padat. Itu konsisten dengan komposisi partisipan tadi, enam puluh lima persen studi melibatkan orang tua. Kolom anak paling kosong, hanya tiga tema yang punya isi: faktor sensorik dan kognitif, lingkungan dental, dan komunikasi. Kekosongan ini bukan berarti anak tidak mengalami persoalan pada tema lain, tetapi karena anak hampir tidak pernah ditanya.</a:t>
            </a:r>
          </a:p>
          <a:p>
            <a:pPr/>
            <a:endParaRPr lang="id" dirty="0"/>
          </a:p>
          <a:p>
            <a:pPr/>
            <a:r>
              <a:rPr lang="id" dirty="0"/>
              <a:t>Contoh pembacaan: pada tema keterjangkauan, kolom anak kosong, kolom orang tua berisi biaya, waktu, dan perjalanan, sedangkan kolom DHP berisi reimbursement dan kontrak layanan. Tema yang sama, tiga wajah yang berbeda, bergantung pada siapa yang menanggung bebannya.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Tema satu sampai tiga, tiga tema yang paling sering dikutip literatur.</a:t>
            </a:r>
          </a:p>
          <a:p>
            <a:pPr/>
            <a:endParaRPr lang="id" dirty="0"/>
          </a:p>
          <a:p>
            <a:pPr/>
            <a:r>
              <a:rPr lang="id" dirty="0"/>
              <a:t>Tema satu, keterjangkauan dan aksesibilitas. Sepuluh studi menyebut biaya perawatan dan ketidaklayakan asuransi sebagai penghalang. Sebanyak enam dari Amerika Serikat, dua dari Arab Saudi, satu Kanada, satu Hong Kong. Jarak dan waktu tempuh muncul di tiga studi dan menimbulkan biaya langsung maupun tidak langsung. Dari sisi penyedia, survei dokter gigi di Amerika Serikat menemukan tujuh puluh dua koma tiga persen setuju bahwa kompensasi finansial untuk merawat pasien autistik tidak memadai dan tidak mencerminkan biaya tambahan akibat kunjungan yang lebih panjang untuk familiarisasi. Di Inggris, DHP merasa kompleksitas dan waktu yang dibutuhkan tidak diakui oleh sistem pembiayaan negara, dan sebagian layanan spesialis ditutup karena kekurangan dana.</a:t>
            </a:r>
          </a:p>
          <a:p>
            <a:pPr/>
            <a:endParaRPr lang="id" dirty="0"/>
          </a:p>
          <a:p>
            <a:pPr/>
            <a:r>
              <a:rPr lang="id" dirty="0"/>
              <a:t>Tema dua, faktor terkait autisme dan perbedaan kognitif atau motorik. Sensitivitas sensorik disebut di sembilan studi sebagai penghalang perilaku kesehatan mulut di rumah. Angka yang paling sering dikutip: lima puluh dua persen orang tua anak autistik melaporkan kesulitan pada tiga variabel sensorik atau lebih, dibanding enam persen orang tua anak tipikal, dengan p di bawah nol koma nol nol satu. Perubahan rutinitas juga sulit. Kesulitan kognitif dan motorik membuat anak bergantung pada pengasuh. Dan ada dimensi yang sering terlewat: prioritas. Orang tua harus mengurus banyak kebutuhan lain, dan menyikat gigi turun ke dasar daftar.</a:t>
            </a:r>
          </a:p>
          <a:p>
            <a:pPr/>
            <a:endParaRPr lang="id" dirty="0"/>
          </a:p>
          <a:p>
            <a:pPr/>
            <a:r>
              <a:rPr lang="id" dirty="0"/>
              <a:t>Tema tiga, lingkungan dental. Lampu, suara, rasa, bau, gerakan kursi, dan jarak klinisi saat pemeriksaan semuanya berdampak. Sepuluh studi menyebut ruang tunggu dan ruang praktik sebagai penghalang akses. Dalam satu studi Inggris, tujuh puluh delapan koma lima persen orang tua melaporkan bahwa menunggu terlalu lama di ruang tunggu memengaruhi perilaku anak saat bertemu dokter gigi.</a:t>
            </a:r>
          </a:p>
          <a:p>
            <a:pPr/>
            <a:endParaRPr lang="id" dirty="0"/>
          </a:p>
          <a:p>
            <a:pPr/>
            <a:r>
              <a:rPr lang="id" dirty="0"/>
              <a:t>Kutipan di bawah merangkum tema dua dan tiga sekaligus: sikat gigi ada di dasar daftar prioritas karena begitu banyak stresor, dan semua sudah kelelahan di penghujung hari. Ini pengingat bahwa kepatuhan bukan soal motivasi orang tua.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Tema empat, mengelola perilaku anak. Kesulitan menangani perilaku, termasuk ketidakkooperatifan dan ketidakpatuhan terhadap prosedur, adalah salah satu penghalang yang paling sering dilaporkan, baik oleh orang tua maupun dokter gigi.</a:t>
            </a:r>
          </a:p>
          <a:p>
            <a:pPr/>
            <a:endParaRPr lang="id" dirty="0"/>
          </a:p>
          <a:p>
            <a:pPr/>
            <a:r>
              <a:rPr lang="id" dirty="0"/>
              <a:t>Angka kuncinya dari studi nasional Amerika Serikat oleh McKinney dan kolega pada 2014. Anak autistik dengan kesulitan perilaku lebih besar memiliki odds rasio tiga koma tiga lima, dengan interval kepercayaan sembilan puluh lima persen satu koma enam sembilan sampai enam koma enam tujuh, untuk memiliki kebutuhan gigi yang tidak terpenuhi, dibanding anak autistik yang perilakunya mirip teman seusia. Perhatikan pembandingnya: bukan anak neurotipikal, tetapi anak autistik lain. Jadi yang diperhitungkan adalah derajat kesulitan perilaku, bukan diagnosisnya. Perilaku tidak kooperatif juga membatasi kemampuan klinisi menyelesaikan prosedur, dengan implikasi jelas pada luaran kesehatan mulut.</a:t>
            </a:r>
          </a:p>
          <a:p>
            <a:pPr/>
            <a:endParaRPr lang="id" dirty="0"/>
          </a:p>
          <a:p>
            <a:pPr/>
            <a:r>
              <a:rPr lang="id" dirty="0"/>
              <a:t>Tema lima, merespons dan beradaptasi. Ini tema dengan jumlah intervensi terbanyak, dan saya tampilkan beserta batas buktinya. Pesan teks real-time, n sama dengan tujuh belas, dinilai orang tua menurunkan kecemasan, tetapi sampelnya kecil. Distraksi audio-visual, n dua puluh delapan, menurunkan denyut jantung rata-rata dengan p di bawah nol koma nol dua. Electronic screen media diuji dalam pilot RCT dengan penurunan skor kecemasan dan perilaku, p sama dengan nol koma nol tiga, tetapi studi itu tidak berdaya untuk mendeteksi perbedaan antar-kelompok. Sensory adapted dental environment, n empat puluh empat, meningkatkan proporsi anak yang dinilai relaks dan kooperatif, p sama dengan nol koma nol delapan, jadi tidak mencapai signifikansi konvensional. Papan petunjuk visual hanya n empat belas. Protokol multidisiplin berbasis IT dan klinis, n lima puluh sembilan, menunjukkan perbaikan bermakna pada kemampuan menyikat gigi, p di bawah nol koma nol nol satu. Program familiarisasi dan repetitive tasking, n empat puluh empat, memperbaiki skor perilaku, p sama dengan nol koma nol tiga, dan menurunkan rujukan ke anestesi umum, p sama dengan nol koma nol empat.</a:t>
            </a:r>
          </a:p>
          <a:p>
            <a:pPr/>
            <a:endParaRPr lang="id" dirty="0"/>
          </a:p>
          <a:p>
            <a:pPr/>
            <a:r>
              <a:rPr lang="id" dirty="0"/>
              <a:t>Yang paling menjanjikan adalah desensitisasi gigi. Nelson dan kolega, dengan n seratus enam puluh delapan, melaporkan tujuh puluh tujuh koma empat persen anak mencapai minimum threshold for exam dalam satu sampai dua kunjungan, dan studi tindak lanjut Yost pada 2019 menunjukkan sembilan puluh dua persen mempertahankannya pada tahun kedua. Ini satu-satunya intervensi dengan bukti jangka panjang, dan itulah yang membuatnya layak dipertimbangkan untuk diadaptasi.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Tema enam, sikap DHP. Sikap tim gigi, termasuk staf non-klinis, memengaruhi akses. Persepsi orang tua bahwa mereka dinilai negatif adalah penghalang. Mereka merasa dikritik karena dianggap tidak cukup mengendalikan anak, dan dihakimi karena kondisi gigi anaknya. Itu membuat kunjungan makin menegangkan. Kesulitan menemukan dokter gigi yang cocok dilaporkan di empat belas studi. Yang dimaksud cocok adalah dokter yang bersikap positif dan menerima anak autistik sebagai pasien.</a:t>
            </a:r>
          </a:p>
          <a:p>
            <a:pPr/>
            <a:endParaRPr lang="id" dirty="0"/>
          </a:p>
          <a:p>
            <a:pPr/>
            <a:r>
              <a:rPr lang="id" dirty="0"/>
              <a:t>Di Arab Saudi, lima puluh empat persen partisipan melaporkan kesulitan menemukan klinik yang sesuai untuk merawat anak autistik mereka, dan tiga puluh dua koma tujuh persen melaporkan pernah ditolak oleh dokter gigi. Pola serupa muncul di studi Amerika Serikat.</a:t>
            </a:r>
          </a:p>
          <a:p>
            <a:pPr/>
            <a:endParaRPr lang="id" dirty="0"/>
          </a:p>
          <a:p>
            <a:pPr/>
            <a:r>
              <a:rPr lang="id" dirty="0"/>
              <a:t>Tema tujuh, pengetahuan tentang cara merawat dan mendukung kesehatan mulut. Intervensi edukatif menunjukkan arah positif, tetapi hampir semuanya bersampel kecil. Edukasi digital, n lima belas, meningkatkan skor pengetahuan pada empat minggu. Sikat gigi mekatronik, n dua belas, memperbaiki gerakan menyikat dan menurunkan stres. Social stories pada anak prasekolah, n seratus delapan puluh satu, memperbaiki performa menyikat, kebersihan mulut, dan kesehatan gingiva dengan p di bawah nol koma nol nol satu, sementara replikasi dengan n tiga puluh dua hanya menunjukkan peningkatan frekuensi tanpa signifikansi. Aplikasi iPad, n lima puluh dua, meningkatkan kepatuhan pemeriksaan dengan p di bawah nol koma nol satu. Program psikoedukasi, n tujuh puluh empat, meningkatkan jumlah langkah pemeriksaan dan skor perilaku dengan p di bawah nol koma nol nol nol satu.</a:t>
            </a:r>
          </a:p>
          <a:p>
            <a:pPr/>
            <a:endParaRPr lang="id" dirty="0"/>
          </a:p>
          <a:p>
            <a:pPr/>
            <a:r>
              <a:rPr lang="id" dirty="0"/>
              <a:t>Namun ada sisi lain yang lebih penting untuk kebijakan. Empat belas studi menyebut kurangnya pengetahuan dan pengalaman tim gigi sebagai penghalang akses. Dalam survei DHP di Inggris oleh Eades dan kolega pada 2019, kurang dari separuh, yaitu empat puluh empat koma tujuh persen, pernah mendapat pelatihan autisme, dan responden hanya merasa somewhat confident merawat pasien autistik. Ini bukan masalah motivasi individu, melainkan celah kurikulum dan pelatihan.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Tema delapan, pemberdayaan orang tua dan kolaborasi dengan DHP. Orang tua adalah pemegang data klinis paling akurat tentang anaknya: pemicu sensorik, isyarat awal distress, penguatan positif yang berhasil di rumah, dan urutan langkah yang membuat anak mau membuka mulut. Ketika tim gigi mengadopsi pendekatan kolaboratif, mereka bisa memakai pengetahuan itu alih-alih memulai dari nol pada setiap kunjungan.</a:t>
            </a:r>
          </a:p>
          <a:p>
            <a:pPr/>
            <a:endParaRPr lang="id" dirty="0"/>
          </a:p>
          <a:p>
            <a:pPr/>
            <a:r>
              <a:rPr lang="id" dirty="0"/>
              <a:t>Kutipan di sebelah kiri menyakitkan karena sederhana: tidak pernah ada yang bertanya, padahal orang tua akan senang sekali bila ada yang ingin tahu apakah ada hal khusus yang perlu dilakukan berbeda karena autisme anaknya. Sebagian orang tua juga tidak merasa berdaya untuk bersuara, atau merasa tim gigi tidak menghargai pandangan mereka. Jadi hambatannya dua arah: tim tidak bertanya, dan orang tua tidak merasa punya izin untuk menjawab.</a:t>
            </a:r>
          </a:p>
          <a:p>
            <a:pPr/>
            <a:endParaRPr lang="id" dirty="0"/>
          </a:p>
          <a:p>
            <a:pPr/>
            <a:r>
              <a:rPr lang="id" dirty="0"/>
              <a:t>Tema sembilan, komunikasi dan membangun rapport. Anak autistik sering mengalami kesulitan interaksi sosial dan komunikasi, dan sebagian sulit menyampaikan nyeri atau perasaan tidak nyaman selama perawatan, baik kepada orang tua maupun tim gigi. Dalam studi McKinney, anak autistik dengan kesulitan komunikasi atau fisik tambahan lebih berpeluang memiliki kebutuhan gigi yang tidak terpenuhi, dengan p sama dengan nol koma nol lima.</a:t>
            </a:r>
          </a:p>
          <a:p>
            <a:pPr/>
            <a:endParaRPr lang="id" dirty="0"/>
          </a:p>
          <a:p>
            <a:pPr/>
            <a:r>
              <a:rPr lang="id" dirty="0"/>
              <a:t>Yang membantu: komunikasi yang jelas, tidak ambigu, sesuai usia, memberi waktu untuk memproses, dan benar-benar mendengarkan. Rapport dibangun sebagai investasi jangka panjang. Kutipan dokter gigi di kanan bawah menggambarkan itu: pada usia empat sampai tujuh tahun sangat sulit, tetapi mereka terus kembali, dan pada usia sepuluh sampai dua belas tahun mereka menyukainya. Ini argumen kuat untuk continuity of care, bukan sekadar efisiensi jadwal.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Saya ingin berhenti sebentar pada empat kutipan ini, karena angka-angka tadi bisa membuat kita lupa bahwa ini adalah pengalaman.</a:t>
            </a:r>
          </a:p>
          <a:p>
            <a:pPr/>
            <a:endParaRPr lang="id" dirty="0"/>
          </a:p>
          <a:p>
            <a:pPr/>
            <a:r>
              <a:rPr lang="id" dirty="0"/>
              <a:t>Kutipan pertama, tentang ruang tunggu. Orang tua menggambarkannya sebagai hal yang benar-benar terpisah, hampir seperti punya janji temu sendiri: datang dan duduk di ruang tunggu adalah satu hal, lalu masuk ke dokter gigi adalah hal besar lainnya. Ini menjelaskan mengapa intervensi yang hanya berfokus pada kursi gigi sering gagal. Stresnya sudah dimulai di pintu masuk.</a:t>
            </a:r>
          </a:p>
          <a:p>
            <a:pPr/>
            <a:endParaRPr lang="id" dirty="0"/>
          </a:p>
          <a:p>
            <a:pPr/>
            <a:r>
              <a:rPr lang="id" dirty="0"/>
              <a:t>Kutipan kedua, dari dokter gigi, tentang komunikasi. Hambatannya adalah tidak adanya umpan balik seperti biasanya: Anda mencoba kontak, mencoba mendapat respons, tetapi pada orang dengan ASD respons yang diharapkan sering tidak datang, sehingga Anda kehilangan arah. Perhatikan bahwa ini juga beban bagi klinisi. Pelatihan komunikasi bukan hanya untuk kebaikan pasien, tetapi untuk mengurangi ketidakberdayaan klinisi.</a:t>
            </a:r>
          </a:p>
          <a:p>
            <a:pPr/>
            <a:endParaRPr lang="id" dirty="0"/>
          </a:p>
          <a:p>
            <a:pPr/>
            <a:r>
              <a:rPr lang="id" dirty="0"/>
              <a:t>Kutipan ketiga, tentang penghakiman. Banyak memutar mata, orang melihat seolah menanyakan mengapa anak tidak sekalian didisiplinkan, tidak ada yang menjelaskan apa pun kepada anak, staf tidak hangat, lalu menyerah. Ini menunjukkan bahwa sikap terbentuk dari akumulasi interaksi kecil, termasuk dari resepsionis.</a:t>
            </a:r>
          </a:p>
          <a:p>
            <a:pPr/>
            <a:endParaRPr lang="id" dirty="0"/>
          </a:p>
          <a:p>
            <a:pPr/>
            <a:r>
              <a:rPr lang="id" dirty="0"/>
              <a:t>Kutipan keempat, tentang persiapan. Yang membantu adalah social stories, buku bergambar dengan foto asli kantor dokter gigi dan orang-orang yang akan ditemui. Ini intervensi berbiaya sangat rendah yang bisa dilakukan keluarga sebelum kunjungan.</a:t>
            </a:r>
          </a:p>
          <a:p>
            <a:pPr/>
            <a:endParaRPr lang="id" dirty="0"/>
          </a:p>
          <a:p>
            <a:pPr/>
            <a:r>
              <a:rPr lang="id" dirty="0"/>
              <a:t>Pola lintas kutipan: distress anak paling sering dipicu oleh lingkungan dan ketidakpastian, bukan oleh prosedur itu sendiri. Dan kutipan orang tua mendominasi literatur, sejalan dengan komposisi partisipan yang tadi kita lihat.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Sekarang evaluasi kritis terhadap delapan belas studi intervensi. Kesimpulan penulis tegas namun adil: semua intervensi menunjukkan tren positif, tetapi kualitas metodologisnya umumnya rendah. Dari delapan belas studi intervensi, dua puluh tiga di antaranya non-randomized dan hanya tiga berupa pilot RCT.</a:t>
            </a:r>
          </a:p>
          <a:p>
            <a:pPr/>
            <a:endParaRPr lang="id" dirty="0"/>
          </a:p>
          <a:p>
            <a:pPr/>
            <a:r>
              <a:rPr lang="id" dirty="0"/>
              <a:t>Kelemahannya berulang dan mudah dikenali: detail metodologis tidak dilaporkan, tidak ada kelompok kontrol, perancu tidak dikendalikan, sampel sangat kecil, berkisar dua belas sampai lima puluh sembilan partisipan pada sebagian besar studi, dan tidak ada perhitungan daya. Akibatnya, dengan satu pengecualian, tidak mungkin menarik kesimpulan kuat tentang dampak intervensi terhadap perilaku kesehatan mulut, akses, atau penyediaan layanan.</a:t>
            </a:r>
          </a:p>
          <a:p>
            <a:pPr/>
            <a:endParaRPr lang="id" dirty="0"/>
          </a:p>
          <a:p>
            <a:pPr/>
            <a:r>
              <a:rPr lang="id" dirty="0"/>
              <a:t>Peta di sebelah kanan mengelompokkan intervensi menurut sasarannya. Kelompok pertama menyasar proses dan lingkungan: pesan teks real-time, distraksi audio-visual, electronic screen media, sensory adapted environment, protokol IT dan klinis, serta familiarisasi dengan repetitive tasking. Kelompok kedua menyasar pengetahuan dan keterampilan: edukasi digital, social stories, aplikasi iPad, dan psikoedukasi langkah pemeriksaan. Yang perlu dicatat, hanya social stories dengan n seratus delapan puluh satu yang berukuran cukup besar dan signifikan.</a:t>
            </a:r>
          </a:p>
          <a:p>
            <a:pPr/>
            <a:endParaRPr lang="id" dirty="0"/>
          </a:p>
          <a:p>
            <a:pPr/>
            <a:r>
              <a:rPr lang="id" dirty="0"/>
              <a:t>Temuan ini sejalan dengan tinjauan Cochrane tentang intervensi kebersihan mulut pada orang dengan disabilitas intelektual, yang menyimpulkan kepastian bukti umumnya rendah sampai sangat rendah. Jadi masalahnya bukan pada satu studi, tetapi pada seluruh lapangan penelitian. Ini justru peluang riset yang jelas, terutama untuk konteks Indonesia, di mana studi semacam ini hampir tidak ada.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Bagian diskusi. Kalimat sentral tinjauan ini adalah all behaviour is a form of communication, semua perilaku adalah bentuk komunikasi. Perilaku menantang adalah gejala, bukan diagnosis perilaku: ia sering menandakan nyeri, ketidakpastian, atau kebutuhan yang belum terpenuhi, termasuk kebutuhan gigi. Seorang anak yang kebutuhannya tidak terpenuhi mungkin memakai perilaku sebagai cara mengirim pesan yang sangat keras. Tantangan bagi klinisi adalah membaca pesan itu, bukan hanya menekan perilakunya.</a:t>
            </a:r>
          </a:p>
          <a:p>
            <a:pPr/>
            <a:endParaRPr lang="id" dirty="0"/>
          </a:p>
          <a:p>
            <a:pPr/>
            <a:r>
              <a:rPr lang="id" dirty="0"/>
              <a:t>Empat implikasi klinis. Pertama, ruang tunggu adalah titik kritis: kurangi waktu tunggu, sediakan distraksi, jadwalkan pada jam yang lebih sepi, dan sediakan ruang kecil yang bisa dipakai anak untuk menenangkan diri. Kedua, tanyakan lebih dulu dan jangan berasumsi: pemicu sensorik, isyarat awal distress, penguatan yang berhasil, dan hal-hal yang harus dihindari. Ketiga, fleksibilitas yang terjadwal: kunjungan familiarisasi bertahap, continuity of staff, dan kesepakatan bahwa tidak semua prosedur harus selesai pada kunjungan pertama. Keempat, pelatihan untuk seluruh tim, bukan hanya dokter, karena pengalaman keluarga ditentukan juga oleh resepsionis dan perawat gigi.</a:t>
            </a:r>
          </a:p>
          <a:p>
            <a:pPr/>
            <a:endParaRPr lang="id" dirty="0"/>
          </a:p>
          <a:p>
            <a:pPr/>
            <a:r>
              <a:rPr lang="id" dirty="0"/>
              <a:t>Di sisi kebijakan, ada tiga hal yang gagal dipenuhi sistem. Reimbursement tidak mengakui waktu tambahan untuk familiarisasi dan desensitisasi. Kontrak layanan berbasis target waktu dan volume justru menghukum klinisi yang meluangkan waktu. Dan kurikulum serta CPD belum menjadikan pelatihan autisme sebagai kompetensi inti tim gigi.</a:t>
            </a:r>
          </a:p>
          <a:p>
            <a:pPr/>
            <a:endParaRPr lang="id" dirty="0"/>
          </a:p>
          <a:p>
            <a:pPr/>
            <a:r>
              <a:rPr lang="id" dirty="0"/>
              <a:t>Ada dua celah bukti yang ingin saya angkat. Pertama, suara anak hampir absen: hanya satu dari lima puluh sembilan studi mewawancarai anak autistik langsung, dan anak non-verbal hampir tidak pernah terwakili. Kedua, menarik bahwa stigma tidak muncul sebagai tema eksplisit yang kuat dalam tinjauan ini, padahal jelas dialami dalam kutipan-kutipan tadi. Penulis menduga ini lebih mencerminkan cara pertanyaan diajukan daripada ketiadaan pengalaman, dan mereka juga mencatat adanya bahasa yang merendahkan pada studi lama, misalnya penggunaan istilah yang sekarang dianggap sangat ofensif.</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Kekuatan tinjauan ini. Ini tinjauan sistematis pertama yang secara khusus memetakan faktor perilaku kesehatan mulut, akses, dan penyediaan layanan gigi pada anak autistik. Protokolnya a priori dan pelaporannya ganda, PRISMA 2020 dan ENTREQ, dengan pencarian yang diulang untuk menangkap studi baru. Kontribusi PPI group bukan formalitas: suara autistik membentuk interpretasi temuan dan pilihan bahasa, termasuk identity-first language yang kita pakai hari ini. Cakupannya juga luas: delapan database, grey literature, tiga belas negara, lima puluh sembilan studi, dan tiga perspektif aktor.</a:t>
            </a:r>
          </a:p>
          <a:p>
            <a:pPr/>
            <a:endParaRPr lang="id" dirty="0"/>
          </a:p>
          <a:p>
            <a:pPr/>
            <a:r>
              <a:rPr lang="id" dirty="0"/>
              <a:t>Keterbatasannya jujur dan perlu disebut. Pembatasan pada negara dengan HDI minimal nol koma delapan membatasi generalisabilitas, dan penulis mengakui bahwa faktor yang relevan di negara berpendapatan rendah sampai menengah bisa saja terlewat. Kualitas studi primer rendah, dengan studi non-randomized paling rendah skor MMAT-nya, dan itu memengaruhi kekuatan seluruh kesimpulan. Heterogenitas tinggi membuat meta-analisis tidak mungkin. Dan suara anak hampir absen, sehingga sebagian besar bukti adalah laporan orang dewasa tentang anak.</a:t>
            </a:r>
          </a:p>
          <a:p>
            <a:pPr/>
            <a:endParaRPr lang="id" dirty="0"/>
          </a:p>
          <a:p>
            <a:pPr/>
            <a:r>
              <a:rPr lang="id" dirty="0"/>
              <a:t>Kesimpulan penulis bisa diringkas dalam tiga kata yang saya letakkan di panel kanan. Accommodation: menyesuaikan layanan pada kebutuhan individu, termasuk waktu, ruang, orang, dan ritme. Education: melatih seluruh tim gigi dan memberdayakan orang tua sebagai pakar anak. Adaptation: mengubah proses dan protokol, bukan menuntut anak berubah lebih dulu.</a:t>
            </a:r>
          </a:p>
          <a:p>
            <a:pPr/>
            <a:endParaRPr lang="id" dirty="0"/>
          </a:p>
          <a:p>
            <a:pPr/>
            <a:r>
              <a:rPr lang="id" dirty="0"/>
              <a:t>Pesan terakhir untuk riset: diperlukan studi intervensi yang lebih kuat, dan riset yang melibatkan anak autistik, termasuk yang non-verbal, sebagai partisipan dan bukan objek. Ini bukan hanya soal metode, tetapi soal siapa yang berhak berbicara tentang pengalamannya sendiri.</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id" dirty="0"/>
              <a:t>Saya tutup dengan tujuh referensi kunci yang paling berguna bila ingin membaca lebih dalam. Erwin dan kolega 2022 adalah artikel utamanya. McKinney 2014 memberi angka odds rasio untuk kebutuhan gigi yang tidak terpenuhi. Nelson 2017 dan Yost 2019 adalah dasar bukti desensitisasi. Eades 2019 memberi gambaran kompetensi DHP di Inggris. Alhammad 2020 memberi konteks Arab Saudi, dan Parry serta Shepherd 2018 adalah satu-satunya studi yang benar-benar mendengar anak. Untuk metode, Thomas dan Harden 2008 adalah rujukan thematic synthesis. Kutipan lengkap kelima puluh sembilan studi ada di Appendix 3 artikel.</a:t>
            </a:r>
          </a:p>
          <a:p>
            <a:pPr/>
            <a:endParaRPr lang="id" dirty="0"/>
          </a:p>
          <a:p>
            <a:pPr/>
            <a:r>
              <a:rPr lang="id" dirty="0"/>
              <a:t>Sebagai penutup, tiga pertanyaan untuk diskusi. Pertama, dapatkah faktor dan penghalang dalam tinjauan ini dipisahkan dari konteks pembiayaan layanan tiap negara? Artinya, berapa banyak temuan ini yang sebenarnya tentang sistem asuransi, bukan tentang autisme. Kedua, bila hanya satu dari lima puluh sembilan studi mendengar anak, sejauh mana rekomendasi ini mewakili pengalaman anak? Ketiga, dan ini yang paling relevan untuk kita, intervensi mana yang paling layak diadaptasi untuk layanan gigi primer di Indonesia, dengan sumber daya dan sistem pembiayaan kita sendiri?</a:t>
            </a:r>
          </a:p>
          <a:p>
            <a:pPr/>
            <a:endParaRPr lang="id" dirty="0"/>
          </a:p>
          <a:p>
            <a:pPr/>
            <a:r>
              <a:rPr lang="id" dirty="0"/>
              <a:t>Terima kasih, saya senang membahasnya lebih lanjut.</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erwin_2022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id" smtClean="0"/>
              <a:t>1/27/13</a:t>
            </a:fld>
            <a:endParaRPr lang="id"/>
          </a:p>
        </p:txBody>
      </p:sp>
      <p:sp>
        <p:nvSpPr>
          <p:cNvPr id="3" name="Footer Placeholder 2"/>
          <p:cNvSpPr>
            <a:spLocks noGrp="1"/>
          </p:cNvSpPr>
          <p:nvPr>
            <p:ph type="ftr" sz="quarter" idx="11"/>
          </p:nvPr>
        </p:nvSpPr>
        <p:spPr/>
        <p:txBody>
          <a:bodyPr/>
          <a:lstStyle/>
          <a:p>
            <a:endParaRPr lang="id"/>
          </a:p>
        </p:txBody>
      </p:sp>
      <p:sp>
        <p:nvSpPr>
          <p:cNvPr id="4" name="Slide Number Placeholder 3"/>
          <p:cNvSpPr>
            <a:spLocks noGrp="1"/>
          </p:cNvSpPr>
          <p:nvPr>
            <p:ph type="sldNum" sz="quarter" idx="12"/>
          </p:nvPr>
        </p:nvSpPr>
        <p:spPr/>
        <p:txBody>
          <a:bodyPr/>
          <a:lstStyle/>
          <a:p>
            <a:fld id="{C1FF6DA9-008F-8B48-92A6-B652298478BF}" type="slidenum">
              <a:rPr lang="id" smtClean="0"/>
              <a:t>‹#›</a:t>
            </a:fld>
            <a:endParaRPr lang="id"/>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erwin_2022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id">
                <a:solidFill>
                  <a:schemeClr val="tx1">
                    <a:tint val="75000"/>
                  </a:schemeClr>
                </a:solidFill>
              </a:defRPr>
            </a:lvl1pPr>
          </a:lstStyle>
          <a:p>
            <a:fld id="{5BCAD085-E8A6-8845-BD4E-CB4CCA059FC4}" type="datetimeFigureOut">
              <a:rPr lang="id" smtClean="0"/>
              <a:t>1/27/13</a:t>
            </a:fld>
            <a:endParaRPr lang="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id">
                <a:solidFill>
                  <a:schemeClr val="tx1">
                    <a:tint val="75000"/>
                  </a:schemeClr>
                </a:solidFill>
              </a:defRPr>
            </a:lvl1pPr>
          </a:lstStyle>
          <a:p>
            <a:endParaRPr lang="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id">
                <a:solidFill>
                  <a:schemeClr val="tx1">
                    <a:tint val="75000"/>
                  </a:schemeClr>
                </a:solidFill>
              </a:defRPr>
            </a:lvl1pPr>
          </a:lstStyle>
          <a:p>
            <a:fld id="{C1FF6DA9-008F-8B48-92A6-B652298478BF}" type="slidenum">
              <a:rPr lang="id" smtClean="0"/>
              <a:t>‹#›</a:t>
            </a:fld>
            <a:endParaRPr lang="id"/>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id">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id">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id">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id">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id">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id">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id">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id">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id">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id">
          <a:solidFill>
            <a:schemeClr val="tx1"/>
          </a:solidFill>
          <a:latin typeface="+mn-lt"/>
          <a:ea typeface="+mn-ea"/>
          <a:cs typeface="+mn-cs"/>
        </a:defRPr>
      </a:lvl9pPr>
    </p:bodyStyle>
    <p:otherStyle>
      <a:defPPr>
        <a:defRPr lang="id"/>
      </a:defPPr>
      <a:lvl1pPr marL="0" algn="l" defTabSz="457200" rtl="0" eaLnBrk="1" latinLnBrk="0" hangingPunct="1">
        <a:defRPr sz="1800" kern="1200" lang="id">
          <a:solidFill>
            <a:schemeClr val="tx1"/>
          </a:solidFill>
          <a:latin typeface="+mn-lt"/>
          <a:ea typeface="+mn-ea"/>
          <a:cs typeface="+mn-cs"/>
        </a:defRPr>
      </a:lvl1pPr>
      <a:lvl2pPr marL="457200" algn="l" defTabSz="457200" rtl="0" eaLnBrk="1" latinLnBrk="0" hangingPunct="1">
        <a:defRPr sz="1800" kern="1200" lang="id">
          <a:solidFill>
            <a:schemeClr val="tx1"/>
          </a:solidFill>
          <a:latin typeface="+mn-lt"/>
          <a:ea typeface="+mn-ea"/>
          <a:cs typeface="+mn-cs"/>
        </a:defRPr>
      </a:lvl2pPr>
      <a:lvl3pPr marL="914400" algn="l" defTabSz="457200" rtl="0" eaLnBrk="1" latinLnBrk="0" hangingPunct="1">
        <a:defRPr sz="1800" kern="1200" lang="id">
          <a:solidFill>
            <a:schemeClr val="tx1"/>
          </a:solidFill>
          <a:latin typeface="+mn-lt"/>
          <a:ea typeface="+mn-ea"/>
          <a:cs typeface="+mn-cs"/>
        </a:defRPr>
      </a:lvl3pPr>
      <a:lvl4pPr marL="1371600" algn="l" defTabSz="457200" rtl="0" eaLnBrk="1" latinLnBrk="0" hangingPunct="1">
        <a:defRPr sz="1800" kern="1200" lang="id">
          <a:solidFill>
            <a:schemeClr val="tx1"/>
          </a:solidFill>
          <a:latin typeface="+mn-lt"/>
          <a:ea typeface="+mn-ea"/>
          <a:cs typeface="+mn-cs"/>
        </a:defRPr>
      </a:lvl4pPr>
      <a:lvl5pPr marL="1828800" algn="l" defTabSz="457200" rtl="0" eaLnBrk="1" latinLnBrk="0" hangingPunct="1">
        <a:defRPr sz="1800" kern="1200" lang="id">
          <a:solidFill>
            <a:schemeClr val="tx1"/>
          </a:solidFill>
          <a:latin typeface="+mn-lt"/>
          <a:ea typeface="+mn-ea"/>
          <a:cs typeface="+mn-cs"/>
        </a:defRPr>
      </a:lvl5pPr>
      <a:lvl6pPr marL="2286000" algn="l" defTabSz="457200" rtl="0" eaLnBrk="1" latinLnBrk="0" hangingPunct="1">
        <a:defRPr sz="1800" kern="1200" lang="id">
          <a:solidFill>
            <a:schemeClr val="tx1"/>
          </a:solidFill>
          <a:latin typeface="+mn-lt"/>
          <a:ea typeface="+mn-ea"/>
          <a:cs typeface="+mn-cs"/>
        </a:defRPr>
      </a:lvl6pPr>
      <a:lvl7pPr marL="2743200" algn="l" defTabSz="457200" rtl="0" eaLnBrk="1" latinLnBrk="0" hangingPunct="1">
        <a:defRPr sz="1800" kern="1200" lang="id">
          <a:solidFill>
            <a:schemeClr val="tx1"/>
          </a:solidFill>
          <a:latin typeface="+mn-lt"/>
          <a:ea typeface="+mn-ea"/>
          <a:cs typeface="+mn-cs"/>
        </a:defRPr>
      </a:lvl7pPr>
      <a:lvl8pPr marL="3200400" algn="l" defTabSz="457200" rtl="0" eaLnBrk="1" latinLnBrk="0" hangingPunct="1">
        <a:defRPr sz="1800" kern="1200" lang="id">
          <a:solidFill>
            <a:schemeClr val="tx1"/>
          </a:solidFill>
          <a:latin typeface="+mn-lt"/>
          <a:ea typeface="+mn-ea"/>
          <a:cs typeface="+mn-cs"/>
        </a:defRPr>
      </a:lvl8pPr>
      <a:lvl9pPr marL="3657600" algn="l" defTabSz="457200" rtl="0" eaLnBrk="1" latinLnBrk="0" hangingPunct="1">
        <a:defRPr sz="1800" kern="1200" lang="id">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7" name="cover-main"/>
          <p:cNvGrpSpPr/>
          <p:nvPr/>
        </p:nvGrpSpPr>
        <p:grpSpPr>
          <a:xfrm>
            <a:off x="0" y="0"/>
            <a:ext cx="12192000" cy="6858000"/>
            <a:chOff x="0" y="0"/>
            <a:chExt cx="12192000" cy="6858000"/>
          </a:xfrm>
        </p:grpSpPr>
        <p:sp>
          <p:nvSpPr>
            <p:cNvPr id="2" name="Rectangle 2"/>
            <p:cNvSpPr/>
            <p:nvPr/>
          </p:nvSpPr>
          <p:spPr>
            <a:xfrm>
              <a:off x="8382000" y="0"/>
              <a:ext cx="3810000" cy="6858000"/>
            </a:xfrm>
            <a:prstGeom prst="rect">
              <a:avLst/>
            </a:prstGeom>
            <a:solidFill>
              <a:srgbClr val="F3F3F1"/>
            </a:solidFill>
            <a:ln>
              <a:noFill/>
            </a:ln>
          </p:spPr>
        </p:sp>
        <p:sp>
          <p:nvSpPr>
            <p:cNvPr id="3" name="Rectangle 3"/>
            <p:cNvSpPr/>
            <p:nvPr/>
          </p:nvSpPr>
          <p:spPr>
            <a:xfrm>
              <a:off x="0" y="0"/>
              <a:ext cx="95250" cy="6858000"/>
            </a:xfrm>
            <a:prstGeom prst="rect">
              <a:avLst/>
            </a:prstGeom>
            <a:solidFill>
              <a:srgbClr val="E8000D"/>
            </a:solidFill>
            <a:ln>
              <a:noFill/>
            </a:ln>
          </p:spPr>
        </p:sp>
        <p:sp>
          <p:nvSpPr>
            <p:cNvPr id="4" name="TextBox 4"/>
            <p:cNvSpPr txBox="1"/>
            <p:nvPr/>
          </p:nvSpPr>
          <p:spPr>
            <a:xfrm>
              <a:off x="604838" y="1022350"/>
              <a:ext cx="3299932" cy="155258"/>
            </a:xfrm>
            <a:prstGeom prst="rect">
              <a:avLst/>
            </a:prstGeom>
            <a:noFill/>
            <a:ln>
              <a:noFill/>
            </a:ln>
          </p:spPr>
          <p:txBody>
            <a:bodyPr wrap="none" lIns="0" tIns="0" rIns="0" bIns="0" anchor="t" anchorCtr="0">
              <a:spAutoFit/>
            </a:bodyPr>
            <a:lstStyle/>
            <a:p>
              <a:pPr algn="l"/>
              <a:r>
                <a:rPr lang="id" sz="790" b="1" spc="195" dirty="0">
                  <a:solidFill>
                    <a:srgbClr val="E8000D"/>
                  </a:solidFill>
                  <a:latin typeface="+mn-lt"/>
                  <a:ea typeface="+mn-ea"/>
                  <a:cs typeface="+mn-cs"/>
                </a:rPr>
                <a:t>JOURNAL READING · SISTEMATIK REVIEW</a:t>
              </a:r>
            </a:p>
          </p:txBody>
        </p:sp>
        <p:sp>
          <p:nvSpPr>
            <p:cNvPr id="5" name="TextBox 5"/>
            <p:cNvSpPr txBox="1"/>
            <p:nvPr/>
          </p:nvSpPr>
          <p:spPr>
            <a:xfrm>
              <a:off x="604838" y="1250950"/>
              <a:ext cx="2710999" cy="169069"/>
            </a:xfrm>
            <a:prstGeom prst="rect">
              <a:avLst/>
            </a:prstGeom>
            <a:noFill/>
            <a:ln>
              <a:noFill/>
            </a:ln>
          </p:spPr>
          <p:txBody>
            <a:bodyPr wrap="none" lIns="0" tIns="0" rIns="0" bIns="0" anchor="t" anchorCtr="0">
              <a:spAutoFit/>
            </a:bodyPr>
            <a:lstStyle/>
            <a:p>
              <a:pPr algn="l"/>
              <a:r>
                <a:rPr lang="id" sz="860" spc="30" dirty="0">
                  <a:solidFill>
                    <a:srgbClr val="8B9198"/>
                  </a:solidFill>
                  <a:latin typeface="+mn-lt"/>
                  <a:ea typeface="+mn-ea"/>
                  <a:cs typeface="+mn-cs"/>
                </a:rPr>
                <a:t>Health Expectations · 2022 · Wiley Open Access</a:t>
              </a:r>
            </a:p>
          </p:txBody>
        </p:sp>
        <p:sp>
          <p:nvSpPr>
            <p:cNvPr id="6" name="TextBox 6"/>
            <p:cNvSpPr txBox="1"/>
            <p:nvPr/>
          </p:nvSpPr>
          <p:spPr>
            <a:xfrm>
              <a:off x="593598" y="1974850"/>
              <a:ext cx="6790289" cy="1568577"/>
            </a:xfrm>
            <a:prstGeom prst="rect">
              <a:avLst/>
            </a:prstGeom>
            <a:noFill/>
            <a:ln>
              <a:noFill/>
            </a:ln>
          </p:spPr>
          <p:txBody>
            <a:bodyPr wrap="none" lIns="0" tIns="0" rIns="0" bIns="0" anchor="t" anchorCtr="0">
              <a:spAutoFit/>
            </a:bodyPr>
            <a:lstStyle/>
            <a:p>
              <a:pPr algn="l">
                <a:lnSpc>
                  <a:spcPts val="3750"/>
                </a:lnSpc>
              </a:pPr>
              <a:r>
                <a:rPr lang="id" sz="3150" b="1" dirty="0">
                  <a:solidFill>
                    <a:srgbClr val="111318"/>
                  </a:solidFill>
                  <a:latin typeface="+mn-lt"/>
                  <a:ea typeface="+mn-ea"/>
                  <a:cs typeface="+mn-cs"/>
                </a:rPr>
                <a:t>Faktor yang Memengaruhi Perilaku,</a:t>
              </a:r>
              <a:br>
                <a:rPr lang="id" sz="3150" b="1" dirty="0">
                  <a:solidFill>
                    <a:srgbClr val="111318"/>
                  </a:solidFill>
                  <a:latin typeface="+mn-lt"/>
                  <a:ea typeface="+mn-ea"/>
                  <a:cs typeface="+mn-cs"/>
                </a:rPr>
              </a:br>
              <a:r>
                <a:rPr lang="id" sz="3150" b="1" dirty="0">
                  <a:solidFill>
                    <a:srgbClr val="111318"/>
                  </a:solidFill>
                  <a:latin typeface="+mn-lt"/>
                  <a:ea typeface="+mn-ea"/>
                  <a:cs typeface="+mn-cs"/>
                </a:rPr>
                <a:t>Akses, dan Penyediaan Layanan</a:t>
              </a:r>
              <a:br>
                <a:rPr lang="id" sz="3150" b="1" dirty="0">
                  <a:solidFill>
                    <a:srgbClr val="111318"/>
                  </a:solidFill>
                  <a:latin typeface="+mn-lt"/>
                  <a:ea typeface="+mn-ea"/>
                  <a:cs typeface="+mn-cs"/>
                </a:rPr>
              </a:br>
              <a:r>
                <a:rPr lang="id" sz="3150" b="1" dirty="0">
                  <a:solidFill>
                    <a:srgbClr val="111318"/>
                  </a:solidFill>
                  <a:latin typeface="+mn-lt"/>
                  <a:ea typeface="+mn-ea"/>
                  <a:cs typeface="+mn-cs"/>
                </a:rPr>
                <a:t>Kesehatan Gigi Anak Autistik</a:t>
              </a:r>
            </a:p>
          </p:txBody>
        </p:sp>
        <p:sp>
          <p:nvSpPr>
            <p:cNvPr id="7" name="Line 7"/>
            <p:cNvSpPr/>
            <p:nvPr/>
          </p:nvSpPr>
          <p:spPr>
            <a:xfrm>
              <a:off x="609600" y="3733800"/>
              <a:ext cx="7391400" cy="9525"/>
            </a:xfrm>
            <a:custGeom>
              <a:avLst/>
              <a:gdLst/>
              <a:ahLst/>
              <a:cxnLst/>
              <a:rect l="l" t="t" r="r" b="b"/>
              <a:pathLst>
                <a:path w="7391400" h="9525">
                  <a:moveTo>
                    <a:pt x="0" y="0"/>
                  </a:moveTo>
                  <a:lnTo>
                    <a:pt x="7391400" y="0"/>
                  </a:lnTo>
                </a:path>
              </a:pathLst>
            </a:custGeom>
            <a:noFill/>
            <a:ln w="14288">
              <a:solidFill>
                <a:srgbClr val="111318"/>
              </a:solidFill>
            </a:ln>
          </p:spPr>
        </p:sp>
        <p:sp>
          <p:nvSpPr>
            <p:cNvPr id="8" name="TextBox 8"/>
            <p:cNvSpPr txBox="1"/>
            <p:nvPr/>
          </p:nvSpPr>
          <p:spPr>
            <a:xfrm>
              <a:off x="603504" y="3886200"/>
              <a:ext cx="4317591" cy="234696"/>
            </a:xfrm>
            <a:prstGeom prst="rect">
              <a:avLst/>
            </a:prstGeom>
            <a:noFill/>
            <a:ln>
              <a:noFill/>
            </a:ln>
          </p:spPr>
          <p:txBody>
            <a:bodyPr wrap="none" lIns="0" tIns="0" rIns="0" bIns="0" anchor="t" anchorCtr="0">
              <a:spAutoFit/>
            </a:bodyPr>
            <a:lstStyle/>
            <a:p>
              <a:pPr algn="l"/>
              <a:r>
                <a:rPr lang="id" sz="1200" b="1" dirty="0">
                  <a:solidFill>
                    <a:srgbClr val="111318"/>
                  </a:solidFill>
                  <a:latin typeface="+mn-lt"/>
                  <a:ea typeface="+mn-ea"/>
                  <a:cs typeface="+mn-cs"/>
                </a:rPr>
                <a:t>Tinjauan sistematis naratif mixed-methods atas 59 studi</a:t>
              </a:r>
            </a:p>
          </p:txBody>
        </p:sp>
        <p:sp>
          <p:nvSpPr>
            <p:cNvPr id="9" name="TextBox 9"/>
            <p:cNvSpPr txBox="1"/>
            <p:nvPr/>
          </p:nvSpPr>
          <p:spPr>
            <a:xfrm>
              <a:off x="604838" y="4152900"/>
              <a:ext cx="3750988" cy="183832"/>
            </a:xfrm>
            <a:prstGeom prst="rect">
              <a:avLst/>
            </a:prstGeom>
            <a:noFill/>
            <a:ln>
              <a:noFill/>
            </a:ln>
          </p:spPr>
          <p:txBody>
            <a:bodyPr wrap="none" lIns="0" tIns="0" rIns="0" bIns="0" anchor="t" anchorCtr="0">
              <a:spAutoFit/>
            </a:bodyPr>
            <a:lstStyle/>
            <a:p>
              <a:pPr algn="l"/>
              <a:r>
                <a:rPr lang="id" sz="940" dirty="0">
                  <a:solidFill>
                    <a:srgbClr val="585E66"/>
                  </a:solidFill>
                  <a:latin typeface="+mn-lt"/>
                  <a:ea typeface="+mn-ea"/>
                  <a:cs typeface="+mn-cs"/>
                </a:rPr>
                <a:t>Kualitatif · kuantitatif · mixed-methods | 13 negara | 9 tema sintesis</a:t>
              </a:r>
            </a:p>
          </p:txBody>
        </p:sp>
        <p:sp>
          <p:nvSpPr>
            <p:cNvPr id="10" name="TextBox 10"/>
            <p:cNvSpPr txBox="1"/>
            <p:nvPr/>
          </p:nvSpPr>
          <p:spPr>
            <a:xfrm>
              <a:off x="604838" y="4673600"/>
              <a:ext cx="575233" cy="140494"/>
            </a:xfrm>
            <a:prstGeom prst="rect">
              <a:avLst/>
            </a:prstGeom>
            <a:noFill/>
            <a:ln>
              <a:noFill/>
            </a:ln>
          </p:spPr>
          <p:txBody>
            <a:bodyPr wrap="none" lIns="0" tIns="0" rIns="0" bIns="0" anchor="t" anchorCtr="0">
              <a:spAutoFit/>
            </a:bodyPr>
            <a:lstStyle/>
            <a:p>
              <a:pPr algn="l"/>
              <a:r>
                <a:rPr lang="id" sz="710" b="1" spc="150" dirty="0">
                  <a:solidFill>
                    <a:srgbClr val="8B9198"/>
                  </a:solidFill>
                  <a:latin typeface="+mn-lt"/>
                  <a:ea typeface="+mn-ea"/>
                  <a:cs typeface="+mn-cs"/>
                </a:rPr>
                <a:t>PENULIS</a:t>
              </a:r>
            </a:p>
          </p:txBody>
        </p:sp>
        <p:sp>
          <p:nvSpPr>
            <p:cNvPr id="11" name="TextBox 11"/>
            <p:cNvSpPr txBox="1"/>
            <p:nvPr/>
          </p:nvSpPr>
          <p:spPr>
            <a:xfrm>
              <a:off x="604838" y="4845050"/>
              <a:ext cx="1880544" cy="345758"/>
            </a:xfrm>
            <a:prstGeom prst="rect">
              <a:avLst/>
            </a:prstGeom>
            <a:noFill/>
            <a:ln>
              <a:noFill/>
            </a:ln>
          </p:spPr>
          <p:txBody>
            <a:bodyPr wrap="none" lIns="0" tIns="0" rIns="0" bIns="0" anchor="t" anchorCtr="0">
              <a:spAutoFit/>
            </a:bodyPr>
            <a:lstStyle/>
            <a:p>
              <a:pPr algn="l">
                <a:lnSpc>
                  <a:spcPts val="1275"/>
                </a:lnSpc>
              </a:pPr>
              <a:r>
                <a:rPr lang="id" sz="940" dirty="0">
                  <a:solidFill>
                    <a:srgbClr val="111318"/>
                  </a:solidFill>
                  <a:latin typeface="+mn-lt"/>
                  <a:ea typeface="+mn-ea"/>
                  <a:cs typeface="+mn-cs"/>
                </a:rPr>
                <a:t>Jo Erwin, Martha Paisi, Sarah Neill,</a:t>
              </a:r>
              <a:br>
                <a:rPr lang="id" sz="940" dirty="0">
                  <a:solidFill>
                    <a:srgbClr val="111318"/>
                  </a:solidFill>
                  <a:latin typeface="+mn-lt"/>
                  <a:ea typeface="+mn-ea"/>
                  <a:cs typeface="+mn-cs"/>
                </a:rPr>
              </a:br>
              <a:r>
                <a:rPr lang="id" sz="940" dirty="0">
                  <a:solidFill>
                    <a:srgbClr val="111318"/>
                  </a:solidFill>
                  <a:latin typeface="+mn-lt"/>
                  <a:ea typeface="+mn-ea"/>
                  <a:cs typeface="+mn-cs"/>
                </a:rPr>
                <a:t>Lorna Burns, dkk. (10 penulis)</a:t>
              </a:r>
            </a:p>
          </p:txBody>
        </p:sp>
        <p:sp>
          <p:nvSpPr>
            <p:cNvPr id="12" name="TextBox 12"/>
            <p:cNvSpPr txBox="1"/>
            <p:nvPr/>
          </p:nvSpPr>
          <p:spPr>
            <a:xfrm>
              <a:off x="3995738" y="4673600"/>
              <a:ext cx="553857" cy="140494"/>
            </a:xfrm>
            <a:prstGeom prst="rect">
              <a:avLst/>
            </a:prstGeom>
            <a:noFill/>
            <a:ln>
              <a:noFill/>
            </a:ln>
          </p:spPr>
          <p:txBody>
            <a:bodyPr wrap="none" lIns="0" tIns="0" rIns="0" bIns="0" anchor="t" anchorCtr="0">
              <a:spAutoFit/>
            </a:bodyPr>
            <a:lstStyle/>
            <a:p>
              <a:pPr algn="l"/>
              <a:r>
                <a:rPr lang="id" sz="710" b="1" spc="150" dirty="0">
                  <a:solidFill>
                    <a:srgbClr val="8B9198"/>
                  </a:solidFill>
                  <a:latin typeface="+mn-lt"/>
                  <a:ea typeface="+mn-ea"/>
                  <a:cs typeface="+mn-cs"/>
                </a:rPr>
                <a:t>SUMBER</a:t>
              </a:r>
            </a:p>
          </p:txBody>
        </p:sp>
        <p:sp>
          <p:nvSpPr>
            <p:cNvPr id="13" name="TextBox 13"/>
            <p:cNvSpPr txBox="1"/>
            <p:nvPr/>
          </p:nvSpPr>
          <p:spPr>
            <a:xfrm>
              <a:off x="3995738" y="4845050"/>
              <a:ext cx="2166817" cy="345758"/>
            </a:xfrm>
            <a:prstGeom prst="rect">
              <a:avLst/>
            </a:prstGeom>
            <a:noFill/>
            <a:ln>
              <a:noFill/>
            </a:ln>
          </p:spPr>
          <p:txBody>
            <a:bodyPr wrap="none" lIns="0" tIns="0" rIns="0" bIns="0" anchor="t" anchorCtr="0">
              <a:spAutoFit/>
            </a:bodyPr>
            <a:lstStyle/>
            <a:p>
              <a:pPr algn="l">
                <a:lnSpc>
                  <a:spcPts val="1275"/>
                </a:lnSpc>
              </a:pPr>
              <a:r>
                <a:rPr lang="id" sz="940" dirty="0">
                  <a:solidFill>
                    <a:srgbClr val="111318"/>
                  </a:solidFill>
                  <a:latin typeface="+mn-lt"/>
                  <a:ea typeface="+mn-ea"/>
                  <a:cs typeface="+mn-cs"/>
                </a:rPr>
                <a:t>Health Expectations 2022;25:1269–1318</a:t>
              </a:r>
              <a:br>
                <a:rPr lang="id" sz="940" dirty="0">
                  <a:solidFill>
                    <a:srgbClr val="111318"/>
                  </a:solidFill>
                  <a:latin typeface="+mn-lt"/>
                  <a:ea typeface="+mn-ea"/>
                  <a:cs typeface="+mn-cs"/>
                </a:rPr>
              </a:br>
              <a:r>
                <a:rPr lang="id" sz="940" dirty="0">
                  <a:solidFill>
                    <a:srgbClr val="111318"/>
                  </a:solidFill>
                  <a:latin typeface="+mn-lt"/>
                  <a:ea typeface="+mn-ea"/>
                  <a:cs typeface="+mn-cs"/>
                </a:rPr>
                <a:t>DOI 10.1111/hex.13544</a:t>
              </a:r>
            </a:p>
          </p:txBody>
        </p:sp>
        <p:sp>
          <p:nvSpPr>
            <p:cNvPr id="14" name="TextBox 14"/>
            <p:cNvSpPr txBox="1"/>
            <p:nvPr/>
          </p:nvSpPr>
          <p:spPr>
            <a:xfrm>
              <a:off x="604838" y="5537200"/>
              <a:ext cx="1904033" cy="161925"/>
            </a:xfrm>
            <a:prstGeom prst="rect">
              <a:avLst/>
            </a:prstGeom>
            <a:noFill/>
            <a:ln>
              <a:noFill/>
            </a:ln>
          </p:spPr>
          <p:txBody>
            <a:bodyPr wrap="none" lIns="0" tIns="0" rIns="0" bIns="0" anchor="t" anchorCtr="0">
              <a:spAutoFit/>
            </a:bodyPr>
            <a:lstStyle/>
            <a:p>
              <a:pPr algn="l"/>
              <a:r>
                <a:rPr lang="id" sz="820" b="1" spc="75" dirty="0">
                  <a:solidFill>
                    <a:srgbClr val="585E66"/>
                  </a:solidFill>
                  <a:latin typeface="+mn-lt"/>
                  <a:ea typeface="+mn-ea"/>
                  <a:cs typeface="+mn-cs"/>
                </a:rPr>
                <a:t>PROSPERO CRD42021248764</a:t>
              </a:r>
            </a:p>
          </p:txBody>
        </p:sp>
        <p:sp>
          <p:nvSpPr>
            <p:cNvPr id="15" name="TextBox 15"/>
            <p:cNvSpPr txBox="1"/>
            <p:nvPr/>
          </p:nvSpPr>
          <p:spPr>
            <a:xfrm>
              <a:off x="604838" y="5727700"/>
              <a:ext cx="3312991" cy="161925"/>
            </a:xfrm>
            <a:prstGeom prst="rect">
              <a:avLst/>
            </a:prstGeom>
            <a:noFill/>
            <a:ln>
              <a:noFill/>
            </a:ln>
          </p:spPr>
          <p:txBody>
            <a:bodyPr wrap="none" lIns="0" tIns="0" rIns="0" bIns="0" anchor="t" anchorCtr="0">
              <a:spAutoFit/>
            </a:bodyPr>
            <a:lstStyle/>
            <a:p>
              <a:pPr algn="l"/>
              <a:r>
                <a:rPr lang="id" sz="820" dirty="0">
                  <a:solidFill>
                    <a:srgbClr val="8B9198"/>
                  </a:solidFill>
                  <a:latin typeface="+mn-lt"/>
                  <a:ea typeface="+mn-ea"/>
                  <a:cs typeface="+mn-cs"/>
                </a:rPr>
                <a:t>Pendanaan: Peninsula Dental Social Enterprise · PPI group terlibat</a:t>
              </a:r>
            </a:p>
          </p:txBody>
        </p:sp>
        <p:sp>
          <p:nvSpPr>
            <p:cNvPr id="16" name="TextBox 16"/>
            <p:cNvSpPr txBox="1"/>
            <p:nvPr/>
          </p:nvSpPr>
          <p:spPr>
            <a:xfrm>
              <a:off x="604838" y="6337300"/>
              <a:ext cx="496380" cy="155258"/>
            </a:xfrm>
            <a:prstGeom prst="rect">
              <a:avLst/>
            </a:prstGeom>
            <a:noFill/>
            <a:ln>
              <a:noFill/>
            </a:ln>
          </p:spPr>
          <p:txBody>
            <a:bodyPr wrap="none" lIns="0" tIns="0" rIns="0" bIns="0" anchor="t" anchorCtr="0">
              <a:spAutoFit/>
            </a:bodyPr>
            <a:lstStyle/>
            <a:p>
              <a:pPr algn="l"/>
              <a:r>
                <a:rPr lang="id" sz="790" b="1" spc="105" dirty="0">
                  <a:solidFill>
                    <a:srgbClr val="8B9198"/>
                  </a:solidFill>
                  <a:latin typeface="+mn-lt"/>
                  <a:ea typeface="+mn-ea"/>
                  <a:cs typeface="+mn-cs"/>
                </a:rPr>
                <a:t>01 — 16</a:t>
              </a:r>
            </a:p>
          </p:txBody>
        </p:sp>
      </p:grpSp>
      <p:grpSp>
        <p:nvGrpSpPr>
          <p:cNvPr id="30" name="cover-panel"/>
          <p:cNvGrpSpPr/>
          <p:nvPr/>
        </p:nvGrpSpPr>
        <p:grpSpPr>
          <a:xfrm>
            <a:off x="8743950" y="977900"/>
            <a:ext cx="2686050" cy="5216525"/>
            <a:chOff x="8743950" y="977900"/>
            <a:chExt cx="2686050" cy="5216525"/>
          </a:xfrm>
        </p:grpSpPr>
        <p:sp>
          <p:nvSpPr>
            <p:cNvPr id="18" name="TextBox 18"/>
            <p:cNvSpPr txBox="1"/>
            <p:nvPr/>
          </p:nvSpPr>
          <p:spPr>
            <a:xfrm>
              <a:off x="8758238" y="977900"/>
              <a:ext cx="962364" cy="140494"/>
            </a:xfrm>
            <a:prstGeom prst="rect">
              <a:avLst/>
            </a:prstGeom>
            <a:noFill/>
            <a:ln>
              <a:noFill/>
            </a:ln>
          </p:spPr>
          <p:txBody>
            <a:bodyPr wrap="none" lIns="0" tIns="0" rIns="0" bIns="0" anchor="t" anchorCtr="0">
              <a:spAutoFit/>
            </a:bodyPr>
            <a:lstStyle/>
            <a:p>
              <a:pPr algn="l"/>
              <a:r>
                <a:rPr lang="id" sz="710" b="1" spc="165" dirty="0">
                  <a:solidFill>
                    <a:srgbClr val="8B9198"/>
                  </a:solidFill>
                  <a:latin typeface="+mn-lt"/>
                  <a:ea typeface="+mn-ea"/>
                  <a:cs typeface="+mn-cs"/>
                </a:rPr>
                <a:t>ANGKA KUNCI</a:t>
              </a:r>
            </a:p>
          </p:txBody>
        </p:sp>
        <p:sp>
          <p:nvSpPr>
            <p:cNvPr id="19" name="TextBox 19"/>
            <p:cNvSpPr txBox="1"/>
            <p:nvPr/>
          </p:nvSpPr>
          <p:spPr>
            <a:xfrm>
              <a:off x="8743950" y="1682750"/>
              <a:ext cx="891682" cy="1104900"/>
            </a:xfrm>
            <a:prstGeom prst="rect">
              <a:avLst/>
            </a:prstGeom>
            <a:noFill/>
            <a:ln>
              <a:noFill/>
            </a:ln>
          </p:spPr>
          <p:txBody>
            <a:bodyPr wrap="none" lIns="0" tIns="0" rIns="0" bIns="0" anchor="t" anchorCtr="0">
              <a:spAutoFit/>
            </a:bodyPr>
            <a:lstStyle/>
            <a:p>
              <a:pPr algn="l"/>
              <a:r>
                <a:rPr lang="id" sz="5700" b="1" dirty="0">
                  <a:solidFill>
                    <a:srgbClr val="111318"/>
                  </a:solidFill>
                  <a:latin typeface="+mn-lt"/>
                  <a:ea typeface="+mn-ea"/>
                  <a:cs typeface="+mn-cs"/>
                </a:rPr>
                <a:t>59</a:t>
              </a:r>
            </a:p>
          </p:txBody>
        </p:sp>
        <p:sp>
          <p:nvSpPr>
            <p:cNvPr id="20" name="TextBox 20"/>
            <p:cNvSpPr txBox="1"/>
            <p:nvPr/>
          </p:nvSpPr>
          <p:spPr>
            <a:xfrm>
              <a:off x="8758238" y="2527300"/>
              <a:ext cx="440512" cy="155258"/>
            </a:xfrm>
            <a:prstGeom prst="rect">
              <a:avLst/>
            </a:prstGeom>
            <a:noFill/>
            <a:ln>
              <a:noFill/>
            </a:ln>
          </p:spPr>
          <p:txBody>
            <a:bodyPr wrap="none" lIns="0" tIns="0" rIns="0" bIns="0" anchor="t" anchorCtr="0">
              <a:spAutoFit/>
            </a:bodyPr>
            <a:lstStyle/>
            <a:p>
              <a:pPr algn="l"/>
              <a:r>
                <a:rPr lang="id" sz="790" b="1" spc="165" dirty="0">
                  <a:solidFill>
                    <a:srgbClr val="111318"/>
                  </a:solidFill>
                  <a:latin typeface="+mn-lt"/>
                  <a:ea typeface="+mn-ea"/>
                  <a:cs typeface="+mn-cs"/>
                </a:rPr>
                <a:t>STUDI</a:t>
              </a:r>
            </a:p>
          </p:txBody>
        </p:sp>
        <p:sp>
          <p:nvSpPr>
            <p:cNvPr id="21" name="TextBox 21"/>
            <p:cNvSpPr txBox="1"/>
            <p:nvPr/>
          </p:nvSpPr>
          <p:spPr>
            <a:xfrm>
              <a:off x="8758238" y="2717800"/>
              <a:ext cx="874595"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56 artikel · 3 tesis</a:t>
              </a:r>
            </a:p>
          </p:txBody>
        </p:sp>
        <p:sp>
          <p:nvSpPr>
            <p:cNvPr id="22" name="Line 22"/>
            <p:cNvSpPr/>
            <p:nvPr/>
          </p:nvSpPr>
          <p:spPr>
            <a:xfrm>
              <a:off x="8763000" y="3143250"/>
              <a:ext cx="2667000" cy="9525"/>
            </a:xfrm>
            <a:custGeom>
              <a:avLst/>
              <a:gdLst/>
              <a:ahLst/>
              <a:cxnLst/>
              <a:rect l="l" t="t" r="r" b="b"/>
              <a:pathLst>
                <a:path w="2667000" h="9525">
                  <a:moveTo>
                    <a:pt x="0" y="0"/>
                  </a:moveTo>
                  <a:lnTo>
                    <a:pt x="2667000" y="0"/>
                  </a:lnTo>
                </a:path>
              </a:pathLst>
            </a:custGeom>
            <a:noFill/>
            <a:ln w="9525">
              <a:solidFill>
                <a:srgbClr val="D6D9DE"/>
              </a:solidFill>
            </a:ln>
          </p:spPr>
        </p:sp>
        <p:sp>
          <p:nvSpPr>
            <p:cNvPr id="23" name="TextBox 23"/>
            <p:cNvSpPr txBox="1"/>
            <p:nvPr/>
          </p:nvSpPr>
          <p:spPr>
            <a:xfrm>
              <a:off x="8743950" y="3340100"/>
              <a:ext cx="464891" cy="1104900"/>
            </a:xfrm>
            <a:prstGeom prst="rect">
              <a:avLst/>
            </a:prstGeom>
            <a:noFill/>
            <a:ln>
              <a:noFill/>
            </a:ln>
          </p:spPr>
          <p:txBody>
            <a:bodyPr wrap="none" lIns="0" tIns="0" rIns="0" bIns="0" anchor="t" anchorCtr="0">
              <a:spAutoFit/>
            </a:bodyPr>
            <a:lstStyle/>
            <a:p>
              <a:pPr algn="l"/>
              <a:r>
                <a:rPr lang="id" sz="5700" b="1" dirty="0">
                  <a:solidFill>
                    <a:srgbClr val="E8000D"/>
                  </a:solidFill>
                  <a:latin typeface="+mn-lt"/>
                  <a:ea typeface="+mn-ea"/>
                  <a:cs typeface="+mn-cs"/>
                </a:rPr>
                <a:t>9</a:t>
              </a:r>
            </a:p>
          </p:txBody>
        </p:sp>
        <p:sp>
          <p:nvSpPr>
            <p:cNvPr id="24" name="TextBox 24"/>
            <p:cNvSpPr txBox="1"/>
            <p:nvPr/>
          </p:nvSpPr>
          <p:spPr>
            <a:xfrm>
              <a:off x="8758238" y="4184650"/>
              <a:ext cx="1152743" cy="155258"/>
            </a:xfrm>
            <a:prstGeom prst="rect">
              <a:avLst/>
            </a:prstGeom>
            <a:noFill/>
            <a:ln>
              <a:noFill/>
            </a:ln>
          </p:spPr>
          <p:txBody>
            <a:bodyPr wrap="none" lIns="0" tIns="0" rIns="0" bIns="0" anchor="t" anchorCtr="0">
              <a:spAutoFit/>
            </a:bodyPr>
            <a:lstStyle/>
            <a:p>
              <a:pPr algn="l"/>
              <a:r>
                <a:rPr lang="id" sz="790" b="1" spc="165" dirty="0">
                  <a:solidFill>
                    <a:srgbClr val="111318"/>
                  </a:solidFill>
                  <a:latin typeface="+mn-lt"/>
                  <a:ea typeface="+mn-ea"/>
                  <a:cs typeface="+mn-cs"/>
                </a:rPr>
                <a:t>TEMA SINTESIS</a:t>
              </a:r>
            </a:p>
          </p:txBody>
        </p:sp>
        <p:sp>
          <p:nvSpPr>
            <p:cNvPr id="25" name="TextBox 25"/>
            <p:cNvSpPr txBox="1"/>
            <p:nvPr/>
          </p:nvSpPr>
          <p:spPr>
            <a:xfrm>
              <a:off x="8758238" y="4375150"/>
              <a:ext cx="856270"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3 perspektif aktor</a:t>
              </a:r>
            </a:p>
          </p:txBody>
        </p:sp>
        <p:sp>
          <p:nvSpPr>
            <p:cNvPr id="26" name="Line 26"/>
            <p:cNvSpPr/>
            <p:nvPr/>
          </p:nvSpPr>
          <p:spPr>
            <a:xfrm>
              <a:off x="8763000" y="4800600"/>
              <a:ext cx="2667000" cy="9525"/>
            </a:xfrm>
            <a:custGeom>
              <a:avLst/>
              <a:gdLst/>
              <a:ahLst/>
              <a:cxnLst/>
              <a:rect l="l" t="t" r="r" b="b"/>
              <a:pathLst>
                <a:path w="2667000" h="9525">
                  <a:moveTo>
                    <a:pt x="0" y="0"/>
                  </a:moveTo>
                  <a:lnTo>
                    <a:pt x="2667000" y="0"/>
                  </a:lnTo>
                </a:path>
              </a:pathLst>
            </a:custGeom>
            <a:noFill/>
            <a:ln w="9525">
              <a:solidFill>
                <a:srgbClr val="D6D9DE"/>
              </a:solidFill>
            </a:ln>
          </p:spPr>
        </p:sp>
        <p:sp>
          <p:nvSpPr>
            <p:cNvPr id="27" name="TextBox 27"/>
            <p:cNvSpPr txBox="1"/>
            <p:nvPr/>
          </p:nvSpPr>
          <p:spPr>
            <a:xfrm>
              <a:off x="8743950" y="4997450"/>
              <a:ext cx="891682" cy="1104900"/>
            </a:xfrm>
            <a:prstGeom prst="rect">
              <a:avLst/>
            </a:prstGeom>
            <a:noFill/>
            <a:ln>
              <a:noFill/>
            </a:ln>
          </p:spPr>
          <p:txBody>
            <a:bodyPr wrap="none" lIns="0" tIns="0" rIns="0" bIns="0" anchor="t" anchorCtr="0">
              <a:spAutoFit/>
            </a:bodyPr>
            <a:lstStyle/>
            <a:p>
              <a:pPr algn="l"/>
              <a:r>
                <a:rPr lang="id" sz="5700" b="1" dirty="0">
                  <a:solidFill>
                    <a:srgbClr val="111318"/>
                  </a:solidFill>
                  <a:latin typeface="+mn-lt"/>
                  <a:ea typeface="+mn-ea"/>
                  <a:cs typeface="+mn-cs"/>
                </a:rPr>
                <a:t>13</a:t>
              </a:r>
            </a:p>
          </p:txBody>
        </p:sp>
        <p:sp>
          <p:nvSpPr>
            <p:cNvPr id="28" name="TextBox 28"/>
            <p:cNvSpPr txBox="1"/>
            <p:nvPr/>
          </p:nvSpPr>
          <p:spPr>
            <a:xfrm>
              <a:off x="8758238" y="5842000"/>
              <a:ext cx="613838" cy="155258"/>
            </a:xfrm>
            <a:prstGeom prst="rect">
              <a:avLst/>
            </a:prstGeom>
            <a:noFill/>
            <a:ln>
              <a:noFill/>
            </a:ln>
          </p:spPr>
          <p:txBody>
            <a:bodyPr wrap="none" lIns="0" tIns="0" rIns="0" bIns="0" anchor="t" anchorCtr="0">
              <a:spAutoFit/>
            </a:bodyPr>
            <a:lstStyle/>
            <a:p>
              <a:pPr algn="l"/>
              <a:r>
                <a:rPr lang="id" sz="790" b="1" spc="165" dirty="0">
                  <a:solidFill>
                    <a:srgbClr val="111318"/>
                  </a:solidFill>
                  <a:latin typeface="+mn-lt"/>
                  <a:ea typeface="+mn-ea"/>
                  <a:cs typeface="+mn-cs"/>
                </a:rPr>
                <a:t>NEGARA</a:t>
              </a:r>
            </a:p>
          </p:txBody>
        </p:sp>
        <p:sp>
          <p:nvSpPr>
            <p:cNvPr id="29" name="TextBox 29"/>
            <p:cNvSpPr txBox="1"/>
            <p:nvPr/>
          </p:nvSpPr>
          <p:spPr>
            <a:xfrm>
              <a:off x="8758238" y="6032500"/>
              <a:ext cx="1280859"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HDI sangat tinggi (≥ 0,80)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743935"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01 · LATAR BELAKANG</a:t>
              </a:r>
            </a:p>
          </p:txBody>
        </p:sp>
        <p:sp>
          <p:nvSpPr>
            <p:cNvPr id="3" name="TextBox 3"/>
            <p:cNvSpPr txBox="1"/>
            <p:nvPr/>
          </p:nvSpPr>
          <p:spPr>
            <a:xfrm>
              <a:off x="595503" y="685800"/>
              <a:ext cx="9834875"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Ketimpangan yang dapat dicegah, tetapi jarang terukur</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02 / 16</a:t>
              </a:r>
            </a:p>
          </p:txBody>
        </p:sp>
      </p:grpSp>
      <p:grpSp>
        <p:nvGrpSpPr>
          <p:cNvPr id="22" name="body"/>
          <p:cNvGrpSpPr/>
          <p:nvPr/>
        </p:nvGrpSpPr>
        <p:grpSpPr>
          <a:xfrm>
            <a:off x="601599" y="1581150"/>
            <a:ext cx="10980801" cy="4438650"/>
            <a:chOff x="601599" y="1581150"/>
            <a:chExt cx="10980801" cy="4438650"/>
          </a:xfrm>
        </p:grpSpPr>
        <p:sp>
          <p:nvSpPr>
            <p:cNvPr id="8" name="TextBox 8"/>
            <p:cNvSpPr txBox="1"/>
            <p:nvPr/>
          </p:nvSpPr>
          <p:spPr>
            <a:xfrm>
              <a:off x="601599" y="1708150"/>
              <a:ext cx="4565446" cy="861441"/>
            </a:xfrm>
            <a:prstGeom prst="rect">
              <a:avLst/>
            </a:prstGeom>
            <a:noFill/>
            <a:ln>
              <a:noFill/>
            </a:ln>
          </p:spPr>
          <p:txBody>
            <a:bodyPr wrap="none" lIns="0" tIns="0" rIns="0" bIns="0" anchor="t" anchorCtr="0">
              <a:spAutoFit/>
            </a:bodyPr>
            <a:lstStyle/>
            <a:p>
              <a:pPr algn="l">
                <a:lnSpc>
                  <a:spcPts val="2175"/>
                </a:lnSpc>
              </a:pPr>
              <a:r>
                <a:rPr lang="id" sz="1580" b="1" dirty="0">
                  <a:solidFill>
                    <a:srgbClr val="111318"/>
                  </a:solidFill>
                  <a:latin typeface="+mn-lt"/>
                  <a:ea typeface="+mn-ea"/>
                  <a:cs typeface="+mn-cs"/>
                </a:rPr>
                <a:t>Kesehatan mulut yang buruk pada anak autistik</a:t>
              </a:r>
              <a:br>
                <a:rPr lang="id" sz="1580" b="1" dirty="0">
                  <a:solidFill>
                    <a:srgbClr val="111318"/>
                  </a:solidFill>
                  <a:latin typeface="+mn-lt"/>
                  <a:ea typeface="+mn-ea"/>
                  <a:cs typeface="+mn-cs"/>
                </a:rPr>
              </a:br>
              <a:r>
                <a:rPr lang="id" sz="1580" b="1" dirty="0">
                  <a:solidFill>
                    <a:srgbClr val="111318"/>
                  </a:solidFill>
                  <a:latin typeface="+mn-lt"/>
                  <a:ea typeface="+mn-ea"/>
                  <a:cs typeface="+mn-cs"/>
                </a:rPr>
                <a:t>adalah ketimpangan yang dapat dicegah —</a:t>
              </a:r>
              <a:br>
                <a:rPr lang="id" sz="1580" b="1" dirty="0">
                  <a:solidFill>
                    <a:srgbClr val="111318"/>
                  </a:solidFill>
                  <a:latin typeface="+mn-lt"/>
                  <a:ea typeface="+mn-ea"/>
                  <a:cs typeface="+mn-cs"/>
                </a:rPr>
              </a:br>
              <a:r>
                <a:rPr lang="id" sz="1580" b="1" dirty="0">
                  <a:solidFill>
                    <a:srgbClr val="111318"/>
                  </a:solidFill>
                  <a:latin typeface="+mn-lt"/>
                  <a:ea typeface="+mn-ea"/>
                  <a:cs typeface="+mn-cs"/>
                </a:rPr>
                <a:t>dan mahal secara klinis.</a:t>
              </a:r>
            </a:p>
          </p:txBody>
        </p:sp>
        <p:sp>
          <p:nvSpPr>
            <p:cNvPr id="9" name="TextBox 9"/>
            <p:cNvSpPr txBox="1"/>
            <p:nvPr/>
          </p:nvSpPr>
          <p:spPr>
            <a:xfrm>
              <a:off x="604838" y="2965450"/>
              <a:ext cx="146456" cy="161925"/>
            </a:xfrm>
            <a:prstGeom prst="rect">
              <a:avLst/>
            </a:prstGeom>
            <a:noFill/>
            <a:ln>
              <a:noFill/>
            </a:ln>
          </p:spPr>
          <p:txBody>
            <a:bodyPr wrap="none" lIns="0" tIns="0" rIns="0" bIns="0" anchor="t" anchorCtr="0">
              <a:spAutoFit/>
            </a:bodyPr>
            <a:lstStyle/>
            <a:p>
              <a:pPr algn="l"/>
              <a:r>
                <a:rPr lang="id" sz="820" b="1" spc="105" dirty="0">
                  <a:solidFill>
                    <a:srgbClr val="E8000D"/>
                  </a:solidFill>
                  <a:latin typeface="+mn-lt"/>
                  <a:ea typeface="+mn-ea"/>
                  <a:cs typeface="+mn-cs"/>
                </a:rPr>
                <a:t>01</a:t>
              </a:r>
            </a:p>
          </p:txBody>
        </p:sp>
        <p:sp>
          <p:nvSpPr>
            <p:cNvPr id="10" name="TextBox 10"/>
            <p:cNvSpPr txBox="1"/>
            <p:nvPr/>
          </p:nvSpPr>
          <p:spPr>
            <a:xfrm>
              <a:off x="889064" y="2914650"/>
              <a:ext cx="1251749" cy="242507"/>
            </a:xfrm>
            <a:prstGeom prst="rect">
              <a:avLst/>
            </a:prstGeom>
            <a:noFill/>
            <a:ln>
              <a:noFill/>
            </a:ln>
          </p:spPr>
          <p:txBody>
            <a:bodyPr wrap="none" lIns="0" tIns="0" rIns="0" bIns="0" anchor="t" anchorCtr="0">
              <a:spAutoFit/>
            </a:bodyPr>
            <a:lstStyle/>
            <a:p>
              <a:pPr algn="l"/>
              <a:r>
                <a:rPr lang="id" sz="1240" b="1" dirty="0">
                  <a:solidFill>
                    <a:srgbClr val="111318"/>
                  </a:solidFill>
                  <a:latin typeface="+mn-lt"/>
                  <a:ea typeface="+mn-ea"/>
                  <a:cs typeface="+mn-cs"/>
                </a:rPr>
                <a:t>Beban penyakit</a:t>
              </a:r>
            </a:p>
          </p:txBody>
        </p:sp>
        <p:sp>
          <p:nvSpPr>
            <p:cNvPr id="11" name="TextBox 11"/>
            <p:cNvSpPr txBox="1"/>
            <p:nvPr/>
          </p:nvSpPr>
          <p:spPr>
            <a:xfrm>
              <a:off x="889826" y="3124200"/>
              <a:ext cx="3227885" cy="413194"/>
            </a:xfrm>
            <a:prstGeom prst="rect">
              <a:avLst/>
            </a:prstGeom>
            <a:noFill/>
            <a:ln>
              <a:noFill/>
            </a:ln>
          </p:spPr>
          <p:txBody>
            <a:bodyPr wrap="none" lIns="0" tIns="0" rIns="0" bIns="0" anchor="t" anchorCtr="0">
              <a:spAutoFit/>
            </a:bodyPr>
            <a:lstStyle/>
            <a:p>
              <a:pPr algn="l">
                <a:lnSpc>
                  <a:spcPts val="1575"/>
                </a:lnSpc>
              </a:pPr>
              <a:r>
                <a:rPr lang="id" sz="1090" dirty="0">
                  <a:solidFill>
                    <a:srgbClr val="585E66"/>
                  </a:solidFill>
                  <a:latin typeface="+mn-lt"/>
                  <a:ea typeface="+mn-ea"/>
                  <a:cs typeface="+mn-cs"/>
                </a:rPr>
                <a:t>Karies dan penyakit periodontal berprevalensi tinggi;</a:t>
              </a:r>
              <a:br>
                <a:rPr lang="id" sz="1090" dirty="0">
                  <a:solidFill>
                    <a:srgbClr val="585E66"/>
                  </a:solidFill>
                  <a:latin typeface="+mn-lt"/>
                  <a:ea typeface="+mn-ea"/>
                  <a:cs typeface="+mn-cs"/>
                </a:rPr>
              </a:br>
              <a:r>
                <a:rPr lang="id" sz="1090" dirty="0">
                  <a:solidFill>
                    <a:srgbClr val="585E66"/>
                  </a:solidFill>
                  <a:latin typeface="+mn-lt"/>
                  <a:ea typeface="+mn-ea"/>
                  <a:cs typeface="+mn-cs"/>
                </a:rPr>
                <a:t>banyak anak diterapi dengan anestesi umum.</a:t>
              </a:r>
            </a:p>
          </p:txBody>
        </p:sp>
        <p:sp>
          <p:nvSpPr>
            <p:cNvPr id="12" name="TextBox 12"/>
            <p:cNvSpPr txBox="1"/>
            <p:nvPr/>
          </p:nvSpPr>
          <p:spPr>
            <a:xfrm>
              <a:off x="604838" y="3708400"/>
              <a:ext cx="146456" cy="161925"/>
            </a:xfrm>
            <a:prstGeom prst="rect">
              <a:avLst/>
            </a:prstGeom>
            <a:noFill/>
            <a:ln>
              <a:noFill/>
            </a:ln>
          </p:spPr>
          <p:txBody>
            <a:bodyPr wrap="none" lIns="0" tIns="0" rIns="0" bIns="0" anchor="t" anchorCtr="0">
              <a:spAutoFit/>
            </a:bodyPr>
            <a:lstStyle/>
            <a:p>
              <a:pPr algn="l"/>
              <a:r>
                <a:rPr lang="id" sz="820" b="1" spc="105" dirty="0">
                  <a:solidFill>
                    <a:srgbClr val="E8000D"/>
                  </a:solidFill>
                  <a:latin typeface="+mn-lt"/>
                  <a:ea typeface="+mn-ea"/>
                  <a:cs typeface="+mn-cs"/>
                </a:rPr>
                <a:t>02</a:t>
              </a:r>
            </a:p>
          </p:txBody>
        </p:sp>
        <p:sp>
          <p:nvSpPr>
            <p:cNvPr id="13" name="TextBox 13"/>
            <p:cNvSpPr txBox="1"/>
            <p:nvPr/>
          </p:nvSpPr>
          <p:spPr>
            <a:xfrm>
              <a:off x="889064" y="3657600"/>
              <a:ext cx="2475951" cy="242507"/>
            </a:xfrm>
            <a:prstGeom prst="rect">
              <a:avLst/>
            </a:prstGeom>
            <a:noFill/>
            <a:ln>
              <a:noFill/>
            </a:ln>
          </p:spPr>
          <p:txBody>
            <a:bodyPr wrap="none" lIns="0" tIns="0" rIns="0" bIns="0" anchor="t" anchorCtr="0">
              <a:spAutoFit/>
            </a:bodyPr>
            <a:lstStyle/>
            <a:p>
              <a:pPr algn="l"/>
              <a:r>
                <a:rPr lang="id" sz="1240" b="1" dirty="0">
                  <a:solidFill>
                    <a:srgbClr val="111318"/>
                  </a:solidFill>
                  <a:latin typeface="+mn-lt"/>
                  <a:ea typeface="+mn-ea"/>
                  <a:cs typeface="+mn-cs"/>
                </a:rPr>
                <a:t>Determinan biologis &amp; perilaku</a:t>
              </a:r>
            </a:p>
          </p:txBody>
        </p:sp>
        <p:sp>
          <p:nvSpPr>
            <p:cNvPr id="14" name="TextBox 14"/>
            <p:cNvSpPr txBox="1"/>
            <p:nvPr/>
          </p:nvSpPr>
          <p:spPr>
            <a:xfrm>
              <a:off x="889826" y="3867150"/>
              <a:ext cx="3034803" cy="413194"/>
            </a:xfrm>
            <a:prstGeom prst="rect">
              <a:avLst/>
            </a:prstGeom>
            <a:noFill/>
            <a:ln>
              <a:noFill/>
            </a:ln>
          </p:spPr>
          <p:txBody>
            <a:bodyPr wrap="none" lIns="0" tIns="0" rIns="0" bIns="0" anchor="t" anchorCtr="0">
              <a:spAutoFit/>
            </a:bodyPr>
            <a:lstStyle/>
            <a:p>
              <a:pPr algn="l">
                <a:lnSpc>
                  <a:spcPts val="1575"/>
                </a:lnSpc>
              </a:pPr>
              <a:r>
                <a:rPr lang="id" sz="1090" dirty="0">
                  <a:solidFill>
                    <a:srgbClr val="585E66"/>
                  </a:solidFill>
                  <a:latin typeface="+mn-lt"/>
                  <a:ea typeface="+mn-ea"/>
                  <a:cs typeface="+mn-cs"/>
                </a:rPr>
                <a:t>Diet restriktif (rasa, tekstur, bau), pica, kebutuhan</a:t>
              </a:r>
              <a:br>
                <a:rPr lang="id" sz="1090" dirty="0">
                  <a:solidFill>
                    <a:srgbClr val="585E66"/>
                  </a:solidFill>
                  <a:latin typeface="+mn-lt"/>
                  <a:ea typeface="+mn-ea"/>
                  <a:cs typeface="+mn-cs"/>
                </a:rPr>
              </a:br>
              <a:r>
                <a:rPr lang="id" sz="1090" dirty="0">
                  <a:solidFill>
                    <a:srgbClr val="585E66"/>
                  </a:solidFill>
                  <a:latin typeface="+mn-lt"/>
                  <a:ea typeface="+mn-ea"/>
                  <a:cs typeface="+mn-cs"/>
                </a:rPr>
                <a:t>akan kesamaan, medikasi trisiklik, motorik halus.</a:t>
              </a:r>
            </a:p>
          </p:txBody>
        </p:sp>
        <p:sp>
          <p:nvSpPr>
            <p:cNvPr id="15" name="TextBox 15"/>
            <p:cNvSpPr txBox="1"/>
            <p:nvPr/>
          </p:nvSpPr>
          <p:spPr>
            <a:xfrm>
              <a:off x="604838" y="4451350"/>
              <a:ext cx="146456" cy="161925"/>
            </a:xfrm>
            <a:prstGeom prst="rect">
              <a:avLst/>
            </a:prstGeom>
            <a:noFill/>
            <a:ln>
              <a:noFill/>
            </a:ln>
          </p:spPr>
          <p:txBody>
            <a:bodyPr wrap="none" lIns="0" tIns="0" rIns="0" bIns="0" anchor="t" anchorCtr="0">
              <a:spAutoFit/>
            </a:bodyPr>
            <a:lstStyle/>
            <a:p>
              <a:pPr algn="l"/>
              <a:r>
                <a:rPr lang="id" sz="820" b="1" spc="105" dirty="0">
                  <a:solidFill>
                    <a:srgbClr val="E8000D"/>
                  </a:solidFill>
                  <a:latin typeface="+mn-lt"/>
                  <a:ea typeface="+mn-ea"/>
                  <a:cs typeface="+mn-cs"/>
                </a:rPr>
                <a:t>03</a:t>
              </a:r>
            </a:p>
          </p:txBody>
        </p:sp>
        <p:sp>
          <p:nvSpPr>
            <p:cNvPr id="16" name="TextBox 16"/>
            <p:cNvSpPr txBox="1"/>
            <p:nvPr/>
          </p:nvSpPr>
          <p:spPr>
            <a:xfrm>
              <a:off x="889064" y="4400550"/>
              <a:ext cx="1771317" cy="242507"/>
            </a:xfrm>
            <a:prstGeom prst="rect">
              <a:avLst/>
            </a:prstGeom>
            <a:noFill/>
            <a:ln>
              <a:noFill/>
            </a:ln>
          </p:spPr>
          <p:txBody>
            <a:bodyPr wrap="none" lIns="0" tIns="0" rIns="0" bIns="0" anchor="t" anchorCtr="0">
              <a:spAutoFit/>
            </a:bodyPr>
            <a:lstStyle/>
            <a:p>
              <a:pPr algn="l"/>
              <a:r>
                <a:rPr lang="id" sz="1240" b="1" dirty="0">
                  <a:solidFill>
                    <a:srgbClr val="111318"/>
                  </a:solidFill>
                  <a:latin typeface="+mn-lt"/>
                  <a:ea typeface="+mn-ea"/>
                  <a:cs typeface="+mn-cs"/>
                </a:rPr>
                <a:t>Kesenjangan sistemik</a:t>
              </a:r>
            </a:p>
          </p:txBody>
        </p:sp>
        <p:sp>
          <p:nvSpPr>
            <p:cNvPr id="17" name="TextBox 17"/>
            <p:cNvSpPr txBox="1"/>
            <p:nvPr/>
          </p:nvSpPr>
          <p:spPr>
            <a:xfrm>
              <a:off x="889826" y="4610100"/>
              <a:ext cx="3235942" cy="413194"/>
            </a:xfrm>
            <a:prstGeom prst="rect">
              <a:avLst/>
            </a:prstGeom>
            <a:noFill/>
            <a:ln>
              <a:noFill/>
            </a:ln>
          </p:spPr>
          <p:txBody>
            <a:bodyPr wrap="none" lIns="0" tIns="0" rIns="0" bIns="0" anchor="t" anchorCtr="0">
              <a:spAutoFit/>
            </a:bodyPr>
            <a:lstStyle/>
            <a:p>
              <a:pPr algn="l">
                <a:lnSpc>
                  <a:spcPts val="1575"/>
                </a:lnSpc>
              </a:pPr>
              <a:r>
                <a:rPr lang="id" sz="1090" dirty="0">
                  <a:solidFill>
                    <a:srgbClr val="585E66"/>
                  </a:solidFill>
                  <a:latin typeface="+mn-lt"/>
                  <a:ea typeface="+mn-ea"/>
                  <a:cs typeface="+mn-cs"/>
                </a:rPr>
                <a:t>Kebutuhan yang tidak terpenuhi berlangsung dalam</a:t>
              </a:r>
              <a:br>
                <a:rPr lang="id" sz="1090" dirty="0">
                  <a:solidFill>
                    <a:srgbClr val="585E66"/>
                  </a:solidFill>
                  <a:latin typeface="+mn-lt"/>
                  <a:ea typeface="+mn-ea"/>
                  <a:cs typeface="+mn-cs"/>
                </a:rPr>
              </a:br>
              <a:r>
                <a:rPr lang="id" sz="1090" dirty="0">
                  <a:solidFill>
                    <a:srgbClr val="585E66"/>
                  </a:solidFill>
                  <a:latin typeface="+mn-lt"/>
                  <a:ea typeface="+mn-ea"/>
                  <a:cs typeface="+mn-cs"/>
                </a:rPr>
                <a:t>ketimpangan kesehatan dan sosial sepanjang hidup.</a:t>
              </a:r>
            </a:p>
          </p:txBody>
        </p:sp>
        <p:sp>
          <p:nvSpPr>
            <p:cNvPr id="18" name="TextBox 18"/>
            <p:cNvSpPr txBox="1"/>
            <p:nvPr/>
          </p:nvSpPr>
          <p:spPr>
            <a:xfrm>
              <a:off x="604838" y="5194300"/>
              <a:ext cx="146456" cy="161925"/>
            </a:xfrm>
            <a:prstGeom prst="rect">
              <a:avLst/>
            </a:prstGeom>
            <a:noFill/>
            <a:ln>
              <a:noFill/>
            </a:ln>
          </p:spPr>
          <p:txBody>
            <a:bodyPr wrap="none" lIns="0" tIns="0" rIns="0" bIns="0" anchor="t" anchorCtr="0">
              <a:spAutoFit/>
            </a:bodyPr>
            <a:lstStyle/>
            <a:p>
              <a:pPr algn="l"/>
              <a:r>
                <a:rPr lang="id" sz="820" b="1" spc="105" dirty="0">
                  <a:solidFill>
                    <a:srgbClr val="E8000D"/>
                  </a:solidFill>
                  <a:latin typeface="+mn-lt"/>
                  <a:ea typeface="+mn-ea"/>
                  <a:cs typeface="+mn-cs"/>
                </a:rPr>
                <a:t>04</a:t>
              </a:r>
            </a:p>
          </p:txBody>
        </p:sp>
        <p:sp>
          <p:nvSpPr>
            <p:cNvPr id="19" name="TextBox 19"/>
            <p:cNvSpPr txBox="1"/>
            <p:nvPr/>
          </p:nvSpPr>
          <p:spPr>
            <a:xfrm>
              <a:off x="889064" y="5143500"/>
              <a:ext cx="1250896" cy="242507"/>
            </a:xfrm>
            <a:prstGeom prst="rect">
              <a:avLst/>
            </a:prstGeom>
            <a:noFill/>
            <a:ln>
              <a:noFill/>
            </a:ln>
          </p:spPr>
          <p:txBody>
            <a:bodyPr wrap="none" lIns="0" tIns="0" rIns="0" bIns="0" anchor="t" anchorCtr="0">
              <a:spAutoFit/>
            </a:bodyPr>
            <a:lstStyle/>
            <a:p>
              <a:pPr algn="l"/>
              <a:r>
                <a:rPr lang="id" sz="1240" b="1" dirty="0">
                  <a:solidFill>
                    <a:srgbClr val="111318"/>
                  </a:solidFill>
                  <a:latin typeface="+mn-lt"/>
                  <a:ea typeface="+mn-ea"/>
                  <a:cs typeface="+mn-cs"/>
                </a:rPr>
                <a:t>Tujuan tinjauan</a:t>
              </a:r>
            </a:p>
          </p:txBody>
        </p:sp>
        <p:sp>
          <p:nvSpPr>
            <p:cNvPr id="20" name="TextBox 20"/>
            <p:cNvSpPr txBox="1"/>
            <p:nvPr/>
          </p:nvSpPr>
          <p:spPr>
            <a:xfrm>
              <a:off x="889826" y="5353050"/>
              <a:ext cx="3389184" cy="413194"/>
            </a:xfrm>
            <a:prstGeom prst="rect">
              <a:avLst/>
            </a:prstGeom>
            <a:noFill/>
            <a:ln>
              <a:noFill/>
            </a:ln>
          </p:spPr>
          <p:txBody>
            <a:bodyPr wrap="none" lIns="0" tIns="0" rIns="0" bIns="0" anchor="t" anchorCtr="0">
              <a:spAutoFit/>
            </a:bodyPr>
            <a:lstStyle/>
            <a:p>
              <a:pPr algn="l">
                <a:lnSpc>
                  <a:spcPts val="1575"/>
                </a:lnSpc>
              </a:pPr>
              <a:r>
                <a:rPr lang="id" sz="1090" dirty="0">
                  <a:solidFill>
                    <a:srgbClr val="585E66"/>
                  </a:solidFill>
                  <a:latin typeface="+mn-lt"/>
                  <a:ea typeface="+mn-ea"/>
                  <a:cs typeface="+mn-cs"/>
                </a:rPr>
                <a:t>Memetakan faktor perilaku OH, akses, dan penyediaan</a:t>
              </a:r>
              <a:br>
                <a:rPr lang="id" sz="1090" dirty="0">
                  <a:solidFill>
                    <a:srgbClr val="585E66"/>
                  </a:solidFill>
                  <a:latin typeface="+mn-lt"/>
                  <a:ea typeface="+mn-ea"/>
                  <a:cs typeface="+mn-cs"/>
                </a:rPr>
              </a:br>
              <a:r>
                <a:rPr lang="id" sz="1090" dirty="0">
                  <a:solidFill>
                    <a:srgbClr val="585E66"/>
                  </a:solidFill>
                  <a:latin typeface="+mn-lt"/>
                  <a:ea typeface="+mn-ea"/>
                  <a:cs typeface="+mn-cs"/>
                </a:rPr>
                <a:t>layanan gigi bagi CYP autistik ≤ 19 tahun.</a:t>
              </a:r>
            </a:p>
          </p:txBody>
        </p:sp>
        <p:sp>
          <p:nvSpPr>
            <p:cNvPr id="21" name="Rectangle 21"/>
            <p:cNvSpPr/>
            <p:nvPr/>
          </p:nvSpPr>
          <p:spPr>
            <a:xfrm>
              <a:off x="6286500" y="1581150"/>
              <a:ext cx="5295900" cy="4438650"/>
            </a:xfrm>
            <a:prstGeom prst="rect">
              <a:avLst/>
            </a:prstGeom>
            <a:solidFill>
              <a:srgbClr val="F3F3F1"/>
            </a:solidFill>
            <a:ln>
              <a:noFill/>
            </a:ln>
          </p:spPr>
        </p:sp>
      </p:grpSp>
      <p:grpSp>
        <p:nvGrpSpPr>
          <p:cNvPr id="35" name="context"/>
          <p:cNvGrpSpPr/>
          <p:nvPr/>
        </p:nvGrpSpPr>
        <p:grpSpPr>
          <a:xfrm>
            <a:off x="6661976" y="1911350"/>
            <a:ext cx="4539424" cy="3862388"/>
            <a:chOff x="6661976" y="1911350"/>
            <a:chExt cx="4539424" cy="3862388"/>
          </a:xfrm>
        </p:grpSpPr>
        <p:sp>
          <p:nvSpPr>
            <p:cNvPr id="23" name="TextBox 23"/>
            <p:cNvSpPr txBox="1"/>
            <p:nvPr/>
          </p:nvSpPr>
          <p:spPr>
            <a:xfrm>
              <a:off x="6662738" y="1911350"/>
              <a:ext cx="1507204"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KERANGKA TINJAUAN</a:t>
              </a:r>
            </a:p>
          </p:txBody>
        </p:sp>
        <p:sp>
          <p:nvSpPr>
            <p:cNvPr id="24" name="TextBox 24"/>
            <p:cNvSpPr txBox="1"/>
            <p:nvPr/>
          </p:nvSpPr>
          <p:spPr>
            <a:xfrm>
              <a:off x="6662738" y="2235200"/>
              <a:ext cx="1673221" cy="147638"/>
            </a:xfrm>
            <a:prstGeom prst="rect">
              <a:avLst/>
            </a:prstGeom>
            <a:noFill/>
            <a:ln>
              <a:noFill/>
            </a:ln>
          </p:spPr>
          <p:txBody>
            <a:bodyPr wrap="none" lIns="0" tIns="0" rIns="0" bIns="0" anchor="t" anchorCtr="0">
              <a:spAutoFit/>
            </a:bodyPr>
            <a:lstStyle/>
            <a:p>
              <a:pPr algn="l"/>
              <a:r>
                <a:rPr lang="id" sz="750" b="1" spc="120" dirty="0">
                  <a:solidFill>
                    <a:srgbClr val="111318"/>
                  </a:solidFill>
                  <a:latin typeface="+mn-lt"/>
                  <a:ea typeface="+mn-ea"/>
                  <a:cs typeface="+mn-cs"/>
                </a:rPr>
                <a:t>PERILAKU ORAL HEALTH</a:t>
              </a:r>
            </a:p>
          </p:txBody>
        </p:sp>
        <p:sp>
          <p:nvSpPr>
            <p:cNvPr id="25" name="TextBox 25"/>
            <p:cNvSpPr txBox="1"/>
            <p:nvPr/>
          </p:nvSpPr>
          <p:spPr>
            <a:xfrm>
              <a:off x="6662547" y="2393950"/>
              <a:ext cx="2528454" cy="372618"/>
            </a:xfrm>
            <a:prstGeom prst="rect">
              <a:avLst/>
            </a:prstGeom>
            <a:noFill/>
            <a:ln>
              <a:noFill/>
            </a:ln>
          </p:spPr>
          <p:txBody>
            <a:bodyPr wrap="none" lIns="0" tIns="0" rIns="0" bIns="0" anchor="t" anchorCtr="0">
              <a:spAutoFit/>
            </a:bodyPr>
            <a:lstStyle/>
            <a:p>
              <a:pPr algn="l">
                <a:lnSpc>
                  <a:spcPts val="1425"/>
                </a:lnSpc>
              </a:pPr>
              <a:r>
                <a:rPr lang="id" sz="980" dirty="0">
                  <a:solidFill>
                    <a:srgbClr val="585E66"/>
                  </a:solidFill>
                  <a:latin typeface="+mn-lt"/>
                  <a:ea typeface="+mn-ea"/>
                  <a:cs typeface="+mn-cs"/>
                </a:rPr>
                <a:t>Sikat gigi, pasta berfluorida, frekuensi</a:t>
              </a:r>
              <a:br>
                <a:rPr lang="id" sz="980" dirty="0">
                  <a:solidFill>
                    <a:srgbClr val="585E66"/>
                  </a:solidFill>
                  <a:latin typeface="+mn-lt"/>
                  <a:ea typeface="+mn-ea"/>
                  <a:cs typeface="+mn-cs"/>
                </a:rPr>
              </a:br>
              <a:r>
                <a:rPr lang="id" sz="980" dirty="0">
                  <a:solidFill>
                    <a:srgbClr val="585E66"/>
                  </a:solidFill>
                  <a:latin typeface="+mn-lt"/>
                  <a:ea typeface="+mn-ea"/>
                  <a:cs typeface="+mn-cs"/>
                </a:rPr>
                <a:t>konsumsi gula — perilaku yang dapat diubah.</a:t>
              </a:r>
            </a:p>
          </p:txBody>
        </p:sp>
        <p:sp>
          <p:nvSpPr>
            <p:cNvPr id="26" name="Line 26"/>
            <p:cNvSpPr/>
            <p:nvPr/>
          </p:nvSpPr>
          <p:spPr>
            <a:xfrm>
              <a:off x="6667500" y="2914650"/>
              <a:ext cx="4533900" cy="9525"/>
            </a:xfrm>
            <a:custGeom>
              <a:avLst/>
              <a:gdLst/>
              <a:ahLst/>
              <a:cxnLst/>
              <a:rect l="l" t="t" r="r" b="b"/>
              <a:pathLst>
                <a:path w="4533900" h="9525">
                  <a:moveTo>
                    <a:pt x="0" y="0"/>
                  </a:moveTo>
                  <a:lnTo>
                    <a:pt x="4533900" y="0"/>
                  </a:lnTo>
                </a:path>
              </a:pathLst>
            </a:custGeom>
            <a:noFill/>
            <a:ln w="9525">
              <a:solidFill>
                <a:srgbClr val="D6D9DE"/>
              </a:solidFill>
            </a:ln>
          </p:spPr>
        </p:sp>
        <p:sp>
          <p:nvSpPr>
            <p:cNvPr id="27" name="TextBox 27"/>
            <p:cNvSpPr txBox="1"/>
            <p:nvPr/>
          </p:nvSpPr>
          <p:spPr>
            <a:xfrm>
              <a:off x="6662738" y="3149600"/>
              <a:ext cx="1133079" cy="147638"/>
            </a:xfrm>
            <a:prstGeom prst="rect">
              <a:avLst/>
            </a:prstGeom>
            <a:noFill/>
            <a:ln>
              <a:noFill/>
            </a:ln>
          </p:spPr>
          <p:txBody>
            <a:bodyPr wrap="none" lIns="0" tIns="0" rIns="0" bIns="0" anchor="t" anchorCtr="0">
              <a:spAutoFit/>
            </a:bodyPr>
            <a:lstStyle/>
            <a:p>
              <a:pPr algn="l"/>
              <a:r>
                <a:rPr lang="id" sz="750" b="1" spc="120" dirty="0">
                  <a:solidFill>
                    <a:srgbClr val="111318"/>
                  </a:solidFill>
                  <a:latin typeface="+mn-lt"/>
                  <a:ea typeface="+mn-ea"/>
                  <a:cs typeface="+mn-cs"/>
                </a:rPr>
                <a:t>AKSES LAYANAN</a:t>
              </a:r>
            </a:p>
          </p:txBody>
        </p:sp>
        <p:sp>
          <p:nvSpPr>
            <p:cNvPr id="28" name="TextBox 28"/>
            <p:cNvSpPr txBox="1"/>
            <p:nvPr/>
          </p:nvSpPr>
          <p:spPr>
            <a:xfrm>
              <a:off x="6662547" y="3308350"/>
              <a:ext cx="2334570" cy="372618"/>
            </a:xfrm>
            <a:prstGeom prst="rect">
              <a:avLst/>
            </a:prstGeom>
            <a:noFill/>
            <a:ln>
              <a:noFill/>
            </a:ln>
          </p:spPr>
          <p:txBody>
            <a:bodyPr wrap="none" lIns="0" tIns="0" rIns="0" bIns="0" anchor="t" anchorCtr="0">
              <a:spAutoFit/>
            </a:bodyPr>
            <a:lstStyle/>
            <a:p>
              <a:pPr algn="l">
                <a:lnSpc>
                  <a:spcPts val="1425"/>
                </a:lnSpc>
              </a:pPr>
              <a:r>
                <a:rPr lang="id" sz="980" dirty="0">
                  <a:solidFill>
                    <a:srgbClr val="585E66"/>
                  </a:solidFill>
                  <a:latin typeface="+mn-lt"/>
                  <a:ea typeface="+mn-ea"/>
                  <a:cs typeface="+mn-cs"/>
                </a:rPr>
                <a:t>Biaya dan asuransi, jarak, waktu tunggu,</a:t>
              </a:r>
              <a:br>
                <a:rPr lang="id" sz="980" dirty="0">
                  <a:solidFill>
                    <a:srgbClr val="585E66"/>
                  </a:solidFill>
                  <a:latin typeface="+mn-lt"/>
                  <a:ea typeface="+mn-ea"/>
                  <a:cs typeface="+mn-cs"/>
                </a:rPr>
              </a:br>
              <a:r>
                <a:rPr lang="id" sz="980" dirty="0">
                  <a:solidFill>
                    <a:srgbClr val="585E66"/>
                  </a:solidFill>
                  <a:latin typeface="+mn-lt"/>
                  <a:ea typeface="+mn-ea"/>
                  <a:cs typeface="+mn-cs"/>
                </a:rPr>
                <a:t>ketersediaan dokter yang menerima anak.</a:t>
              </a:r>
            </a:p>
          </p:txBody>
        </p:sp>
        <p:sp>
          <p:nvSpPr>
            <p:cNvPr id="29" name="Line 29"/>
            <p:cNvSpPr/>
            <p:nvPr/>
          </p:nvSpPr>
          <p:spPr>
            <a:xfrm>
              <a:off x="6667500" y="3829050"/>
              <a:ext cx="4533900" cy="9525"/>
            </a:xfrm>
            <a:custGeom>
              <a:avLst/>
              <a:gdLst/>
              <a:ahLst/>
              <a:cxnLst/>
              <a:rect l="l" t="t" r="r" b="b"/>
              <a:pathLst>
                <a:path w="4533900" h="9525">
                  <a:moveTo>
                    <a:pt x="0" y="0"/>
                  </a:moveTo>
                  <a:lnTo>
                    <a:pt x="4533900" y="0"/>
                  </a:lnTo>
                </a:path>
              </a:pathLst>
            </a:custGeom>
            <a:noFill/>
            <a:ln w="9525">
              <a:solidFill>
                <a:srgbClr val="D6D9DE"/>
              </a:solidFill>
            </a:ln>
          </p:spPr>
        </p:sp>
        <p:sp>
          <p:nvSpPr>
            <p:cNvPr id="30" name="TextBox 30"/>
            <p:cNvSpPr txBox="1"/>
            <p:nvPr/>
          </p:nvSpPr>
          <p:spPr>
            <a:xfrm>
              <a:off x="6662738" y="4064000"/>
              <a:ext cx="1550347" cy="147638"/>
            </a:xfrm>
            <a:prstGeom prst="rect">
              <a:avLst/>
            </a:prstGeom>
            <a:noFill/>
            <a:ln>
              <a:noFill/>
            </a:ln>
          </p:spPr>
          <p:txBody>
            <a:bodyPr wrap="none" lIns="0" tIns="0" rIns="0" bIns="0" anchor="t" anchorCtr="0">
              <a:spAutoFit/>
            </a:bodyPr>
            <a:lstStyle/>
            <a:p>
              <a:pPr algn="l"/>
              <a:r>
                <a:rPr lang="id" sz="750" b="1" spc="120" dirty="0">
                  <a:solidFill>
                    <a:srgbClr val="111318"/>
                  </a:solidFill>
                  <a:latin typeface="+mn-lt"/>
                  <a:ea typeface="+mn-ea"/>
                  <a:cs typeface="+mn-cs"/>
                </a:rPr>
                <a:t>PENYEDIAAN LAYANAN</a:t>
              </a:r>
            </a:p>
          </p:txBody>
        </p:sp>
        <p:sp>
          <p:nvSpPr>
            <p:cNvPr id="31" name="TextBox 31"/>
            <p:cNvSpPr txBox="1"/>
            <p:nvPr/>
          </p:nvSpPr>
          <p:spPr>
            <a:xfrm>
              <a:off x="6662547" y="4222750"/>
              <a:ext cx="2223701" cy="372618"/>
            </a:xfrm>
            <a:prstGeom prst="rect">
              <a:avLst/>
            </a:prstGeom>
            <a:noFill/>
            <a:ln>
              <a:noFill/>
            </a:ln>
          </p:spPr>
          <p:txBody>
            <a:bodyPr wrap="none" lIns="0" tIns="0" rIns="0" bIns="0" anchor="t" anchorCtr="0">
              <a:spAutoFit/>
            </a:bodyPr>
            <a:lstStyle/>
            <a:p>
              <a:pPr algn="l">
                <a:lnSpc>
                  <a:spcPts val="1425"/>
                </a:lnSpc>
              </a:pPr>
              <a:r>
                <a:rPr lang="id" sz="980" dirty="0">
                  <a:solidFill>
                    <a:srgbClr val="585E66"/>
                  </a:solidFill>
                  <a:latin typeface="+mn-lt"/>
                  <a:ea typeface="+mn-ea"/>
                  <a:cs typeface="+mn-cs"/>
                </a:rPr>
                <a:t>Kompetensi, sikap, dan kemampuan tim</a:t>
              </a:r>
              <a:br>
                <a:rPr lang="id" sz="980" dirty="0">
                  <a:solidFill>
                    <a:srgbClr val="585E66"/>
                  </a:solidFill>
                  <a:latin typeface="+mn-lt"/>
                  <a:ea typeface="+mn-ea"/>
                  <a:cs typeface="+mn-cs"/>
                </a:rPr>
              </a:br>
              <a:r>
                <a:rPr lang="id" sz="980" dirty="0">
                  <a:solidFill>
                    <a:srgbClr val="585E66"/>
                  </a:solidFill>
                  <a:latin typeface="+mn-lt"/>
                  <a:ea typeface="+mn-ea"/>
                  <a:cs typeface="+mn-cs"/>
                </a:rPr>
                <a:t>beradaptasi pada kebutuhan tiap anak.</a:t>
              </a:r>
            </a:p>
          </p:txBody>
        </p:sp>
        <p:sp>
          <p:nvSpPr>
            <p:cNvPr id="32" name="Line 32"/>
            <p:cNvSpPr/>
            <p:nvPr/>
          </p:nvSpPr>
          <p:spPr>
            <a:xfrm>
              <a:off x="6667500" y="4667250"/>
              <a:ext cx="381000" cy="9525"/>
            </a:xfrm>
            <a:custGeom>
              <a:avLst/>
              <a:gdLst/>
              <a:ahLst/>
              <a:cxnLst/>
              <a:rect l="l" t="t" r="r" b="b"/>
              <a:pathLst>
                <a:path w="381000" h="9525">
                  <a:moveTo>
                    <a:pt x="0" y="0"/>
                  </a:moveTo>
                  <a:lnTo>
                    <a:pt x="381000" y="0"/>
                  </a:lnTo>
                </a:path>
              </a:pathLst>
            </a:custGeom>
            <a:noFill/>
            <a:ln w="28575">
              <a:solidFill>
                <a:srgbClr val="E8000D"/>
              </a:solidFill>
            </a:ln>
          </p:spPr>
        </p:sp>
        <p:sp>
          <p:nvSpPr>
            <p:cNvPr id="33" name="TextBox 33"/>
            <p:cNvSpPr txBox="1"/>
            <p:nvPr/>
          </p:nvSpPr>
          <p:spPr>
            <a:xfrm>
              <a:off x="6661976" y="4864100"/>
              <a:ext cx="2380998" cy="632270"/>
            </a:xfrm>
            <a:prstGeom prst="rect">
              <a:avLst/>
            </a:prstGeom>
            <a:noFill/>
            <a:ln>
              <a:noFill/>
            </a:ln>
          </p:spPr>
          <p:txBody>
            <a:bodyPr wrap="none" lIns="0" tIns="0" rIns="0" bIns="0" anchor="t" anchorCtr="0">
              <a:spAutoFit/>
            </a:bodyPr>
            <a:lstStyle/>
            <a:p>
              <a:pPr algn="l">
                <a:lnSpc>
                  <a:spcPts val="1650"/>
                </a:lnSpc>
              </a:pPr>
              <a:r>
                <a:rPr lang="id" sz="1090" i="1" dirty="0">
                  <a:solidFill>
                    <a:srgbClr val="111318"/>
                  </a:solidFill>
                  <a:latin typeface="+mn-lt"/>
                  <a:ea typeface="+mn-ea"/>
                  <a:cs typeface="+mn-cs"/>
                </a:rPr>
                <a:t>“Tidak ada anak autistik yang tipikal —</a:t>
              </a:r>
              <a:br>
                <a:rPr lang="id" sz="1090" i="1" dirty="0">
                  <a:solidFill>
                    <a:srgbClr val="111318"/>
                  </a:solidFill>
                  <a:latin typeface="+mn-lt"/>
                  <a:ea typeface="+mn-ea"/>
                  <a:cs typeface="+mn-cs"/>
                </a:rPr>
              </a:br>
              <a:r>
                <a:rPr lang="id" sz="1090" i="1" dirty="0">
                  <a:solidFill>
                    <a:srgbClr val="111318"/>
                  </a:solidFill>
                  <a:latin typeface="+mn-lt"/>
                  <a:ea typeface="+mn-ea"/>
                  <a:cs typeface="+mn-cs"/>
                </a:rPr>
                <a:t>dan tidak ada layanan one-size-fits-all</a:t>
              </a:r>
              <a:br>
                <a:rPr lang="id" sz="1090" i="1" dirty="0">
                  <a:solidFill>
                    <a:srgbClr val="111318"/>
                  </a:solidFill>
                  <a:latin typeface="+mn-lt"/>
                  <a:ea typeface="+mn-ea"/>
                  <a:cs typeface="+mn-cs"/>
                </a:rPr>
              </a:br>
              <a:r>
                <a:rPr lang="id" sz="1090" i="1" dirty="0">
                  <a:solidFill>
                    <a:srgbClr val="111318"/>
                  </a:solidFill>
                  <a:latin typeface="+mn-lt"/>
                  <a:ea typeface="+mn-ea"/>
                  <a:cs typeface="+mn-cs"/>
                </a:rPr>
                <a:t>yang tepat untuk semua orang.”</a:t>
              </a:r>
            </a:p>
          </p:txBody>
        </p:sp>
        <p:sp>
          <p:nvSpPr>
            <p:cNvPr id="34" name="TextBox 34"/>
            <p:cNvSpPr txBox="1"/>
            <p:nvPr/>
          </p:nvSpPr>
          <p:spPr>
            <a:xfrm>
              <a:off x="6662738" y="5626100"/>
              <a:ext cx="794568"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a:t>
              </a:r>
            </a:p>
          </p:txBody>
        </p:sp>
      </p:grpSp>
      <p:grpSp>
        <p:nvGrpSpPr>
          <p:cNvPr id="39" name="footer"/>
          <p:cNvGrpSpPr/>
          <p:nvPr/>
        </p:nvGrpSpPr>
        <p:grpSpPr>
          <a:xfrm>
            <a:off x="604838" y="6324600"/>
            <a:ext cx="10982325" cy="268288"/>
            <a:chOff x="604838" y="6324600"/>
            <a:chExt cx="10982325" cy="268288"/>
          </a:xfrm>
        </p:grpSpPr>
        <p:sp>
          <p:nvSpPr>
            <p:cNvPr id="36" name="Line 36"/>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37" name="TextBox 37"/>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38" name="TextBox 38"/>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971103"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02 · METODE</a:t>
              </a:r>
            </a:p>
          </p:txBody>
        </p:sp>
        <p:sp>
          <p:nvSpPr>
            <p:cNvPr id="3" name="TextBox 3"/>
            <p:cNvSpPr txBox="1"/>
            <p:nvPr/>
          </p:nvSpPr>
          <p:spPr>
            <a:xfrm>
              <a:off x="595503" y="685800"/>
              <a:ext cx="8232501"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Protokol a priori: populasi, setting, dan luaran</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03 / 16</a:t>
              </a:r>
            </a:p>
          </p:txBody>
        </p:sp>
      </p:grpSp>
      <p:grpSp>
        <p:nvGrpSpPr>
          <p:cNvPr id="37" name="body"/>
          <p:cNvGrpSpPr/>
          <p:nvPr/>
        </p:nvGrpSpPr>
        <p:grpSpPr>
          <a:xfrm>
            <a:off x="602361" y="1581150"/>
            <a:ext cx="10980039" cy="4438650"/>
            <a:chOff x="602361" y="1581150"/>
            <a:chExt cx="10980039" cy="4438650"/>
          </a:xfrm>
        </p:grpSpPr>
        <p:sp>
          <p:nvSpPr>
            <p:cNvPr id="8" name="TextBox 8"/>
            <p:cNvSpPr txBox="1"/>
            <p:nvPr/>
          </p:nvSpPr>
          <p:spPr>
            <a:xfrm>
              <a:off x="604838" y="1663700"/>
              <a:ext cx="445671" cy="147638"/>
            </a:xfrm>
            <a:prstGeom prst="rect">
              <a:avLst/>
            </a:prstGeom>
            <a:noFill/>
            <a:ln>
              <a:noFill/>
            </a:ln>
          </p:spPr>
          <p:txBody>
            <a:bodyPr wrap="none" lIns="0" tIns="0" rIns="0" bIns="0" anchor="t" anchorCtr="0">
              <a:spAutoFit/>
            </a:bodyPr>
            <a:lstStyle/>
            <a:p>
              <a:pPr algn="l"/>
              <a:r>
                <a:rPr lang="id" sz="750" b="1" spc="150" dirty="0">
                  <a:solidFill>
                    <a:srgbClr val="E8000D"/>
                  </a:solidFill>
                  <a:latin typeface="+mn-lt"/>
                  <a:ea typeface="+mn-ea"/>
                  <a:cs typeface="+mn-cs"/>
                </a:rPr>
                <a:t>Desain</a:t>
              </a:r>
            </a:p>
          </p:txBody>
        </p:sp>
        <p:sp>
          <p:nvSpPr>
            <p:cNvPr id="9" name="TextBox 9"/>
            <p:cNvSpPr txBox="1"/>
            <p:nvPr/>
          </p:nvSpPr>
          <p:spPr>
            <a:xfrm>
              <a:off x="602361" y="1841500"/>
              <a:ext cx="3972919" cy="278702"/>
            </a:xfrm>
            <a:prstGeom prst="rect">
              <a:avLst/>
            </a:prstGeom>
            <a:noFill/>
            <a:ln>
              <a:noFill/>
            </a:ln>
          </p:spPr>
          <p:txBody>
            <a:bodyPr wrap="none" lIns="0" tIns="0" rIns="0" bIns="0" anchor="t" anchorCtr="0">
              <a:spAutoFit/>
            </a:bodyPr>
            <a:lstStyle/>
            <a:p>
              <a:pPr algn="l"/>
              <a:r>
                <a:rPr lang="id" sz="1420" b="1" dirty="0">
                  <a:solidFill>
                    <a:srgbClr val="111318"/>
                  </a:solidFill>
                  <a:latin typeface="+mn-lt"/>
                  <a:ea typeface="+mn-ea"/>
                  <a:cs typeface="+mn-cs"/>
                </a:rPr>
                <a:t>Mixed-methods narrative systematic review</a:t>
              </a:r>
            </a:p>
          </p:txBody>
        </p:sp>
        <p:sp>
          <p:nvSpPr>
            <p:cNvPr id="10" name="TextBox 10"/>
            <p:cNvSpPr txBox="1"/>
            <p:nvPr/>
          </p:nvSpPr>
          <p:spPr>
            <a:xfrm>
              <a:off x="604838" y="2139950"/>
              <a:ext cx="2576177" cy="338138"/>
            </a:xfrm>
            <a:prstGeom prst="rect">
              <a:avLst/>
            </a:prstGeom>
            <a:noFill/>
            <a:ln>
              <a:noFill/>
            </a:ln>
          </p:spPr>
          <p:txBody>
            <a:bodyPr wrap="none" lIns="0" tIns="0" rIns="0" bIns="0" anchor="t" anchorCtr="0">
              <a:spAutoFit/>
            </a:bodyPr>
            <a:lstStyle/>
            <a:p>
              <a:pPr algn="l">
                <a:lnSpc>
                  <a:spcPts val="1275"/>
                </a:lnSpc>
              </a:pPr>
              <a:r>
                <a:rPr lang="id" sz="900" dirty="0">
                  <a:solidFill>
                    <a:srgbClr val="585E66"/>
                  </a:solidFill>
                  <a:latin typeface="+mn-lt"/>
                  <a:ea typeface="+mn-ea"/>
                  <a:cs typeface="+mn-cs"/>
                </a:rPr>
                <a:t>Protokol a priori (PROSPERO CRD42021248764);</a:t>
              </a:r>
              <a:br>
                <a:rPr lang="id" sz="900" dirty="0">
                  <a:solidFill>
                    <a:srgbClr val="585E66"/>
                  </a:solidFill>
                  <a:latin typeface="+mn-lt"/>
                  <a:ea typeface="+mn-ea"/>
                  <a:cs typeface="+mn-cs"/>
                </a:rPr>
              </a:br>
              <a:r>
                <a:rPr lang="id" sz="900" dirty="0">
                  <a:solidFill>
                    <a:srgbClr val="585E66"/>
                  </a:solidFill>
                  <a:latin typeface="+mn-lt"/>
                  <a:ea typeface="+mn-ea"/>
                  <a:cs typeface="+mn-cs"/>
                </a:rPr>
                <a:t>pelaporan PRISMA 2020 dan ENTREQ.</a:t>
              </a:r>
            </a:p>
          </p:txBody>
        </p:sp>
        <p:sp>
          <p:nvSpPr>
            <p:cNvPr id="11" name="TextBox 11"/>
            <p:cNvSpPr txBox="1"/>
            <p:nvPr/>
          </p:nvSpPr>
          <p:spPr>
            <a:xfrm>
              <a:off x="604838" y="2514600"/>
              <a:ext cx="2642352" cy="176212"/>
            </a:xfrm>
            <a:prstGeom prst="rect">
              <a:avLst/>
            </a:prstGeom>
            <a:noFill/>
            <a:ln>
              <a:noFill/>
            </a:ln>
          </p:spPr>
          <p:txBody>
            <a:bodyPr wrap="none" lIns="0" tIns="0" rIns="0" bIns="0" anchor="t" anchorCtr="0">
              <a:spAutoFit/>
            </a:bodyPr>
            <a:lstStyle/>
            <a:p>
              <a:pPr algn="l"/>
              <a:r>
                <a:rPr lang="id" sz="900" dirty="0">
                  <a:solidFill>
                    <a:srgbClr val="585E66"/>
                  </a:solidFill>
                  <a:latin typeface="+mn-lt"/>
                  <a:ea typeface="+mn-ea"/>
                  <a:cs typeface="+mn-cs"/>
                </a:rPr>
                <a:t>Pencarian diulang Februari dan November 2021.</a:t>
              </a:r>
            </a:p>
          </p:txBody>
        </p:sp>
        <p:sp>
          <p:nvSpPr>
            <p:cNvPr id="12" name="Line 12"/>
            <p:cNvSpPr/>
            <p:nvPr/>
          </p:nvSpPr>
          <p:spPr>
            <a:xfrm>
              <a:off x="609600" y="3048000"/>
              <a:ext cx="5676900" cy="9525"/>
            </a:xfrm>
            <a:custGeom>
              <a:avLst/>
              <a:gdLst/>
              <a:ahLst/>
              <a:cxnLst/>
              <a:rect l="l" t="t" r="r" b="b"/>
              <a:pathLst>
                <a:path w="5676900" h="9525">
                  <a:moveTo>
                    <a:pt x="0" y="0"/>
                  </a:moveTo>
                  <a:lnTo>
                    <a:pt x="5676900" y="0"/>
                  </a:lnTo>
                </a:path>
              </a:pathLst>
            </a:custGeom>
            <a:noFill/>
            <a:ln w="11430">
              <a:solidFill>
                <a:srgbClr val="111318"/>
              </a:solidFill>
            </a:ln>
          </p:spPr>
        </p:sp>
        <p:sp>
          <p:nvSpPr>
            <p:cNvPr id="13" name="TextBox 13"/>
            <p:cNvSpPr txBox="1"/>
            <p:nvPr/>
          </p:nvSpPr>
          <p:spPr>
            <a:xfrm>
              <a:off x="604838" y="3130550"/>
              <a:ext cx="577787" cy="134302"/>
            </a:xfrm>
            <a:prstGeom prst="rect">
              <a:avLst/>
            </a:prstGeom>
            <a:noFill/>
            <a:ln>
              <a:noFill/>
            </a:ln>
          </p:spPr>
          <p:txBody>
            <a:bodyPr wrap="none" lIns="0" tIns="0" rIns="0" bIns="0" anchor="t" anchorCtr="0">
              <a:spAutoFit/>
            </a:bodyPr>
            <a:lstStyle/>
            <a:p>
              <a:pPr algn="l"/>
              <a:r>
                <a:rPr lang="id" sz="680" b="1" spc="112" dirty="0">
                  <a:solidFill>
                    <a:srgbClr val="8B9198"/>
                  </a:solidFill>
                  <a:latin typeface="+mn-lt"/>
                  <a:ea typeface="+mn-ea"/>
                  <a:cs typeface="+mn-cs"/>
                </a:rPr>
                <a:t>KRITERIA</a:t>
              </a:r>
            </a:p>
          </p:txBody>
        </p:sp>
        <p:sp>
          <p:nvSpPr>
            <p:cNvPr id="14" name="TextBox 14"/>
            <p:cNvSpPr txBox="1"/>
            <p:nvPr/>
          </p:nvSpPr>
          <p:spPr>
            <a:xfrm>
              <a:off x="1728788" y="3130550"/>
              <a:ext cx="492003" cy="134302"/>
            </a:xfrm>
            <a:prstGeom prst="rect">
              <a:avLst/>
            </a:prstGeom>
            <a:noFill/>
            <a:ln>
              <a:noFill/>
            </a:ln>
          </p:spPr>
          <p:txBody>
            <a:bodyPr wrap="none" lIns="0" tIns="0" rIns="0" bIns="0" anchor="t" anchorCtr="0">
              <a:spAutoFit/>
            </a:bodyPr>
            <a:lstStyle/>
            <a:p>
              <a:pPr algn="l"/>
              <a:r>
                <a:rPr lang="id" sz="680" b="1" spc="112" dirty="0">
                  <a:solidFill>
                    <a:srgbClr val="E8000D"/>
                  </a:solidFill>
                  <a:latin typeface="+mn-lt"/>
                  <a:ea typeface="+mn-ea"/>
                  <a:cs typeface="+mn-cs"/>
                </a:rPr>
                <a:t>INKLUSI</a:t>
              </a:r>
            </a:p>
          </p:txBody>
        </p:sp>
        <p:sp>
          <p:nvSpPr>
            <p:cNvPr id="15" name="TextBox 15"/>
            <p:cNvSpPr txBox="1"/>
            <p:nvPr/>
          </p:nvSpPr>
          <p:spPr>
            <a:xfrm>
              <a:off x="4281488" y="3130550"/>
              <a:ext cx="610093" cy="134302"/>
            </a:xfrm>
            <a:prstGeom prst="rect">
              <a:avLst/>
            </a:prstGeom>
            <a:noFill/>
            <a:ln>
              <a:noFill/>
            </a:ln>
          </p:spPr>
          <p:txBody>
            <a:bodyPr wrap="none" lIns="0" tIns="0" rIns="0" bIns="0" anchor="t" anchorCtr="0">
              <a:spAutoFit/>
            </a:bodyPr>
            <a:lstStyle/>
            <a:p>
              <a:pPr algn="l"/>
              <a:r>
                <a:rPr lang="id" sz="680" b="1" spc="112" dirty="0">
                  <a:solidFill>
                    <a:srgbClr val="8B9198"/>
                  </a:solidFill>
                  <a:latin typeface="+mn-lt"/>
                  <a:ea typeface="+mn-ea"/>
                  <a:cs typeface="+mn-cs"/>
                </a:rPr>
                <a:t>EKSKLUSI</a:t>
              </a:r>
            </a:p>
          </p:txBody>
        </p:sp>
        <p:sp>
          <p:nvSpPr>
            <p:cNvPr id="16" name="Line 16"/>
            <p:cNvSpPr/>
            <p:nvPr/>
          </p:nvSpPr>
          <p:spPr>
            <a:xfrm>
              <a:off x="609600" y="3295650"/>
              <a:ext cx="5676900" cy="9525"/>
            </a:xfrm>
            <a:custGeom>
              <a:avLst/>
              <a:gdLst/>
              <a:ahLst/>
              <a:cxnLst/>
              <a:rect l="l" t="t" r="r" b="b"/>
              <a:pathLst>
                <a:path w="5676900" h="9525">
                  <a:moveTo>
                    <a:pt x="0" y="0"/>
                  </a:moveTo>
                  <a:lnTo>
                    <a:pt x="5676900" y="0"/>
                  </a:lnTo>
                </a:path>
              </a:pathLst>
            </a:custGeom>
            <a:noFill/>
            <a:ln w="9525">
              <a:solidFill>
                <a:srgbClr val="D6D9DE"/>
              </a:solidFill>
            </a:ln>
          </p:spPr>
        </p:sp>
        <p:sp>
          <p:nvSpPr>
            <p:cNvPr id="17" name="TextBox 17"/>
            <p:cNvSpPr txBox="1"/>
            <p:nvPr/>
          </p:nvSpPr>
          <p:spPr>
            <a:xfrm>
              <a:off x="604838" y="3346450"/>
              <a:ext cx="472813"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Populasi</a:t>
              </a:r>
            </a:p>
          </p:txBody>
        </p:sp>
        <p:sp>
          <p:nvSpPr>
            <p:cNvPr id="18" name="TextBox 18"/>
            <p:cNvSpPr txBox="1"/>
            <p:nvPr/>
          </p:nvSpPr>
          <p:spPr>
            <a:xfrm>
              <a:off x="1728788" y="3346450"/>
              <a:ext cx="1327233" cy="280988"/>
            </a:xfrm>
            <a:prstGeom prst="rect">
              <a:avLst/>
            </a:prstGeom>
            <a:noFill/>
            <a:ln>
              <a:noFill/>
            </a:ln>
          </p:spPr>
          <p:txBody>
            <a:bodyPr wrap="none" lIns="0" tIns="0" rIns="0" bIns="0" anchor="t" anchorCtr="0">
              <a:spAutoFit/>
            </a:bodyPr>
            <a:lstStyle/>
            <a:p>
              <a:pPr algn="l">
                <a:lnSpc>
                  <a:spcPts val="1050"/>
                </a:lnSpc>
              </a:pPr>
              <a:r>
                <a:rPr lang="id" sz="750" dirty="0">
                  <a:solidFill>
                    <a:srgbClr val="585E66"/>
                  </a:solidFill>
                  <a:latin typeface="+mn-lt"/>
                  <a:ea typeface="+mn-ea"/>
                  <a:cs typeface="+mn-cs"/>
                </a:rPr>
                <a:t>CYP autistik ≤ 19 th; orang tua/</a:t>
              </a:r>
              <a:br>
                <a:rPr lang="id" sz="750" dirty="0">
                  <a:solidFill>
                    <a:srgbClr val="585E66"/>
                  </a:solidFill>
                  <a:latin typeface="+mn-lt"/>
                  <a:ea typeface="+mn-ea"/>
                  <a:cs typeface="+mn-cs"/>
                </a:rPr>
              </a:br>
              <a:r>
                <a:rPr lang="id" sz="750" dirty="0">
                  <a:solidFill>
                    <a:srgbClr val="585E66"/>
                  </a:solidFill>
                  <a:latin typeface="+mn-lt"/>
                  <a:ea typeface="+mn-ea"/>
                  <a:cs typeface="+mn-cs"/>
                </a:rPr>
                <a:t>pengasuh; tim gigi (DHP)</a:t>
              </a:r>
            </a:p>
          </p:txBody>
        </p:sp>
        <p:sp>
          <p:nvSpPr>
            <p:cNvPr id="19" name="TextBox 19"/>
            <p:cNvSpPr txBox="1"/>
            <p:nvPr/>
          </p:nvSpPr>
          <p:spPr>
            <a:xfrm>
              <a:off x="4281488" y="3346450"/>
              <a:ext cx="1104919" cy="280988"/>
            </a:xfrm>
            <a:prstGeom prst="rect">
              <a:avLst/>
            </a:prstGeom>
            <a:noFill/>
            <a:ln>
              <a:noFill/>
            </a:ln>
          </p:spPr>
          <p:txBody>
            <a:bodyPr wrap="none" lIns="0" tIns="0" rIns="0" bIns="0" anchor="t" anchorCtr="0">
              <a:spAutoFit/>
            </a:bodyPr>
            <a:lstStyle/>
            <a:p>
              <a:pPr algn="l">
                <a:lnSpc>
                  <a:spcPts val="1050"/>
                </a:lnSpc>
              </a:pPr>
              <a:r>
                <a:rPr lang="id" sz="750" dirty="0">
                  <a:solidFill>
                    <a:srgbClr val="585E66"/>
                  </a:solidFill>
                  <a:latin typeface="+mn-lt"/>
                  <a:ea typeface="+mn-ea"/>
                  <a:cs typeface="+mn-cs"/>
                </a:rPr>
                <a:t>Autistik ≥ 20 th; data anak</a:t>
              </a:r>
              <a:br>
                <a:rPr lang="id" sz="750" dirty="0">
                  <a:solidFill>
                    <a:srgbClr val="585E66"/>
                  </a:solidFill>
                  <a:latin typeface="+mn-lt"/>
                  <a:ea typeface="+mn-ea"/>
                  <a:cs typeface="+mn-cs"/>
                </a:rPr>
              </a:br>
              <a:r>
                <a:rPr lang="id" sz="750" dirty="0">
                  <a:solidFill>
                    <a:srgbClr val="585E66"/>
                  </a:solidFill>
                  <a:latin typeface="+mn-lt"/>
                  <a:ea typeface="+mn-ea"/>
                  <a:cs typeface="+mn-cs"/>
                </a:rPr>
                <a:t>tidak dilaporkan terpisah</a:t>
              </a:r>
            </a:p>
          </p:txBody>
        </p:sp>
        <p:sp>
          <p:nvSpPr>
            <p:cNvPr id="20" name="Line 20"/>
            <p:cNvSpPr/>
            <p:nvPr/>
          </p:nvSpPr>
          <p:spPr>
            <a:xfrm>
              <a:off x="609600" y="3829050"/>
              <a:ext cx="5676900" cy="9525"/>
            </a:xfrm>
            <a:custGeom>
              <a:avLst/>
              <a:gdLst/>
              <a:ahLst/>
              <a:cxnLst/>
              <a:rect l="l" t="t" r="r" b="b"/>
              <a:pathLst>
                <a:path w="5676900" h="9525">
                  <a:moveTo>
                    <a:pt x="0" y="0"/>
                  </a:moveTo>
                  <a:lnTo>
                    <a:pt x="5676900" y="0"/>
                  </a:lnTo>
                </a:path>
              </a:pathLst>
            </a:custGeom>
            <a:noFill/>
            <a:ln w="9525">
              <a:solidFill>
                <a:srgbClr val="D6D9DE"/>
              </a:solidFill>
            </a:ln>
          </p:spPr>
        </p:sp>
        <p:sp>
          <p:nvSpPr>
            <p:cNvPr id="21" name="TextBox 21"/>
            <p:cNvSpPr txBox="1"/>
            <p:nvPr/>
          </p:nvSpPr>
          <p:spPr>
            <a:xfrm>
              <a:off x="604838" y="3879850"/>
              <a:ext cx="386612"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Setting</a:t>
              </a:r>
            </a:p>
          </p:txBody>
        </p:sp>
        <p:sp>
          <p:nvSpPr>
            <p:cNvPr id="22" name="TextBox 22"/>
            <p:cNvSpPr txBox="1"/>
            <p:nvPr/>
          </p:nvSpPr>
          <p:spPr>
            <a:xfrm>
              <a:off x="1728788" y="3892550"/>
              <a:ext cx="1233838"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Negara dengan HDI ≥ 0,80</a:t>
              </a:r>
            </a:p>
          </p:txBody>
        </p:sp>
        <p:sp>
          <p:nvSpPr>
            <p:cNvPr id="23" name="TextBox 23"/>
            <p:cNvSpPr txBox="1"/>
            <p:nvPr/>
          </p:nvSpPr>
          <p:spPr>
            <a:xfrm>
              <a:off x="4281488" y="3892550"/>
              <a:ext cx="522464"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HDI &lt; 0,80</a:t>
              </a:r>
            </a:p>
          </p:txBody>
        </p:sp>
        <p:sp>
          <p:nvSpPr>
            <p:cNvPr id="24" name="Line 24"/>
            <p:cNvSpPr/>
            <p:nvPr/>
          </p:nvSpPr>
          <p:spPr>
            <a:xfrm>
              <a:off x="609600" y="4191000"/>
              <a:ext cx="5676900" cy="9525"/>
            </a:xfrm>
            <a:custGeom>
              <a:avLst/>
              <a:gdLst/>
              <a:ahLst/>
              <a:cxnLst/>
              <a:rect l="l" t="t" r="r" b="b"/>
              <a:pathLst>
                <a:path w="5676900" h="9525">
                  <a:moveTo>
                    <a:pt x="0" y="0"/>
                  </a:moveTo>
                  <a:lnTo>
                    <a:pt x="5676900" y="0"/>
                  </a:lnTo>
                </a:path>
              </a:pathLst>
            </a:custGeom>
            <a:noFill/>
            <a:ln w="9525">
              <a:solidFill>
                <a:srgbClr val="D6D9DE"/>
              </a:solidFill>
            </a:ln>
          </p:spPr>
        </p:sp>
        <p:sp>
          <p:nvSpPr>
            <p:cNvPr id="25" name="TextBox 25"/>
            <p:cNvSpPr txBox="1"/>
            <p:nvPr/>
          </p:nvSpPr>
          <p:spPr>
            <a:xfrm>
              <a:off x="604838" y="4241800"/>
              <a:ext cx="381032"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Luaran</a:t>
              </a:r>
            </a:p>
          </p:txBody>
        </p:sp>
        <p:sp>
          <p:nvSpPr>
            <p:cNvPr id="26" name="TextBox 26"/>
            <p:cNvSpPr txBox="1"/>
            <p:nvPr/>
          </p:nvSpPr>
          <p:spPr>
            <a:xfrm>
              <a:off x="1728788" y="4241800"/>
              <a:ext cx="1137056" cy="280988"/>
            </a:xfrm>
            <a:prstGeom prst="rect">
              <a:avLst/>
            </a:prstGeom>
            <a:noFill/>
            <a:ln>
              <a:noFill/>
            </a:ln>
          </p:spPr>
          <p:txBody>
            <a:bodyPr wrap="none" lIns="0" tIns="0" rIns="0" bIns="0" anchor="t" anchorCtr="0">
              <a:spAutoFit/>
            </a:bodyPr>
            <a:lstStyle/>
            <a:p>
              <a:pPr algn="l">
                <a:lnSpc>
                  <a:spcPts val="1050"/>
                </a:lnSpc>
              </a:pPr>
              <a:r>
                <a:rPr lang="id" sz="750" dirty="0">
                  <a:solidFill>
                    <a:srgbClr val="585E66"/>
                  </a:solidFill>
                  <a:latin typeface="+mn-lt"/>
                  <a:ea typeface="+mn-ea"/>
                  <a:cs typeface="+mn-cs"/>
                </a:rPr>
                <a:t>Faktor perilaku OH, akses,</a:t>
              </a:r>
              <a:br>
                <a:rPr lang="id" sz="750" dirty="0">
                  <a:solidFill>
                    <a:srgbClr val="585E66"/>
                  </a:solidFill>
                  <a:latin typeface="+mn-lt"/>
                  <a:ea typeface="+mn-ea"/>
                  <a:cs typeface="+mn-cs"/>
                </a:rPr>
              </a:br>
              <a:r>
                <a:rPr lang="id" sz="750" dirty="0">
                  <a:solidFill>
                    <a:srgbClr val="585E66"/>
                  </a:solidFill>
                  <a:latin typeface="+mn-lt"/>
                  <a:ea typeface="+mn-ea"/>
                  <a:cs typeface="+mn-cs"/>
                </a:rPr>
                <a:t>penyediaan layanan</a:t>
              </a:r>
            </a:p>
          </p:txBody>
        </p:sp>
        <p:sp>
          <p:nvSpPr>
            <p:cNvPr id="27" name="TextBox 27"/>
            <p:cNvSpPr txBox="1"/>
            <p:nvPr/>
          </p:nvSpPr>
          <p:spPr>
            <a:xfrm>
              <a:off x="4281488" y="4241800"/>
              <a:ext cx="925659" cy="280988"/>
            </a:xfrm>
            <a:prstGeom prst="rect">
              <a:avLst/>
            </a:prstGeom>
            <a:noFill/>
            <a:ln>
              <a:noFill/>
            </a:ln>
          </p:spPr>
          <p:txBody>
            <a:bodyPr wrap="none" lIns="0" tIns="0" rIns="0" bIns="0" anchor="t" anchorCtr="0">
              <a:spAutoFit/>
            </a:bodyPr>
            <a:lstStyle/>
            <a:p>
              <a:pPr algn="l">
                <a:lnSpc>
                  <a:spcPts val="1050"/>
                </a:lnSpc>
              </a:pPr>
              <a:r>
                <a:rPr lang="id" sz="750" dirty="0">
                  <a:solidFill>
                    <a:srgbClr val="585E66"/>
                  </a:solidFill>
                  <a:latin typeface="+mn-lt"/>
                  <a:ea typeface="+mn-ea"/>
                  <a:cs typeface="+mn-cs"/>
                </a:rPr>
                <a:t>Tidak relevan dengan</a:t>
              </a:r>
              <a:br>
                <a:rPr lang="id" sz="750" dirty="0">
                  <a:solidFill>
                    <a:srgbClr val="585E66"/>
                  </a:solidFill>
                  <a:latin typeface="+mn-lt"/>
                  <a:ea typeface="+mn-ea"/>
                  <a:cs typeface="+mn-cs"/>
                </a:rPr>
              </a:br>
              <a:r>
                <a:rPr lang="id" sz="750" dirty="0">
                  <a:solidFill>
                    <a:srgbClr val="585E66"/>
                  </a:solidFill>
                  <a:latin typeface="+mn-lt"/>
                  <a:ea typeface="+mn-ea"/>
                  <a:cs typeface="+mn-cs"/>
                </a:rPr>
                <a:t>ketiga luaran</a:t>
              </a:r>
            </a:p>
          </p:txBody>
        </p:sp>
        <p:sp>
          <p:nvSpPr>
            <p:cNvPr id="28" name="Line 28"/>
            <p:cNvSpPr/>
            <p:nvPr/>
          </p:nvSpPr>
          <p:spPr>
            <a:xfrm>
              <a:off x="609600" y="4724400"/>
              <a:ext cx="5676900" cy="9525"/>
            </a:xfrm>
            <a:custGeom>
              <a:avLst/>
              <a:gdLst/>
              <a:ahLst/>
              <a:cxnLst/>
              <a:rect l="l" t="t" r="r" b="b"/>
              <a:pathLst>
                <a:path w="5676900" h="9525">
                  <a:moveTo>
                    <a:pt x="0" y="0"/>
                  </a:moveTo>
                  <a:lnTo>
                    <a:pt x="5676900" y="0"/>
                  </a:lnTo>
                </a:path>
              </a:pathLst>
            </a:custGeom>
            <a:noFill/>
            <a:ln w="9525">
              <a:solidFill>
                <a:srgbClr val="D6D9DE"/>
              </a:solidFill>
            </a:ln>
          </p:spPr>
        </p:sp>
        <p:sp>
          <p:nvSpPr>
            <p:cNvPr id="29" name="TextBox 29"/>
            <p:cNvSpPr txBox="1"/>
            <p:nvPr/>
          </p:nvSpPr>
          <p:spPr>
            <a:xfrm>
              <a:off x="604838" y="4775200"/>
              <a:ext cx="939849"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Bahasa &amp; tanggal</a:t>
              </a:r>
            </a:p>
          </p:txBody>
        </p:sp>
        <p:sp>
          <p:nvSpPr>
            <p:cNvPr id="30" name="TextBox 30"/>
            <p:cNvSpPr txBox="1"/>
            <p:nvPr/>
          </p:nvSpPr>
          <p:spPr>
            <a:xfrm>
              <a:off x="1728788" y="4775200"/>
              <a:ext cx="1550480" cy="280988"/>
            </a:xfrm>
            <a:prstGeom prst="rect">
              <a:avLst/>
            </a:prstGeom>
            <a:noFill/>
            <a:ln>
              <a:noFill/>
            </a:ln>
          </p:spPr>
          <p:txBody>
            <a:bodyPr wrap="none" lIns="0" tIns="0" rIns="0" bIns="0" anchor="t" anchorCtr="0">
              <a:spAutoFit/>
            </a:bodyPr>
            <a:lstStyle/>
            <a:p>
              <a:pPr algn="l">
                <a:lnSpc>
                  <a:spcPts val="1050"/>
                </a:lnSpc>
              </a:pPr>
              <a:r>
                <a:rPr lang="id" sz="750" dirty="0">
                  <a:solidFill>
                    <a:srgbClr val="585E66"/>
                  </a:solidFill>
                  <a:latin typeface="+mn-lt"/>
                  <a:ea typeface="+mn-ea"/>
                  <a:cs typeface="+mn-cs"/>
                </a:rPr>
                <a:t>Semua bahasa (Prancis dan Jepang</a:t>
              </a:r>
              <a:br>
                <a:rPr lang="id" sz="750" dirty="0">
                  <a:solidFill>
                    <a:srgbClr val="585E66"/>
                  </a:solidFill>
                  <a:latin typeface="+mn-lt"/>
                  <a:ea typeface="+mn-ea"/>
                  <a:cs typeface="+mn-cs"/>
                </a:rPr>
              </a:br>
              <a:r>
                <a:rPr lang="id" sz="750" dirty="0">
                  <a:solidFill>
                    <a:srgbClr val="585E66"/>
                  </a:solidFill>
                  <a:latin typeface="+mn-lt"/>
                  <a:ea typeface="+mn-ea"/>
                  <a:cs typeface="+mn-cs"/>
                </a:rPr>
                <a:t>diterjemahkan); tanpa batas tanggal</a:t>
              </a:r>
            </a:p>
          </p:txBody>
        </p:sp>
        <p:sp>
          <p:nvSpPr>
            <p:cNvPr id="31" name="TextBox 31"/>
            <p:cNvSpPr txBox="1"/>
            <p:nvPr/>
          </p:nvSpPr>
          <p:spPr>
            <a:xfrm>
              <a:off x="4281488" y="4787900"/>
              <a:ext cx="110490"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a:t>
              </a:r>
            </a:p>
          </p:txBody>
        </p:sp>
        <p:sp>
          <p:nvSpPr>
            <p:cNvPr id="32" name="Line 32"/>
            <p:cNvSpPr/>
            <p:nvPr/>
          </p:nvSpPr>
          <p:spPr>
            <a:xfrm>
              <a:off x="609600" y="5257800"/>
              <a:ext cx="5676900" cy="9525"/>
            </a:xfrm>
            <a:custGeom>
              <a:avLst/>
              <a:gdLst/>
              <a:ahLst/>
              <a:cxnLst/>
              <a:rect l="l" t="t" r="r" b="b"/>
              <a:pathLst>
                <a:path w="5676900" h="9525">
                  <a:moveTo>
                    <a:pt x="0" y="0"/>
                  </a:moveTo>
                  <a:lnTo>
                    <a:pt x="5676900" y="0"/>
                  </a:lnTo>
                </a:path>
              </a:pathLst>
            </a:custGeom>
            <a:noFill/>
            <a:ln w="9525">
              <a:solidFill>
                <a:srgbClr val="D6D9DE"/>
              </a:solidFill>
            </a:ln>
          </p:spPr>
        </p:sp>
        <p:sp>
          <p:nvSpPr>
            <p:cNvPr id="33" name="TextBox 33"/>
            <p:cNvSpPr txBox="1"/>
            <p:nvPr/>
          </p:nvSpPr>
          <p:spPr>
            <a:xfrm>
              <a:off x="604838" y="5289550"/>
              <a:ext cx="2633322"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Seleksi di Rayyan · dua penilai independen (J.E., M.P.)</a:t>
              </a:r>
            </a:p>
          </p:txBody>
        </p:sp>
        <p:sp>
          <p:nvSpPr>
            <p:cNvPr id="34" name="TextBox 34"/>
            <p:cNvSpPr txBox="1"/>
            <p:nvPr/>
          </p:nvSpPr>
          <p:spPr>
            <a:xfrm>
              <a:off x="604838" y="5461000"/>
              <a:ext cx="2587438" cy="155258"/>
            </a:xfrm>
            <a:prstGeom prst="rect">
              <a:avLst/>
            </a:prstGeom>
            <a:noFill/>
            <a:ln>
              <a:noFill/>
            </a:ln>
          </p:spPr>
          <p:txBody>
            <a:bodyPr wrap="none" lIns="0" tIns="0" rIns="0" bIns="0" anchor="t" anchorCtr="0">
              <a:spAutoFit/>
            </a:bodyPr>
            <a:lstStyle/>
            <a:p>
              <a:pPr algn="l" marL="76200" indent="-76200">
                <a:buClr>
                  <a:srgbClr val="585E66"/>
                </a:buClr>
                <a:buSzTx/>
                <a:buFontTx/>
                <a:buChar char="•"/>
              </a:pPr>
              <a:r>
                <a:rPr lang="id" sz="790" dirty="0">
                  <a:solidFill>
                    <a:srgbClr val="585E66"/>
                  </a:solidFill>
                  <a:latin typeface="+mn-lt"/>
                  <a:ea typeface="+mn-ea"/>
                  <a:cs typeface="+mn-cs"/>
                </a:rPr>
                <a:t>perbedaan diselesaikan dengan penilai ketiga (R.W.)</a:t>
              </a:r>
            </a:p>
          </p:txBody>
        </p:sp>
        <p:sp>
          <p:nvSpPr>
            <p:cNvPr id="35" name="TextBox 35"/>
            <p:cNvSpPr txBox="1"/>
            <p:nvPr/>
          </p:nvSpPr>
          <p:spPr>
            <a:xfrm>
              <a:off x="604838" y="5746750"/>
              <a:ext cx="2631152"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Tanpa batas tanggal publikasi · studi dari 13 negara</a:t>
              </a:r>
            </a:p>
          </p:txBody>
        </p:sp>
        <p:sp>
          <p:nvSpPr>
            <p:cNvPr id="36" name="Rectangle 36"/>
            <p:cNvSpPr/>
            <p:nvPr/>
          </p:nvSpPr>
          <p:spPr>
            <a:xfrm>
              <a:off x="6667500" y="1581150"/>
              <a:ext cx="4914900" cy="4438650"/>
            </a:xfrm>
            <a:prstGeom prst="rect">
              <a:avLst/>
            </a:prstGeom>
            <a:solidFill>
              <a:srgbClr val="F3F3F1"/>
            </a:solidFill>
            <a:ln>
              <a:noFill/>
            </a:ln>
          </p:spPr>
        </p:sp>
      </p:grpSp>
      <p:grpSp>
        <p:nvGrpSpPr>
          <p:cNvPr id="69" name="panel"/>
          <p:cNvGrpSpPr/>
          <p:nvPr/>
        </p:nvGrpSpPr>
        <p:grpSpPr>
          <a:xfrm>
            <a:off x="7003923" y="1873250"/>
            <a:ext cx="4240340" cy="3992562"/>
            <a:chOff x="7003923" y="1873250"/>
            <a:chExt cx="4240340" cy="3992562"/>
          </a:xfrm>
        </p:grpSpPr>
        <p:sp>
          <p:nvSpPr>
            <p:cNvPr id="38" name="TextBox 38"/>
            <p:cNvSpPr txBox="1"/>
            <p:nvPr/>
          </p:nvSpPr>
          <p:spPr>
            <a:xfrm>
              <a:off x="7005638" y="1873250"/>
              <a:ext cx="1427664"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SUMBER PENCARIAN</a:t>
              </a:r>
            </a:p>
          </p:txBody>
        </p:sp>
        <p:sp>
          <p:nvSpPr>
            <p:cNvPr id="39" name="TextBox 39"/>
            <p:cNvSpPr txBox="1"/>
            <p:nvPr/>
          </p:nvSpPr>
          <p:spPr>
            <a:xfrm>
              <a:off x="7003923" y="2133600"/>
              <a:ext cx="2139338" cy="250317"/>
            </a:xfrm>
            <a:prstGeom prst="rect">
              <a:avLst/>
            </a:prstGeom>
            <a:noFill/>
            <a:ln>
              <a:noFill/>
            </a:ln>
          </p:spPr>
          <p:txBody>
            <a:bodyPr wrap="none" lIns="0" tIns="0" rIns="0" bIns="0" anchor="t" anchorCtr="0">
              <a:spAutoFit/>
            </a:bodyPr>
            <a:lstStyle/>
            <a:p>
              <a:pPr algn="l"/>
              <a:r>
                <a:rPr lang="id" sz="1280" b="1" dirty="0">
                  <a:solidFill>
                    <a:srgbClr val="111318"/>
                  </a:solidFill>
                  <a:latin typeface="+mn-lt"/>
                  <a:ea typeface="+mn-ea"/>
                  <a:cs typeface="+mn-cs"/>
                </a:rPr>
                <a:t>8 database · 3.729 catatan</a:t>
              </a:r>
            </a:p>
          </p:txBody>
        </p:sp>
        <p:sp>
          <p:nvSpPr>
            <p:cNvPr id="40" name="TextBox 40"/>
            <p:cNvSpPr txBox="1"/>
            <p:nvPr/>
          </p:nvSpPr>
          <p:spPr>
            <a:xfrm>
              <a:off x="7005638" y="2546350"/>
              <a:ext cx="367612"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Scopus</a:t>
              </a:r>
            </a:p>
          </p:txBody>
        </p:sp>
        <p:sp>
          <p:nvSpPr>
            <p:cNvPr id="41" name="Rectangle 41"/>
            <p:cNvSpPr/>
            <p:nvPr/>
          </p:nvSpPr>
          <p:spPr>
            <a:xfrm>
              <a:off x="8572500" y="2571750"/>
              <a:ext cx="1428750" cy="76200"/>
            </a:xfrm>
            <a:prstGeom prst="rect">
              <a:avLst/>
            </a:prstGeom>
            <a:solidFill>
              <a:srgbClr val="111318"/>
            </a:solidFill>
            <a:ln>
              <a:noFill/>
            </a:ln>
          </p:spPr>
        </p:sp>
        <p:sp>
          <p:nvSpPr>
            <p:cNvPr id="42" name="TextBox 42"/>
            <p:cNvSpPr txBox="1"/>
            <p:nvPr/>
          </p:nvSpPr>
          <p:spPr>
            <a:xfrm>
              <a:off x="11057282" y="2546350"/>
              <a:ext cx="186980"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954</a:t>
              </a:r>
            </a:p>
          </p:txBody>
        </p:sp>
        <p:sp>
          <p:nvSpPr>
            <p:cNvPr id="43" name="TextBox 43"/>
            <p:cNvSpPr txBox="1"/>
            <p:nvPr/>
          </p:nvSpPr>
          <p:spPr>
            <a:xfrm>
              <a:off x="7005638" y="2794000"/>
              <a:ext cx="403361"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Embase</a:t>
              </a:r>
            </a:p>
          </p:txBody>
        </p:sp>
        <p:sp>
          <p:nvSpPr>
            <p:cNvPr id="44" name="Rectangle 44"/>
            <p:cNvSpPr/>
            <p:nvPr/>
          </p:nvSpPr>
          <p:spPr>
            <a:xfrm>
              <a:off x="8572500" y="2819400"/>
              <a:ext cx="1362075" cy="76200"/>
            </a:xfrm>
            <a:prstGeom prst="rect">
              <a:avLst/>
            </a:prstGeom>
            <a:solidFill>
              <a:srgbClr val="111318"/>
            </a:solidFill>
            <a:ln>
              <a:noFill/>
            </a:ln>
          </p:spPr>
        </p:sp>
        <p:sp>
          <p:nvSpPr>
            <p:cNvPr id="45" name="TextBox 45"/>
            <p:cNvSpPr txBox="1"/>
            <p:nvPr/>
          </p:nvSpPr>
          <p:spPr>
            <a:xfrm>
              <a:off x="11057282" y="2794000"/>
              <a:ext cx="186980"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909</a:t>
              </a:r>
            </a:p>
          </p:txBody>
        </p:sp>
        <p:sp>
          <p:nvSpPr>
            <p:cNvPr id="46" name="TextBox 46"/>
            <p:cNvSpPr txBox="1"/>
            <p:nvPr/>
          </p:nvSpPr>
          <p:spPr>
            <a:xfrm>
              <a:off x="7005638" y="3041650"/>
              <a:ext cx="50905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MEDLINE</a:t>
              </a:r>
            </a:p>
          </p:txBody>
        </p:sp>
        <p:sp>
          <p:nvSpPr>
            <p:cNvPr id="47" name="Rectangle 47"/>
            <p:cNvSpPr/>
            <p:nvPr/>
          </p:nvSpPr>
          <p:spPr>
            <a:xfrm>
              <a:off x="8572500" y="3067050"/>
              <a:ext cx="838200" cy="76200"/>
            </a:xfrm>
            <a:prstGeom prst="rect">
              <a:avLst/>
            </a:prstGeom>
            <a:solidFill>
              <a:srgbClr val="111318"/>
            </a:solidFill>
            <a:ln>
              <a:noFill/>
            </a:ln>
          </p:spPr>
        </p:sp>
        <p:sp>
          <p:nvSpPr>
            <p:cNvPr id="48" name="TextBox 48"/>
            <p:cNvSpPr txBox="1"/>
            <p:nvPr/>
          </p:nvSpPr>
          <p:spPr>
            <a:xfrm>
              <a:off x="11057282" y="3041650"/>
              <a:ext cx="186980"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562</a:t>
              </a:r>
            </a:p>
          </p:txBody>
        </p:sp>
        <p:sp>
          <p:nvSpPr>
            <p:cNvPr id="49" name="TextBox 49"/>
            <p:cNvSpPr txBox="1"/>
            <p:nvPr/>
          </p:nvSpPr>
          <p:spPr>
            <a:xfrm>
              <a:off x="7005638" y="3289300"/>
              <a:ext cx="76138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Web of Science</a:t>
              </a:r>
            </a:p>
          </p:txBody>
        </p:sp>
        <p:sp>
          <p:nvSpPr>
            <p:cNvPr id="50" name="Rectangle 50"/>
            <p:cNvSpPr/>
            <p:nvPr/>
          </p:nvSpPr>
          <p:spPr>
            <a:xfrm>
              <a:off x="8572500" y="3314700"/>
              <a:ext cx="733425" cy="76200"/>
            </a:xfrm>
            <a:prstGeom prst="rect">
              <a:avLst/>
            </a:prstGeom>
            <a:solidFill>
              <a:srgbClr val="111318"/>
            </a:solidFill>
            <a:ln>
              <a:noFill/>
            </a:ln>
          </p:spPr>
        </p:sp>
        <p:sp>
          <p:nvSpPr>
            <p:cNvPr id="51" name="TextBox 51"/>
            <p:cNvSpPr txBox="1"/>
            <p:nvPr/>
          </p:nvSpPr>
          <p:spPr>
            <a:xfrm>
              <a:off x="11057282" y="3289300"/>
              <a:ext cx="186980"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487</a:t>
              </a:r>
            </a:p>
          </p:txBody>
        </p:sp>
        <p:sp>
          <p:nvSpPr>
            <p:cNvPr id="52" name="TextBox 52"/>
            <p:cNvSpPr txBox="1"/>
            <p:nvPr/>
          </p:nvSpPr>
          <p:spPr>
            <a:xfrm>
              <a:off x="7005638" y="3536950"/>
              <a:ext cx="421652"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CINAHL</a:t>
              </a:r>
            </a:p>
          </p:txBody>
        </p:sp>
        <p:sp>
          <p:nvSpPr>
            <p:cNvPr id="53" name="Rectangle 53"/>
            <p:cNvSpPr/>
            <p:nvPr/>
          </p:nvSpPr>
          <p:spPr>
            <a:xfrm>
              <a:off x="8572500" y="3562350"/>
              <a:ext cx="609600" cy="76200"/>
            </a:xfrm>
            <a:prstGeom prst="rect">
              <a:avLst/>
            </a:prstGeom>
            <a:solidFill>
              <a:srgbClr val="111318"/>
            </a:solidFill>
            <a:ln>
              <a:noFill/>
            </a:ln>
          </p:spPr>
        </p:sp>
        <p:sp>
          <p:nvSpPr>
            <p:cNvPr id="54" name="TextBox 54"/>
            <p:cNvSpPr txBox="1"/>
            <p:nvPr/>
          </p:nvSpPr>
          <p:spPr>
            <a:xfrm>
              <a:off x="11057282" y="3536950"/>
              <a:ext cx="186980"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408</a:t>
              </a:r>
            </a:p>
          </p:txBody>
        </p:sp>
        <p:sp>
          <p:nvSpPr>
            <p:cNvPr id="55" name="TextBox 55"/>
            <p:cNvSpPr txBox="1"/>
            <p:nvPr/>
          </p:nvSpPr>
          <p:spPr>
            <a:xfrm>
              <a:off x="7005638" y="3784600"/>
              <a:ext cx="327980"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DOSS</a:t>
              </a:r>
            </a:p>
          </p:txBody>
        </p:sp>
        <p:sp>
          <p:nvSpPr>
            <p:cNvPr id="56" name="Rectangle 56"/>
            <p:cNvSpPr/>
            <p:nvPr/>
          </p:nvSpPr>
          <p:spPr>
            <a:xfrm>
              <a:off x="8572500" y="3810000"/>
              <a:ext cx="504825" cy="76200"/>
            </a:xfrm>
            <a:prstGeom prst="rect">
              <a:avLst/>
            </a:prstGeom>
            <a:solidFill>
              <a:srgbClr val="8B9198"/>
            </a:solidFill>
            <a:ln>
              <a:noFill/>
            </a:ln>
          </p:spPr>
        </p:sp>
        <p:sp>
          <p:nvSpPr>
            <p:cNvPr id="57" name="TextBox 57"/>
            <p:cNvSpPr txBox="1"/>
            <p:nvPr/>
          </p:nvSpPr>
          <p:spPr>
            <a:xfrm>
              <a:off x="11057282" y="3784600"/>
              <a:ext cx="186980"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338</a:t>
              </a:r>
            </a:p>
          </p:txBody>
        </p:sp>
        <p:sp>
          <p:nvSpPr>
            <p:cNvPr id="58" name="TextBox 58"/>
            <p:cNvSpPr txBox="1"/>
            <p:nvPr/>
          </p:nvSpPr>
          <p:spPr>
            <a:xfrm>
              <a:off x="7005638" y="4032250"/>
              <a:ext cx="511152"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PsycINFO</a:t>
              </a:r>
            </a:p>
          </p:txBody>
        </p:sp>
        <p:sp>
          <p:nvSpPr>
            <p:cNvPr id="59" name="Rectangle 59"/>
            <p:cNvSpPr/>
            <p:nvPr/>
          </p:nvSpPr>
          <p:spPr>
            <a:xfrm>
              <a:off x="8572500" y="4057650"/>
              <a:ext cx="104775" cy="76200"/>
            </a:xfrm>
            <a:prstGeom prst="rect">
              <a:avLst/>
            </a:prstGeom>
            <a:solidFill>
              <a:srgbClr val="8B9198"/>
            </a:solidFill>
            <a:ln>
              <a:noFill/>
            </a:ln>
          </p:spPr>
        </p:sp>
        <p:sp>
          <p:nvSpPr>
            <p:cNvPr id="60" name="TextBox 60"/>
            <p:cNvSpPr txBox="1"/>
            <p:nvPr/>
          </p:nvSpPr>
          <p:spPr>
            <a:xfrm>
              <a:off x="11116434" y="4032250"/>
              <a:ext cx="127829"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67</a:t>
              </a:r>
            </a:p>
          </p:txBody>
        </p:sp>
        <p:sp>
          <p:nvSpPr>
            <p:cNvPr id="61" name="TextBox 61"/>
            <p:cNvSpPr txBox="1"/>
            <p:nvPr/>
          </p:nvSpPr>
          <p:spPr>
            <a:xfrm>
              <a:off x="7005638" y="4279900"/>
              <a:ext cx="539392"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SocINDEX</a:t>
              </a:r>
            </a:p>
          </p:txBody>
        </p:sp>
        <p:sp>
          <p:nvSpPr>
            <p:cNvPr id="62" name="Rectangle 62"/>
            <p:cNvSpPr/>
            <p:nvPr/>
          </p:nvSpPr>
          <p:spPr>
            <a:xfrm>
              <a:off x="8572500" y="4305300"/>
              <a:ext cx="19050" cy="76200"/>
            </a:xfrm>
            <a:prstGeom prst="rect">
              <a:avLst/>
            </a:prstGeom>
            <a:solidFill>
              <a:srgbClr val="8B9198"/>
            </a:solidFill>
            <a:ln>
              <a:noFill/>
            </a:ln>
          </p:spPr>
        </p:sp>
        <p:sp>
          <p:nvSpPr>
            <p:cNvPr id="63" name="TextBox 63"/>
            <p:cNvSpPr txBox="1"/>
            <p:nvPr/>
          </p:nvSpPr>
          <p:spPr>
            <a:xfrm>
              <a:off x="11175586" y="4279900"/>
              <a:ext cx="68677" cy="155258"/>
            </a:xfrm>
            <a:prstGeom prst="rect">
              <a:avLst/>
            </a:prstGeom>
            <a:noFill/>
            <a:ln>
              <a:noFill/>
            </a:ln>
          </p:spPr>
          <p:txBody>
            <a:bodyPr wrap="none" lIns="0" tIns="0" rIns="0" bIns="0" anchor="t" anchorCtr="0">
              <a:spAutoFit/>
            </a:bodyPr>
            <a:lstStyle/>
            <a:p>
              <a:pPr algn="r"/>
              <a:r>
                <a:rPr lang="id" sz="790" b="1" dirty="0">
                  <a:solidFill>
                    <a:srgbClr val="111318"/>
                  </a:solidFill>
                  <a:latin typeface="+mn-lt"/>
                  <a:ea typeface="+mn-ea"/>
                  <a:cs typeface="+mn-cs"/>
                </a:rPr>
                <a:t>4</a:t>
              </a:r>
            </a:p>
          </p:txBody>
        </p:sp>
        <p:sp>
          <p:nvSpPr>
            <p:cNvPr id="64" name="Line 64"/>
            <p:cNvSpPr/>
            <p:nvPr/>
          </p:nvSpPr>
          <p:spPr>
            <a:xfrm>
              <a:off x="7010400" y="4705350"/>
              <a:ext cx="4229100" cy="9525"/>
            </a:xfrm>
            <a:custGeom>
              <a:avLst/>
              <a:gdLst/>
              <a:ahLst/>
              <a:cxnLst/>
              <a:rect l="l" t="t" r="r" b="b"/>
              <a:pathLst>
                <a:path w="4229100" h="9525">
                  <a:moveTo>
                    <a:pt x="0" y="0"/>
                  </a:moveTo>
                  <a:lnTo>
                    <a:pt x="4229100" y="0"/>
                  </a:lnTo>
                </a:path>
              </a:pathLst>
            </a:custGeom>
            <a:noFill/>
            <a:ln w="9525">
              <a:solidFill>
                <a:srgbClr val="D6D9DE"/>
              </a:solidFill>
            </a:ln>
          </p:spPr>
        </p:sp>
        <p:sp>
          <p:nvSpPr>
            <p:cNvPr id="65" name="TextBox 65"/>
            <p:cNvSpPr txBox="1"/>
            <p:nvPr/>
          </p:nvSpPr>
          <p:spPr>
            <a:xfrm>
              <a:off x="7005638" y="4883150"/>
              <a:ext cx="1528852" cy="140494"/>
            </a:xfrm>
            <a:prstGeom prst="rect">
              <a:avLst/>
            </a:prstGeom>
            <a:noFill/>
            <a:ln>
              <a:noFill/>
            </a:ln>
          </p:spPr>
          <p:txBody>
            <a:bodyPr wrap="none" lIns="0" tIns="0" rIns="0" bIns="0" anchor="t" anchorCtr="0">
              <a:spAutoFit/>
            </a:bodyPr>
            <a:lstStyle/>
            <a:p>
              <a:pPr algn="l"/>
              <a:r>
                <a:rPr lang="id" sz="710" b="1" spc="120" dirty="0">
                  <a:solidFill>
                    <a:srgbClr val="111318"/>
                  </a:solidFill>
                  <a:latin typeface="+mn-lt"/>
                  <a:ea typeface="+mn-ea"/>
                  <a:cs typeface="+mn-cs"/>
                </a:rPr>
                <a:t>GREY LITERATURE (UK)</a:t>
              </a:r>
            </a:p>
          </p:txBody>
        </p:sp>
        <p:sp>
          <p:nvSpPr>
            <p:cNvPr id="66" name="TextBox 66"/>
            <p:cNvSpPr txBox="1"/>
            <p:nvPr/>
          </p:nvSpPr>
          <p:spPr>
            <a:xfrm>
              <a:off x="7005638" y="5099050"/>
              <a:ext cx="1654091"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7 catatan → 6 dinilai → 1 duplikat</a:t>
              </a:r>
            </a:p>
          </p:txBody>
        </p:sp>
        <p:sp>
          <p:nvSpPr>
            <p:cNvPr id="67" name="TextBox 67"/>
            <p:cNvSpPr txBox="1"/>
            <p:nvPr/>
          </p:nvSpPr>
          <p:spPr>
            <a:xfrm>
              <a:off x="7005638" y="5289550"/>
              <a:ext cx="1209534" cy="155258"/>
            </a:xfrm>
            <a:prstGeom prst="rect">
              <a:avLst/>
            </a:prstGeom>
            <a:noFill/>
            <a:ln>
              <a:noFill/>
            </a:ln>
          </p:spPr>
          <p:txBody>
            <a:bodyPr wrap="none" lIns="0" tIns="0" rIns="0" bIns="0" anchor="t" anchorCtr="0">
              <a:spAutoFit/>
            </a:bodyPr>
            <a:lstStyle/>
            <a:p>
              <a:pPr algn="l"/>
              <a:r>
                <a:rPr lang="id" sz="790" dirty="0">
                  <a:solidFill>
                    <a:srgbClr val="8B9198"/>
                  </a:solidFill>
                  <a:latin typeface="+mn-lt"/>
                  <a:ea typeface="+mn-ea"/>
                  <a:cs typeface="+mn-cs"/>
                </a:rPr>
                <a:t>3 situs web · 4 organisasi</a:t>
              </a:r>
            </a:p>
          </p:txBody>
        </p:sp>
        <p:sp>
          <p:nvSpPr>
            <p:cNvPr id="68" name="TextBox 68"/>
            <p:cNvSpPr txBox="1"/>
            <p:nvPr/>
          </p:nvSpPr>
          <p:spPr>
            <a:xfrm>
              <a:off x="7005638" y="5575300"/>
              <a:ext cx="1995068" cy="290512"/>
            </a:xfrm>
            <a:prstGeom prst="rect">
              <a:avLst/>
            </a:prstGeom>
            <a:noFill/>
            <a:ln>
              <a:noFill/>
            </a:ln>
          </p:spPr>
          <p:txBody>
            <a:bodyPr wrap="none" lIns="0" tIns="0" rIns="0" bIns="0" anchor="t" anchorCtr="0">
              <a:spAutoFit/>
            </a:bodyPr>
            <a:lstStyle/>
            <a:p>
              <a:pPr algn="l">
                <a:lnSpc>
                  <a:spcPts val="1125"/>
                </a:lnSpc>
              </a:pPr>
              <a:r>
                <a:rPr lang="id" sz="750" dirty="0">
                  <a:solidFill>
                    <a:srgbClr val="585E66"/>
                  </a:solidFill>
                  <a:latin typeface="+mn-lt"/>
                  <a:ea typeface="+mn-ea"/>
                  <a:cs typeface="+mn-cs"/>
                </a:rPr>
                <a:t>Fokus UK: bagian dari studi yang lebih luas</a:t>
              </a:r>
              <a:br>
                <a:rPr lang="id" sz="750" dirty="0">
                  <a:solidFill>
                    <a:srgbClr val="585E66"/>
                  </a:solidFill>
                  <a:latin typeface="+mn-lt"/>
                  <a:ea typeface="+mn-ea"/>
                  <a:cs typeface="+mn-cs"/>
                </a:rPr>
              </a:br>
              <a:r>
                <a:rPr lang="id" sz="750" dirty="0">
                  <a:solidFill>
                    <a:srgbClr val="585E66"/>
                  </a:solidFill>
                  <a:latin typeface="+mn-lt"/>
                  <a:ea typeface="+mn-ea"/>
                  <a:cs typeface="+mn-cs"/>
                </a:rPr>
                <a:t>untuk menginformasikan kebijakan dan praktik.</a:t>
              </a:r>
            </a:p>
          </p:txBody>
        </p:sp>
      </p:grpSp>
      <p:grpSp>
        <p:nvGrpSpPr>
          <p:cNvPr id="73" name="footer"/>
          <p:cNvGrpSpPr/>
          <p:nvPr/>
        </p:nvGrpSpPr>
        <p:grpSpPr>
          <a:xfrm>
            <a:off x="604838" y="6324600"/>
            <a:ext cx="10982325" cy="268288"/>
            <a:chOff x="604838" y="6324600"/>
            <a:chExt cx="10982325" cy="268288"/>
          </a:xfrm>
        </p:grpSpPr>
        <p:sp>
          <p:nvSpPr>
            <p:cNvPr id="70" name="Line 70"/>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71" name="TextBox 71"/>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72" name="TextBox 72"/>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2110045"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03 · PENILAIAN &amp; SINTESIS</a:t>
              </a:r>
            </a:p>
          </p:txBody>
        </p:sp>
        <p:sp>
          <p:nvSpPr>
            <p:cNvPr id="3" name="TextBox 3"/>
            <p:cNvSpPr txBox="1"/>
            <p:nvPr/>
          </p:nvSpPr>
          <p:spPr>
            <a:xfrm>
              <a:off x="595503" y="685800"/>
              <a:ext cx="8336916"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Kualitas dinilai — tetapi bukan gerbang inklusi</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04 / 16</a:t>
              </a:r>
            </a:p>
          </p:txBody>
        </p:sp>
      </p:grpSp>
      <p:grpSp>
        <p:nvGrpSpPr>
          <p:cNvPr id="39" name="eval"/>
          <p:cNvGrpSpPr/>
          <p:nvPr/>
        </p:nvGrpSpPr>
        <p:grpSpPr>
          <a:xfrm>
            <a:off x="602361" y="1581150"/>
            <a:ext cx="10980039" cy="4438650"/>
            <a:chOff x="602361" y="1581150"/>
            <a:chExt cx="10980039" cy="4438650"/>
          </a:xfrm>
        </p:grpSpPr>
        <p:sp>
          <p:nvSpPr>
            <p:cNvPr id="8" name="TextBox 8"/>
            <p:cNvSpPr txBox="1"/>
            <p:nvPr/>
          </p:nvSpPr>
          <p:spPr>
            <a:xfrm>
              <a:off x="604838" y="1720850"/>
              <a:ext cx="767124" cy="147638"/>
            </a:xfrm>
            <a:prstGeom prst="rect">
              <a:avLst/>
            </a:prstGeom>
            <a:noFill/>
            <a:ln>
              <a:noFill/>
            </a:ln>
          </p:spPr>
          <p:txBody>
            <a:bodyPr wrap="none" lIns="0" tIns="0" rIns="0" bIns="0" anchor="t" anchorCtr="0">
              <a:spAutoFit/>
            </a:bodyPr>
            <a:lstStyle/>
            <a:p>
              <a:pPr algn="l"/>
              <a:r>
                <a:rPr lang="id" sz="750" b="1" spc="150" dirty="0">
                  <a:solidFill>
                    <a:srgbClr val="E8000D"/>
                  </a:solidFill>
                  <a:latin typeface="+mn-lt"/>
                  <a:ea typeface="+mn-ea"/>
                  <a:cs typeface="+mn-cs"/>
                </a:rPr>
                <a:t>MMAT 2018</a:t>
              </a:r>
            </a:p>
          </p:txBody>
        </p:sp>
        <p:sp>
          <p:nvSpPr>
            <p:cNvPr id="9" name="TextBox 9"/>
            <p:cNvSpPr txBox="1"/>
            <p:nvPr/>
          </p:nvSpPr>
          <p:spPr>
            <a:xfrm>
              <a:off x="602361" y="1917700"/>
              <a:ext cx="2803948" cy="278702"/>
            </a:xfrm>
            <a:prstGeom prst="rect">
              <a:avLst/>
            </a:prstGeom>
            <a:noFill/>
            <a:ln>
              <a:noFill/>
            </a:ln>
          </p:spPr>
          <p:txBody>
            <a:bodyPr wrap="none" lIns="0" tIns="0" rIns="0" bIns="0" anchor="t" anchorCtr="0">
              <a:spAutoFit/>
            </a:bodyPr>
            <a:lstStyle/>
            <a:p>
              <a:pPr algn="l"/>
              <a:r>
                <a:rPr lang="id" sz="1420" b="1" dirty="0">
                  <a:solidFill>
                    <a:srgbClr val="111318"/>
                  </a:solidFill>
                  <a:latin typeface="+mn-lt"/>
                  <a:ea typeface="+mn-ea"/>
                  <a:cs typeface="+mn-cs"/>
                </a:rPr>
                <a:t>Lima kategori studi, satu skala</a:t>
              </a:r>
            </a:p>
          </p:txBody>
        </p:sp>
        <p:sp>
          <p:nvSpPr>
            <p:cNvPr id="10" name="TextBox 10"/>
            <p:cNvSpPr txBox="1"/>
            <p:nvPr/>
          </p:nvSpPr>
          <p:spPr>
            <a:xfrm>
              <a:off x="604838" y="2241550"/>
              <a:ext cx="2794280"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Skor domain 0–100%, dilaporkan sebagai persentase.</a:t>
              </a:r>
            </a:p>
          </p:txBody>
        </p:sp>
        <p:sp>
          <p:nvSpPr>
            <p:cNvPr id="11" name="Rectangle 11"/>
            <p:cNvSpPr/>
            <p:nvPr/>
          </p:nvSpPr>
          <p:spPr>
            <a:xfrm>
              <a:off x="609600" y="2638425"/>
              <a:ext cx="66675" cy="66675"/>
            </a:xfrm>
            <a:prstGeom prst="rect">
              <a:avLst/>
            </a:prstGeom>
            <a:solidFill>
              <a:srgbClr val="111318"/>
            </a:solidFill>
            <a:ln>
              <a:noFill/>
            </a:ln>
          </p:spPr>
        </p:sp>
        <p:sp>
          <p:nvSpPr>
            <p:cNvPr id="12" name="TextBox 12"/>
            <p:cNvSpPr txBox="1"/>
            <p:nvPr/>
          </p:nvSpPr>
          <p:spPr>
            <a:xfrm>
              <a:off x="795338" y="2609850"/>
              <a:ext cx="497640" cy="183832"/>
            </a:xfrm>
            <a:prstGeom prst="rect">
              <a:avLst/>
            </a:prstGeom>
            <a:noFill/>
            <a:ln>
              <a:noFill/>
            </a:ln>
          </p:spPr>
          <p:txBody>
            <a:bodyPr wrap="none" lIns="0" tIns="0" rIns="0" bIns="0" anchor="t" anchorCtr="0">
              <a:spAutoFit/>
            </a:bodyPr>
            <a:lstStyle/>
            <a:p>
              <a:pPr algn="l"/>
              <a:r>
                <a:rPr lang="id" sz="940" dirty="0">
                  <a:solidFill>
                    <a:srgbClr val="111318"/>
                  </a:solidFill>
                  <a:latin typeface="+mn-lt"/>
                  <a:ea typeface="+mn-ea"/>
                  <a:cs typeface="+mn-cs"/>
                </a:rPr>
                <a:t>Kualitatif</a:t>
              </a:r>
            </a:p>
          </p:txBody>
        </p:sp>
        <p:sp>
          <p:nvSpPr>
            <p:cNvPr id="13" name="Rectangle 13"/>
            <p:cNvSpPr/>
            <p:nvPr/>
          </p:nvSpPr>
          <p:spPr>
            <a:xfrm>
              <a:off x="609600" y="2886075"/>
              <a:ext cx="66675" cy="66675"/>
            </a:xfrm>
            <a:prstGeom prst="rect">
              <a:avLst/>
            </a:prstGeom>
            <a:solidFill>
              <a:srgbClr val="111318"/>
            </a:solidFill>
            <a:ln>
              <a:noFill/>
            </a:ln>
          </p:spPr>
        </p:sp>
        <p:sp>
          <p:nvSpPr>
            <p:cNvPr id="14" name="TextBox 14"/>
            <p:cNvSpPr txBox="1"/>
            <p:nvPr/>
          </p:nvSpPr>
          <p:spPr>
            <a:xfrm>
              <a:off x="795338" y="2857500"/>
              <a:ext cx="284317" cy="183832"/>
            </a:xfrm>
            <a:prstGeom prst="rect">
              <a:avLst/>
            </a:prstGeom>
            <a:noFill/>
            <a:ln>
              <a:noFill/>
            </a:ln>
          </p:spPr>
          <p:txBody>
            <a:bodyPr wrap="none" lIns="0" tIns="0" rIns="0" bIns="0" anchor="t" anchorCtr="0">
              <a:spAutoFit/>
            </a:bodyPr>
            <a:lstStyle/>
            <a:p>
              <a:pPr algn="l"/>
              <a:r>
                <a:rPr lang="id" sz="940" dirty="0">
                  <a:solidFill>
                    <a:srgbClr val="111318"/>
                  </a:solidFill>
                  <a:latin typeface="+mn-lt"/>
                  <a:ea typeface="+mn-ea"/>
                  <a:cs typeface="+mn-cs"/>
                </a:rPr>
                <a:t>RCT</a:t>
              </a:r>
            </a:p>
          </p:txBody>
        </p:sp>
        <p:sp>
          <p:nvSpPr>
            <p:cNvPr id="15" name="Rectangle 15"/>
            <p:cNvSpPr/>
            <p:nvPr/>
          </p:nvSpPr>
          <p:spPr>
            <a:xfrm>
              <a:off x="609600" y="3133725"/>
              <a:ext cx="66675" cy="66675"/>
            </a:xfrm>
            <a:prstGeom prst="rect">
              <a:avLst/>
            </a:prstGeom>
            <a:solidFill>
              <a:srgbClr val="E8000D"/>
            </a:solidFill>
            <a:ln>
              <a:noFill/>
            </a:ln>
          </p:spPr>
        </p:sp>
        <p:sp>
          <p:nvSpPr>
            <p:cNvPr id="16" name="TextBox 16"/>
            <p:cNvSpPr txBox="1"/>
            <p:nvPr/>
          </p:nvSpPr>
          <p:spPr>
            <a:xfrm>
              <a:off x="795338" y="3105150"/>
              <a:ext cx="949129" cy="183832"/>
            </a:xfrm>
            <a:prstGeom prst="rect">
              <a:avLst/>
            </a:prstGeom>
            <a:noFill/>
            <a:ln>
              <a:noFill/>
            </a:ln>
          </p:spPr>
          <p:txBody>
            <a:bodyPr wrap="none" lIns="0" tIns="0" rIns="0" bIns="0" anchor="t" anchorCtr="0">
              <a:spAutoFit/>
            </a:bodyPr>
            <a:lstStyle/>
            <a:p>
              <a:pPr algn="l"/>
              <a:r>
                <a:rPr lang="id" sz="940" dirty="0">
                  <a:solidFill>
                    <a:srgbClr val="111318"/>
                  </a:solidFill>
                  <a:latin typeface="+mn-lt"/>
                  <a:ea typeface="+mn-ea"/>
                  <a:cs typeface="+mn-cs"/>
                </a:rPr>
                <a:t>Non-randomized</a:t>
              </a:r>
            </a:p>
          </p:txBody>
        </p:sp>
        <p:sp>
          <p:nvSpPr>
            <p:cNvPr id="17" name="Rectangle 17"/>
            <p:cNvSpPr/>
            <p:nvPr/>
          </p:nvSpPr>
          <p:spPr>
            <a:xfrm>
              <a:off x="609600" y="3381375"/>
              <a:ext cx="66675" cy="66675"/>
            </a:xfrm>
            <a:prstGeom prst="rect">
              <a:avLst/>
            </a:prstGeom>
            <a:solidFill>
              <a:srgbClr val="111318"/>
            </a:solidFill>
            <a:ln>
              <a:noFill/>
            </a:ln>
          </p:spPr>
        </p:sp>
        <p:sp>
          <p:nvSpPr>
            <p:cNvPr id="18" name="TextBox 18"/>
            <p:cNvSpPr txBox="1"/>
            <p:nvPr/>
          </p:nvSpPr>
          <p:spPr>
            <a:xfrm>
              <a:off x="795338" y="3352800"/>
              <a:ext cx="1116688" cy="183832"/>
            </a:xfrm>
            <a:prstGeom prst="rect">
              <a:avLst/>
            </a:prstGeom>
            <a:noFill/>
            <a:ln>
              <a:noFill/>
            </a:ln>
          </p:spPr>
          <p:txBody>
            <a:bodyPr wrap="none" lIns="0" tIns="0" rIns="0" bIns="0" anchor="t" anchorCtr="0">
              <a:spAutoFit/>
            </a:bodyPr>
            <a:lstStyle/>
            <a:p>
              <a:pPr algn="l"/>
              <a:r>
                <a:rPr lang="id" sz="940" dirty="0">
                  <a:solidFill>
                    <a:srgbClr val="111318"/>
                  </a:solidFill>
                  <a:latin typeface="+mn-lt"/>
                  <a:ea typeface="+mn-ea"/>
                  <a:cs typeface="+mn-cs"/>
                </a:rPr>
                <a:t>Deskriptif kuantitatif</a:t>
              </a:r>
            </a:p>
          </p:txBody>
        </p:sp>
        <p:sp>
          <p:nvSpPr>
            <p:cNvPr id="19" name="Rectangle 19"/>
            <p:cNvSpPr/>
            <p:nvPr/>
          </p:nvSpPr>
          <p:spPr>
            <a:xfrm>
              <a:off x="609600" y="3629025"/>
              <a:ext cx="66675" cy="66675"/>
            </a:xfrm>
            <a:prstGeom prst="rect">
              <a:avLst/>
            </a:prstGeom>
            <a:solidFill>
              <a:srgbClr val="111318"/>
            </a:solidFill>
            <a:ln>
              <a:noFill/>
            </a:ln>
          </p:spPr>
        </p:sp>
        <p:sp>
          <p:nvSpPr>
            <p:cNvPr id="20" name="TextBox 20"/>
            <p:cNvSpPr txBox="1"/>
            <p:nvPr/>
          </p:nvSpPr>
          <p:spPr>
            <a:xfrm>
              <a:off x="795338" y="3600450"/>
              <a:ext cx="878677" cy="183832"/>
            </a:xfrm>
            <a:prstGeom prst="rect">
              <a:avLst/>
            </a:prstGeom>
            <a:noFill/>
            <a:ln>
              <a:noFill/>
            </a:ln>
          </p:spPr>
          <p:txBody>
            <a:bodyPr wrap="none" lIns="0" tIns="0" rIns="0" bIns="0" anchor="t" anchorCtr="0">
              <a:spAutoFit/>
            </a:bodyPr>
            <a:lstStyle/>
            <a:p>
              <a:pPr algn="l"/>
              <a:r>
                <a:rPr lang="id" sz="940" dirty="0">
                  <a:solidFill>
                    <a:srgbClr val="111318"/>
                  </a:solidFill>
                  <a:latin typeface="+mn-lt"/>
                  <a:ea typeface="+mn-ea"/>
                  <a:cs typeface="+mn-cs"/>
                </a:rPr>
                <a:t>Mixed-methods</a:t>
              </a:r>
            </a:p>
          </p:txBody>
        </p:sp>
        <p:sp>
          <p:nvSpPr>
            <p:cNvPr id="21" name="Line 21"/>
            <p:cNvSpPr/>
            <p:nvPr/>
          </p:nvSpPr>
          <p:spPr>
            <a:xfrm>
              <a:off x="609600" y="4057650"/>
              <a:ext cx="5067300" cy="9525"/>
            </a:xfrm>
            <a:custGeom>
              <a:avLst/>
              <a:gdLst/>
              <a:ahLst/>
              <a:cxnLst/>
              <a:rect l="l" t="t" r="r" b="b"/>
              <a:pathLst>
                <a:path w="5067300" h="9525">
                  <a:moveTo>
                    <a:pt x="0" y="0"/>
                  </a:moveTo>
                  <a:lnTo>
                    <a:pt x="5067300" y="0"/>
                  </a:lnTo>
                </a:path>
              </a:pathLst>
            </a:custGeom>
            <a:noFill/>
            <a:ln w="9525">
              <a:solidFill>
                <a:srgbClr val="D6D9DE"/>
              </a:solidFill>
            </a:ln>
          </p:spPr>
        </p:sp>
        <p:sp>
          <p:nvSpPr>
            <p:cNvPr id="22" name="TextBox 22"/>
            <p:cNvSpPr txBox="1"/>
            <p:nvPr/>
          </p:nvSpPr>
          <p:spPr>
            <a:xfrm>
              <a:off x="604838" y="4216400"/>
              <a:ext cx="1202665" cy="134302"/>
            </a:xfrm>
            <a:prstGeom prst="rect">
              <a:avLst/>
            </a:prstGeom>
            <a:noFill/>
            <a:ln>
              <a:noFill/>
            </a:ln>
          </p:spPr>
          <p:txBody>
            <a:bodyPr wrap="none" lIns="0" tIns="0" rIns="0" bIns="0" anchor="t" anchorCtr="0">
              <a:spAutoFit/>
            </a:bodyPr>
            <a:lstStyle/>
            <a:p>
              <a:pPr algn="l"/>
              <a:r>
                <a:rPr lang="id" sz="680" b="1" spc="135" dirty="0">
                  <a:solidFill>
                    <a:srgbClr val="8B9198"/>
                  </a:solidFill>
                  <a:latin typeface="+mn-lt"/>
                  <a:ea typeface="+mn-ea"/>
                  <a:cs typeface="+mn-cs"/>
                </a:rPr>
                <a:t>SKOR PER DOMAIN</a:t>
              </a:r>
            </a:p>
          </p:txBody>
        </p:sp>
        <p:sp>
          <p:nvSpPr>
            <p:cNvPr id="23" name="TextBox 23"/>
            <p:cNvSpPr txBox="1"/>
            <p:nvPr/>
          </p:nvSpPr>
          <p:spPr>
            <a:xfrm>
              <a:off x="604647" y="4445000"/>
              <a:ext cx="347350" cy="191643"/>
            </a:xfrm>
            <a:prstGeom prst="rect">
              <a:avLst/>
            </a:prstGeom>
            <a:noFill/>
            <a:ln>
              <a:noFill/>
            </a:ln>
          </p:spPr>
          <p:txBody>
            <a:bodyPr wrap="none" lIns="0" tIns="0" rIns="0" bIns="0" anchor="t" anchorCtr="0">
              <a:spAutoFit/>
            </a:bodyPr>
            <a:lstStyle/>
            <a:p>
              <a:pPr algn="l"/>
              <a:r>
                <a:rPr lang="id" sz="980" b="1" dirty="0">
                  <a:solidFill>
                    <a:srgbClr val="111318"/>
                  </a:solidFill>
                  <a:latin typeface="+mn-lt"/>
                  <a:ea typeface="+mn-ea"/>
                  <a:cs typeface="+mn-cs"/>
                </a:rPr>
                <a:t>100%</a:t>
              </a:r>
            </a:p>
          </p:txBody>
        </p:sp>
        <p:sp>
          <p:nvSpPr>
            <p:cNvPr id="24" name="TextBox 24"/>
            <p:cNvSpPr txBox="1"/>
            <p:nvPr/>
          </p:nvSpPr>
          <p:spPr>
            <a:xfrm>
              <a:off x="1157288" y="4470400"/>
              <a:ext cx="71292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5 dari 5 kriteria</a:t>
              </a:r>
            </a:p>
          </p:txBody>
        </p:sp>
        <p:sp>
          <p:nvSpPr>
            <p:cNvPr id="25" name="TextBox 25"/>
            <p:cNvSpPr txBox="1"/>
            <p:nvPr/>
          </p:nvSpPr>
          <p:spPr>
            <a:xfrm>
              <a:off x="604647" y="4673600"/>
              <a:ext cx="273972" cy="191643"/>
            </a:xfrm>
            <a:prstGeom prst="rect">
              <a:avLst/>
            </a:prstGeom>
            <a:noFill/>
            <a:ln>
              <a:noFill/>
            </a:ln>
          </p:spPr>
          <p:txBody>
            <a:bodyPr wrap="none" lIns="0" tIns="0" rIns="0" bIns="0" anchor="t" anchorCtr="0">
              <a:spAutoFit/>
            </a:bodyPr>
            <a:lstStyle/>
            <a:p>
              <a:pPr algn="l"/>
              <a:r>
                <a:rPr lang="id" sz="980" b="1" dirty="0">
                  <a:solidFill>
                    <a:srgbClr val="111318"/>
                  </a:solidFill>
                  <a:latin typeface="+mn-lt"/>
                  <a:ea typeface="+mn-ea"/>
                  <a:cs typeface="+mn-cs"/>
                </a:rPr>
                <a:t>80%</a:t>
              </a:r>
            </a:p>
          </p:txBody>
        </p:sp>
        <p:sp>
          <p:nvSpPr>
            <p:cNvPr id="26" name="TextBox 26"/>
            <p:cNvSpPr txBox="1"/>
            <p:nvPr/>
          </p:nvSpPr>
          <p:spPr>
            <a:xfrm>
              <a:off x="1157288" y="4699000"/>
              <a:ext cx="71292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4 dari 5 kriteria</a:t>
              </a:r>
            </a:p>
          </p:txBody>
        </p:sp>
        <p:sp>
          <p:nvSpPr>
            <p:cNvPr id="27" name="TextBox 27"/>
            <p:cNvSpPr txBox="1"/>
            <p:nvPr/>
          </p:nvSpPr>
          <p:spPr>
            <a:xfrm>
              <a:off x="604647" y="4902200"/>
              <a:ext cx="273972" cy="191643"/>
            </a:xfrm>
            <a:prstGeom prst="rect">
              <a:avLst/>
            </a:prstGeom>
            <a:noFill/>
            <a:ln>
              <a:noFill/>
            </a:ln>
          </p:spPr>
          <p:txBody>
            <a:bodyPr wrap="none" lIns="0" tIns="0" rIns="0" bIns="0" anchor="t" anchorCtr="0">
              <a:spAutoFit/>
            </a:bodyPr>
            <a:lstStyle/>
            <a:p>
              <a:pPr algn="l"/>
              <a:r>
                <a:rPr lang="id" sz="980" b="1" dirty="0">
                  <a:solidFill>
                    <a:srgbClr val="111318"/>
                  </a:solidFill>
                  <a:latin typeface="+mn-lt"/>
                  <a:ea typeface="+mn-ea"/>
                  <a:cs typeface="+mn-cs"/>
                </a:rPr>
                <a:t>60%</a:t>
              </a:r>
            </a:p>
          </p:txBody>
        </p:sp>
        <p:sp>
          <p:nvSpPr>
            <p:cNvPr id="28" name="TextBox 28"/>
            <p:cNvSpPr txBox="1"/>
            <p:nvPr/>
          </p:nvSpPr>
          <p:spPr>
            <a:xfrm>
              <a:off x="1157288" y="4927600"/>
              <a:ext cx="71292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3 dari 5 kriteria</a:t>
              </a:r>
            </a:p>
          </p:txBody>
        </p:sp>
        <p:sp>
          <p:nvSpPr>
            <p:cNvPr id="29" name="TextBox 29"/>
            <p:cNvSpPr txBox="1"/>
            <p:nvPr/>
          </p:nvSpPr>
          <p:spPr>
            <a:xfrm>
              <a:off x="3233547" y="4445000"/>
              <a:ext cx="273972" cy="191643"/>
            </a:xfrm>
            <a:prstGeom prst="rect">
              <a:avLst/>
            </a:prstGeom>
            <a:noFill/>
            <a:ln>
              <a:noFill/>
            </a:ln>
          </p:spPr>
          <p:txBody>
            <a:bodyPr wrap="none" lIns="0" tIns="0" rIns="0" bIns="0" anchor="t" anchorCtr="0">
              <a:spAutoFit/>
            </a:bodyPr>
            <a:lstStyle/>
            <a:p>
              <a:pPr algn="l"/>
              <a:r>
                <a:rPr lang="id" sz="980" b="1" dirty="0">
                  <a:solidFill>
                    <a:srgbClr val="111318"/>
                  </a:solidFill>
                  <a:latin typeface="+mn-lt"/>
                  <a:ea typeface="+mn-ea"/>
                  <a:cs typeface="+mn-cs"/>
                </a:rPr>
                <a:t>40%</a:t>
              </a:r>
            </a:p>
          </p:txBody>
        </p:sp>
        <p:sp>
          <p:nvSpPr>
            <p:cNvPr id="30" name="TextBox 30"/>
            <p:cNvSpPr txBox="1"/>
            <p:nvPr/>
          </p:nvSpPr>
          <p:spPr>
            <a:xfrm>
              <a:off x="3786188" y="4470400"/>
              <a:ext cx="71292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2 dari 5 kriteria</a:t>
              </a:r>
            </a:p>
          </p:txBody>
        </p:sp>
        <p:sp>
          <p:nvSpPr>
            <p:cNvPr id="31" name="TextBox 31"/>
            <p:cNvSpPr txBox="1"/>
            <p:nvPr/>
          </p:nvSpPr>
          <p:spPr>
            <a:xfrm>
              <a:off x="3233547" y="4673600"/>
              <a:ext cx="273972" cy="191643"/>
            </a:xfrm>
            <a:prstGeom prst="rect">
              <a:avLst/>
            </a:prstGeom>
            <a:noFill/>
            <a:ln>
              <a:noFill/>
            </a:ln>
          </p:spPr>
          <p:txBody>
            <a:bodyPr wrap="none" lIns="0" tIns="0" rIns="0" bIns="0" anchor="t" anchorCtr="0">
              <a:spAutoFit/>
            </a:bodyPr>
            <a:lstStyle/>
            <a:p>
              <a:pPr algn="l"/>
              <a:r>
                <a:rPr lang="id" sz="980" b="1" dirty="0">
                  <a:solidFill>
                    <a:srgbClr val="111318"/>
                  </a:solidFill>
                  <a:latin typeface="+mn-lt"/>
                  <a:ea typeface="+mn-ea"/>
                  <a:cs typeface="+mn-cs"/>
                </a:rPr>
                <a:t>20%</a:t>
              </a:r>
            </a:p>
          </p:txBody>
        </p:sp>
        <p:sp>
          <p:nvSpPr>
            <p:cNvPr id="32" name="TextBox 32"/>
            <p:cNvSpPr txBox="1"/>
            <p:nvPr/>
          </p:nvSpPr>
          <p:spPr>
            <a:xfrm>
              <a:off x="3786188" y="4699000"/>
              <a:ext cx="71292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1 dari 5 kriteria</a:t>
              </a:r>
            </a:p>
          </p:txBody>
        </p:sp>
        <p:sp>
          <p:nvSpPr>
            <p:cNvPr id="33" name="TextBox 33"/>
            <p:cNvSpPr txBox="1"/>
            <p:nvPr/>
          </p:nvSpPr>
          <p:spPr>
            <a:xfrm>
              <a:off x="3233547" y="4902200"/>
              <a:ext cx="200594" cy="191643"/>
            </a:xfrm>
            <a:prstGeom prst="rect">
              <a:avLst/>
            </a:prstGeom>
            <a:noFill/>
            <a:ln>
              <a:noFill/>
            </a:ln>
          </p:spPr>
          <p:txBody>
            <a:bodyPr wrap="none" lIns="0" tIns="0" rIns="0" bIns="0" anchor="t" anchorCtr="0">
              <a:spAutoFit/>
            </a:bodyPr>
            <a:lstStyle/>
            <a:p>
              <a:pPr algn="l"/>
              <a:r>
                <a:rPr lang="id" sz="980" b="1" dirty="0">
                  <a:solidFill>
                    <a:srgbClr val="111318"/>
                  </a:solidFill>
                  <a:latin typeface="+mn-lt"/>
                  <a:ea typeface="+mn-ea"/>
                  <a:cs typeface="+mn-cs"/>
                </a:rPr>
                <a:t>0%</a:t>
              </a:r>
            </a:p>
          </p:txBody>
        </p:sp>
        <p:sp>
          <p:nvSpPr>
            <p:cNvPr id="34" name="TextBox 34"/>
            <p:cNvSpPr txBox="1"/>
            <p:nvPr/>
          </p:nvSpPr>
          <p:spPr>
            <a:xfrm>
              <a:off x="3786188" y="4927600"/>
              <a:ext cx="712923"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0 dari 5 kriteria</a:t>
              </a:r>
            </a:p>
          </p:txBody>
        </p:sp>
        <p:sp>
          <p:nvSpPr>
            <p:cNvPr id="35" name="Line 35"/>
            <p:cNvSpPr/>
            <p:nvPr/>
          </p:nvSpPr>
          <p:spPr>
            <a:xfrm>
              <a:off x="609600" y="5295900"/>
              <a:ext cx="5067300" cy="9525"/>
            </a:xfrm>
            <a:custGeom>
              <a:avLst/>
              <a:gdLst/>
              <a:ahLst/>
              <a:cxnLst/>
              <a:rect l="l" t="t" r="r" b="b"/>
              <a:pathLst>
                <a:path w="5067300" h="9525">
                  <a:moveTo>
                    <a:pt x="0" y="0"/>
                  </a:moveTo>
                  <a:lnTo>
                    <a:pt x="5067300" y="0"/>
                  </a:lnTo>
                </a:path>
              </a:pathLst>
            </a:custGeom>
            <a:noFill/>
            <a:ln w="9525">
              <a:solidFill>
                <a:srgbClr val="D6D9DE"/>
              </a:solidFill>
            </a:ln>
          </p:spPr>
        </p:sp>
        <p:sp>
          <p:nvSpPr>
            <p:cNvPr id="36" name="TextBox 36"/>
            <p:cNvSpPr txBox="1"/>
            <p:nvPr/>
          </p:nvSpPr>
          <p:spPr>
            <a:xfrm>
              <a:off x="604838" y="5448300"/>
              <a:ext cx="1833246" cy="314325"/>
            </a:xfrm>
            <a:prstGeom prst="rect">
              <a:avLst/>
            </a:prstGeom>
            <a:noFill/>
            <a:ln>
              <a:noFill/>
            </a:ln>
          </p:spPr>
          <p:txBody>
            <a:bodyPr wrap="none" lIns="0" tIns="0" rIns="0" bIns="0" anchor="t" anchorCtr="0">
              <a:spAutoFit/>
            </a:bodyPr>
            <a:lstStyle/>
            <a:p>
              <a:pPr algn="l">
                <a:lnSpc>
                  <a:spcPts val="1200"/>
                </a:lnSpc>
              </a:pPr>
              <a:r>
                <a:rPr lang="id" sz="820" dirty="0">
                  <a:solidFill>
                    <a:srgbClr val="585E66"/>
                  </a:solidFill>
                  <a:latin typeface="+mn-lt"/>
                  <a:ea typeface="+mn-ea"/>
                  <a:cs typeface="+mn-cs"/>
                </a:rPr>
                <a:t>Dua penilai independen (J.E., M.P.);</a:t>
              </a:r>
              <a:br>
                <a:rPr lang="id" sz="820" dirty="0">
                  <a:solidFill>
                    <a:srgbClr val="585E66"/>
                  </a:solidFill>
                  <a:latin typeface="+mn-lt"/>
                  <a:ea typeface="+mn-ea"/>
                  <a:cs typeface="+mn-cs"/>
                </a:rPr>
              </a:br>
              <a:r>
                <a:rPr lang="id" sz="820" dirty="0">
                  <a:solidFill>
                    <a:srgbClr val="585E66"/>
                  </a:solidFill>
                  <a:latin typeface="+mn-lt"/>
                  <a:ea typeface="+mn-ea"/>
                  <a:cs typeface="+mn-cs"/>
                </a:rPr>
                <a:t>selisih diselesaikan dengan konsensus.</a:t>
              </a:r>
            </a:p>
          </p:txBody>
        </p:sp>
        <p:sp>
          <p:nvSpPr>
            <p:cNvPr id="37" name="TextBox 37"/>
            <p:cNvSpPr txBox="1"/>
            <p:nvPr/>
          </p:nvSpPr>
          <p:spPr>
            <a:xfrm>
              <a:off x="604838" y="5842000"/>
              <a:ext cx="2430456"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Semua 59 studi dipertahankan dalam sintesis.</a:t>
              </a:r>
            </a:p>
          </p:txBody>
        </p:sp>
        <p:sp>
          <p:nvSpPr>
            <p:cNvPr id="38" name="Rectangle 38"/>
            <p:cNvSpPr/>
            <p:nvPr/>
          </p:nvSpPr>
          <p:spPr>
            <a:xfrm>
              <a:off x="6286500" y="1581150"/>
              <a:ext cx="5295900" cy="4438650"/>
            </a:xfrm>
            <a:prstGeom prst="rect">
              <a:avLst/>
            </a:prstGeom>
            <a:solidFill>
              <a:srgbClr val="F3F3F1"/>
            </a:solidFill>
            <a:ln>
              <a:noFill/>
            </a:ln>
          </p:spPr>
        </p:sp>
      </p:grpSp>
      <p:grpSp>
        <p:nvGrpSpPr>
          <p:cNvPr id="58" name="pipeline"/>
          <p:cNvGrpSpPr/>
          <p:nvPr/>
        </p:nvGrpSpPr>
        <p:grpSpPr>
          <a:xfrm>
            <a:off x="6662738" y="1873250"/>
            <a:ext cx="4576762" cy="4028758"/>
            <a:chOff x="6662738" y="1873250"/>
            <a:chExt cx="4576762" cy="4028758"/>
          </a:xfrm>
        </p:grpSpPr>
        <p:sp>
          <p:nvSpPr>
            <p:cNvPr id="40" name="TextBox 40"/>
            <p:cNvSpPr txBox="1"/>
            <p:nvPr/>
          </p:nvSpPr>
          <p:spPr>
            <a:xfrm>
              <a:off x="6662738" y="1873250"/>
              <a:ext cx="1059879"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ALUR SINTESIS</a:t>
              </a:r>
            </a:p>
          </p:txBody>
        </p:sp>
        <p:sp>
          <p:nvSpPr>
            <p:cNvPr id="41" name="TextBox 41"/>
            <p:cNvSpPr txBox="1"/>
            <p:nvPr/>
          </p:nvSpPr>
          <p:spPr>
            <a:xfrm>
              <a:off x="6662738" y="2279650"/>
              <a:ext cx="70923"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1</a:t>
              </a:r>
            </a:p>
          </p:txBody>
        </p:sp>
        <p:sp>
          <p:nvSpPr>
            <p:cNvPr id="42" name="TextBox 42"/>
            <p:cNvSpPr txBox="1"/>
            <p:nvPr/>
          </p:nvSpPr>
          <p:spPr>
            <a:xfrm>
              <a:off x="6871526" y="2241550"/>
              <a:ext cx="1206258" cy="213170"/>
            </a:xfrm>
            <a:prstGeom prst="rect">
              <a:avLst/>
            </a:prstGeom>
            <a:noFill/>
            <a:ln>
              <a:noFill/>
            </a:ln>
          </p:spPr>
          <p:txBody>
            <a:bodyPr wrap="none" lIns="0" tIns="0" rIns="0" bIns="0" anchor="t" anchorCtr="0">
              <a:spAutoFit/>
            </a:bodyPr>
            <a:lstStyle/>
            <a:p>
              <a:pPr algn="l"/>
              <a:r>
                <a:rPr lang="id" sz="1090" b="1" dirty="0">
                  <a:solidFill>
                    <a:srgbClr val="111318"/>
                  </a:solidFill>
                  <a:latin typeface="+mn-lt"/>
                  <a:ea typeface="+mn-ea"/>
                  <a:cs typeface="+mn-cs"/>
                </a:rPr>
                <a:t>Ekstraksi terarah</a:t>
              </a:r>
            </a:p>
          </p:txBody>
        </p:sp>
        <p:sp>
          <p:nvSpPr>
            <p:cNvPr id="43" name="TextBox 43"/>
            <p:cNvSpPr txBox="1"/>
            <p:nvPr/>
          </p:nvSpPr>
          <p:spPr>
            <a:xfrm>
              <a:off x="6872288" y="2470150"/>
              <a:ext cx="2713406"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Item data Tabel 2: desain, partisipan, setting, luaran.</a:t>
              </a:r>
            </a:p>
          </p:txBody>
        </p:sp>
        <p:sp>
          <p:nvSpPr>
            <p:cNvPr id="44" name="Line 44"/>
            <p:cNvSpPr/>
            <p:nvPr/>
          </p:nvSpPr>
          <p:spPr>
            <a:xfrm>
              <a:off x="6877050" y="2838450"/>
              <a:ext cx="4362450" cy="9525"/>
            </a:xfrm>
            <a:custGeom>
              <a:avLst/>
              <a:gdLst/>
              <a:ahLst/>
              <a:cxnLst/>
              <a:rect l="l" t="t" r="r" b="b"/>
              <a:pathLst>
                <a:path w="4362450" h="9525">
                  <a:moveTo>
                    <a:pt x="0" y="0"/>
                  </a:moveTo>
                  <a:lnTo>
                    <a:pt x="4362450" y="0"/>
                  </a:lnTo>
                </a:path>
              </a:pathLst>
            </a:custGeom>
            <a:noFill/>
            <a:ln w="9525">
              <a:solidFill>
                <a:srgbClr val="D6D9DE"/>
              </a:solidFill>
            </a:ln>
          </p:spPr>
        </p:sp>
        <p:sp>
          <p:nvSpPr>
            <p:cNvPr id="45" name="TextBox 45"/>
            <p:cNvSpPr txBox="1"/>
            <p:nvPr/>
          </p:nvSpPr>
          <p:spPr>
            <a:xfrm>
              <a:off x="6662738" y="3060700"/>
              <a:ext cx="70923"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2</a:t>
              </a:r>
            </a:p>
          </p:txBody>
        </p:sp>
        <p:sp>
          <p:nvSpPr>
            <p:cNvPr id="46" name="TextBox 46"/>
            <p:cNvSpPr txBox="1"/>
            <p:nvPr/>
          </p:nvSpPr>
          <p:spPr>
            <a:xfrm>
              <a:off x="6871526" y="3022600"/>
              <a:ext cx="748798" cy="213170"/>
            </a:xfrm>
            <a:prstGeom prst="rect">
              <a:avLst/>
            </a:prstGeom>
            <a:noFill/>
            <a:ln>
              <a:noFill/>
            </a:ln>
          </p:spPr>
          <p:txBody>
            <a:bodyPr wrap="none" lIns="0" tIns="0" rIns="0" bIns="0" anchor="t" anchorCtr="0">
              <a:spAutoFit/>
            </a:bodyPr>
            <a:lstStyle/>
            <a:p>
              <a:pPr algn="l"/>
              <a:r>
                <a:rPr lang="id" sz="1090" b="1" dirty="0">
                  <a:solidFill>
                    <a:srgbClr val="111318"/>
                  </a:solidFill>
                  <a:latin typeface="+mn-lt"/>
                  <a:ea typeface="+mn-ea"/>
                  <a:cs typeface="+mn-cs"/>
                </a:rPr>
                <a:t>Kualitisasi</a:t>
              </a:r>
            </a:p>
          </p:txBody>
        </p:sp>
        <p:sp>
          <p:nvSpPr>
            <p:cNvPr id="47" name="TextBox 47"/>
            <p:cNvSpPr txBox="1"/>
            <p:nvPr/>
          </p:nvSpPr>
          <p:spPr>
            <a:xfrm>
              <a:off x="6872288" y="3251200"/>
              <a:ext cx="2554801"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Data kuantitatif diubah menjadi deskripsi tekstual.</a:t>
              </a:r>
            </a:p>
          </p:txBody>
        </p:sp>
        <p:sp>
          <p:nvSpPr>
            <p:cNvPr id="48" name="Line 48"/>
            <p:cNvSpPr/>
            <p:nvPr/>
          </p:nvSpPr>
          <p:spPr>
            <a:xfrm>
              <a:off x="6877050" y="3619500"/>
              <a:ext cx="4362450" cy="9525"/>
            </a:xfrm>
            <a:custGeom>
              <a:avLst/>
              <a:gdLst/>
              <a:ahLst/>
              <a:cxnLst/>
              <a:rect l="l" t="t" r="r" b="b"/>
              <a:pathLst>
                <a:path w="4362450" h="9525">
                  <a:moveTo>
                    <a:pt x="0" y="0"/>
                  </a:moveTo>
                  <a:lnTo>
                    <a:pt x="4362450" y="0"/>
                  </a:lnTo>
                </a:path>
              </a:pathLst>
            </a:custGeom>
            <a:noFill/>
            <a:ln w="9525">
              <a:solidFill>
                <a:srgbClr val="D6D9DE"/>
              </a:solidFill>
            </a:ln>
          </p:spPr>
        </p:sp>
        <p:sp>
          <p:nvSpPr>
            <p:cNvPr id="49" name="TextBox 49"/>
            <p:cNvSpPr txBox="1"/>
            <p:nvPr/>
          </p:nvSpPr>
          <p:spPr>
            <a:xfrm>
              <a:off x="6662738" y="3841750"/>
              <a:ext cx="70923"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3</a:t>
              </a:r>
            </a:p>
          </p:txBody>
        </p:sp>
        <p:sp>
          <p:nvSpPr>
            <p:cNvPr id="50" name="TextBox 50"/>
            <p:cNvSpPr txBox="1"/>
            <p:nvPr/>
          </p:nvSpPr>
          <p:spPr>
            <a:xfrm>
              <a:off x="6871526" y="3803650"/>
              <a:ext cx="1377497" cy="213170"/>
            </a:xfrm>
            <a:prstGeom prst="rect">
              <a:avLst/>
            </a:prstGeom>
            <a:noFill/>
            <a:ln>
              <a:noFill/>
            </a:ln>
          </p:spPr>
          <p:txBody>
            <a:bodyPr wrap="none" lIns="0" tIns="0" rIns="0" bIns="0" anchor="t" anchorCtr="0">
              <a:spAutoFit/>
            </a:bodyPr>
            <a:lstStyle/>
            <a:p>
              <a:pPr algn="l"/>
              <a:r>
                <a:rPr lang="id" sz="1090" b="1" dirty="0">
                  <a:solidFill>
                    <a:srgbClr val="111318"/>
                  </a:solidFill>
                  <a:latin typeface="+mn-lt"/>
                  <a:ea typeface="+mn-ea"/>
                  <a:cs typeface="+mn-cs"/>
                </a:rPr>
                <a:t>Thematic synthesis</a:t>
              </a:r>
            </a:p>
          </p:txBody>
        </p:sp>
        <p:sp>
          <p:nvSpPr>
            <p:cNvPr id="51" name="TextBox 51"/>
            <p:cNvSpPr txBox="1"/>
            <p:nvPr/>
          </p:nvSpPr>
          <p:spPr>
            <a:xfrm>
              <a:off x="6872288" y="4032250"/>
              <a:ext cx="2732623"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Thomas &amp; Harden; constant comparative antar-studi.</a:t>
              </a:r>
            </a:p>
          </p:txBody>
        </p:sp>
        <p:sp>
          <p:nvSpPr>
            <p:cNvPr id="52" name="Line 52"/>
            <p:cNvSpPr/>
            <p:nvPr/>
          </p:nvSpPr>
          <p:spPr>
            <a:xfrm>
              <a:off x="6877050" y="4400550"/>
              <a:ext cx="4362450" cy="9525"/>
            </a:xfrm>
            <a:custGeom>
              <a:avLst/>
              <a:gdLst/>
              <a:ahLst/>
              <a:cxnLst/>
              <a:rect l="l" t="t" r="r" b="b"/>
              <a:pathLst>
                <a:path w="4362450" h="9525">
                  <a:moveTo>
                    <a:pt x="0" y="0"/>
                  </a:moveTo>
                  <a:lnTo>
                    <a:pt x="4362450" y="0"/>
                  </a:lnTo>
                </a:path>
              </a:pathLst>
            </a:custGeom>
            <a:noFill/>
            <a:ln w="9525">
              <a:solidFill>
                <a:srgbClr val="D6D9DE"/>
              </a:solidFill>
            </a:ln>
          </p:spPr>
        </p:sp>
        <p:sp>
          <p:nvSpPr>
            <p:cNvPr id="53" name="TextBox 53"/>
            <p:cNvSpPr txBox="1"/>
            <p:nvPr/>
          </p:nvSpPr>
          <p:spPr>
            <a:xfrm>
              <a:off x="6662738" y="4622800"/>
              <a:ext cx="70923"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4</a:t>
              </a:r>
            </a:p>
          </p:txBody>
        </p:sp>
        <p:sp>
          <p:nvSpPr>
            <p:cNvPr id="54" name="TextBox 54"/>
            <p:cNvSpPr txBox="1"/>
            <p:nvPr/>
          </p:nvSpPr>
          <p:spPr>
            <a:xfrm>
              <a:off x="6871526" y="4584700"/>
              <a:ext cx="1369297" cy="213170"/>
            </a:xfrm>
            <a:prstGeom prst="rect">
              <a:avLst/>
            </a:prstGeom>
            <a:noFill/>
            <a:ln>
              <a:noFill/>
            </a:ln>
          </p:spPr>
          <p:txBody>
            <a:bodyPr wrap="none" lIns="0" tIns="0" rIns="0" bIns="0" anchor="t" anchorCtr="0">
              <a:spAutoFit/>
            </a:bodyPr>
            <a:lstStyle/>
            <a:p>
              <a:pPr algn="l"/>
              <a:r>
                <a:rPr lang="id" sz="1090" b="1" dirty="0">
                  <a:solidFill>
                    <a:srgbClr val="111318"/>
                  </a:solidFill>
                  <a:latin typeface="+mn-lt"/>
                  <a:ea typeface="+mn-ea"/>
                  <a:cs typeface="+mn-cs"/>
                </a:rPr>
                <a:t>Narrative synthesis</a:t>
              </a:r>
            </a:p>
          </p:txBody>
        </p:sp>
        <p:sp>
          <p:nvSpPr>
            <p:cNvPr id="55" name="TextBox 55"/>
            <p:cNvSpPr txBox="1"/>
            <p:nvPr/>
          </p:nvSpPr>
          <p:spPr>
            <a:xfrm>
              <a:off x="6872288" y="4813300"/>
              <a:ext cx="3447912"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ESRC guidance; convergent integrated — hasil disajikan bersama.</a:t>
              </a:r>
            </a:p>
          </p:txBody>
        </p:sp>
        <p:sp>
          <p:nvSpPr>
            <p:cNvPr id="56" name="Line 56"/>
            <p:cNvSpPr/>
            <p:nvPr/>
          </p:nvSpPr>
          <p:spPr>
            <a:xfrm>
              <a:off x="6667500" y="5638800"/>
              <a:ext cx="4572000" cy="9525"/>
            </a:xfrm>
            <a:custGeom>
              <a:avLst/>
              <a:gdLst/>
              <a:ahLst/>
              <a:cxnLst/>
              <a:rect l="l" t="t" r="r" b="b"/>
              <a:pathLst>
                <a:path w="4572000" h="9525">
                  <a:moveTo>
                    <a:pt x="0" y="0"/>
                  </a:moveTo>
                  <a:lnTo>
                    <a:pt x="4572000" y="0"/>
                  </a:lnTo>
                </a:path>
              </a:pathLst>
            </a:custGeom>
            <a:noFill/>
            <a:ln w="9525">
              <a:solidFill>
                <a:srgbClr val="111318"/>
              </a:solidFill>
            </a:ln>
          </p:spPr>
        </p:sp>
        <p:sp>
          <p:nvSpPr>
            <p:cNvPr id="57" name="TextBox 57"/>
            <p:cNvSpPr txBox="1"/>
            <p:nvPr/>
          </p:nvSpPr>
          <p:spPr>
            <a:xfrm>
              <a:off x="6662738" y="5746750"/>
              <a:ext cx="2616570" cy="155258"/>
            </a:xfrm>
            <a:prstGeom prst="rect">
              <a:avLst/>
            </a:prstGeom>
            <a:noFill/>
            <a:ln>
              <a:noFill/>
            </a:ln>
          </p:spPr>
          <p:txBody>
            <a:bodyPr wrap="none" lIns="0" tIns="0" rIns="0" bIns="0" anchor="t" anchorCtr="0">
              <a:spAutoFit/>
            </a:bodyPr>
            <a:lstStyle/>
            <a:p>
              <a:pPr algn="l"/>
              <a:r>
                <a:rPr lang="id" sz="790" b="1" spc="45" dirty="0">
                  <a:solidFill>
                    <a:srgbClr val="111318"/>
                  </a:solidFill>
                  <a:latin typeface="+mn-lt"/>
                  <a:ea typeface="+mn-ea"/>
                  <a:cs typeface="+mn-cs"/>
                </a:rPr>
                <a:t>PRISMA 2020 · ENTREQ · tanpa meta-analisis</a:t>
              </a:r>
            </a:p>
          </p:txBody>
        </p:sp>
      </p:grpSp>
      <p:grpSp>
        <p:nvGrpSpPr>
          <p:cNvPr id="62" name="footer"/>
          <p:cNvGrpSpPr/>
          <p:nvPr/>
        </p:nvGrpSpPr>
        <p:grpSpPr>
          <a:xfrm>
            <a:off x="604838" y="6324600"/>
            <a:ext cx="10982325" cy="268288"/>
            <a:chOff x="604838" y="6324600"/>
            <a:chExt cx="10982325" cy="268288"/>
          </a:xfrm>
        </p:grpSpPr>
        <p:sp>
          <p:nvSpPr>
            <p:cNvPr id="59" name="Line 59"/>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60" name="TextBox 60"/>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61" name="TextBox 61"/>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801914"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04 · HASIL</a:t>
              </a:r>
            </a:p>
          </p:txBody>
        </p:sp>
        <p:sp>
          <p:nvSpPr>
            <p:cNvPr id="3" name="TextBox 3"/>
            <p:cNvSpPr txBox="1"/>
            <p:nvPr/>
          </p:nvSpPr>
          <p:spPr>
            <a:xfrm>
              <a:off x="595503" y="685800"/>
              <a:ext cx="6262830"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Dari 3.729 catatan menjadi 59 studi</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05 / 16</a:t>
              </a:r>
            </a:p>
          </p:txBody>
        </p:sp>
      </p:grpSp>
      <p:grpSp>
        <p:nvGrpSpPr>
          <p:cNvPr id="24" name="flow"/>
          <p:cNvGrpSpPr/>
          <p:nvPr/>
        </p:nvGrpSpPr>
        <p:grpSpPr>
          <a:xfrm>
            <a:off x="592836" y="1676400"/>
            <a:ext cx="10989564" cy="1082358"/>
            <a:chOff x="592836" y="1676400"/>
            <a:chExt cx="10989564" cy="1082358"/>
          </a:xfrm>
        </p:grpSpPr>
        <p:sp>
          <p:nvSpPr>
            <p:cNvPr id="8" name="Line 8"/>
            <p:cNvSpPr/>
            <p:nvPr/>
          </p:nvSpPr>
          <p:spPr>
            <a:xfrm>
              <a:off x="609600" y="1676400"/>
              <a:ext cx="10972800" cy="9525"/>
            </a:xfrm>
            <a:custGeom>
              <a:avLst/>
              <a:gdLst/>
              <a:ahLst/>
              <a:cxnLst/>
              <a:rect l="l" t="t" r="r" b="b"/>
              <a:pathLst>
                <a:path w="10972800" h="9525">
                  <a:moveTo>
                    <a:pt x="0" y="0"/>
                  </a:moveTo>
                  <a:lnTo>
                    <a:pt x="10972800" y="0"/>
                  </a:lnTo>
                </a:path>
              </a:pathLst>
            </a:custGeom>
            <a:noFill/>
            <a:ln w="14288">
              <a:solidFill>
                <a:srgbClr val="111318"/>
              </a:solidFill>
            </a:ln>
          </p:spPr>
        </p:sp>
        <p:sp>
          <p:nvSpPr>
            <p:cNvPr id="9" name="TextBox 9"/>
            <p:cNvSpPr txBox="1"/>
            <p:nvPr/>
          </p:nvSpPr>
          <p:spPr>
            <a:xfrm>
              <a:off x="592836" y="1879600"/>
              <a:ext cx="1145298" cy="645414"/>
            </a:xfrm>
            <a:prstGeom prst="rect">
              <a:avLst/>
            </a:prstGeom>
            <a:noFill/>
            <a:ln>
              <a:noFill/>
            </a:ln>
          </p:spPr>
          <p:txBody>
            <a:bodyPr wrap="none" lIns="0" tIns="0" rIns="0" bIns="0" anchor="t" anchorCtr="0">
              <a:spAutoFit/>
            </a:bodyPr>
            <a:lstStyle/>
            <a:p>
              <a:pPr algn="l"/>
              <a:r>
                <a:rPr lang="id" sz="3300" b="1" dirty="0">
                  <a:solidFill>
                    <a:srgbClr val="111318"/>
                  </a:solidFill>
                  <a:latin typeface="+mn-lt"/>
                  <a:ea typeface="+mn-ea"/>
                  <a:cs typeface="+mn-cs"/>
                </a:rPr>
                <a:t>3.729</a:t>
              </a:r>
            </a:p>
          </p:txBody>
        </p:sp>
        <p:sp>
          <p:nvSpPr>
            <p:cNvPr id="10" name="TextBox 10"/>
            <p:cNvSpPr txBox="1"/>
            <p:nvPr/>
          </p:nvSpPr>
          <p:spPr>
            <a:xfrm>
              <a:off x="604838" y="2444750"/>
              <a:ext cx="1718234" cy="140494"/>
            </a:xfrm>
            <a:prstGeom prst="rect">
              <a:avLst/>
            </a:prstGeom>
            <a:noFill/>
            <a:ln>
              <a:noFill/>
            </a:ln>
          </p:spPr>
          <p:txBody>
            <a:bodyPr wrap="none" lIns="0" tIns="0" rIns="0" bIns="0" anchor="t" anchorCtr="0">
              <a:spAutoFit/>
            </a:bodyPr>
            <a:lstStyle/>
            <a:p>
              <a:pPr algn="l"/>
              <a:r>
                <a:rPr lang="id" sz="710" b="1" spc="105" dirty="0">
                  <a:solidFill>
                    <a:srgbClr val="111318"/>
                  </a:solidFill>
                  <a:latin typeface="+mn-lt"/>
                  <a:ea typeface="+mn-ea"/>
                  <a:cs typeface="+mn-cs"/>
                </a:rPr>
                <a:t>CATATAN TERIDENTIFIKASI</a:t>
              </a:r>
            </a:p>
          </p:txBody>
        </p:sp>
        <p:sp>
          <p:nvSpPr>
            <p:cNvPr id="11" name="TextBox 11"/>
            <p:cNvSpPr txBox="1"/>
            <p:nvPr/>
          </p:nvSpPr>
          <p:spPr>
            <a:xfrm>
              <a:off x="604838" y="2603500"/>
              <a:ext cx="1410156" cy="155258"/>
            </a:xfrm>
            <a:prstGeom prst="rect">
              <a:avLst/>
            </a:prstGeom>
            <a:noFill/>
            <a:ln>
              <a:noFill/>
            </a:ln>
          </p:spPr>
          <p:txBody>
            <a:bodyPr wrap="none" lIns="0" tIns="0" rIns="0" bIns="0" anchor="t" anchorCtr="0">
              <a:spAutoFit/>
            </a:bodyPr>
            <a:lstStyle/>
            <a:p>
              <a:pPr algn="l"/>
              <a:r>
                <a:rPr lang="id" sz="790" dirty="0">
                  <a:solidFill>
                    <a:srgbClr val="8B9198"/>
                  </a:solidFill>
                  <a:latin typeface="+mn-lt"/>
                  <a:ea typeface="+mn-ea"/>
                  <a:cs typeface="+mn-cs"/>
                </a:rPr>
                <a:t>8 database · Feb &amp; Nov 2021</a:t>
              </a:r>
            </a:p>
          </p:txBody>
        </p:sp>
        <p:sp>
          <p:nvSpPr>
            <p:cNvPr id="12" name="TextBox 12"/>
            <p:cNvSpPr txBox="1"/>
            <p:nvPr/>
          </p:nvSpPr>
          <p:spPr>
            <a:xfrm>
              <a:off x="3316986" y="1879600"/>
              <a:ext cx="1145298" cy="645414"/>
            </a:xfrm>
            <a:prstGeom prst="rect">
              <a:avLst/>
            </a:prstGeom>
            <a:noFill/>
            <a:ln>
              <a:noFill/>
            </a:ln>
          </p:spPr>
          <p:txBody>
            <a:bodyPr wrap="none" lIns="0" tIns="0" rIns="0" bIns="0" anchor="t" anchorCtr="0">
              <a:spAutoFit/>
            </a:bodyPr>
            <a:lstStyle/>
            <a:p>
              <a:pPr algn="l"/>
              <a:r>
                <a:rPr lang="id" sz="3300" b="1" dirty="0">
                  <a:solidFill>
                    <a:srgbClr val="111318"/>
                  </a:solidFill>
                  <a:latin typeface="+mn-lt"/>
                  <a:ea typeface="+mn-ea"/>
                  <a:cs typeface="+mn-cs"/>
                </a:rPr>
                <a:t>1.625</a:t>
              </a:r>
            </a:p>
          </p:txBody>
        </p:sp>
        <p:sp>
          <p:nvSpPr>
            <p:cNvPr id="13" name="TextBox 13"/>
            <p:cNvSpPr txBox="1"/>
            <p:nvPr/>
          </p:nvSpPr>
          <p:spPr>
            <a:xfrm>
              <a:off x="3328988" y="2444750"/>
              <a:ext cx="1931411" cy="140494"/>
            </a:xfrm>
            <a:prstGeom prst="rect">
              <a:avLst/>
            </a:prstGeom>
            <a:noFill/>
            <a:ln>
              <a:noFill/>
            </a:ln>
          </p:spPr>
          <p:txBody>
            <a:bodyPr wrap="none" lIns="0" tIns="0" rIns="0" bIns="0" anchor="t" anchorCtr="0">
              <a:spAutoFit/>
            </a:bodyPr>
            <a:lstStyle/>
            <a:p>
              <a:pPr algn="l"/>
              <a:r>
                <a:rPr lang="id" sz="710" b="1" spc="105" dirty="0">
                  <a:solidFill>
                    <a:srgbClr val="111318"/>
                  </a:solidFill>
                  <a:latin typeface="+mn-lt"/>
                  <a:ea typeface="+mn-ea"/>
                  <a:cs typeface="+mn-cs"/>
                </a:rPr>
                <a:t>DISKRINING (JUDUL/ABSTRAK)</a:t>
              </a:r>
            </a:p>
          </p:txBody>
        </p:sp>
        <p:sp>
          <p:nvSpPr>
            <p:cNvPr id="14" name="TextBox 14"/>
            <p:cNvSpPr txBox="1"/>
            <p:nvPr/>
          </p:nvSpPr>
          <p:spPr>
            <a:xfrm>
              <a:off x="3328988" y="2603500"/>
              <a:ext cx="1073916" cy="155258"/>
            </a:xfrm>
            <a:prstGeom prst="rect">
              <a:avLst/>
            </a:prstGeom>
            <a:noFill/>
            <a:ln>
              <a:noFill/>
            </a:ln>
          </p:spPr>
          <p:txBody>
            <a:bodyPr wrap="none" lIns="0" tIns="0" rIns="0" bIns="0" anchor="t" anchorCtr="0">
              <a:spAutoFit/>
            </a:bodyPr>
            <a:lstStyle/>
            <a:p>
              <a:pPr algn="l"/>
              <a:r>
                <a:rPr lang="id" sz="790" dirty="0">
                  <a:solidFill>
                    <a:srgbClr val="8B9198"/>
                  </a:solidFill>
                  <a:latin typeface="+mn-lt"/>
                  <a:ea typeface="+mn-ea"/>
                  <a:cs typeface="+mn-cs"/>
                </a:rPr>
                <a:t>1.982 duplikat dihapus</a:t>
              </a:r>
            </a:p>
          </p:txBody>
        </p:sp>
        <p:sp>
          <p:nvSpPr>
            <p:cNvPr id="15" name="TextBox 15"/>
            <p:cNvSpPr txBox="1"/>
            <p:nvPr/>
          </p:nvSpPr>
          <p:spPr>
            <a:xfrm>
              <a:off x="6041136" y="1879600"/>
              <a:ext cx="774797" cy="645414"/>
            </a:xfrm>
            <a:prstGeom prst="rect">
              <a:avLst/>
            </a:prstGeom>
            <a:noFill/>
            <a:ln>
              <a:noFill/>
            </a:ln>
          </p:spPr>
          <p:txBody>
            <a:bodyPr wrap="none" lIns="0" tIns="0" rIns="0" bIns="0" anchor="t" anchorCtr="0">
              <a:spAutoFit/>
            </a:bodyPr>
            <a:lstStyle/>
            <a:p>
              <a:pPr algn="l"/>
              <a:r>
                <a:rPr lang="id" sz="3300" b="1" dirty="0">
                  <a:solidFill>
                    <a:srgbClr val="111318"/>
                  </a:solidFill>
                  <a:latin typeface="+mn-lt"/>
                  <a:ea typeface="+mn-ea"/>
                  <a:cs typeface="+mn-cs"/>
                </a:rPr>
                <a:t>128</a:t>
              </a:r>
            </a:p>
          </p:txBody>
        </p:sp>
        <p:sp>
          <p:nvSpPr>
            <p:cNvPr id="16" name="TextBox 16"/>
            <p:cNvSpPr txBox="1"/>
            <p:nvPr/>
          </p:nvSpPr>
          <p:spPr>
            <a:xfrm>
              <a:off x="6053138" y="2444750"/>
              <a:ext cx="1477164" cy="140494"/>
            </a:xfrm>
            <a:prstGeom prst="rect">
              <a:avLst/>
            </a:prstGeom>
            <a:noFill/>
            <a:ln>
              <a:noFill/>
            </a:ln>
          </p:spPr>
          <p:txBody>
            <a:bodyPr wrap="none" lIns="0" tIns="0" rIns="0" bIns="0" anchor="t" anchorCtr="0">
              <a:spAutoFit/>
            </a:bodyPr>
            <a:lstStyle/>
            <a:p>
              <a:pPr algn="l"/>
              <a:r>
                <a:rPr lang="id" sz="710" b="1" spc="105" dirty="0">
                  <a:solidFill>
                    <a:srgbClr val="111318"/>
                  </a:solidFill>
                  <a:latin typeface="+mn-lt"/>
                  <a:ea typeface="+mn-ea"/>
                  <a:cs typeface="+mn-cs"/>
                </a:rPr>
                <a:t>TEKS LENGKAP DINILAI</a:t>
              </a:r>
            </a:p>
          </p:txBody>
        </p:sp>
        <p:sp>
          <p:nvSpPr>
            <p:cNvPr id="17" name="TextBox 17"/>
            <p:cNvSpPr txBox="1"/>
            <p:nvPr/>
          </p:nvSpPr>
          <p:spPr>
            <a:xfrm>
              <a:off x="6053138" y="2603500"/>
              <a:ext cx="1428444" cy="155258"/>
            </a:xfrm>
            <a:prstGeom prst="rect">
              <a:avLst/>
            </a:prstGeom>
            <a:noFill/>
            <a:ln>
              <a:noFill/>
            </a:ln>
          </p:spPr>
          <p:txBody>
            <a:bodyPr wrap="none" lIns="0" tIns="0" rIns="0" bIns="0" anchor="t" anchorCtr="0">
              <a:spAutoFit/>
            </a:bodyPr>
            <a:lstStyle/>
            <a:p>
              <a:pPr algn="l"/>
              <a:r>
                <a:rPr lang="id" sz="790" dirty="0">
                  <a:solidFill>
                    <a:srgbClr val="8B9198"/>
                  </a:solidFill>
                  <a:latin typeface="+mn-lt"/>
                  <a:ea typeface="+mn-ea"/>
                  <a:cs typeface="+mn-cs"/>
                </a:rPr>
                <a:t>1.497 dieksklusi pada skrining</a:t>
              </a:r>
            </a:p>
          </p:txBody>
        </p:sp>
        <p:sp>
          <p:nvSpPr>
            <p:cNvPr id="18" name="TextBox 18"/>
            <p:cNvSpPr txBox="1"/>
            <p:nvPr/>
          </p:nvSpPr>
          <p:spPr>
            <a:xfrm>
              <a:off x="8765286" y="1879600"/>
              <a:ext cx="527707" cy="645414"/>
            </a:xfrm>
            <a:prstGeom prst="rect">
              <a:avLst/>
            </a:prstGeom>
            <a:noFill/>
            <a:ln>
              <a:noFill/>
            </a:ln>
          </p:spPr>
          <p:txBody>
            <a:bodyPr wrap="none" lIns="0" tIns="0" rIns="0" bIns="0" anchor="t" anchorCtr="0">
              <a:spAutoFit/>
            </a:bodyPr>
            <a:lstStyle/>
            <a:p>
              <a:pPr algn="l"/>
              <a:r>
                <a:rPr lang="id" sz="3300" b="1" dirty="0">
                  <a:solidFill>
                    <a:srgbClr val="E8000D"/>
                  </a:solidFill>
                  <a:latin typeface="+mn-lt"/>
                  <a:ea typeface="+mn-ea"/>
                  <a:cs typeface="+mn-cs"/>
                </a:rPr>
                <a:t>59</a:t>
              </a:r>
            </a:p>
          </p:txBody>
        </p:sp>
        <p:sp>
          <p:nvSpPr>
            <p:cNvPr id="19" name="TextBox 19"/>
            <p:cNvSpPr txBox="1"/>
            <p:nvPr/>
          </p:nvSpPr>
          <p:spPr>
            <a:xfrm>
              <a:off x="8777288" y="2444750"/>
              <a:ext cx="1522004" cy="140494"/>
            </a:xfrm>
            <a:prstGeom prst="rect">
              <a:avLst/>
            </a:prstGeom>
            <a:noFill/>
            <a:ln>
              <a:noFill/>
            </a:ln>
          </p:spPr>
          <p:txBody>
            <a:bodyPr wrap="none" lIns="0" tIns="0" rIns="0" bIns="0" anchor="t" anchorCtr="0">
              <a:spAutoFit/>
            </a:bodyPr>
            <a:lstStyle/>
            <a:p>
              <a:pPr algn="l"/>
              <a:r>
                <a:rPr lang="id" sz="710" b="1" spc="105" dirty="0">
                  <a:solidFill>
                    <a:srgbClr val="111318"/>
                  </a:solidFill>
                  <a:latin typeface="+mn-lt"/>
                  <a:ea typeface="+mn-ea"/>
                  <a:cs typeface="+mn-cs"/>
                </a:rPr>
                <a:t>STUDI DIIKUTSERTAKAN</a:t>
              </a:r>
            </a:p>
          </p:txBody>
        </p:sp>
        <p:sp>
          <p:nvSpPr>
            <p:cNvPr id="20" name="TextBox 20"/>
            <p:cNvSpPr txBox="1"/>
            <p:nvPr/>
          </p:nvSpPr>
          <p:spPr>
            <a:xfrm>
              <a:off x="8777288" y="2603500"/>
              <a:ext cx="842946" cy="155258"/>
            </a:xfrm>
            <a:prstGeom prst="rect">
              <a:avLst/>
            </a:prstGeom>
            <a:noFill/>
            <a:ln>
              <a:noFill/>
            </a:ln>
          </p:spPr>
          <p:txBody>
            <a:bodyPr wrap="none" lIns="0" tIns="0" rIns="0" bIns="0" anchor="t" anchorCtr="0">
              <a:spAutoFit/>
            </a:bodyPr>
            <a:lstStyle/>
            <a:p>
              <a:pPr algn="l"/>
              <a:r>
                <a:rPr lang="id" sz="790" dirty="0">
                  <a:solidFill>
                    <a:srgbClr val="8B9198"/>
                  </a:solidFill>
                  <a:latin typeface="+mn-lt"/>
                  <a:ea typeface="+mn-ea"/>
                  <a:cs typeface="+mn-cs"/>
                </a:rPr>
                <a:t>56 artikel · 3 tesis</a:t>
              </a:r>
            </a:p>
          </p:txBody>
        </p:sp>
        <p:sp>
          <p:nvSpPr>
            <p:cNvPr id="21" name="TextBox 21"/>
            <p:cNvSpPr txBox="1"/>
            <p:nvPr/>
          </p:nvSpPr>
          <p:spPr>
            <a:xfrm>
              <a:off x="2898216" y="2114550"/>
              <a:ext cx="185268" cy="250317"/>
            </a:xfrm>
            <a:prstGeom prst="rect">
              <a:avLst/>
            </a:prstGeom>
            <a:noFill/>
            <a:ln>
              <a:noFill/>
            </a:ln>
          </p:spPr>
          <p:txBody>
            <a:bodyPr wrap="none" lIns="0" tIns="0" rIns="0" bIns="0" anchor="t" anchorCtr="0">
              <a:spAutoFit/>
            </a:bodyPr>
            <a:lstStyle/>
            <a:p>
              <a:pPr algn="ctr"/>
              <a:r>
                <a:rPr lang="id" sz="1280" dirty="0">
                  <a:solidFill>
                    <a:srgbClr val="8B9198"/>
                  </a:solidFill>
                  <a:latin typeface="+mn-lt"/>
                  <a:ea typeface="+mn-ea"/>
                  <a:cs typeface="+mn-cs"/>
                </a:rPr>
                <a:t>→</a:t>
              </a:r>
            </a:p>
          </p:txBody>
        </p:sp>
        <p:sp>
          <p:nvSpPr>
            <p:cNvPr id="22" name="TextBox 22"/>
            <p:cNvSpPr txBox="1"/>
            <p:nvPr/>
          </p:nvSpPr>
          <p:spPr>
            <a:xfrm>
              <a:off x="5622366" y="2114550"/>
              <a:ext cx="185268" cy="250317"/>
            </a:xfrm>
            <a:prstGeom prst="rect">
              <a:avLst/>
            </a:prstGeom>
            <a:noFill/>
            <a:ln>
              <a:noFill/>
            </a:ln>
          </p:spPr>
          <p:txBody>
            <a:bodyPr wrap="none" lIns="0" tIns="0" rIns="0" bIns="0" anchor="t" anchorCtr="0">
              <a:spAutoFit/>
            </a:bodyPr>
            <a:lstStyle/>
            <a:p>
              <a:pPr algn="ctr"/>
              <a:r>
                <a:rPr lang="id" sz="1280" dirty="0">
                  <a:solidFill>
                    <a:srgbClr val="8B9198"/>
                  </a:solidFill>
                  <a:latin typeface="+mn-lt"/>
                  <a:ea typeface="+mn-ea"/>
                  <a:cs typeface="+mn-cs"/>
                </a:rPr>
                <a:t>→</a:t>
              </a:r>
            </a:p>
          </p:txBody>
        </p:sp>
        <p:sp>
          <p:nvSpPr>
            <p:cNvPr id="23" name="TextBox 23"/>
            <p:cNvSpPr txBox="1"/>
            <p:nvPr/>
          </p:nvSpPr>
          <p:spPr>
            <a:xfrm>
              <a:off x="8346516" y="2114550"/>
              <a:ext cx="185268" cy="250317"/>
            </a:xfrm>
            <a:prstGeom prst="rect">
              <a:avLst/>
            </a:prstGeom>
            <a:noFill/>
            <a:ln>
              <a:noFill/>
            </a:ln>
          </p:spPr>
          <p:txBody>
            <a:bodyPr wrap="none" lIns="0" tIns="0" rIns="0" bIns="0" anchor="t" anchorCtr="0">
              <a:spAutoFit/>
            </a:bodyPr>
            <a:lstStyle/>
            <a:p>
              <a:pPr algn="ctr"/>
              <a:r>
                <a:rPr lang="id" sz="1280" dirty="0">
                  <a:solidFill>
                    <a:srgbClr val="8B9198"/>
                  </a:solidFill>
                  <a:latin typeface="+mn-lt"/>
                  <a:ea typeface="+mn-ea"/>
                  <a:cs typeface="+mn-cs"/>
                </a:rPr>
                <a:t>→</a:t>
              </a:r>
            </a:p>
          </p:txBody>
        </p:sp>
      </p:grpSp>
      <p:grpSp>
        <p:nvGrpSpPr>
          <p:cNvPr id="53" name="excluded"/>
          <p:cNvGrpSpPr/>
          <p:nvPr/>
        </p:nvGrpSpPr>
        <p:grpSpPr>
          <a:xfrm>
            <a:off x="604838" y="3143250"/>
            <a:ext cx="10977562" cy="2876550"/>
            <a:chOff x="604838" y="3143250"/>
            <a:chExt cx="10977562" cy="2876550"/>
          </a:xfrm>
        </p:grpSpPr>
        <p:sp>
          <p:nvSpPr>
            <p:cNvPr id="25" name="TextBox 25"/>
            <p:cNvSpPr txBox="1"/>
            <p:nvPr/>
          </p:nvSpPr>
          <p:spPr>
            <a:xfrm>
              <a:off x="604838" y="3187700"/>
              <a:ext cx="2114154" cy="140494"/>
            </a:xfrm>
            <a:prstGeom prst="rect">
              <a:avLst/>
            </a:prstGeom>
            <a:noFill/>
            <a:ln>
              <a:noFill/>
            </a:ln>
          </p:spPr>
          <p:txBody>
            <a:bodyPr wrap="none" lIns="0" tIns="0" rIns="0" bIns="0" anchor="t" anchorCtr="0">
              <a:spAutoFit/>
            </a:bodyPr>
            <a:lstStyle/>
            <a:p>
              <a:pPr algn="l"/>
              <a:r>
                <a:rPr lang="id" sz="710" b="1" spc="150" dirty="0">
                  <a:solidFill>
                    <a:srgbClr val="E8000D"/>
                  </a:solidFill>
                  <a:latin typeface="+mn-lt"/>
                  <a:ea typeface="+mn-ea"/>
                  <a:cs typeface="+mn-cs"/>
                </a:rPr>
                <a:t>74 TEKS LENGKAP DIEKSKLUSI</a:t>
              </a:r>
            </a:p>
          </p:txBody>
        </p:sp>
        <p:sp>
          <p:nvSpPr>
            <p:cNvPr id="26" name="TextBox 26"/>
            <p:cNvSpPr txBox="1"/>
            <p:nvPr/>
          </p:nvSpPr>
          <p:spPr>
            <a:xfrm>
              <a:off x="604838" y="3479800"/>
              <a:ext cx="1627477"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Tidak menyebut faktor OH/akses</a:t>
              </a:r>
            </a:p>
          </p:txBody>
        </p:sp>
        <p:sp>
          <p:nvSpPr>
            <p:cNvPr id="27" name="Rectangle 27"/>
            <p:cNvSpPr/>
            <p:nvPr/>
          </p:nvSpPr>
          <p:spPr>
            <a:xfrm>
              <a:off x="4248150" y="3495675"/>
              <a:ext cx="876300" cy="85725"/>
            </a:xfrm>
            <a:prstGeom prst="rect">
              <a:avLst/>
            </a:prstGeom>
            <a:solidFill>
              <a:srgbClr val="111318"/>
            </a:solidFill>
            <a:ln>
              <a:noFill/>
            </a:ln>
          </p:spPr>
        </p:sp>
        <p:sp>
          <p:nvSpPr>
            <p:cNvPr id="28" name="TextBox 28"/>
            <p:cNvSpPr txBox="1"/>
            <p:nvPr/>
          </p:nvSpPr>
          <p:spPr>
            <a:xfrm>
              <a:off x="5263591" y="3479800"/>
              <a:ext cx="132321"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24</a:t>
              </a:r>
            </a:p>
          </p:txBody>
        </p:sp>
        <p:sp>
          <p:nvSpPr>
            <p:cNvPr id="29" name="TextBox 29"/>
            <p:cNvSpPr txBox="1"/>
            <p:nvPr/>
          </p:nvSpPr>
          <p:spPr>
            <a:xfrm>
              <a:off x="604838" y="3727450"/>
              <a:ext cx="1564752"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Partisipan autistik tidak terpisah</a:t>
              </a:r>
            </a:p>
          </p:txBody>
        </p:sp>
        <p:sp>
          <p:nvSpPr>
            <p:cNvPr id="30" name="Rectangle 30"/>
            <p:cNvSpPr/>
            <p:nvPr/>
          </p:nvSpPr>
          <p:spPr>
            <a:xfrm>
              <a:off x="4248150" y="3743325"/>
              <a:ext cx="552450" cy="85725"/>
            </a:xfrm>
            <a:prstGeom prst="rect">
              <a:avLst/>
            </a:prstGeom>
            <a:solidFill>
              <a:srgbClr val="111318"/>
            </a:solidFill>
            <a:ln>
              <a:noFill/>
            </a:ln>
          </p:spPr>
        </p:sp>
        <p:sp>
          <p:nvSpPr>
            <p:cNvPr id="31" name="TextBox 31"/>
            <p:cNvSpPr txBox="1"/>
            <p:nvPr/>
          </p:nvSpPr>
          <p:spPr>
            <a:xfrm>
              <a:off x="5263591" y="3727450"/>
              <a:ext cx="132321"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15</a:t>
              </a:r>
            </a:p>
          </p:txBody>
        </p:sp>
        <p:sp>
          <p:nvSpPr>
            <p:cNvPr id="32" name="TextBox 32"/>
            <p:cNvSpPr txBox="1"/>
            <p:nvPr/>
          </p:nvSpPr>
          <p:spPr>
            <a:xfrm>
              <a:off x="604838" y="3975100"/>
              <a:ext cx="2160185"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Bukan metodologi kuantitatif/kualitatif/mixed</a:t>
              </a:r>
            </a:p>
          </p:txBody>
        </p:sp>
        <p:sp>
          <p:nvSpPr>
            <p:cNvPr id="33" name="Rectangle 33"/>
            <p:cNvSpPr/>
            <p:nvPr/>
          </p:nvSpPr>
          <p:spPr>
            <a:xfrm>
              <a:off x="4248150" y="3990975"/>
              <a:ext cx="361950" cy="85725"/>
            </a:xfrm>
            <a:prstGeom prst="rect">
              <a:avLst/>
            </a:prstGeom>
            <a:solidFill>
              <a:srgbClr val="111318"/>
            </a:solidFill>
            <a:ln>
              <a:noFill/>
            </a:ln>
          </p:spPr>
        </p:sp>
        <p:sp>
          <p:nvSpPr>
            <p:cNvPr id="34" name="TextBox 34"/>
            <p:cNvSpPr txBox="1"/>
            <p:nvPr/>
          </p:nvSpPr>
          <p:spPr>
            <a:xfrm>
              <a:off x="5263591" y="3975100"/>
              <a:ext cx="132321"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10</a:t>
              </a:r>
            </a:p>
          </p:txBody>
        </p:sp>
        <p:sp>
          <p:nvSpPr>
            <p:cNvPr id="35" name="TextBox 35"/>
            <p:cNvSpPr txBox="1"/>
            <p:nvPr/>
          </p:nvSpPr>
          <p:spPr>
            <a:xfrm>
              <a:off x="604838" y="4222750"/>
              <a:ext cx="1129617"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HDI tidak sangat tinggi</a:t>
              </a:r>
            </a:p>
          </p:txBody>
        </p:sp>
        <p:sp>
          <p:nvSpPr>
            <p:cNvPr id="36" name="Rectangle 36"/>
            <p:cNvSpPr/>
            <p:nvPr/>
          </p:nvSpPr>
          <p:spPr>
            <a:xfrm>
              <a:off x="4248150" y="4238625"/>
              <a:ext cx="295275" cy="85725"/>
            </a:xfrm>
            <a:prstGeom prst="rect">
              <a:avLst/>
            </a:prstGeom>
            <a:solidFill>
              <a:srgbClr val="8B9198"/>
            </a:solidFill>
            <a:ln>
              <a:noFill/>
            </a:ln>
          </p:spPr>
        </p:sp>
        <p:sp>
          <p:nvSpPr>
            <p:cNvPr id="37" name="TextBox 37"/>
            <p:cNvSpPr txBox="1"/>
            <p:nvPr/>
          </p:nvSpPr>
          <p:spPr>
            <a:xfrm>
              <a:off x="5324989" y="4222750"/>
              <a:ext cx="70923"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8</a:t>
              </a:r>
            </a:p>
          </p:txBody>
        </p:sp>
        <p:sp>
          <p:nvSpPr>
            <p:cNvPr id="38" name="TextBox 38"/>
            <p:cNvSpPr txBox="1"/>
            <p:nvPr/>
          </p:nvSpPr>
          <p:spPr>
            <a:xfrm>
              <a:off x="604838" y="4470400"/>
              <a:ext cx="724121"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Tanpa statistik</a:t>
              </a:r>
            </a:p>
          </p:txBody>
        </p:sp>
        <p:sp>
          <p:nvSpPr>
            <p:cNvPr id="39" name="Rectangle 39"/>
            <p:cNvSpPr/>
            <p:nvPr/>
          </p:nvSpPr>
          <p:spPr>
            <a:xfrm>
              <a:off x="4248150" y="4486275"/>
              <a:ext cx="219075" cy="85725"/>
            </a:xfrm>
            <a:prstGeom prst="rect">
              <a:avLst/>
            </a:prstGeom>
            <a:solidFill>
              <a:srgbClr val="8B9198"/>
            </a:solidFill>
            <a:ln>
              <a:noFill/>
            </a:ln>
          </p:spPr>
        </p:sp>
        <p:sp>
          <p:nvSpPr>
            <p:cNvPr id="40" name="TextBox 40"/>
            <p:cNvSpPr txBox="1"/>
            <p:nvPr/>
          </p:nvSpPr>
          <p:spPr>
            <a:xfrm>
              <a:off x="5324989" y="4470400"/>
              <a:ext cx="70923"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6</a:t>
              </a:r>
            </a:p>
          </p:txBody>
        </p:sp>
        <p:sp>
          <p:nvSpPr>
            <p:cNvPr id="41" name="TextBox 41"/>
            <p:cNvSpPr txBox="1"/>
            <p:nvPr/>
          </p:nvSpPr>
          <p:spPr>
            <a:xfrm>
              <a:off x="604838" y="4718050"/>
              <a:ext cx="411180"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Duplikat</a:t>
              </a:r>
            </a:p>
          </p:txBody>
        </p:sp>
        <p:sp>
          <p:nvSpPr>
            <p:cNvPr id="42" name="Rectangle 42"/>
            <p:cNvSpPr/>
            <p:nvPr/>
          </p:nvSpPr>
          <p:spPr>
            <a:xfrm>
              <a:off x="4248150" y="4733925"/>
              <a:ext cx="142875" cy="85725"/>
            </a:xfrm>
            <a:prstGeom prst="rect">
              <a:avLst/>
            </a:prstGeom>
            <a:solidFill>
              <a:srgbClr val="8B9198"/>
            </a:solidFill>
            <a:ln>
              <a:noFill/>
            </a:ln>
          </p:spPr>
        </p:sp>
        <p:sp>
          <p:nvSpPr>
            <p:cNvPr id="43" name="TextBox 43"/>
            <p:cNvSpPr txBox="1"/>
            <p:nvPr/>
          </p:nvSpPr>
          <p:spPr>
            <a:xfrm>
              <a:off x="5324989" y="4718050"/>
              <a:ext cx="70923"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4</a:t>
              </a:r>
            </a:p>
          </p:txBody>
        </p:sp>
        <p:sp>
          <p:nvSpPr>
            <p:cNvPr id="44" name="TextBox 44"/>
            <p:cNvSpPr txBox="1"/>
            <p:nvPr/>
          </p:nvSpPr>
          <p:spPr>
            <a:xfrm>
              <a:off x="604838" y="4965700"/>
              <a:ext cx="663436"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Rentang usia</a:t>
              </a:r>
            </a:p>
          </p:txBody>
        </p:sp>
        <p:sp>
          <p:nvSpPr>
            <p:cNvPr id="45" name="Rectangle 45"/>
            <p:cNvSpPr/>
            <p:nvPr/>
          </p:nvSpPr>
          <p:spPr>
            <a:xfrm>
              <a:off x="4248150" y="4981575"/>
              <a:ext cx="142875" cy="85725"/>
            </a:xfrm>
            <a:prstGeom prst="rect">
              <a:avLst/>
            </a:prstGeom>
            <a:solidFill>
              <a:srgbClr val="8B9198"/>
            </a:solidFill>
            <a:ln>
              <a:noFill/>
            </a:ln>
          </p:spPr>
        </p:sp>
        <p:sp>
          <p:nvSpPr>
            <p:cNvPr id="46" name="TextBox 46"/>
            <p:cNvSpPr txBox="1"/>
            <p:nvPr/>
          </p:nvSpPr>
          <p:spPr>
            <a:xfrm>
              <a:off x="5324989" y="4965700"/>
              <a:ext cx="70923"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4</a:t>
              </a:r>
            </a:p>
          </p:txBody>
        </p:sp>
        <p:sp>
          <p:nvSpPr>
            <p:cNvPr id="47" name="TextBox 47"/>
            <p:cNvSpPr txBox="1"/>
            <p:nvPr/>
          </p:nvSpPr>
          <p:spPr>
            <a:xfrm>
              <a:off x="604838" y="5213350"/>
              <a:ext cx="896607"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Conference paper</a:t>
              </a:r>
            </a:p>
          </p:txBody>
        </p:sp>
        <p:sp>
          <p:nvSpPr>
            <p:cNvPr id="48" name="Rectangle 48"/>
            <p:cNvSpPr/>
            <p:nvPr/>
          </p:nvSpPr>
          <p:spPr>
            <a:xfrm>
              <a:off x="4248150" y="5229225"/>
              <a:ext cx="114300" cy="85725"/>
            </a:xfrm>
            <a:prstGeom prst="rect">
              <a:avLst/>
            </a:prstGeom>
            <a:solidFill>
              <a:srgbClr val="8B9198"/>
            </a:solidFill>
            <a:ln>
              <a:noFill/>
            </a:ln>
          </p:spPr>
        </p:sp>
        <p:sp>
          <p:nvSpPr>
            <p:cNvPr id="49" name="TextBox 49"/>
            <p:cNvSpPr txBox="1"/>
            <p:nvPr/>
          </p:nvSpPr>
          <p:spPr>
            <a:xfrm>
              <a:off x="5324989" y="5213350"/>
              <a:ext cx="70923" cy="161925"/>
            </a:xfrm>
            <a:prstGeom prst="rect">
              <a:avLst/>
            </a:prstGeom>
            <a:noFill/>
            <a:ln>
              <a:noFill/>
            </a:ln>
          </p:spPr>
          <p:txBody>
            <a:bodyPr wrap="none" lIns="0" tIns="0" rIns="0" bIns="0" anchor="t" anchorCtr="0">
              <a:spAutoFit/>
            </a:bodyPr>
            <a:lstStyle/>
            <a:p>
              <a:pPr algn="r"/>
              <a:r>
                <a:rPr lang="id" sz="820" b="1" dirty="0">
                  <a:solidFill>
                    <a:srgbClr val="111318"/>
                  </a:solidFill>
                  <a:latin typeface="+mn-lt"/>
                  <a:ea typeface="+mn-ea"/>
                  <a:cs typeface="+mn-cs"/>
                </a:rPr>
                <a:t>3</a:t>
              </a:r>
            </a:p>
          </p:txBody>
        </p:sp>
        <p:sp>
          <p:nvSpPr>
            <p:cNvPr id="50" name="Line 50"/>
            <p:cNvSpPr/>
            <p:nvPr/>
          </p:nvSpPr>
          <p:spPr>
            <a:xfrm>
              <a:off x="609600" y="5695950"/>
              <a:ext cx="5105400" cy="9525"/>
            </a:xfrm>
            <a:custGeom>
              <a:avLst/>
              <a:gdLst/>
              <a:ahLst/>
              <a:cxnLst/>
              <a:rect l="l" t="t" r="r" b="b"/>
              <a:pathLst>
                <a:path w="5105400" h="9525">
                  <a:moveTo>
                    <a:pt x="0" y="0"/>
                  </a:moveTo>
                  <a:lnTo>
                    <a:pt x="5105400" y="0"/>
                  </a:lnTo>
                </a:path>
              </a:pathLst>
            </a:custGeom>
            <a:noFill/>
            <a:ln w="9525">
              <a:solidFill>
                <a:srgbClr val="D6D9DE"/>
              </a:solidFill>
            </a:ln>
          </p:spPr>
        </p:sp>
        <p:sp>
          <p:nvSpPr>
            <p:cNvPr id="51" name="TextBox 51"/>
            <p:cNvSpPr txBox="1"/>
            <p:nvPr/>
          </p:nvSpPr>
          <p:spPr>
            <a:xfrm>
              <a:off x="604838" y="5803900"/>
              <a:ext cx="3240540" cy="155258"/>
            </a:xfrm>
            <a:prstGeom prst="rect">
              <a:avLst/>
            </a:prstGeom>
            <a:noFill/>
            <a:ln>
              <a:noFill/>
            </a:ln>
          </p:spPr>
          <p:txBody>
            <a:bodyPr wrap="none" lIns="0" tIns="0" rIns="0" bIns="0" anchor="t" anchorCtr="0">
              <a:spAutoFit/>
            </a:bodyPr>
            <a:lstStyle/>
            <a:p>
              <a:pPr algn="l"/>
              <a:r>
                <a:rPr lang="id" sz="790" dirty="0">
                  <a:solidFill>
                    <a:srgbClr val="8B9198"/>
                  </a:solidFill>
                  <a:latin typeface="+mn-lt"/>
                  <a:ea typeface="+mn-ea"/>
                  <a:cs typeface="+mn-cs"/>
                </a:rPr>
                <a:t>Alur lain: 7 catatan grey literature → 6 dinilai → 1 duplikat dieksklusi.</a:t>
              </a:r>
            </a:p>
          </p:txBody>
        </p:sp>
        <p:sp>
          <p:nvSpPr>
            <p:cNvPr id="52" name="Rectangle 52"/>
            <p:cNvSpPr/>
            <p:nvPr/>
          </p:nvSpPr>
          <p:spPr>
            <a:xfrm>
              <a:off x="6286500" y="3143250"/>
              <a:ext cx="5295900" cy="2876550"/>
            </a:xfrm>
            <a:prstGeom prst="rect">
              <a:avLst/>
            </a:prstGeom>
            <a:solidFill>
              <a:srgbClr val="F3F3F1"/>
            </a:solidFill>
            <a:ln>
              <a:noFill/>
            </a:ln>
          </p:spPr>
        </p:sp>
      </p:grpSp>
      <p:grpSp>
        <p:nvGrpSpPr>
          <p:cNvPr id="65" name="included"/>
          <p:cNvGrpSpPr/>
          <p:nvPr/>
        </p:nvGrpSpPr>
        <p:grpSpPr>
          <a:xfrm>
            <a:off x="6649974" y="3454400"/>
            <a:ext cx="4589526" cy="2314258"/>
            <a:chOff x="6649974" y="3454400"/>
            <a:chExt cx="4589526" cy="2314258"/>
          </a:xfrm>
        </p:grpSpPr>
        <p:sp>
          <p:nvSpPr>
            <p:cNvPr id="54" name="TextBox 54"/>
            <p:cNvSpPr txBox="1"/>
            <p:nvPr/>
          </p:nvSpPr>
          <p:spPr>
            <a:xfrm>
              <a:off x="6662738" y="3454400"/>
              <a:ext cx="1331199"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APA YANG MASUK?</a:t>
              </a:r>
            </a:p>
          </p:txBody>
        </p:sp>
        <p:sp>
          <p:nvSpPr>
            <p:cNvPr id="55" name="TextBox 55"/>
            <p:cNvSpPr txBox="1"/>
            <p:nvPr/>
          </p:nvSpPr>
          <p:spPr>
            <a:xfrm>
              <a:off x="6649974" y="3473450"/>
              <a:ext cx="551694" cy="674751"/>
            </a:xfrm>
            <a:prstGeom prst="rect">
              <a:avLst/>
            </a:prstGeom>
            <a:noFill/>
            <a:ln>
              <a:noFill/>
            </a:ln>
          </p:spPr>
          <p:txBody>
            <a:bodyPr wrap="none" lIns="0" tIns="0" rIns="0" bIns="0" anchor="t" anchorCtr="0">
              <a:spAutoFit/>
            </a:bodyPr>
            <a:lstStyle/>
            <a:p>
              <a:pPr algn="l"/>
              <a:r>
                <a:rPr lang="id" sz="3450" b="1" dirty="0">
                  <a:solidFill>
                    <a:srgbClr val="111318"/>
                  </a:solidFill>
                  <a:latin typeface="+mn-lt"/>
                  <a:ea typeface="+mn-ea"/>
                  <a:cs typeface="+mn-cs"/>
                </a:rPr>
                <a:t>59</a:t>
              </a:r>
            </a:p>
          </p:txBody>
        </p:sp>
        <p:sp>
          <p:nvSpPr>
            <p:cNvPr id="56" name="TextBox 56"/>
            <p:cNvSpPr txBox="1"/>
            <p:nvPr/>
          </p:nvSpPr>
          <p:spPr>
            <a:xfrm>
              <a:off x="7233285" y="3765550"/>
              <a:ext cx="329926" cy="220028"/>
            </a:xfrm>
            <a:prstGeom prst="rect">
              <a:avLst/>
            </a:prstGeom>
            <a:noFill/>
            <a:ln>
              <a:noFill/>
            </a:ln>
          </p:spPr>
          <p:txBody>
            <a:bodyPr wrap="none" lIns="0" tIns="0" rIns="0" bIns="0" anchor="t" anchorCtr="0">
              <a:spAutoFit/>
            </a:bodyPr>
            <a:lstStyle/>
            <a:p>
              <a:pPr algn="l"/>
              <a:r>
                <a:rPr lang="id" sz="1120" dirty="0">
                  <a:solidFill>
                    <a:srgbClr val="585E66"/>
                  </a:solidFill>
                  <a:latin typeface="+mn-lt"/>
                  <a:ea typeface="+mn-ea"/>
                  <a:cs typeface="+mn-cs"/>
                </a:rPr>
                <a:t>studi</a:t>
              </a:r>
            </a:p>
          </p:txBody>
        </p:sp>
        <p:sp>
          <p:nvSpPr>
            <p:cNvPr id="57" name="TextBox 57"/>
            <p:cNvSpPr txBox="1"/>
            <p:nvPr/>
          </p:nvSpPr>
          <p:spPr>
            <a:xfrm>
              <a:off x="6662738" y="4165600"/>
              <a:ext cx="2155324"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42 kuantitatif · 11 kualitatif · 6 mixed-methods</a:t>
              </a:r>
            </a:p>
          </p:txBody>
        </p:sp>
        <p:sp>
          <p:nvSpPr>
            <p:cNvPr id="58" name="TextBox 58"/>
            <p:cNvSpPr txBox="1"/>
            <p:nvPr/>
          </p:nvSpPr>
          <p:spPr>
            <a:xfrm>
              <a:off x="6662738" y="4375150"/>
              <a:ext cx="1280469"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18 intervensi · 41 deskriptif</a:t>
              </a:r>
            </a:p>
          </p:txBody>
        </p:sp>
        <p:sp>
          <p:nvSpPr>
            <p:cNvPr id="59" name="Line 59"/>
            <p:cNvSpPr/>
            <p:nvPr/>
          </p:nvSpPr>
          <p:spPr>
            <a:xfrm>
              <a:off x="6667500" y="4667250"/>
              <a:ext cx="4572000" cy="9525"/>
            </a:xfrm>
            <a:custGeom>
              <a:avLst/>
              <a:gdLst/>
              <a:ahLst/>
              <a:cxnLst/>
              <a:rect l="l" t="t" r="r" b="b"/>
              <a:pathLst>
                <a:path w="4572000" h="9525">
                  <a:moveTo>
                    <a:pt x="0" y="0"/>
                  </a:moveTo>
                  <a:lnTo>
                    <a:pt x="4572000" y="0"/>
                  </a:lnTo>
                </a:path>
              </a:pathLst>
            </a:custGeom>
            <a:noFill/>
            <a:ln w="9525">
              <a:solidFill>
                <a:srgbClr val="D6D9DE"/>
              </a:solidFill>
            </a:ln>
          </p:spPr>
        </p:sp>
        <p:sp>
          <p:nvSpPr>
            <p:cNvPr id="60" name="TextBox 60"/>
            <p:cNvSpPr txBox="1"/>
            <p:nvPr/>
          </p:nvSpPr>
          <p:spPr>
            <a:xfrm>
              <a:off x="6662547" y="4787900"/>
              <a:ext cx="1761362" cy="191643"/>
            </a:xfrm>
            <a:prstGeom prst="rect">
              <a:avLst/>
            </a:prstGeom>
            <a:noFill/>
            <a:ln>
              <a:noFill/>
            </a:ln>
          </p:spPr>
          <p:txBody>
            <a:bodyPr wrap="none" lIns="0" tIns="0" rIns="0" bIns="0" anchor="t" anchorCtr="0">
              <a:spAutoFit/>
            </a:bodyPr>
            <a:lstStyle/>
            <a:p>
              <a:pPr algn="l"/>
              <a:r>
                <a:rPr lang="id" sz="980" b="1" dirty="0">
                  <a:solidFill>
                    <a:srgbClr val="111318"/>
                  </a:solidFill>
                  <a:latin typeface="+mn-lt"/>
                  <a:ea typeface="+mn-ea"/>
                  <a:cs typeface="+mn-cs"/>
                </a:rPr>
                <a:t>13 negara HDI sangat tinggi</a:t>
              </a:r>
            </a:p>
          </p:txBody>
        </p:sp>
        <p:sp>
          <p:nvSpPr>
            <p:cNvPr id="61" name="TextBox 61"/>
            <p:cNvSpPr txBox="1"/>
            <p:nvPr/>
          </p:nvSpPr>
          <p:spPr>
            <a:xfrm>
              <a:off x="6662738" y="5022850"/>
              <a:ext cx="2775922"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44% dari Amerika Serikat; sisanya Inggris, Arab Saudi, dll.</a:t>
              </a:r>
            </a:p>
          </p:txBody>
        </p:sp>
        <p:sp>
          <p:nvSpPr>
            <p:cNvPr id="62" name="Line 62"/>
            <p:cNvSpPr/>
            <p:nvPr/>
          </p:nvSpPr>
          <p:spPr>
            <a:xfrm>
              <a:off x="6667500" y="5295900"/>
              <a:ext cx="4572000" cy="9525"/>
            </a:xfrm>
            <a:custGeom>
              <a:avLst/>
              <a:gdLst/>
              <a:ahLst/>
              <a:cxnLst/>
              <a:rect l="l" t="t" r="r" b="b"/>
              <a:pathLst>
                <a:path w="4572000" h="9525">
                  <a:moveTo>
                    <a:pt x="0" y="0"/>
                  </a:moveTo>
                  <a:lnTo>
                    <a:pt x="4572000" y="0"/>
                  </a:lnTo>
                </a:path>
              </a:pathLst>
            </a:custGeom>
            <a:noFill/>
            <a:ln w="9525">
              <a:solidFill>
                <a:srgbClr val="D6D9DE"/>
              </a:solidFill>
            </a:ln>
          </p:spPr>
        </p:sp>
        <p:sp>
          <p:nvSpPr>
            <p:cNvPr id="63" name="TextBox 63"/>
            <p:cNvSpPr txBox="1"/>
            <p:nvPr/>
          </p:nvSpPr>
          <p:spPr>
            <a:xfrm>
              <a:off x="6662738" y="5441950"/>
              <a:ext cx="2377326"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Basis bukti tetap tipis untuk satu kelompok rentan:</a:t>
              </a:r>
            </a:p>
          </p:txBody>
        </p:sp>
        <p:sp>
          <p:nvSpPr>
            <p:cNvPr id="64" name="TextBox 64"/>
            <p:cNvSpPr txBox="1"/>
            <p:nvPr/>
          </p:nvSpPr>
          <p:spPr>
            <a:xfrm>
              <a:off x="6662738" y="5613400"/>
              <a:ext cx="2675076"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hanya 1 studi mewawancarai anak autistik langsung.</a:t>
              </a:r>
            </a:p>
          </p:txBody>
        </p:sp>
      </p:grpSp>
      <p:grpSp>
        <p:nvGrpSpPr>
          <p:cNvPr id="69" name="footer"/>
          <p:cNvGrpSpPr/>
          <p:nvPr/>
        </p:nvGrpSpPr>
        <p:grpSpPr>
          <a:xfrm>
            <a:off x="604838" y="6324600"/>
            <a:ext cx="10982325" cy="268288"/>
            <a:chOff x="604838" y="6324600"/>
            <a:chExt cx="10982325" cy="268288"/>
          </a:xfrm>
        </p:grpSpPr>
        <p:sp>
          <p:nvSpPr>
            <p:cNvPr id="66" name="Line 66"/>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67" name="TextBox 67"/>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68" name="TextBox 68"/>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801914"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05 · HASIL</a:t>
              </a:r>
            </a:p>
          </p:txBody>
        </p:sp>
        <p:sp>
          <p:nvSpPr>
            <p:cNvPr id="3" name="TextBox 3"/>
            <p:cNvSpPr txBox="1"/>
            <p:nvPr/>
          </p:nvSpPr>
          <p:spPr>
            <a:xfrm>
              <a:off x="595503" y="685800"/>
              <a:ext cx="9012960"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59 studi, 13 negara, satu suara yang hampir hilang</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06 / 16</a:t>
              </a:r>
            </a:p>
          </p:txBody>
        </p:sp>
      </p:grpSp>
      <p:grpSp>
        <p:nvGrpSpPr>
          <p:cNvPr id="19" name="kpi"/>
          <p:cNvGrpSpPr/>
          <p:nvPr/>
        </p:nvGrpSpPr>
        <p:grpSpPr>
          <a:xfrm>
            <a:off x="590550" y="1447800"/>
            <a:ext cx="10991850" cy="1114425"/>
            <a:chOff x="590550" y="1447800"/>
            <a:chExt cx="10991850" cy="1114425"/>
          </a:xfrm>
        </p:grpSpPr>
        <p:sp>
          <p:nvSpPr>
            <p:cNvPr id="8" name="TextBox 8"/>
            <p:cNvSpPr txBox="1"/>
            <p:nvPr/>
          </p:nvSpPr>
          <p:spPr>
            <a:xfrm>
              <a:off x="590550" y="1447800"/>
              <a:ext cx="599667" cy="733425"/>
            </a:xfrm>
            <a:prstGeom prst="rect">
              <a:avLst/>
            </a:prstGeom>
            <a:noFill/>
            <a:ln>
              <a:noFill/>
            </a:ln>
          </p:spPr>
          <p:txBody>
            <a:bodyPr wrap="none" lIns="0" tIns="0" rIns="0" bIns="0" anchor="t" anchorCtr="0">
              <a:spAutoFit/>
            </a:bodyPr>
            <a:lstStyle/>
            <a:p>
              <a:pPr algn="l"/>
              <a:r>
                <a:rPr lang="id" sz="3750" b="1" dirty="0">
                  <a:solidFill>
                    <a:srgbClr val="111318"/>
                  </a:solidFill>
                  <a:latin typeface="+mn-lt"/>
                  <a:ea typeface="+mn-ea"/>
                  <a:cs typeface="+mn-cs"/>
                </a:rPr>
                <a:t>59</a:t>
              </a:r>
            </a:p>
          </p:txBody>
        </p:sp>
        <p:sp>
          <p:nvSpPr>
            <p:cNvPr id="9" name="TextBox 9"/>
            <p:cNvSpPr txBox="1"/>
            <p:nvPr/>
          </p:nvSpPr>
          <p:spPr>
            <a:xfrm>
              <a:off x="604838" y="2025650"/>
              <a:ext cx="389306" cy="140494"/>
            </a:xfrm>
            <a:prstGeom prst="rect">
              <a:avLst/>
            </a:prstGeom>
            <a:noFill/>
            <a:ln>
              <a:noFill/>
            </a:ln>
          </p:spPr>
          <p:txBody>
            <a:bodyPr wrap="none" lIns="0" tIns="0" rIns="0" bIns="0" anchor="t" anchorCtr="0">
              <a:spAutoFit/>
            </a:bodyPr>
            <a:lstStyle/>
            <a:p>
              <a:pPr algn="l"/>
              <a:r>
                <a:rPr lang="id" sz="710" b="1" spc="135" dirty="0">
                  <a:solidFill>
                    <a:srgbClr val="111318"/>
                  </a:solidFill>
                  <a:latin typeface="+mn-lt"/>
                  <a:ea typeface="+mn-ea"/>
                  <a:cs typeface="+mn-cs"/>
                </a:rPr>
                <a:t>STUDI</a:t>
              </a:r>
            </a:p>
          </p:txBody>
        </p:sp>
        <p:sp>
          <p:nvSpPr>
            <p:cNvPr id="10" name="TextBox 10"/>
            <p:cNvSpPr txBox="1"/>
            <p:nvPr/>
          </p:nvSpPr>
          <p:spPr>
            <a:xfrm>
              <a:off x="1676400" y="1447800"/>
              <a:ext cx="599667" cy="733425"/>
            </a:xfrm>
            <a:prstGeom prst="rect">
              <a:avLst/>
            </a:prstGeom>
            <a:noFill/>
            <a:ln>
              <a:noFill/>
            </a:ln>
          </p:spPr>
          <p:txBody>
            <a:bodyPr wrap="none" lIns="0" tIns="0" rIns="0" bIns="0" anchor="t" anchorCtr="0">
              <a:spAutoFit/>
            </a:bodyPr>
            <a:lstStyle/>
            <a:p>
              <a:pPr algn="l"/>
              <a:r>
                <a:rPr lang="id" sz="3750" b="1" dirty="0">
                  <a:solidFill>
                    <a:srgbClr val="E8000D"/>
                  </a:solidFill>
                  <a:latin typeface="+mn-lt"/>
                  <a:ea typeface="+mn-ea"/>
                  <a:cs typeface="+mn-cs"/>
                </a:rPr>
                <a:t>42</a:t>
              </a:r>
            </a:p>
          </p:txBody>
        </p:sp>
        <p:sp>
          <p:nvSpPr>
            <p:cNvPr id="11" name="TextBox 11"/>
            <p:cNvSpPr txBox="1"/>
            <p:nvPr/>
          </p:nvSpPr>
          <p:spPr>
            <a:xfrm>
              <a:off x="1690688" y="2025650"/>
              <a:ext cx="869075" cy="140494"/>
            </a:xfrm>
            <a:prstGeom prst="rect">
              <a:avLst/>
            </a:prstGeom>
            <a:noFill/>
            <a:ln>
              <a:noFill/>
            </a:ln>
          </p:spPr>
          <p:txBody>
            <a:bodyPr wrap="none" lIns="0" tIns="0" rIns="0" bIns="0" anchor="t" anchorCtr="0">
              <a:spAutoFit/>
            </a:bodyPr>
            <a:lstStyle/>
            <a:p>
              <a:pPr algn="l"/>
              <a:r>
                <a:rPr lang="id" sz="710" b="1" spc="135" dirty="0">
                  <a:solidFill>
                    <a:srgbClr val="111318"/>
                  </a:solidFill>
                  <a:latin typeface="+mn-lt"/>
                  <a:ea typeface="+mn-ea"/>
                  <a:cs typeface="+mn-cs"/>
                </a:rPr>
                <a:t>KUANTITATIF</a:t>
              </a:r>
            </a:p>
          </p:txBody>
        </p:sp>
        <p:sp>
          <p:nvSpPr>
            <p:cNvPr id="12" name="TextBox 12"/>
            <p:cNvSpPr txBox="1"/>
            <p:nvPr/>
          </p:nvSpPr>
          <p:spPr>
            <a:xfrm>
              <a:off x="3124200" y="1447800"/>
              <a:ext cx="599667" cy="733425"/>
            </a:xfrm>
            <a:prstGeom prst="rect">
              <a:avLst/>
            </a:prstGeom>
            <a:noFill/>
            <a:ln>
              <a:noFill/>
            </a:ln>
          </p:spPr>
          <p:txBody>
            <a:bodyPr wrap="none" lIns="0" tIns="0" rIns="0" bIns="0" anchor="t" anchorCtr="0">
              <a:spAutoFit/>
            </a:bodyPr>
            <a:lstStyle/>
            <a:p>
              <a:pPr algn="l"/>
              <a:r>
                <a:rPr lang="id" sz="3750" b="1" dirty="0">
                  <a:solidFill>
                    <a:srgbClr val="111318"/>
                  </a:solidFill>
                  <a:latin typeface="+mn-lt"/>
                  <a:ea typeface="+mn-ea"/>
                  <a:cs typeface="+mn-cs"/>
                </a:rPr>
                <a:t>11</a:t>
              </a:r>
            </a:p>
          </p:txBody>
        </p:sp>
        <p:sp>
          <p:nvSpPr>
            <p:cNvPr id="13" name="TextBox 13"/>
            <p:cNvSpPr txBox="1"/>
            <p:nvPr/>
          </p:nvSpPr>
          <p:spPr>
            <a:xfrm>
              <a:off x="3138488" y="2025650"/>
              <a:ext cx="776938" cy="140494"/>
            </a:xfrm>
            <a:prstGeom prst="rect">
              <a:avLst/>
            </a:prstGeom>
            <a:noFill/>
            <a:ln>
              <a:noFill/>
            </a:ln>
          </p:spPr>
          <p:txBody>
            <a:bodyPr wrap="none" lIns="0" tIns="0" rIns="0" bIns="0" anchor="t" anchorCtr="0">
              <a:spAutoFit/>
            </a:bodyPr>
            <a:lstStyle/>
            <a:p>
              <a:pPr algn="l"/>
              <a:r>
                <a:rPr lang="id" sz="710" b="1" spc="135" dirty="0">
                  <a:solidFill>
                    <a:srgbClr val="111318"/>
                  </a:solidFill>
                  <a:latin typeface="+mn-lt"/>
                  <a:ea typeface="+mn-ea"/>
                  <a:cs typeface="+mn-cs"/>
                </a:rPr>
                <a:t>KUALITATIF</a:t>
              </a:r>
            </a:p>
          </p:txBody>
        </p:sp>
        <p:sp>
          <p:nvSpPr>
            <p:cNvPr id="14" name="TextBox 14"/>
            <p:cNvSpPr txBox="1"/>
            <p:nvPr/>
          </p:nvSpPr>
          <p:spPr>
            <a:xfrm>
              <a:off x="4305300" y="1447800"/>
              <a:ext cx="318884" cy="733425"/>
            </a:xfrm>
            <a:prstGeom prst="rect">
              <a:avLst/>
            </a:prstGeom>
            <a:noFill/>
            <a:ln>
              <a:noFill/>
            </a:ln>
          </p:spPr>
          <p:txBody>
            <a:bodyPr wrap="none" lIns="0" tIns="0" rIns="0" bIns="0" anchor="t" anchorCtr="0">
              <a:spAutoFit/>
            </a:bodyPr>
            <a:lstStyle/>
            <a:p>
              <a:pPr algn="l"/>
              <a:r>
                <a:rPr lang="id" sz="3750" b="1" dirty="0">
                  <a:solidFill>
                    <a:srgbClr val="111318"/>
                  </a:solidFill>
                  <a:latin typeface="+mn-lt"/>
                  <a:ea typeface="+mn-ea"/>
                  <a:cs typeface="+mn-cs"/>
                </a:rPr>
                <a:t>6</a:t>
              </a:r>
            </a:p>
          </p:txBody>
        </p:sp>
        <p:sp>
          <p:nvSpPr>
            <p:cNvPr id="15" name="TextBox 15"/>
            <p:cNvSpPr txBox="1"/>
            <p:nvPr/>
          </p:nvSpPr>
          <p:spPr>
            <a:xfrm>
              <a:off x="4319588" y="2025650"/>
              <a:ext cx="1098372" cy="140494"/>
            </a:xfrm>
            <a:prstGeom prst="rect">
              <a:avLst/>
            </a:prstGeom>
            <a:noFill/>
            <a:ln>
              <a:noFill/>
            </a:ln>
          </p:spPr>
          <p:txBody>
            <a:bodyPr wrap="none" lIns="0" tIns="0" rIns="0" bIns="0" anchor="t" anchorCtr="0">
              <a:spAutoFit/>
            </a:bodyPr>
            <a:lstStyle/>
            <a:p>
              <a:pPr algn="l"/>
              <a:r>
                <a:rPr lang="id" sz="710" b="1" spc="135" dirty="0">
                  <a:solidFill>
                    <a:srgbClr val="111318"/>
                  </a:solidFill>
                  <a:latin typeface="+mn-lt"/>
                  <a:ea typeface="+mn-ea"/>
                  <a:cs typeface="+mn-cs"/>
                </a:rPr>
                <a:t>MIXED-METHODS</a:t>
              </a:r>
            </a:p>
          </p:txBody>
        </p:sp>
        <p:sp>
          <p:nvSpPr>
            <p:cNvPr id="16" name="TextBox 16"/>
            <p:cNvSpPr txBox="1"/>
            <p:nvPr/>
          </p:nvSpPr>
          <p:spPr>
            <a:xfrm>
              <a:off x="7234238" y="1752600"/>
              <a:ext cx="1571760"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18 intervensi · 41 deskriptif</a:t>
              </a:r>
            </a:p>
          </p:txBody>
        </p:sp>
        <p:sp>
          <p:nvSpPr>
            <p:cNvPr id="17" name="TextBox 17"/>
            <p:cNvSpPr txBox="1"/>
            <p:nvPr/>
          </p:nvSpPr>
          <p:spPr>
            <a:xfrm>
              <a:off x="7234238" y="1911350"/>
              <a:ext cx="1520326" cy="371475"/>
            </a:xfrm>
            <a:prstGeom prst="rect">
              <a:avLst/>
            </a:prstGeom>
            <a:noFill/>
            <a:ln>
              <a:noFill/>
            </a:ln>
          </p:spPr>
          <p:txBody>
            <a:bodyPr wrap="none" lIns="0" tIns="0" rIns="0" bIns="0" anchor="t" anchorCtr="0">
              <a:spAutoFit/>
            </a:bodyPr>
            <a:lstStyle/>
            <a:p>
              <a:pPr algn="l">
                <a:lnSpc>
                  <a:spcPts val="1650"/>
                </a:lnSpc>
              </a:pPr>
              <a:r>
                <a:rPr lang="id" sz="820" dirty="0">
                  <a:solidFill>
                    <a:srgbClr val="585E66"/>
                  </a:solidFill>
                  <a:latin typeface="+mn-lt"/>
                  <a:ea typeface="+mn-ea"/>
                  <a:cs typeface="+mn-cs"/>
                </a:rPr>
                <a:t>23 non-randomized · 3 pilot RCT</a:t>
              </a:r>
              <a:br>
                <a:rPr lang="id" sz="820" dirty="0">
                  <a:solidFill>
                    <a:srgbClr val="585E66"/>
                  </a:solidFill>
                  <a:latin typeface="+mn-lt"/>
                  <a:ea typeface="+mn-ea"/>
                  <a:cs typeface="+mn-cs"/>
                </a:rPr>
              </a:br>
              <a:r>
                <a:rPr lang="id" sz="820" dirty="0">
                  <a:solidFill>
                    <a:srgbClr val="585E66"/>
                  </a:solidFill>
                  <a:latin typeface="+mn-lt"/>
                  <a:ea typeface="+mn-ea"/>
                  <a:cs typeface="+mn-cs"/>
                </a:rPr>
                <a:t>63% memakai survei/kuesioner</a:t>
              </a:r>
            </a:p>
          </p:txBody>
        </p:sp>
        <p:sp>
          <p:nvSpPr>
            <p:cNvPr id="18" name="Line 18"/>
            <p:cNvSpPr/>
            <p:nvPr/>
          </p:nvSpPr>
          <p:spPr>
            <a:xfrm>
              <a:off x="609600" y="2552700"/>
              <a:ext cx="10972800" cy="9525"/>
            </a:xfrm>
            <a:custGeom>
              <a:avLst/>
              <a:gdLst/>
              <a:ahLst/>
              <a:cxnLst/>
              <a:rect l="l" t="t" r="r" b="b"/>
              <a:pathLst>
                <a:path w="10972800" h="9525">
                  <a:moveTo>
                    <a:pt x="0" y="0"/>
                  </a:moveTo>
                  <a:lnTo>
                    <a:pt x="10972800" y="0"/>
                  </a:lnTo>
                </a:path>
              </a:pathLst>
            </a:custGeom>
            <a:noFill/>
            <a:ln w="11430">
              <a:solidFill>
                <a:srgbClr val="111318"/>
              </a:solidFill>
            </a:ln>
          </p:spPr>
        </p:sp>
      </p:grpSp>
      <p:grpSp>
        <p:nvGrpSpPr>
          <p:cNvPr id="37" name="profile"/>
          <p:cNvGrpSpPr/>
          <p:nvPr/>
        </p:nvGrpSpPr>
        <p:grpSpPr>
          <a:xfrm>
            <a:off x="599694" y="2552700"/>
            <a:ext cx="10982706" cy="3467100"/>
            <a:chOff x="599694" y="2552700"/>
            <a:chExt cx="10982706" cy="3467100"/>
          </a:xfrm>
        </p:grpSpPr>
        <p:sp>
          <p:nvSpPr>
            <p:cNvPr id="20" name="Line 20"/>
            <p:cNvSpPr/>
            <p:nvPr/>
          </p:nvSpPr>
          <p:spPr>
            <a:xfrm>
              <a:off x="609600" y="2552700"/>
              <a:ext cx="10972800" cy="9525"/>
            </a:xfrm>
            <a:custGeom>
              <a:avLst/>
              <a:gdLst/>
              <a:ahLst/>
              <a:cxnLst/>
              <a:rect l="l" t="t" r="r" b="b"/>
              <a:pathLst>
                <a:path w="10972800" h="9525">
                  <a:moveTo>
                    <a:pt x="0" y="0"/>
                  </a:moveTo>
                  <a:lnTo>
                    <a:pt x="10972800" y="0"/>
                  </a:lnTo>
                </a:path>
              </a:pathLst>
            </a:custGeom>
            <a:noFill/>
            <a:ln w="11430">
              <a:solidFill>
                <a:srgbClr val="111318"/>
              </a:solidFill>
            </a:ln>
          </p:spPr>
        </p:sp>
        <p:sp>
          <p:nvSpPr>
            <p:cNvPr id="21" name="TextBox 21"/>
            <p:cNvSpPr txBox="1"/>
            <p:nvPr/>
          </p:nvSpPr>
          <p:spPr>
            <a:xfrm>
              <a:off x="604838" y="2940050"/>
              <a:ext cx="1322765" cy="140494"/>
            </a:xfrm>
            <a:prstGeom prst="rect">
              <a:avLst/>
            </a:prstGeom>
            <a:noFill/>
            <a:ln>
              <a:noFill/>
            </a:ln>
          </p:spPr>
          <p:txBody>
            <a:bodyPr wrap="none" lIns="0" tIns="0" rIns="0" bIns="0" anchor="t" anchorCtr="0">
              <a:spAutoFit/>
            </a:bodyPr>
            <a:lstStyle/>
            <a:p>
              <a:pPr algn="l"/>
              <a:r>
                <a:rPr lang="id" sz="710" b="1" spc="150" dirty="0">
                  <a:solidFill>
                    <a:srgbClr val="E8000D"/>
                  </a:solidFill>
                  <a:latin typeface="+mn-lt"/>
                  <a:ea typeface="+mn-ea"/>
                  <a:cs typeface="+mn-cs"/>
                </a:rPr>
                <a:t>PERAN PARTISIPAN</a:t>
              </a:r>
            </a:p>
          </p:txBody>
        </p:sp>
        <p:sp>
          <p:nvSpPr>
            <p:cNvPr id="22" name="Rectangle 22"/>
            <p:cNvSpPr/>
            <p:nvPr/>
          </p:nvSpPr>
          <p:spPr>
            <a:xfrm>
              <a:off x="609600" y="3181350"/>
              <a:ext cx="4429125" cy="247650"/>
            </a:xfrm>
            <a:prstGeom prst="rect">
              <a:avLst/>
            </a:prstGeom>
            <a:solidFill>
              <a:srgbClr val="111318"/>
            </a:solidFill>
            <a:ln>
              <a:noFill/>
            </a:ln>
          </p:spPr>
        </p:sp>
        <p:sp>
          <p:nvSpPr>
            <p:cNvPr id="23" name="TextBox 23"/>
            <p:cNvSpPr txBox="1"/>
            <p:nvPr/>
          </p:nvSpPr>
          <p:spPr>
            <a:xfrm>
              <a:off x="700088" y="3238500"/>
              <a:ext cx="252035" cy="176212"/>
            </a:xfrm>
            <a:prstGeom prst="rect">
              <a:avLst/>
            </a:prstGeom>
            <a:noFill/>
            <a:ln>
              <a:noFill/>
            </a:ln>
          </p:spPr>
          <p:txBody>
            <a:bodyPr wrap="none" lIns="0" tIns="0" rIns="0" bIns="0" anchor="t" anchorCtr="0">
              <a:spAutoFit/>
            </a:bodyPr>
            <a:lstStyle/>
            <a:p>
              <a:pPr algn="l"/>
              <a:r>
                <a:rPr lang="id" sz="900" b="1" dirty="0">
                  <a:solidFill>
                    <a:srgbClr val="FFFFFF"/>
                  </a:solidFill>
                  <a:latin typeface="+mn-lt"/>
                  <a:ea typeface="+mn-ea"/>
                  <a:cs typeface="+mn-cs"/>
                </a:rPr>
                <a:t>65%</a:t>
              </a:r>
            </a:p>
          </p:txBody>
        </p:sp>
        <p:sp>
          <p:nvSpPr>
            <p:cNvPr id="24" name="Rectangle 24"/>
            <p:cNvSpPr/>
            <p:nvPr/>
          </p:nvSpPr>
          <p:spPr>
            <a:xfrm>
              <a:off x="5038725" y="3181350"/>
              <a:ext cx="1571625" cy="247650"/>
            </a:xfrm>
            <a:prstGeom prst="rect">
              <a:avLst/>
            </a:prstGeom>
            <a:solidFill>
              <a:srgbClr val="E8000D"/>
            </a:solidFill>
            <a:ln>
              <a:noFill/>
            </a:ln>
          </p:spPr>
        </p:sp>
        <p:sp>
          <p:nvSpPr>
            <p:cNvPr id="25" name="TextBox 25"/>
            <p:cNvSpPr txBox="1"/>
            <p:nvPr/>
          </p:nvSpPr>
          <p:spPr>
            <a:xfrm>
              <a:off x="5129212" y="3238500"/>
              <a:ext cx="252035" cy="176212"/>
            </a:xfrm>
            <a:prstGeom prst="rect">
              <a:avLst/>
            </a:prstGeom>
            <a:noFill/>
            <a:ln>
              <a:noFill/>
            </a:ln>
          </p:spPr>
          <p:txBody>
            <a:bodyPr wrap="none" lIns="0" tIns="0" rIns="0" bIns="0" anchor="t" anchorCtr="0">
              <a:spAutoFit/>
            </a:bodyPr>
            <a:lstStyle/>
            <a:p>
              <a:pPr algn="l"/>
              <a:r>
                <a:rPr lang="id" sz="900" b="1" dirty="0">
                  <a:solidFill>
                    <a:srgbClr val="FFFFFF"/>
                  </a:solidFill>
                  <a:latin typeface="+mn-lt"/>
                  <a:ea typeface="+mn-ea"/>
                  <a:cs typeface="+mn-cs"/>
                </a:rPr>
                <a:t>23%</a:t>
              </a:r>
            </a:p>
          </p:txBody>
        </p:sp>
        <p:sp>
          <p:nvSpPr>
            <p:cNvPr id="26" name="Rectangle 26"/>
            <p:cNvSpPr/>
            <p:nvPr/>
          </p:nvSpPr>
          <p:spPr>
            <a:xfrm>
              <a:off x="6610350" y="3181350"/>
              <a:ext cx="1019175" cy="247650"/>
            </a:xfrm>
            <a:prstGeom prst="rect">
              <a:avLst/>
            </a:prstGeom>
            <a:solidFill>
              <a:srgbClr val="8B9198"/>
            </a:solidFill>
            <a:ln>
              <a:noFill/>
            </a:ln>
          </p:spPr>
        </p:sp>
        <p:sp>
          <p:nvSpPr>
            <p:cNvPr id="27" name="TextBox 27"/>
            <p:cNvSpPr txBox="1"/>
            <p:nvPr/>
          </p:nvSpPr>
          <p:spPr>
            <a:xfrm>
              <a:off x="6700838" y="3238500"/>
              <a:ext cx="252035"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15%</a:t>
              </a:r>
            </a:p>
          </p:txBody>
        </p:sp>
        <p:sp>
          <p:nvSpPr>
            <p:cNvPr id="28" name="TextBox 28"/>
            <p:cNvSpPr txBox="1"/>
            <p:nvPr/>
          </p:nvSpPr>
          <p:spPr>
            <a:xfrm>
              <a:off x="604838" y="3556000"/>
              <a:ext cx="3116571"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Orang tua/pengasuh 65% · CYP sole participant 23% · DHP 15%</a:t>
              </a:r>
            </a:p>
          </p:txBody>
        </p:sp>
        <p:sp>
          <p:nvSpPr>
            <p:cNvPr id="29" name="TextBox 29"/>
            <p:cNvSpPr txBox="1"/>
            <p:nvPr/>
          </p:nvSpPr>
          <p:spPr>
            <a:xfrm>
              <a:off x="604838" y="3949700"/>
              <a:ext cx="963508" cy="140494"/>
            </a:xfrm>
            <a:prstGeom prst="rect">
              <a:avLst/>
            </a:prstGeom>
            <a:noFill/>
            <a:ln>
              <a:noFill/>
            </a:ln>
          </p:spPr>
          <p:txBody>
            <a:bodyPr wrap="none" lIns="0" tIns="0" rIns="0" bIns="0" anchor="t" anchorCtr="0">
              <a:spAutoFit/>
            </a:bodyPr>
            <a:lstStyle/>
            <a:p>
              <a:pPr algn="l"/>
              <a:r>
                <a:rPr lang="id" sz="710" b="1" spc="150" dirty="0">
                  <a:solidFill>
                    <a:srgbClr val="E8000D"/>
                  </a:solidFill>
                  <a:latin typeface="+mn-lt"/>
                  <a:ea typeface="+mn-ea"/>
                  <a:cs typeface="+mn-cs"/>
                </a:rPr>
                <a:t>NEGARA ASAL</a:t>
              </a:r>
            </a:p>
          </p:txBody>
        </p:sp>
        <p:sp>
          <p:nvSpPr>
            <p:cNvPr id="30" name="TextBox 30"/>
            <p:cNvSpPr txBox="1"/>
            <p:nvPr/>
          </p:nvSpPr>
          <p:spPr>
            <a:xfrm>
              <a:off x="599694" y="4064000"/>
              <a:ext cx="545250" cy="381381"/>
            </a:xfrm>
            <a:prstGeom prst="rect">
              <a:avLst/>
            </a:prstGeom>
            <a:noFill/>
            <a:ln>
              <a:noFill/>
            </a:ln>
          </p:spPr>
          <p:txBody>
            <a:bodyPr wrap="none" lIns="0" tIns="0" rIns="0" bIns="0" anchor="t" anchorCtr="0">
              <a:spAutoFit/>
            </a:bodyPr>
            <a:lstStyle/>
            <a:p>
              <a:pPr algn="l"/>
              <a:r>
                <a:rPr lang="id" sz="1950" b="1" dirty="0">
                  <a:solidFill>
                    <a:srgbClr val="111318"/>
                  </a:solidFill>
                  <a:latin typeface="+mn-lt"/>
                  <a:ea typeface="+mn-ea"/>
                  <a:cs typeface="+mn-cs"/>
                </a:rPr>
                <a:t>44%</a:t>
              </a:r>
            </a:p>
          </p:txBody>
        </p:sp>
        <p:sp>
          <p:nvSpPr>
            <p:cNvPr id="31" name="TextBox 31"/>
            <p:cNvSpPr txBox="1"/>
            <p:nvPr/>
          </p:nvSpPr>
          <p:spPr>
            <a:xfrm>
              <a:off x="1195388" y="4191000"/>
              <a:ext cx="871549" cy="176212"/>
            </a:xfrm>
            <a:prstGeom prst="rect">
              <a:avLst/>
            </a:prstGeom>
            <a:noFill/>
            <a:ln>
              <a:noFill/>
            </a:ln>
          </p:spPr>
          <p:txBody>
            <a:bodyPr wrap="none" lIns="0" tIns="0" rIns="0" bIns="0" anchor="t" anchorCtr="0">
              <a:spAutoFit/>
            </a:bodyPr>
            <a:lstStyle/>
            <a:p>
              <a:pPr algn="l"/>
              <a:r>
                <a:rPr lang="id" sz="900" dirty="0">
                  <a:solidFill>
                    <a:srgbClr val="585E66"/>
                  </a:solidFill>
                  <a:latin typeface="+mn-lt"/>
                  <a:ea typeface="+mn-ea"/>
                  <a:cs typeface="+mn-cs"/>
                </a:rPr>
                <a:t>Amerika Serikat</a:t>
              </a:r>
            </a:p>
          </p:txBody>
        </p:sp>
        <p:sp>
          <p:nvSpPr>
            <p:cNvPr id="32" name="TextBox 32"/>
            <p:cNvSpPr txBox="1"/>
            <p:nvPr/>
          </p:nvSpPr>
          <p:spPr>
            <a:xfrm>
              <a:off x="604838" y="4400550"/>
              <a:ext cx="1850219" cy="3076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Inggris, Arab Saudi, Kanada, Hong Kong,</a:t>
              </a:r>
              <a:br>
                <a:rPr lang="id" sz="790" dirty="0">
                  <a:solidFill>
                    <a:srgbClr val="585E66"/>
                  </a:solidFill>
                  <a:latin typeface="+mn-lt"/>
                  <a:ea typeface="+mn-ea"/>
                  <a:cs typeface="+mn-cs"/>
                </a:rPr>
              </a:br>
              <a:r>
                <a:rPr lang="id" sz="790" dirty="0">
                  <a:solidFill>
                    <a:srgbClr val="585E66"/>
                  </a:solidFill>
                  <a:latin typeface="+mn-lt"/>
                  <a:ea typeface="+mn-ea"/>
                  <a:cs typeface="+mn-cs"/>
                </a:rPr>
                <a:t>dan negara HDI sangat tinggi lainnya.</a:t>
              </a:r>
            </a:p>
          </p:txBody>
        </p:sp>
        <p:sp>
          <p:nvSpPr>
            <p:cNvPr id="33" name="TextBox 33"/>
            <p:cNvSpPr txBox="1"/>
            <p:nvPr/>
          </p:nvSpPr>
          <p:spPr>
            <a:xfrm>
              <a:off x="604838" y="4978400"/>
              <a:ext cx="2131881" cy="140494"/>
            </a:xfrm>
            <a:prstGeom prst="rect">
              <a:avLst/>
            </a:prstGeom>
            <a:noFill/>
            <a:ln>
              <a:noFill/>
            </a:ln>
          </p:spPr>
          <p:txBody>
            <a:bodyPr wrap="none" lIns="0" tIns="0" rIns="0" bIns="0" anchor="t" anchorCtr="0">
              <a:spAutoFit/>
            </a:bodyPr>
            <a:lstStyle/>
            <a:p>
              <a:pPr algn="l"/>
              <a:r>
                <a:rPr lang="id" sz="710" b="1" spc="150" dirty="0">
                  <a:solidFill>
                    <a:srgbClr val="E8000D"/>
                  </a:solidFill>
                  <a:latin typeface="+mn-lt"/>
                  <a:ea typeface="+mn-ea"/>
                  <a:cs typeface="+mn-cs"/>
                </a:rPr>
                <a:t>DESAIN &amp; PENGUMPULAN DATA</a:t>
              </a:r>
            </a:p>
          </p:txBody>
        </p:sp>
        <p:sp>
          <p:nvSpPr>
            <p:cNvPr id="34" name="TextBox 34"/>
            <p:cNvSpPr txBox="1"/>
            <p:nvPr/>
          </p:nvSpPr>
          <p:spPr>
            <a:xfrm>
              <a:off x="604838" y="5219700"/>
              <a:ext cx="2859278" cy="3076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Survei/kuesioner, wawancara, focus group, telaah rekam medis,</a:t>
              </a:r>
              <a:br>
                <a:rPr lang="id" sz="790" dirty="0">
                  <a:solidFill>
                    <a:srgbClr val="585E66"/>
                  </a:solidFill>
                  <a:latin typeface="+mn-lt"/>
                  <a:ea typeface="+mn-ea"/>
                  <a:cs typeface="+mn-cs"/>
                </a:rPr>
              </a:br>
              <a:r>
                <a:rPr lang="id" sz="790" dirty="0">
                  <a:solidFill>
                    <a:srgbClr val="585E66"/>
                  </a:solidFill>
                  <a:latin typeface="+mn-lt"/>
                  <a:ea typeface="+mn-ea"/>
                  <a:cs typeface="+mn-cs"/>
                </a:rPr>
                <a:t>pemeriksaan klinis, dan uji fisiologis.</a:t>
              </a:r>
            </a:p>
          </p:txBody>
        </p:sp>
        <p:sp>
          <p:nvSpPr>
            <p:cNvPr id="35" name="TextBox 35"/>
            <p:cNvSpPr txBox="1"/>
            <p:nvPr/>
          </p:nvSpPr>
          <p:spPr>
            <a:xfrm>
              <a:off x="604838" y="5600700"/>
              <a:ext cx="2836985" cy="3076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Rekrutmen: sekolah, kelompok dukungan autisme, rumah sakit,</a:t>
              </a:r>
              <a:br>
                <a:rPr lang="id" sz="790" dirty="0">
                  <a:solidFill>
                    <a:srgbClr val="585E66"/>
                  </a:solidFill>
                  <a:latin typeface="+mn-lt"/>
                  <a:ea typeface="+mn-ea"/>
                  <a:cs typeface="+mn-cs"/>
                </a:rPr>
              </a:br>
              <a:r>
                <a:rPr lang="id" sz="790" dirty="0">
                  <a:solidFill>
                    <a:srgbClr val="585E66"/>
                  </a:solidFill>
                  <a:latin typeface="+mn-lt"/>
                  <a:ea typeface="+mn-ea"/>
                  <a:cs typeface="+mn-cs"/>
                </a:rPr>
                <a:t>layanan gigi swasta.</a:t>
              </a:r>
            </a:p>
          </p:txBody>
        </p:sp>
        <p:sp>
          <p:nvSpPr>
            <p:cNvPr id="36" name="Rectangle 36"/>
            <p:cNvSpPr/>
            <p:nvPr/>
          </p:nvSpPr>
          <p:spPr>
            <a:xfrm>
              <a:off x="7429500" y="2914650"/>
              <a:ext cx="4152900" cy="3105150"/>
            </a:xfrm>
            <a:prstGeom prst="rect">
              <a:avLst/>
            </a:prstGeom>
            <a:solidFill>
              <a:srgbClr val="F3F3F1"/>
            </a:solidFill>
            <a:ln>
              <a:noFill/>
            </a:ln>
          </p:spPr>
        </p:sp>
      </p:grpSp>
      <p:grpSp>
        <p:nvGrpSpPr>
          <p:cNvPr id="48" name="gap"/>
          <p:cNvGrpSpPr/>
          <p:nvPr/>
        </p:nvGrpSpPr>
        <p:grpSpPr>
          <a:xfrm>
            <a:off x="7715250" y="3187700"/>
            <a:ext cx="3562350" cy="2714308"/>
            <a:chOff x="7715250" y="3187700"/>
            <a:chExt cx="3562350" cy="2714308"/>
          </a:xfrm>
        </p:grpSpPr>
        <p:sp>
          <p:nvSpPr>
            <p:cNvPr id="38" name="TextBox 38"/>
            <p:cNvSpPr txBox="1"/>
            <p:nvPr/>
          </p:nvSpPr>
          <p:spPr>
            <a:xfrm>
              <a:off x="7729538" y="3187700"/>
              <a:ext cx="2293607" cy="134302"/>
            </a:xfrm>
            <a:prstGeom prst="rect">
              <a:avLst/>
            </a:prstGeom>
            <a:noFill/>
            <a:ln>
              <a:noFill/>
            </a:ln>
          </p:spPr>
          <p:txBody>
            <a:bodyPr wrap="none" lIns="0" tIns="0" rIns="0" bIns="0" anchor="t" anchorCtr="0">
              <a:spAutoFit/>
            </a:bodyPr>
            <a:lstStyle/>
            <a:p>
              <a:pPr algn="l"/>
              <a:r>
                <a:rPr lang="id" sz="680" b="1" spc="135" dirty="0">
                  <a:solidFill>
                    <a:srgbClr val="E8000D"/>
                  </a:solidFill>
                  <a:latin typeface="+mn-lt"/>
                  <a:ea typeface="+mn-ea"/>
                  <a:cs typeface="+mn-cs"/>
                </a:rPr>
                <a:t>SATU SUARA YANG HAMPIR HILANG</a:t>
              </a:r>
            </a:p>
          </p:txBody>
        </p:sp>
        <p:sp>
          <p:nvSpPr>
            <p:cNvPr id="39" name="TextBox 39"/>
            <p:cNvSpPr txBox="1"/>
            <p:nvPr/>
          </p:nvSpPr>
          <p:spPr>
            <a:xfrm>
              <a:off x="7715250" y="3289300"/>
              <a:ext cx="352578" cy="819150"/>
            </a:xfrm>
            <a:prstGeom prst="rect">
              <a:avLst/>
            </a:prstGeom>
            <a:noFill/>
            <a:ln>
              <a:noFill/>
            </a:ln>
          </p:spPr>
          <p:txBody>
            <a:bodyPr wrap="none" lIns="0" tIns="0" rIns="0" bIns="0" anchor="t" anchorCtr="0">
              <a:spAutoFit/>
            </a:bodyPr>
            <a:lstStyle/>
            <a:p>
              <a:pPr algn="l"/>
              <a:r>
                <a:rPr lang="id" sz="4200" b="1" dirty="0">
                  <a:solidFill>
                    <a:srgbClr val="E8000D"/>
                  </a:solidFill>
                  <a:latin typeface="+mn-lt"/>
                  <a:ea typeface="+mn-ea"/>
                  <a:cs typeface="+mn-cs"/>
                </a:rPr>
                <a:t>1</a:t>
              </a:r>
            </a:p>
          </p:txBody>
        </p:sp>
        <p:sp>
          <p:nvSpPr>
            <p:cNvPr id="40" name="TextBox 40"/>
            <p:cNvSpPr txBox="1"/>
            <p:nvPr/>
          </p:nvSpPr>
          <p:spPr>
            <a:xfrm>
              <a:off x="8052435" y="3670300"/>
              <a:ext cx="472468" cy="220028"/>
            </a:xfrm>
            <a:prstGeom prst="rect">
              <a:avLst/>
            </a:prstGeom>
            <a:noFill/>
            <a:ln>
              <a:noFill/>
            </a:ln>
          </p:spPr>
          <p:txBody>
            <a:bodyPr wrap="none" lIns="0" tIns="0" rIns="0" bIns="0" anchor="t" anchorCtr="0">
              <a:spAutoFit/>
            </a:bodyPr>
            <a:lstStyle/>
            <a:p>
              <a:pPr algn="l"/>
              <a:r>
                <a:rPr lang="id" sz="1120" dirty="0">
                  <a:solidFill>
                    <a:srgbClr val="585E66"/>
                  </a:solidFill>
                  <a:latin typeface="+mn-lt"/>
                  <a:ea typeface="+mn-ea"/>
                  <a:cs typeface="+mn-cs"/>
                </a:rPr>
                <a:t>dari 59</a:t>
              </a:r>
            </a:p>
          </p:txBody>
        </p:sp>
        <p:sp>
          <p:nvSpPr>
            <p:cNvPr id="41" name="TextBox 41"/>
            <p:cNvSpPr txBox="1"/>
            <p:nvPr/>
          </p:nvSpPr>
          <p:spPr>
            <a:xfrm>
              <a:off x="7729538" y="3975100"/>
              <a:ext cx="2259480" cy="364808"/>
            </a:xfrm>
            <a:prstGeom prst="rect">
              <a:avLst/>
            </a:prstGeom>
            <a:noFill/>
            <a:ln>
              <a:noFill/>
            </a:ln>
          </p:spPr>
          <p:txBody>
            <a:bodyPr wrap="none" lIns="0" tIns="0" rIns="0" bIns="0" anchor="t" anchorCtr="0">
              <a:spAutoFit/>
            </a:bodyPr>
            <a:lstStyle/>
            <a:p>
              <a:pPr algn="l">
                <a:lnSpc>
                  <a:spcPts val="1425"/>
                </a:lnSpc>
              </a:pPr>
              <a:r>
                <a:rPr lang="id" sz="940" dirty="0">
                  <a:solidFill>
                    <a:srgbClr val="111318"/>
                  </a:solidFill>
                  <a:latin typeface="+mn-lt"/>
                  <a:ea typeface="+mn-ea"/>
                  <a:cs typeface="+mn-cs"/>
                </a:rPr>
                <a:t>studi mewawancarai anak autistik</a:t>
              </a:r>
              <a:br>
                <a:rPr lang="id" sz="940" dirty="0">
                  <a:solidFill>
                    <a:srgbClr val="111318"/>
                  </a:solidFill>
                  <a:latin typeface="+mn-lt"/>
                  <a:ea typeface="+mn-ea"/>
                  <a:cs typeface="+mn-cs"/>
                </a:rPr>
              </a:br>
              <a:r>
                <a:rPr lang="id" sz="940" dirty="0">
                  <a:solidFill>
                    <a:srgbClr val="111318"/>
                  </a:solidFill>
                  <a:latin typeface="+mn-lt"/>
                  <a:ea typeface="+mn-ea"/>
                  <a:cs typeface="+mn-cs"/>
                </a:rPr>
                <a:t>secara langsung tentang kesehatan mulut.</a:t>
              </a:r>
            </a:p>
          </p:txBody>
        </p:sp>
        <p:sp>
          <p:nvSpPr>
            <p:cNvPr id="42" name="Line 42"/>
            <p:cNvSpPr/>
            <p:nvPr/>
          </p:nvSpPr>
          <p:spPr>
            <a:xfrm>
              <a:off x="7734300" y="4610100"/>
              <a:ext cx="3543300" cy="9525"/>
            </a:xfrm>
            <a:custGeom>
              <a:avLst/>
              <a:gdLst/>
              <a:ahLst/>
              <a:cxnLst/>
              <a:rect l="l" t="t" r="r" b="b"/>
              <a:pathLst>
                <a:path w="3543300" h="9525">
                  <a:moveTo>
                    <a:pt x="0" y="0"/>
                  </a:moveTo>
                  <a:lnTo>
                    <a:pt x="3543300" y="0"/>
                  </a:lnTo>
                </a:path>
              </a:pathLst>
            </a:custGeom>
            <a:noFill/>
            <a:ln w="9525">
              <a:solidFill>
                <a:srgbClr val="D6D9DE"/>
              </a:solidFill>
            </a:ln>
          </p:spPr>
        </p:sp>
        <p:sp>
          <p:nvSpPr>
            <p:cNvPr id="43" name="TextBox 43"/>
            <p:cNvSpPr txBox="1"/>
            <p:nvPr/>
          </p:nvSpPr>
          <p:spPr>
            <a:xfrm>
              <a:off x="7729538" y="4756150"/>
              <a:ext cx="1302963"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Parry &amp; Shepherd (2018)</a:t>
              </a:r>
            </a:p>
          </p:txBody>
        </p:sp>
        <p:sp>
          <p:nvSpPr>
            <p:cNvPr id="44" name="TextBox 44"/>
            <p:cNvSpPr txBox="1"/>
            <p:nvPr/>
          </p:nvSpPr>
          <p:spPr>
            <a:xfrm>
              <a:off x="7729538" y="4953000"/>
              <a:ext cx="1766464" cy="3076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Sisanya berbicara tentang anak melalui</a:t>
              </a:r>
              <a:br>
                <a:rPr lang="id" sz="790" dirty="0">
                  <a:solidFill>
                    <a:srgbClr val="585E66"/>
                  </a:solidFill>
                  <a:latin typeface="+mn-lt"/>
                  <a:ea typeface="+mn-ea"/>
                  <a:cs typeface="+mn-cs"/>
                </a:rPr>
              </a:br>
              <a:r>
                <a:rPr lang="id" sz="790" dirty="0">
                  <a:solidFill>
                    <a:srgbClr val="585E66"/>
                  </a:solidFill>
                  <a:latin typeface="+mn-lt"/>
                  <a:ea typeface="+mn-ea"/>
                  <a:cs typeface="+mn-cs"/>
                </a:rPr>
                <a:t>orang tua atau dokter gigi.</a:t>
              </a:r>
            </a:p>
          </p:txBody>
        </p:sp>
        <p:sp>
          <p:nvSpPr>
            <p:cNvPr id="45" name="Line 45"/>
            <p:cNvSpPr/>
            <p:nvPr/>
          </p:nvSpPr>
          <p:spPr>
            <a:xfrm>
              <a:off x="7734300" y="5429250"/>
              <a:ext cx="3543300" cy="9525"/>
            </a:xfrm>
            <a:custGeom>
              <a:avLst/>
              <a:gdLst/>
              <a:ahLst/>
              <a:cxnLst/>
              <a:rect l="l" t="t" r="r" b="b"/>
              <a:pathLst>
                <a:path w="3543300" h="9525">
                  <a:moveTo>
                    <a:pt x="0" y="0"/>
                  </a:moveTo>
                  <a:lnTo>
                    <a:pt x="3543300" y="0"/>
                  </a:lnTo>
                </a:path>
              </a:pathLst>
            </a:custGeom>
            <a:noFill/>
            <a:ln w="9525">
              <a:solidFill>
                <a:srgbClr val="D6D9DE"/>
              </a:solidFill>
            </a:ln>
          </p:spPr>
        </p:sp>
        <p:sp>
          <p:nvSpPr>
            <p:cNvPr id="46" name="TextBox 46"/>
            <p:cNvSpPr txBox="1"/>
            <p:nvPr/>
          </p:nvSpPr>
          <p:spPr>
            <a:xfrm>
              <a:off x="7729538" y="5575300"/>
              <a:ext cx="1969654"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Implikasi: bukti tentang pengalaman anak</a:t>
              </a:r>
            </a:p>
          </p:txBody>
        </p:sp>
        <p:sp>
          <p:nvSpPr>
            <p:cNvPr id="47" name="TextBox 47"/>
            <p:cNvSpPr txBox="1"/>
            <p:nvPr/>
          </p:nvSpPr>
          <p:spPr>
            <a:xfrm>
              <a:off x="7729538" y="5746750"/>
              <a:ext cx="2155026"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masih merupakan inferensi orang dewasa.</a:t>
              </a:r>
            </a:p>
          </p:txBody>
        </p:sp>
      </p:grpSp>
      <p:grpSp>
        <p:nvGrpSpPr>
          <p:cNvPr id="52" name="footer"/>
          <p:cNvGrpSpPr/>
          <p:nvPr/>
        </p:nvGrpSpPr>
        <p:grpSpPr>
          <a:xfrm>
            <a:off x="604838" y="6324600"/>
            <a:ext cx="10982325" cy="268288"/>
            <a:chOff x="604838" y="6324600"/>
            <a:chExt cx="10982325" cy="268288"/>
          </a:xfrm>
        </p:grpSpPr>
        <p:sp>
          <p:nvSpPr>
            <p:cNvPr id="49" name="Line 49"/>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50" name="TextBox 50"/>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51" name="TextBox 51"/>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053638"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06 · SINTESIS</a:t>
              </a:r>
            </a:p>
          </p:txBody>
        </p:sp>
        <p:sp>
          <p:nvSpPr>
            <p:cNvPr id="3" name="TextBox 3"/>
            <p:cNvSpPr txBox="1"/>
            <p:nvPr/>
          </p:nvSpPr>
          <p:spPr>
            <a:xfrm>
              <a:off x="595503" y="685800"/>
              <a:ext cx="6466439"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Sembilan tema, tiga perspektif aktor</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07 / 16</a:t>
              </a:r>
            </a:p>
          </p:txBody>
        </p:sp>
      </p:grpSp>
      <p:grpSp>
        <p:nvGrpSpPr>
          <p:cNvPr id="72" name="matrix"/>
          <p:cNvGrpSpPr/>
          <p:nvPr/>
        </p:nvGrpSpPr>
        <p:grpSpPr>
          <a:xfrm>
            <a:off x="533400" y="1695450"/>
            <a:ext cx="11049000" cy="4200525"/>
            <a:chOff x="533400" y="1695450"/>
            <a:chExt cx="11049000" cy="4200525"/>
          </a:xfrm>
        </p:grpSpPr>
        <p:sp>
          <p:nvSpPr>
            <p:cNvPr id="8" name="TextBox 8"/>
            <p:cNvSpPr txBox="1"/>
            <p:nvPr/>
          </p:nvSpPr>
          <p:spPr>
            <a:xfrm>
              <a:off x="604838" y="1695450"/>
              <a:ext cx="315216" cy="126682"/>
            </a:xfrm>
            <a:prstGeom prst="rect">
              <a:avLst/>
            </a:prstGeom>
            <a:noFill/>
            <a:ln>
              <a:noFill/>
            </a:ln>
          </p:spPr>
          <p:txBody>
            <a:bodyPr wrap="none" lIns="0" tIns="0" rIns="0" bIns="0" anchor="t" anchorCtr="0">
              <a:spAutoFit/>
            </a:bodyPr>
            <a:lstStyle/>
            <a:p>
              <a:pPr algn="l"/>
              <a:r>
                <a:rPr lang="id" sz="640" b="1" spc="112" dirty="0">
                  <a:solidFill>
                    <a:srgbClr val="8B9198"/>
                  </a:solidFill>
                  <a:latin typeface="+mn-lt"/>
                  <a:ea typeface="+mn-ea"/>
                  <a:cs typeface="+mn-cs"/>
                </a:rPr>
                <a:t>TEMA</a:t>
              </a:r>
            </a:p>
          </p:txBody>
        </p:sp>
        <p:sp>
          <p:nvSpPr>
            <p:cNvPr id="9" name="TextBox 9"/>
            <p:cNvSpPr txBox="1"/>
            <p:nvPr/>
          </p:nvSpPr>
          <p:spPr>
            <a:xfrm>
              <a:off x="3348038" y="1695450"/>
              <a:ext cx="816975" cy="126682"/>
            </a:xfrm>
            <a:prstGeom prst="rect">
              <a:avLst/>
            </a:prstGeom>
            <a:noFill/>
            <a:ln>
              <a:noFill/>
            </a:ln>
          </p:spPr>
          <p:txBody>
            <a:bodyPr wrap="none" lIns="0" tIns="0" rIns="0" bIns="0" anchor="t" anchorCtr="0">
              <a:spAutoFit/>
            </a:bodyPr>
            <a:lstStyle/>
            <a:p>
              <a:pPr algn="l"/>
              <a:r>
                <a:rPr lang="id" sz="640" b="1" spc="112" dirty="0">
                  <a:solidFill>
                    <a:srgbClr val="E8000D"/>
                  </a:solidFill>
                  <a:latin typeface="+mn-lt"/>
                  <a:ea typeface="+mn-ea"/>
                  <a:cs typeface="+mn-cs"/>
                </a:rPr>
                <a:t>CYP AUTISTIK</a:t>
              </a:r>
            </a:p>
          </p:txBody>
        </p:sp>
        <p:sp>
          <p:nvSpPr>
            <p:cNvPr id="10" name="TextBox 10"/>
            <p:cNvSpPr txBox="1"/>
            <p:nvPr/>
          </p:nvSpPr>
          <p:spPr>
            <a:xfrm>
              <a:off x="6091238" y="1695450"/>
              <a:ext cx="1455248" cy="126682"/>
            </a:xfrm>
            <a:prstGeom prst="rect">
              <a:avLst/>
            </a:prstGeom>
            <a:noFill/>
            <a:ln>
              <a:noFill/>
            </a:ln>
          </p:spPr>
          <p:txBody>
            <a:bodyPr wrap="none" lIns="0" tIns="0" rIns="0" bIns="0" anchor="t" anchorCtr="0">
              <a:spAutoFit/>
            </a:bodyPr>
            <a:lstStyle/>
            <a:p>
              <a:pPr algn="l"/>
              <a:r>
                <a:rPr lang="id" sz="640" b="1" spc="112" dirty="0">
                  <a:solidFill>
                    <a:srgbClr val="E8000D"/>
                  </a:solidFill>
                  <a:latin typeface="+mn-lt"/>
                  <a:ea typeface="+mn-ea"/>
                  <a:cs typeface="+mn-cs"/>
                </a:rPr>
                <a:t>ORANG TUA / PENGASUH</a:t>
              </a:r>
            </a:p>
          </p:txBody>
        </p:sp>
        <p:sp>
          <p:nvSpPr>
            <p:cNvPr id="11" name="TextBox 11"/>
            <p:cNvSpPr txBox="1"/>
            <p:nvPr/>
          </p:nvSpPr>
          <p:spPr>
            <a:xfrm>
              <a:off x="8834438" y="1695450"/>
              <a:ext cx="868955" cy="126682"/>
            </a:xfrm>
            <a:prstGeom prst="rect">
              <a:avLst/>
            </a:prstGeom>
            <a:noFill/>
            <a:ln>
              <a:noFill/>
            </a:ln>
          </p:spPr>
          <p:txBody>
            <a:bodyPr wrap="none" lIns="0" tIns="0" rIns="0" bIns="0" anchor="t" anchorCtr="0">
              <a:spAutoFit/>
            </a:bodyPr>
            <a:lstStyle/>
            <a:p>
              <a:pPr algn="l"/>
              <a:r>
                <a:rPr lang="id" sz="640" b="1" spc="112" dirty="0">
                  <a:solidFill>
                    <a:srgbClr val="E8000D"/>
                  </a:solidFill>
                  <a:latin typeface="+mn-lt"/>
                  <a:ea typeface="+mn-ea"/>
                  <a:cs typeface="+mn-cs"/>
                </a:rPr>
                <a:t>TIM GIGI (DHP)</a:t>
              </a:r>
            </a:p>
          </p:txBody>
        </p:sp>
        <p:sp>
          <p:nvSpPr>
            <p:cNvPr id="12" name="Line 12"/>
            <p:cNvSpPr/>
            <p:nvPr/>
          </p:nvSpPr>
          <p:spPr>
            <a:xfrm>
              <a:off x="609600" y="1885950"/>
              <a:ext cx="10972800" cy="9525"/>
            </a:xfrm>
            <a:custGeom>
              <a:avLst/>
              <a:gdLst/>
              <a:ahLst/>
              <a:cxnLst/>
              <a:rect l="l" t="t" r="r" b="b"/>
              <a:pathLst>
                <a:path w="10972800" h="9525">
                  <a:moveTo>
                    <a:pt x="0" y="0"/>
                  </a:moveTo>
                  <a:lnTo>
                    <a:pt x="10972800" y="0"/>
                  </a:lnTo>
                </a:path>
              </a:pathLst>
            </a:custGeom>
            <a:noFill/>
            <a:ln w="11430">
              <a:solidFill>
                <a:srgbClr val="111318"/>
              </a:solidFill>
            </a:ln>
          </p:spPr>
        </p:sp>
        <p:sp>
          <p:nvSpPr>
            <p:cNvPr id="13" name="Rectangle 13"/>
            <p:cNvSpPr/>
            <p:nvPr/>
          </p:nvSpPr>
          <p:spPr>
            <a:xfrm>
              <a:off x="533400" y="1943100"/>
              <a:ext cx="11049000" cy="438150"/>
            </a:xfrm>
            <a:prstGeom prst="rect">
              <a:avLst/>
            </a:prstGeom>
            <a:solidFill>
              <a:srgbClr val="F3F3F1"/>
            </a:solidFill>
            <a:ln>
              <a:noFill/>
            </a:ln>
          </p:spPr>
        </p:sp>
        <p:sp>
          <p:nvSpPr>
            <p:cNvPr id="14" name="TextBox 14"/>
            <p:cNvSpPr txBox="1"/>
            <p:nvPr/>
          </p:nvSpPr>
          <p:spPr>
            <a:xfrm>
              <a:off x="623888" y="201612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1</a:t>
              </a:r>
            </a:p>
          </p:txBody>
        </p:sp>
        <p:sp>
          <p:nvSpPr>
            <p:cNvPr id="15" name="TextBox 15"/>
            <p:cNvSpPr txBox="1"/>
            <p:nvPr/>
          </p:nvSpPr>
          <p:spPr>
            <a:xfrm>
              <a:off x="795338" y="2003425"/>
              <a:ext cx="1579214"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Keterjangkauan &amp; aksesibilitas</a:t>
              </a:r>
            </a:p>
          </p:txBody>
        </p:sp>
        <p:sp>
          <p:nvSpPr>
            <p:cNvPr id="16" name="TextBox 16"/>
            <p:cNvSpPr txBox="1"/>
            <p:nvPr/>
          </p:nvSpPr>
          <p:spPr>
            <a:xfrm>
              <a:off x="3348038" y="2016125"/>
              <a:ext cx="110490" cy="147638"/>
            </a:xfrm>
            <a:prstGeom prst="rect">
              <a:avLst/>
            </a:prstGeom>
            <a:noFill/>
            <a:ln>
              <a:noFill/>
            </a:ln>
          </p:spPr>
          <p:txBody>
            <a:bodyPr wrap="none" lIns="0" tIns="0" rIns="0" bIns="0" anchor="t" anchorCtr="0">
              <a:spAutoFit/>
            </a:bodyPr>
            <a:lstStyle/>
            <a:p>
              <a:pPr algn="l"/>
              <a:r>
                <a:rPr lang="id" sz="750" dirty="0">
                  <a:solidFill>
                    <a:srgbClr val="D6D9DE"/>
                  </a:solidFill>
                  <a:latin typeface="+mn-lt"/>
                  <a:ea typeface="+mn-ea"/>
                  <a:cs typeface="+mn-cs"/>
                </a:rPr>
                <a:t>—</a:t>
              </a:r>
            </a:p>
          </p:txBody>
        </p:sp>
        <p:sp>
          <p:nvSpPr>
            <p:cNvPr id="17" name="TextBox 17"/>
            <p:cNvSpPr txBox="1"/>
            <p:nvPr/>
          </p:nvSpPr>
          <p:spPr>
            <a:xfrm>
              <a:off x="6091238" y="1930400"/>
              <a:ext cx="971747"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Biaya (asuransi); waktu;</a:t>
              </a:r>
              <a:br>
                <a:rPr lang="id" sz="710" dirty="0">
                  <a:solidFill>
                    <a:srgbClr val="585E66"/>
                  </a:solidFill>
                  <a:latin typeface="+mn-lt"/>
                  <a:ea typeface="+mn-ea"/>
                  <a:cs typeface="+mn-cs"/>
                </a:rPr>
              </a:br>
              <a:r>
                <a:rPr lang="id" sz="710" dirty="0">
                  <a:solidFill>
                    <a:srgbClr val="585E66"/>
                  </a:solidFill>
                  <a:latin typeface="+mn-lt"/>
                  <a:ea typeface="+mn-ea"/>
                  <a:cs typeface="+mn-cs"/>
                </a:rPr>
                <a:t>perjalanan</a:t>
              </a:r>
            </a:p>
          </p:txBody>
        </p:sp>
        <p:sp>
          <p:nvSpPr>
            <p:cNvPr id="18" name="TextBox 18"/>
            <p:cNvSpPr txBox="1"/>
            <p:nvPr/>
          </p:nvSpPr>
          <p:spPr>
            <a:xfrm>
              <a:off x="8834438" y="1930400"/>
              <a:ext cx="1076975"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Reimbursement &amp; kontrak;</a:t>
              </a:r>
              <a:br>
                <a:rPr lang="id" sz="710" dirty="0">
                  <a:solidFill>
                    <a:srgbClr val="585E66"/>
                  </a:solidFill>
                  <a:latin typeface="+mn-lt"/>
                  <a:ea typeface="+mn-ea"/>
                  <a:cs typeface="+mn-cs"/>
                </a:rPr>
              </a:br>
              <a:r>
                <a:rPr lang="id" sz="710" dirty="0">
                  <a:solidFill>
                    <a:srgbClr val="585E66"/>
                  </a:solidFill>
                  <a:latin typeface="+mn-lt"/>
                  <a:ea typeface="+mn-ea"/>
                  <a:cs typeface="+mn-cs"/>
                </a:rPr>
                <a:t>waktu/biaya</a:t>
              </a:r>
            </a:p>
          </p:txBody>
        </p:sp>
        <p:sp>
          <p:nvSpPr>
            <p:cNvPr id="19" name="Line 19"/>
            <p:cNvSpPr/>
            <p:nvPr/>
          </p:nvSpPr>
          <p:spPr>
            <a:xfrm>
              <a:off x="609600" y="238125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20" name="TextBox 20"/>
            <p:cNvSpPr txBox="1"/>
            <p:nvPr/>
          </p:nvSpPr>
          <p:spPr>
            <a:xfrm>
              <a:off x="623888" y="245427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2</a:t>
              </a:r>
            </a:p>
          </p:txBody>
        </p:sp>
        <p:sp>
          <p:nvSpPr>
            <p:cNvPr id="21" name="TextBox 21"/>
            <p:cNvSpPr txBox="1"/>
            <p:nvPr/>
          </p:nvSpPr>
          <p:spPr>
            <a:xfrm>
              <a:off x="795338" y="2441575"/>
              <a:ext cx="1708828"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Faktor autisme &amp; kognitif/motorik</a:t>
              </a:r>
            </a:p>
          </p:txBody>
        </p:sp>
        <p:sp>
          <p:nvSpPr>
            <p:cNvPr id="22" name="TextBox 22"/>
            <p:cNvSpPr txBox="1"/>
            <p:nvPr/>
          </p:nvSpPr>
          <p:spPr>
            <a:xfrm>
              <a:off x="3348038" y="2368550"/>
              <a:ext cx="1182402"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Sensitivitas sensorik; sulit</a:t>
              </a:r>
              <a:br>
                <a:rPr lang="id" sz="710" dirty="0">
                  <a:solidFill>
                    <a:srgbClr val="585E66"/>
                  </a:solidFill>
                  <a:latin typeface="+mn-lt"/>
                  <a:ea typeface="+mn-ea"/>
                  <a:cs typeface="+mn-cs"/>
                </a:rPr>
              </a:br>
              <a:r>
                <a:rPr lang="id" sz="710" dirty="0">
                  <a:solidFill>
                    <a:srgbClr val="585E66"/>
                  </a:solidFill>
                  <a:latin typeface="+mn-lt"/>
                  <a:ea typeface="+mn-ea"/>
                  <a:cs typeface="+mn-cs"/>
                </a:rPr>
                <a:t>berubah rutinitas; komunikasi</a:t>
              </a:r>
            </a:p>
          </p:txBody>
        </p:sp>
        <p:sp>
          <p:nvSpPr>
            <p:cNvPr id="23" name="TextBox 23"/>
            <p:cNvSpPr txBox="1"/>
            <p:nvPr/>
          </p:nvSpPr>
          <p:spPr>
            <a:xfrm>
              <a:off x="6091238" y="2368550"/>
              <a:ext cx="1037337"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Kebutuhan non-gigi anak;</a:t>
              </a:r>
              <a:br>
                <a:rPr lang="id" sz="710" dirty="0">
                  <a:solidFill>
                    <a:srgbClr val="585E66"/>
                  </a:solidFill>
                  <a:latin typeface="+mn-lt"/>
                  <a:ea typeface="+mn-ea"/>
                  <a:cs typeface="+mn-cs"/>
                </a:rPr>
              </a:br>
              <a:r>
                <a:rPr lang="id" sz="710" dirty="0">
                  <a:solidFill>
                    <a:srgbClr val="585E66"/>
                  </a:solidFill>
                  <a:latin typeface="+mn-lt"/>
                  <a:ea typeface="+mn-ea"/>
                  <a:cs typeface="+mn-cs"/>
                </a:rPr>
                <a:t>prioritas bersaing</a:t>
              </a:r>
            </a:p>
          </p:txBody>
        </p:sp>
        <p:sp>
          <p:nvSpPr>
            <p:cNvPr id="24" name="TextBox 24"/>
            <p:cNvSpPr txBox="1"/>
            <p:nvPr/>
          </p:nvSpPr>
          <p:spPr>
            <a:xfrm>
              <a:off x="8834438" y="2454275"/>
              <a:ext cx="110490" cy="147638"/>
            </a:xfrm>
            <a:prstGeom prst="rect">
              <a:avLst/>
            </a:prstGeom>
            <a:noFill/>
            <a:ln>
              <a:noFill/>
            </a:ln>
          </p:spPr>
          <p:txBody>
            <a:bodyPr wrap="none" lIns="0" tIns="0" rIns="0" bIns="0" anchor="t" anchorCtr="0">
              <a:spAutoFit/>
            </a:bodyPr>
            <a:lstStyle/>
            <a:p>
              <a:pPr algn="l"/>
              <a:r>
                <a:rPr lang="id" sz="750" dirty="0">
                  <a:solidFill>
                    <a:srgbClr val="D6D9DE"/>
                  </a:solidFill>
                  <a:latin typeface="+mn-lt"/>
                  <a:ea typeface="+mn-ea"/>
                  <a:cs typeface="+mn-cs"/>
                </a:rPr>
                <a:t>—</a:t>
              </a:r>
            </a:p>
          </p:txBody>
        </p:sp>
        <p:sp>
          <p:nvSpPr>
            <p:cNvPr id="25" name="Line 25"/>
            <p:cNvSpPr/>
            <p:nvPr/>
          </p:nvSpPr>
          <p:spPr>
            <a:xfrm>
              <a:off x="609600" y="281940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26" name="Rectangle 26"/>
            <p:cNvSpPr/>
            <p:nvPr/>
          </p:nvSpPr>
          <p:spPr>
            <a:xfrm>
              <a:off x="533400" y="2819400"/>
              <a:ext cx="11049000" cy="438150"/>
            </a:xfrm>
            <a:prstGeom prst="rect">
              <a:avLst/>
            </a:prstGeom>
            <a:solidFill>
              <a:srgbClr val="F3F3F1"/>
            </a:solidFill>
            <a:ln>
              <a:noFill/>
            </a:ln>
          </p:spPr>
        </p:sp>
        <p:sp>
          <p:nvSpPr>
            <p:cNvPr id="27" name="TextBox 27"/>
            <p:cNvSpPr txBox="1"/>
            <p:nvPr/>
          </p:nvSpPr>
          <p:spPr>
            <a:xfrm>
              <a:off x="623888" y="289242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3</a:t>
              </a:r>
            </a:p>
          </p:txBody>
        </p:sp>
        <p:sp>
          <p:nvSpPr>
            <p:cNvPr id="28" name="TextBox 28"/>
            <p:cNvSpPr txBox="1"/>
            <p:nvPr/>
          </p:nvSpPr>
          <p:spPr>
            <a:xfrm>
              <a:off x="795338" y="2879725"/>
              <a:ext cx="958149"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Lingkungan dental</a:t>
              </a:r>
            </a:p>
          </p:txBody>
        </p:sp>
        <p:sp>
          <p:nvSpPr>
            <p:cNvPr id="29" name="TextBox 29"/>
            <p:cNvSpPr txBox="1"/>
            <p:nvPr/>
          </p:nvSpPr>
          <p:spPr>
            <a:xfrm>
              <a:off x="3348038" y="2806700"/>
              <a:ext cx="1187686"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Ruang tunggu; waktu tunggu;</a:t>
              </a:r>
              <a:br>
                <a:rPr lang="id" sz="710" dirty="0">
                  <a:solidFill>
                    <a:srgbClr val="585E66"/>
                  </a:solidFill>
                  <a:latin typeface="+mn-lt"/>
                  <a:ea typeface="+mn-ea"/>
                  <a:cs typeface="+mn-cs"/>
                </a:rPr>
              </a:br>
              <a:r>
                <a:rPr lang="id" sz="710" dirty="0">
                  <a:solidFill>
                    <a:srgbClr val="585E66"/>
                  </a:solidFill>
                  <a:latin typeface="+mn-lt"/>
                  <a:ea typeface="+mn-ea"/>
                  <a:cs typeface="+mn-cs"/>
                </a:rPr>
                <a:t>prosedur</a:t>
              </a:r>
            </a:p>
          </p:txBody>
        </p:sp>
        <p:sp>
          <p:nvSpPr>
            <p:cNvPr id="30" name="TextBox 30"/>
            <p:cNvSpPr txBox="1"/>
            <p:nvPr/>
          </p:nvSpPr>
          <p:spPr>
            <a:xfrm>
              <a:off x="6091238" y="2806700"/>
              <a:ext cx="922027"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Mendampingi anak di</a:t>
              </a:r>
              <a:br>
                <a:rPr lang="id" sz="710" dirty="0">
                  <a:solidFill>
                    <a:srgbClr val="585E66"/>
                  </a:solidFill>
                  <a:latin typeface="+mn-lt"/>
                  <a:ea typeface="+mn-ea"/>
                  <a:cs typeface="+mn-cs"/>
                </a:rPr>
              </a:br>
              <a:r>
                <a:rPr lang="id" sz="710" dirty="0">
                  <a:solidFill>
                    <a:srgbClr val="585E66"/>
                  </a:solidFill>
                  <a:latin typeface="+mn-lt"/>
                  <a:ea typeface="+mn-ea"/>
                  <a:cs typeface="+mn-cs"/>
                </a:rPr>
                <a:t>lingkungan menantang</a:t>
              </a:r>
            </a:p>
          </p:txBody>
        </p:sp>
        <p:sp>
          <p:nvSpPr>
            <p:cNvPr id="31" name="TextBox 31"/>
            <p:cNvSpPr txBox="1"/>
            <p:nvPr/>
          </p:nvSpPr>
          <p:spPr>
            <a:xfrm>
              <a:off x="8834438" y="2806700"/>
              <a:ext cx="1007184"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Menyediakan lingkungan</a:t>
              </a:r>
              <a:br>
                <a:rPr lang="id" sz="710" dirty="0">
                  <a:solidFill>
                    <a:srgbClr val="585E66"/>
                  </a:solidFill>
                  <a:latin typeface="+mn-lt"/>
                  <a:ea typeface="+mn-ea"/>
                  <a:cs typeface="+mn-cs"/>
                </a:rPr>
              </a:br>
              <a:r>
                <a:rPr lang="id" sz="710" dirty="0">
                  <a:solidFill>
                    <a:srgbClr val="585E66"/>
                  </a:solidFill>
                  <a:latin typeface="+mn-lt"/>
                  <a:ea typeface="+mn-ea"/>
                  <a:cs typeface="+mn-cs"/>
                </a:rPr>
                <a:t>inklusif</a:t>
              </a:r>
            </a:p>
          </p:txBody>
        </p:sp>
        <p:sp>
          <p:nvSpPr>
            <p:cNvPr id="32" name="Line 32"/>
            <p:cNvSpPr/>
            <p:nvPr/>
          </p:nvSpPr>
          <p:spPr>
            <a:xfrm>
              <a:off x="609600" y="325755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33" name="TextBox 33"/>
            <p:cNvSpPr txBox="1"/>
            <p:nvPr/>
          </p:nvSpPr>
          <p:spPr>
            <a:xfrm>
              <a:off x="623888" y="333057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4</a:t>
              </a:r>
            </a:p>
          </p:txBody>
        </p:sp>
        <p:sp>
          <p:nvSpPr>
            <p:cNvPr id="34" name="TextBox 34"/>
            <p:cNvSpPr txBox="1"/>
            <p:nvPr/>
          </p:nvSpPr>
          <p:spPr>
            <a:xfrm>
              <a:off x="795338" y="3317875"/>
              <a:ext cx="1242200"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Mengelola perilaku anak</a:t>
              </a:r>
            </a:p>
          </p:txBody>
        </p:sp>
        <p:sp>
          <p:nvSpPr>
            <p:cNvPr id="35" name="TextBox 35"/>
            <p:cNvSpPr txBox="1"/>
            <p:nvPr/>
          </p:nvSpPr>
          <p:spPr>
            <a:xfrm>
              <a:off x="3348038" y="3244850"/>
              <a:ext cx="896437"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Stres, cemas, distress</a:t>
              </a:r>
              <a:br>
                <a:rPr lang="id" sz="710" dirty="0">
                  <a:solidFill>
                    <a:srgbClr val="585E66"/>
                  </a:solidFill>
                  <a:latin typeface="+mn-lt"/>
                  <a:ea typeface="+mn-ea"/>
                  <a:cs typeface="+mn-cs"/>
                </a:rPr>
              </a:br>
              <a:r>
                <a:rPr lang="id" sz="710" dirty="0">
                  <a:solidFill>
                    <a:srgbClr val="585E66"/>
                  </a:solidFill>
                  <a:latin typeface="+mn-lt"/>
                  <a:ea typeface="+mn-ea"/>
                  <a:cs typeface="+mn-cs"/>
                </a:rPr>
                <a:t>di klinik</a:t>
              </a:r>
            </a:p>
          </p:txBody>
        </p:sp>
        <p:sp>
          <p:nvSpPr>
            <p:cNvPr id="36" name="TextBox 36"/>
            <p:cNvSpPr txBox="1"/>
            <p:nvPr/>
          </p:nvSpPr>
          <p:spPr>
            <a:xfrm>
              <a:off x="6091238" y="3244850"/>
              <a:ext cx="1037211"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Dukungan sosial kurang;</a:t>
              </a:r>
              <a:br>
                <a:rPr lang="id" sz="710" dirty="0">
                  <a:solidFill>
                    <a:srgbClr val="585E66"/>
                  </a:solidFill>
                  <a:latin typeface="+mn-lt"/>
                  <a:ea typeface="+mn-ea"/>
                  <a:cs typeface="+mn-cs"/>
                </a:rPr>
              </a:br>
              <a:r>
                <a:rPr lang="id" sz="710" dirty="0">
                  <a:solidFill>
                    <a:srgbClr val="585E66"/>
                  </a:solidFill>
                  <a:latin typeface="+mn-lt"/>
                  <a:ea typeface="+mn-ea"/>
                  <a:cs typeface="+mn-cs"/>
                </a:rPr>
                <a:t>perilaku pasca-kunjungan</a:t>
              </a:r>
            </a:p>
          </p:txBody>
        </p:sp>
        <p:sp>
          <p:nvSpPr>
            <p:cNvPr id="37" name="TextBox 37"/>
            <p:cNvSpPr txBox="1"/>
            <p:nvPr/>
          </p:nvSpPr>
          <p:spPr>
            <a:xfrm>
              <a:off x="8834438" y="3244850"/>
              <a:ext cx="1202365"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Menangani perilaku distress</a:t>
              </a:r>
            </a:p>
          </p:txBody>
        </p:sp>
        <p:sp>
          <p:nvSpPr>
            <p:cNvPr id="38" name="Line 38"/>
            <p:cNvSpPr/>
            <p:nvPr/>
          </p:nvSpPr>
          <p:spPr>
            <a:xfrm>
              <a:off x="609600" y="369570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39" name="Rectangle 39"/>
            <p:cNvSpPr/>
            <p:nvPr/>
          </p:nvSpPr>
          <p:spPr>
            <a:xfrm>
              <a:off x="533400" y="3695700"/>
              <a:ext cx="11049000" cy="438150"/>
            </a:xfrm>
            <a:prstGeom prst="rect">
              <a:avLst/>
            </a:prstGeom>
            <a:solidFill>
              <a:srgbClr val="F3F3F1"/>
            </a:solidFill>
            <a:ln>
              <a:noFill/>
            </a:ln>
          </p:spPr>
        </p:sp>
        <p:sp>
          <p:nvSpPr>
            <p:cNvPr id="40" name="TextBox 40"/>
            <p:cNvSpPr txBox="1"/>
            <p:nvPr/>
          </p:nvSpPr>
          <p:spPr>
            <a:xfrm>
              <a:off x="623888" y="376872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5</a:t>
              </a:r>
            </a:p>
          </p:txBody>
        </p:sp>
        <p:sp>
          <p:nvSpPr>
            <p:cNvPr id="41" name="TextBox 41"/>
            <p:cNvSpPr txBox="1"/>
            <p:nvPr/>
          </p:nvSpPr>
          <p:spPr>
            <a:xfrm>
              <a:off x="795338" y="3756025"/>
              <a:ext cx="1307529"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Merespons &amp; beradaptasi</a:t>
              </a:r>
            </a:p>
          </p:txBody>
        </p:sp>
        <p:sp>
          <p:nvSpPr>
            <p:cNvPr id="42" name="TextBox 42"/>
            <p:cNvSpPr txBox="1"/>
            <p:nvPr/>
          </p:nvSpPr>
          <p:spPr>
            <a:xfrm>
              <a:off x="3348038" y="3768725"/>
              <a:ext cx="110490" cy="147638"/>
            </a:xfrm>
            <a:prstGeom prst="rect">
              <a:avLst/>
            </a:prstGeom>
            <a:noFill/>
            <a:ln>
              <a:noFill/>
            </a:ln>
          </p:spPr>
          <p:txBody>
            <a:bodyPr wrap="none" lIns="0" tIns="0" rIns="0" bIns="0" anchor="t" anchorCtr="0">
              <a:spAutoFit/>
            </a:bodyPr>
            <a:lstStyle/>
            <a:p>
              <a:pPr algn="l"/>
              <a:r>
                <a:rPr lang="id" sz="750" dirty="0">
                  <a:solidFill>
                    <a:srgbClr val="D6D9DE"/>
                  </a:solidFill>
                  <a:latin typeface="+mn-lt"/>
                  <a:ea typeface="+mn-ea"/>
                  <a:cs typeface="+mn-cs"/>
                </a:rPr>
                <a:t>—</a:t>
              </a:r>
            </a:p>
          </p:txBody>
        </p:sp>
        <p:sp>
          <p:nvSpPr>
            <p:cNvPr id="43" name="TextBox 43"/>
            <p:cNvSpPr txBox="1"/>
            <p:nvPr/>
          </p:nvSpPr>
          <p:spPr>
            <a:xfrm>
              <a:off x="6091238" y="3683000"/>
              <a:ext cx="936961"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Persiapan dan latihan</a:t>
              </a:r>
            </a:p>
          </p:txBody>
        </p:sp>
        <p:sp>
          <p:nvSpPr>
            <p:cNvPr id="44" name="TextBox 44"/>
            <p:cNvSpPr txBox="1"/>
            <p:nvPr/>
          </p:nvSpPr>
          <p:spPr>
            <a:xfrm>
              <a:off x="8834438" y="3683000"/>
              <a:ext cx="1142096"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Fleksibilitas proses; strategi;</a:t>
              </a:r>
              <a:br>
                <a:rPr lang="id" sz="710" dirty="0">
                  <a:solidFill>
                    <a:srgbClr val="585E66"/>
                  </a:solidFill>
                  <a:latin typeface="+mn-lt"/>
                  <a:ea typeface="+mn-ea"/>
                  <a:cs typeface="+mn-cs"/>
                </a:rPr>
              </a:br>
              <a:r>
                <a:rPr lang="id" sz="710" dirty="0">
                  <a:solidFill>
                    <a:srgbClr val="585E66"/>
                  </a:solidFill>
                  <a:latin typeface="+mn-lt"/>
                  <a:ea typeface="+mn-ea"/>
                  <a:cs typeface="+mn-cs"/>
                </a:rPr>
                <a:t>persiapan</a:t>
              </a:r>
            </a:p>
          </p:txBody>
        </p:sp>
        <p:sp>
          <p:nvSpPr>
            <p:cNvPr id="45" name="Line 45"/>
            <p:cNvSpPr/>
            <p:nvPr/>
          </p:nvSpPr>
          <p:spPr>
            <a:xfrm>
              <a:off x="609600" y="413385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46" name="TextBox 46"/>
            <p:cNvSpPr txBox="1"/>
            <p:nvPr/>
          </p:nvSpPr>
          <p:spPr>
            <a:xfrm>
              <a:off x="623888" y="420687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6</a:t>
              </a:r>
            </a:p>
          </p:txBody>
        </p:sp>
        <p:sp>
          <p:nvSpPr>
            <p:cNvPr id="47" name="TextBox 47"/>
            <p:cNvSpPr txBox="1"/>
            <p:nvPr/>
          </p:nvSpPr>
          <p:spPr>
            <a:xfrm>
              <a:off x="795338" y="4194175"/>
              <a:ext cx="562579"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Sikap DHP</a:t>
              </a:r>
            </a:p>
          </p:txBody>
        </p:sp>
        <p:sp>
          <p:nvSpPr>
            <p:cNvPr id="48" name="TextBox 48"/>
            <p:cNvSpPr txBox="1"/>
            <p:nvPr/>
          </p:nvSpPr>
          <p:spPr>
            <a:xfrm>
              <a:off x="3348038" y="4206875"/>
              <a:ext cx="110490" cy="147638"/>
            </a:xfrm>
            <a:prstGeom prst="rect">
              <a:avLst/>
            </a:prstGeom>
            <a:noFill/>
            <a:ln>
              <a:noFill/>
            </a:ln>
          </p:spPr>
          <p:txBody>
            <a:bodyPr wrap="none" lIns="0" tIns="0" rIns="0" bIns="0" anchor="t" anchorCtr="0">
              <a:spAutoFit/>
            </a:bodyPr>
            <a:lstStyle/>
            <a:p>
              <a:pPr algn="l"/>
              <a:r>
                <a:rPr lang="id" sz="750" dirty="0">
                  <a:solidFill>
                    <a:srgbClr val="D6D9DE"/>
                  </a:solidFill>
                  <a:latin typeface="+mn-lt"/>
                  <a:ea typeface="+mn-ea"/>
                  <a:cs typeface="+mn-cs"/>
                </a:rPr>
                <a:t>—</a:t>
              </a:r>
            </a:p>
          </p:txBody>
        </p:sp>
        <p:sp>
          <p:nvSpPr>
            <p:cNvPr id="49" name="TextBox 49"/>
            <p:cNvSpPr txBox="1"/>
            <p:nvPr/>
          </p:nvSpPr>
          <p:spPr>
            <a:xfrm>
              <a:off x="6091238" y="4121150"/>
              <a:ext cx="956689"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Sulit cari dokter ‘cocok’;</a:t>
              </a:r>
              <a:br>
                <a:rPr lang="id" sz="710" dirty="0">
                  <a:solidFill>
                    <a:srgbClr val="585E66"/>
                  </a:solidFill>
                  <a:latin typeface="+mn-lt"/>
                  <a:ea typeface="+mn-ea"/>
                  <a:cs typeface="+mn-cs"/>
                </a:rPr>
              </a:br>
              <a:r>
                <a:rPr lang="id" sz="710" dirty="0">
                  <a:solidFill>
                    <a:srgbClr val="585E66"/>
                  </a:solidFill>
                  <a:latin typeface="+mn-lt"/>
                  <a:ea typeface="+mn-ea"/>
                  <a:cs typeface="+mn-cs"/>
                </a:rPr>
                <a:t>merasa dihakimi</a:t>
              </a:r>
            </a:p>
          </p:txBody>
        </p:sp>
        <p:sp>
          <p:nvSpPr>
            <p:cNvPr id="50" name="TextBox 50"/>
            <p:cNvSpPr txBox="1"/>
            <p:nvPr/>
          </p:nvSpPr>
          <p:spPr>
            <a:xfrm>
              <a:off x="8834438" y="4121150"/>
              <a:ext cx="1312860"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Memahami tantangan orang tua;</a:t>
              </a:r>
              <a:br>
                <a:rPr lang="id" sz="710" dirty="0">
                  <a:solidFill>
                    <a:srgbClr val="585E66"/>
                  </a:solidFill>
                  <a:latin typeface="+mn-lt"/>
                  <a:ea typeface="+mn-ea"/>
                  <a:cs typeface="+mn-cs"/>
                </a:rPr>
              </a:br>
              <a:r>
                <a:rPr lang="id" sz="710" dirty="0">
                  <a:solidFill>
                    <a:srgbClr val="585E66"/>
                  </a:solidFill>
                  <a:latin typeface="+mn-lt"/>
                  <a:ea typeface="+mn-ea"/>
                  <a:cs typeface="+mn-cs"/>
                </a:rPr>
                <a:t>menerima perbedaan</a:t>
              </a:r>
            </a:p>
          </p:txBody>
        </p:sp>
        <p:sp>
          <p:nvSpPr>
            <p:cNvPr id="51" name="Line 51"/>
            <p:cNvSpPr/>
            <p:nvPr/>
          </p:nvSpPr>
          <p:spPr>
            <a:xfrm>
              <a:off x="609600" y="457200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52" name="Rectangle 52"/>
            <p:cNvSpPr/>
            <p:nvPr/>
          </p:nvSpPr>
          <p:spPr>
            <a:xfrm>
              <a:off x="533400" y="4572000"/>
              <a:ext cx="11049000" cy="438150"/>
            </a:xfrm>
            <a:prstGeom prst="rect">
              <a:avLst/>
            </a:prstGeom>
            <a:solidFill>
              <a:srgbClr val="F3F3F1"/>
            </a:solidFill>
            <a:ln>
              <a:noFill/>
            </a:ln>
          </p:spPr>
        </p:sp>
        <p:sp>
          <p:nvSpPr>
            <p:cNvPr id="53" name="TextBox 53"/>
            <p:cNvSpPr txBox="1"/>
            <p:nvPr/>
          </p:nvSpPr>
          <p:spPr>
            <a:xfrm>
              <a:off x="623888" y="464502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7</a:t>
              </a:r>
            </a:p>
          </p:txBody>
        </p:sp>
        <p:sp>
          <p:nvSpPr>
            <p:cNvPr id="54" name="TextBox 54"/>
            <p:cNvSpPr txBox="1"/>
            <p:nvPr/>
          </p:nvSpPr>
          <p:spPr>
            <a:xfrm>
              <a:off x="795338" y="4632325"/>
              <a:ext cx="1586906"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Pengetahuan cara merawat OH</a:t>
              </a:r>
            </a:p>
          </p:txBody>
        </p:sp>
        <p:sp>
          <p:nvSpPr>
            <p:cNvPr id="55" name="TextBox 55"/>
            <p:cNvSpPr txBox="1"/>
            <p:nvPr/>
          </p:nvSpPr>
          <p:spPr>
            <a:xfrm>
              <a:off x="3348038" y="4559300"/>
              <a:ext cx="1017175"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Cara menyikat gigi;</a:t>
              </a:r>
              <a:br>
                <a:rPr lang="id" sz="710" dirty="0">
                  <a:solidFill>
                    <a:srgbClr val="585E66"/>
                  </a:solidFill>
                  <a:latin typeface="+mn-lt"/>
                  <a:ea typeface="+mn-ea"/>
                  <a:cs typeface="+mn-cs"/>
                </a:rPr>
              </a:br>
              <a:r>
                <a:rPr lang="id" sz="710" dirty="0">
                  <a:solidFill>
                    <a:srgbClr val="585E66"/>
                  </a:solidFill>
                  <a:latin typeface="+mn-lt"/>
                  <a:ea typeface="+mn-ea"/>
                  <a:cs typeface="+mn-cs"/>
                </a:rPr>
                <a:t>pengalaman sebelumnya</a:t>
              </a:r>
            </a:p>
          </p:txBody>
        </p:sp>
        <p:sp>
          <p:nvSpPr>
            <p:cNvPr id="56" name="TextBox 56"/>
            <p:cNvSpPr txBox="1"/>
            <p:nvPr/>
          </p:nvSpPr>
          <p:spPr>
            <a:xfrm>
              <a:off x="6091238" y="4559300"/>
              <a:ext cx="926951"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Pengetahuan &amp; sikap;</a:t>
              </a:r>
              <a:br>
                <a:rPr lang="id" sz="710" dirty="0">
                  <a:solidFill>
                    <a:srgbClr val="585E66"/>
                  </a:solidFill>
                  <a:latin typeface="+mn-lt"/>
                  <a:ea typeface="+mn-ea"/>
                  <a:cs typeface="+mn-cs"/>
                </a:rPr>
              </a:br>
              <a:r>
                <a:rPr lang="id" sz="710" dirty="0">
                  <a:solidFill>
                    <a:srgbClr val="585E66"/>
                  </a:solidFill>
                  <a:latin typeface="+mn-lt"/>
                  <a:ea typeface="+mn-ea"/>
                  <a:cs typeface="+mn-cs"/>
                </a:rPr>
                <a:t>strategi pendampingan</a:t>
              </a:r>
            </a:p>
          </p:txBody>
        </p:sp>
        <p:sp>
          <p:nvSpPr>
            <p:cNvPr id="57" name="TextBox 57"/>
            <p:cNvSpPr txBox="1"/>
            <p:nvPr/>
          </p:nvSpPr>
          <p:spPr>
            <a:xfrm>
              <a:off x="8834438" y="4559300"/>
              <a:ext cx="1197605"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Pengetahuan menangani;</a:t>
              </a:r>
              <a:br>
                <a:rPr lang="id" sz="710" dirty="0">
                  <a:solidFill>
                    <a:srgbClr val="585E66"/>
                  </a:solidFill>
                  <a:latin typeface="+mn-lt"/>
                  <a:ea typeface="+mn-ea"/>
                  <a:cs typeface="+mn-cs"/>
                </a:rPr>
              </a:br>
              <a:r>
                <a:rPr lang="id" sz="710" dirty="0">
                  <a:solidFill>
                    <a:srgbClr val="585E66"/>
                  </a:solidFill>
                  <a:latin typeface="+mn-lt"/>
                  <a:ea typeface="+mn-ea"/>
                  <a:cs typeface="+mn-cs"/>
                </a:rPr>
                <a:t>cara memudahkan kunjungan</a:t>
              </a:r>
            </a:p>
          </p:txBody>
        </p:sp>
        <p:sp>
          <p:nvSpPr>
            <p:cNvPr id="58" name="Line 58"/>
            <p:cNvSpPr/>
            <p:nvPr/>
          </p:nvSpPr>
          <p:spPr>
            <a:xfrm>
              <a:off x="609600" y="501015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59" name="TextBox 59"/>
            <p:cNvSpPr txBox="1"/>
            <p:nvPr/>
          </p:nvSpPr>
          <p:spPr>
            <a:xfrm>
              <a:off x="623888" y="508317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8</a:t>
              </a:r>
            </a:p>
          </p:txBody>
        </p:sp>
        <p:sp>
          <p:nvSpPr>
            <p:cNvPr id="60" name="TextBox 60"/>
            <p:cNvSpPr txBox="1"/>
            <p:nvPr/>
          </p:nvSpPr>
          <p:spPr>
            <a:xfrm>
              <a:off x="795338" y="5070475"/>
              <a:ext cx="1951748"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Pemberdayaan orang tua &amp; kolaborasi</a:t>
              </a:r>
            </a:p>
          </p:txBody>
        </p:sp>
        <p:sp>
          <p:nvSpPr>
            <p:cNvPr id="61" name="TextBox 61"/>
            <p:cNvSpPr txBox="1"/>
            <p:nvPr/>
          </p:nvSpPr>
          <p:spPr>
            <a:xfrm>
              <a:off x="3348038" y="4997450"/>
              <a:ext cx="501493"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Suara anak</a:t>
              </a:r>
            </a:p>
          </p:txBody>
        </p:sp>
        <p:sp>
          <p:nvSpPr>
            <p:cNvPr id="62" name="TextBox 62"/>
            <p:cNvSpPr txBox="1"/>
            <p:nvPr/>
          </p:nvSpPr>
          <p:spPr>
            <a:xfrm>
              <a:off x="6091238" y="4997450"/>
              <a:ext cx="811587"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Kepercayaan diri</a:t>
              </a:r>
              <a:br>
                <a:rPr lang="id" sz="710" dirty="0">
                  <a:solidFill>
                    <a:srgbClr val="585E66"/>
                  </a:solidFill>
                  <a:latin typeface="+mn-lt"/>
                  <a:ea typeface="+mn-ea"/>
                  <a:cs typeface="+mn-cs"/>
                </a:rPr>
              </a:br>
              <a:r>
                <a:rPr lang="id" sz="710" dirty="0">
                  <a:solidFill>
                    <a:srgbClr val="585E66"/>
                  </a:solidFill>
                  <a:latin typeface="+mn-lt"/>
                  <a:ea typeface="+mn-ea"/>
                  <a:cs typeface="+mn-cs"/>
                </a:rPr>
                <a:t>mengadvokasi anak</a:t>
              </a:r>
            </a:p>
          </p:txBody>
        </p:sp>
        <p:sp>
          <p:nvSpPr>
            <p:cNvPr id="63" name="TextBox 63"/>
            <p:cNvSpPr txBox="1"/>
            <p:nvPr/>
          </p:nvSpPr>
          <p:spPr>
            <a:xfrm>
              <a:off x="8834438" y="4997450"/>
              <a:ext cx="1252681"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Keterlibatan orang tua;</a:t>
              </a:r>
              <a:br>
                <a:rPr lang="id" sz="710" dirty="0">
                  <a:solidFill>
                    <a:srgbClr val="585E66"/>
                  </a:solidFill>
                  <a:latin typeface="+mn-lt"/>
                  <a:ea typeface="+mn-ea"/>
                  <a:cs typeface="+mn-cs"/>
                </a:rPr>
              </a:br>
              <a:r>
                <a:rPr lang="id" sz="710" dirty="0">
                  <a:solidFill>
                    <a:srgbClr val="585E66"/>
                  </a:solidFill>
                  <a:latin typeface="+mn-lt"/>
                  <a:ea typeface="+mn-ea"/>
                  <a:cs typeface="+mn-cs"/>
                </a:rPr>
                <a:t>memakai pengetahuan mereka</a:t>
              </a:r>
            </a:p>
          </p:txBody>
        </p:sp>
        <p:sp>
          <p:nvSpPr>
            <p:cNvPr id="64" name="Line 64"/>
            <p:cNvSpPr/>
            <p:nvPr/>
          </p:nvSpPr>
          <p:spPr>
            <a:xfrm>
              <a:off x="609600" y="5448300"/>
              <a:ext cx="10972800" cy="9525"/>
            </a:xfrm>
            <a:custGeom>
              <a:avLst/>
              <a:gdLst/>
              <a:ahLst/>
              <a:cxnLst/>
              <a:rect l="l" t="t" r="r" b="b"/>
              <a:pathLst>
                <a:path w="10972800" h="9525">
                  <a:moveTo>
                    <a:pt x="0" y="0"/>
                  </a:moveTo>
                  <a:lnTo>
                    <a:pt x="10972800" y="0"/>
                  </a:lnTo>
                </a:path>
              </a:pathLst>
            </a:custGeom>
            <a:noFill/>
            <a:ln w="7620">
              <a:solidFill>
                <a:srgbClr val="D6D9DE"/>
              </a:solidFill>
            </a:ln>
          </p:spPr>
        </p:sp>
        <p:sp>
          <p:nvSpPr>
            <p:cNvPr id="65" name="Rectangle 65"/>
            <p:cNvSpPr/>
            <p:nvPr/>
          </p:nvSpPr>
          <p:spPr>
            <a:xfrm>
              <a:off x="533400" y="5448300"/>
              <a:ext cx="11049000" cy="438150"/>
            </a:xfrm>
            <a:prstGeom prst="rect">
              <a:avLst/>
            </a:prstGeom>
            <a:solidFill>
              <a:srgbClr val="F3F3F1"/>
            </a:solidFill>
            <a:ln>
              <a:noFill/>
            </a:ln>
          </p:spPr>
        </p:sp>
        <p:sp>
          <p:nvSpPr>
            <p:cNvPr id="66" name="TextBox 66"/>
            <p:cNvSpPr txBox="1"/>
            <p:nvPr/>
          </p:nvSpPr>
          <p:spPr>
            <a:xfrm>
              <a:off x="623888" y="5521325"/>
              <a:ext cx="62687"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9</a:t>
              </a:r>
            </a:p>
          </p:txBody>
        </p:sp>
        <p:sp>
          <p:nvSpPr>
            <p:cNvPr id="67" name="TextBox 67"/>
            <p:cNvSpPr txBox="1"/>
            <p:nvPr/>
          </p:nvSpPr>
          <p:spPr>
            <a:xfrm>
              <a:off x="795338" y="5508625"/>
              <a:ext cx="1786065"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Komunikasi &amp; membangun rapport</a:t>
              </a:r>
            </a:p>
          </p:txBody>
        </p:sp>
        <p:sp>
          <p:nvSpPr>
            <p:cNvPr id="68" name="TextBox 68"/>
            <p:cNvSpPr txBox="1"/>
            <p:nvPr/>
          </p:nvSpPr>
          <p:spPr>
            <a:xfrm>
              <a:off x="3348038" y="5521325"/>
              <a:ext cx="110490" cy="147638"/>
            </a:xfrm>
            <a:prstGeom prst="rect">
              <a:avLst/>
            </a:prstGeom>
            <a:noFill/>
            <a:ln>
              <a:noFill/>
            </a:ln>
          </p:spPr>
          <p:txBody>
            <a:bodyPr wrap="none" lIns="0" tIns="0" rIns="0" bIns="0" anchor="t" anchorCtr="0">
              <a:spAutoFit/>
            </a:bodyPr>
            <a:lstStyle/>
            <a:p>
              <a:pPr algn="l"/>
              <a:r>
                <a:rPr lang="id" sz="750" dirty="0">
                  <a:solidFill>
                    <a:srgbClr val="D6D9DE"/>
                  </a:solidFill>
                  <a:latin typeface="+mn-lt"/>
                  <a:ea typeface="+mn-ea"/>
                  <a:cs typeface="+mn-cs"/>
                </a:rPr>
                <a:t>—</a:t>
              </a:r>
            </a:p>
          </p:txBody>
        </p:sp>
        <p:sp>
          <p:nvSpPr>
            <p:cNvPr id="69" name="TextBox 69"/>
            <p:cNvSpPr txBox="1"/>
            <p:nvPr/>
          </p:nvSpPr>
          <p:spPr>
            <a:xfrm>
              <a:off x="6091238" y="5435600"/>
              <a:ext cx="871586"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Komunikasi &amp; rapport</a:t>
              </a:r>
              <a:br>
                <a:rPr lang="id" sz="710" dirty="0">
                  <a:solidFill>
                    <a:srgbClr val="585E66"/>
                  </a:solidFill>
                  <a:latin typeface="+mn-lt"/>
                  <a:ea typeface="+mn-ea"/>
                  <a:cs typeface="+mn-cs"/>
                </a:rPr>
              </a:br>
              <a:r>
                <a:rPr lang="id" sz="710" dirty="0">
                  <a:solidFill>
                    <a:srgbClr val="585E66"/>
                  </a:solidFill>
                  <a:latin typeface="+mn-lt"/>
                  <a:ea typeface="+mn-ea"/>
                  <a:cs typeface="+mn-cs"/>
                </a:rPr>
                <a:t>dengan tim gigi</a:t>
              </a:r>
            </a:p>
          </p:txBody>
        </p:sp>
        <p:sp>
          <p:nvSpPr>
            <p:cNvPr id="70" name="TextBox 70"/>
            <p:cNvSpPr txBox="1"/>
            <p:nvPr/>
          </p:nvSpPr>
          <p:spPr>
            <a:xfrm>
              <a:off x="8834438" y="5435600"/>
              <a:ext cx="1292770" cy="259556"/>
            </a:xfrm>
            <a:prstGeom prst="rect">
              <a:avLst/>
            </a:prstGeom>
            <a:noFill/>
            <a:ln>
              <a:noFill/>
            </a:ln>
          </p:spPr>
          <p:txBody>
            <a:bodyPr wrap="none" lIns="0" tIns="0" rIns="0" bIns="0" anchor="t" anchorCtr="0">
              <a:spAutoFit/>
            </a:bodyPr>
            <a:lstStyle/>
            <a:p>
              <a:pPr algn="l">
                <a:lnSpc>
                  <a:spcPts val="938"/>
                </a:lnSpc>
              </a:pPr>
              <a:r>
                <a:rPr lang="id" sz="710" dirty="0">
                  <a:solidFill>
                    <a:srgbClr val="585E66"/>
                  </a:solidFill>
                  <a:latin typeface="+mn-lt"/>
                  <a:ea typeface="+mn-ea"/>
                  <a:cs typeface="+mn-cs"/>
                </a:rPr>
                <a:t>Komunikasi tim–anak;</a:t>
              </a:r>
              <a:br>
                <a:rPr lang="id" sz="710" dirty="0">
                  <a:solidFill>
                    <a:srgbClr val="585E66"/>
                  </a:solidFill>
                  <a:latin typeface="+mn-lt"/>
                  <a:ea typeface="+mn-ea"/>
                  <a:cs typeface="+mn-cs"/>
                </a:rPr>
              </a:br>
              <a:r>
                <a:rPr lang="id" sz="710" dirty="0">
                  <a:solidFill>
                    <a:srgbClr val="585E66"/>
                  </a:solidFill>
                  <a:latin typeface="+mn-lt"/>
                  <a:ea typeface="+mn-ea"/>
                  <a:cs typeface="+mn-cs"/>
                </a:rPr>
                <a:t>rapport anak, orang tua, dan tim</a:t>
              </a:r>
            </a:p>
          </p:txBody>
        </p:sp>
        <p:sp>
          <p:nvSpPr>
            <p:cNvPr id="71" name="Line 71"/>
            <p:cNvSpPr/>
            <p:nvPr/>
          </p:nvSpPr>
          <p:spPr>
            <a:xfrm>
              <a:off x="609600" y="5886450"/>
              <a:ext cx="10972800" cy="9525"/>
            </a:xfrm>
            <a:custGeom>
              <a:avLst/>
              <a:gdLst/>
              <a:ahLst/>
              <a:cxnLst/>
              <a:rect l="l" t="t" r="r" b="b"/>
              <a:pathLst>
                <a:path w="10972800" h="9525">
                  <a:moveTo>
                    <a:pt x="0" y="0"/>
                  </a:moveTo>
                  <a:lnTo>
                    <a:pt x="10972800" y="0"/>
                  </a:lnTo>
                </a:path>
              </a:pathLst>
            </a:custGeom>
            <a:noFill/>
            <a:ln w="7620">
              <a:solidFill>
                <a:srgbClr val="D6D9DE"/>
              </a:solidFill>
            </a:ln>
          </p:spPr>
        </p:sp>
      </p:grpSp>
      <p:grpSp>
        <p:nvGrpSpPr>
          <p:cNvPr id="74" name="note"/>
          <p:cNvGrpSpPr/>
          <p:nvPr/>
        </p:nvGrpSpPr>
        <p:grpSpPr>
          <a:xfrm>
            <a:off x="604838" y="6121400"/>
            <a:ext cx="4506426" cy="140494"/>
            <a:chOff x="604838" y="6121400"/>
            <a:chExt cx="4506426" cy="140494"/>
          </a:xfrm>
        </p:grpSpPr>
        <p:sp>
          <p:nvSpPr>
            <p:cNvPr id="73" name="TextBox 73"/>
            <p:cNvSpPr txBox="1"/>
            <p:nvPr/>
          </p:nvSpPr>
          <p:spPr>
            <a:xfrm>
              <a:off x="604838" y="6121400"/>
              <a:ext cx="4506426" cy="140494"/>
            </a:xfrm>
            <a:prstGeom prst="rect">
              <a:avLst/>
            </a:prstGeom>
            <a:noFill/>
            <a:ln>
              <a:noFill/>
            </a:ln>
          </p:spPr>
          <p:txBody>
            <a:bodyPr wrap="none" lIns="0" tIns="0" rIns="0" bIns="0" anchor="t" anchorCtr="0">
              <a:spAutoFit/>
            </a:bodyPr>
            <a:lstStyle/>
            <a:p>
              <a:pPr algn="l"/>
              <a:r>
                <a:rPr lang="id" sz="710" dirty="0">
                  <a:solidFill>
                    <a:srgbClr val="8B9198"/>
                  </a:solidFill>
                  <a:latin typeface="+mn-lt"/>
                  <a:ea typeface="+mn-ea"/>
                  <a:cs typeface="+mn-cs"/>
                </a:rPr>
                <a:t>Sumber: Tabel 4 Erwin et al. (2022). Sel bertanda — berarti tema tidak dilaporkan dari perspektif tersebut.</a:t>
              </a:r>
            </a:p>
          </p:txBody>
        </p:sp>
      </p:grpSp>
      <p:grpSp>
        <p:nvGrpSpPr>
          <p:cNvPr id="78" name="footer"/>
          <p:cNvGrpSpPr/>
          <p:nvPr/>
        </p:nvGrpSpPr>
        <p:grpSpPr>
          <a:xfrm>
            <a:off x="604838" y="6324600"/>
            <a:ext cx="10982325" cy="268288"/>
            <a:chOff x="604838" y="6324600"/>
            <a:chExt cx="10982325" cy="268288"/>
          </a:xfrm>
        </p:grpSpPr>
        <p:sp>
          <p:nvSpPr>
            <p:cNvPr id="75" name="Line 75"/>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76" name="TextBox 76"/>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77" name="TextBox 77"/>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078674"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07 · TEMA 1–3</a:t>
              </a:r>
            </a:p>
          </p:txBody>
        </p:sp>
        <p:sp>
          <p:nvSpPr>
            <p:cNvPr id="3" name="TextBox 3"/>
            <p:cNvSpPr txBox="1"/>
            <p:nvPr/>
          </p:nvSpPr>
          <p:spPr>
            <a:xfrm>
              <a:off x="595503" y="685800"/>
              <a:ext cx="6820209"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Akses dimulai jauh sebelum kursi gigi</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08 / 16</a:t>
              </a:r>
            </a:p>
          </p:txBody>
        </p:sp>
      </p:grpSp>
      <p:grpSp>
        <p:nvGrpSpPr>
          <p:cNvPr id="33" name="themes"/>
          <p:cNvGrpSpPr/>
          <p:nvPr/>
        </p:nvGrpSpPr>
        <p:grpSpPr>
          <a:xfrm>
            <a:off x="598170" y="1676400"/>
            <a:ext cx="10641330" cy="4156075"/>
            <a:chOff x="598170" y="1676400"/>
            <a:chExt cx="10641330" cy="4156075"/>
          </a:xfrm>
        </p:grpSpPr>
        <p:sp>
          <p:nvSpPr>
            <p:cNvPr id="8" name="Line 8"/>
            <p:cNvSpPr/>
            <p:nvPr/>
          </p:nvSpPr>
          <p:spPr>
            <a:xfrm>
              <a:off x="609600" y="1676400"/>
              <a:ext cx="3390900" cy="9525"/>
            </a:xfrm>
            <a:custGeom>
              <a:avLst/>
              <a:gdLst/>
              <a:ahLst/>
              <a:cxnLst/>
              <a:rect l="l" t="t" r="r" b="b"/>
              <a:pathLst>
                <a:path w="3390900" h="9525">
                  <a:moveTo>
                    <a:pt x="0" y="0"/>
                  </a:moveTo>
                  <a:lnTo>
                    <a:pt x="3390900" y="0"/>
                  </a:lnTo>
                </a:path>
              </a:pathLst>
            </a:custGeom>
            <a:noFill/>
            <a:ln w="14288">
              <a:solidFill>
                <a:srgbClr val="111318"/>
              </a:solidFill>
            </a:ln>
          </p:spPr>
        </p:sp>
        <p:sp>
          <p:nvSpPr>
            <p:cNvPr id="9" name="TextBox 9"/>
            <p:cNvSpPr txBox="1"/>
            <p:nvPr/>
          </p:nvSpPr>
          <p:spPr>
            <a:xfrm>
              <a:off x="604838" y="187960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01</a:t>
              </a:r>
            </a:p>
          </p:txBody>
        </p:sp>
        <p:sp>
          <p:nvSpPr>
            <p:cNvPr id="10" name="TextBox 10"/>
            <p:cNvSpPr txBox="1"/>
            <p:nvPr/>
          </p:nvSpPr>
          <p:spPr>
            <a:xfrm>
              <a:off x="927735" y="1841500"/>
              <a:ext cx="2236812" cy="220028"/>
            </a:xfrm>
            <a:prstGeom prst="rect">
              <a:avLst/>
            </a:prstGeom>
            <a:noFill/>
            <a:ln>
              <a:noFill/>
            </a:ln>
          </p:spPr>
          <p:txBody>
            <a:bodyPr wrap="none" lIns="0" tIns="0" rIns="0" bIns="0" anchor="t" anchorCtr="0">
              <a:spAutoFit/>
            </a:bodyPr>
            <a:lstStyle/>
            <a:p>
              <a:pPr algn="l"/>
              <a:r>
                <a:rPr lang="id" sz="1120" b="1" dirty="0">
                  <a:solidFill>
                    <a:srgbClr val="111318"/>
                  </a:solidFill>
                  <a:latin typeface="+mn-lt"/>
                  <a:ea typeface="+mn-ea"/>
                  <a:cs typeface="+mn-cs"/>
                </a:rPr>
                <a:t>Keterjangkauan &amp; aksesibilitas</a:t>
              </a:r>
            </a:p>
          </p:txBody>
        </p:sp>
        <p:sp>
          <p:nvSpPr>
            <p:cNvPr id="11" name="TextBox 11"/>
            <p:cNvSpPr txBox="1"/>
            <p:nvPr/>
          </p:nvSpPr>
          <p:spPr>
            <a:xfrm>
              <a:off x="604838" y="2120900"/>
              <a:ext cx="2086103" cy="816769"/>
            </a:xfrm>
            <a:prstGeom prst="rect">
              <a:avLst/>
            </a:prstGeom>
            <a:noFill/>
            <a:ln>
              <a:noFill/>
            </a:ln>
          </p:spPr>
          <p:txBody>
            <a:bodyPr wrap="none" lIns="0" tIns="0" rIns="0" bIns="0" anchor="t" anchorCtr="0">
              <a:spAutoFit/>
            </a:bodyPr>
            <a:lstStyle/>
            <a:p>
              <a:pPr algn="l">
                <a:lnSpc>
                  <a:spcPts val="1275"/>
                </a:lnSpc>
              </a:pPr>
              <a:r>
                <a:rPr lang="id" sz="860" dirty="0">
                  <a:solidFill>
                    <a:srgbClr val="585E66"/>
                  </a:solidFill>
                  <a:latin typeface="+mn-lt"/>
                  <a:ea typeface="+mn-ea"/>
                  <a:cs typeface="+mn-cs"/>
                </a:rPr>
                <a:t>Biaya dan asuransi disebut di 10 studi</a:t>
              </a:r>
              <a:br>
                <a:rPr lang="id" sz="860" dirty="0">
                  <a:solidFill>
                    <a:srgbClr val="585E66"/>
                  </a:solidFill>
                  <a:latin typeface="+mn-lt"/>
                  <a:ea typeface="+mn-ea"/>
                  <a:cs typeface="+mn-cs"/>
                </a:rPr>
              </a:br>
              <a:r>
                <a:rPr lang="id" sz="860" dirty="0">
                  <a:solidFill>
                    <a:srgbClr val="585E66"/>
                  </a:solidFill>
                  <a:latin typeface="+mn-lt"/>
                  <a:ea typeface="+mn-ea"/>
                  <a:cs typeface="+mn-cs"/>
                </a:rPr>
                <a:t>(6 AS, 2 Arab Saudi, Kanada, Hong Kong).</a:t>
              </a:r>
              <a:br>
                <a:rPr lang="id" sz="860" dirty="0">
                  <a:solidFill>
                    <a:srgbClr val="585E66"/>
                  </a:solidFill>
                  <a:latin typeface="+mn-lt"/>
                  <a:ea typeface="+mn-ea"/>
                  <a:cs typeface="+mn-cs"/>
                </a:rPr>
              </a:br>
              <a:r>
                <a:rPr lang="id" sz="860" dirty="0">
                  <a:solidFill>
                    <a:srgbClr val="585E66"/>
                  </a:solidFill>
                  <a:latin typeface="+mn-lt"/>
                  <a:ea typeface="+mn-ea"/>
                  <a:cs typeface="+mn-cs"/>
                </a:rPr>
                <a:t>Jarak dan waktu tempuh di 3 studi.</a:t>
              </a:r>
              <a:br>
                <a:rPr lang="id" sz="860" dirty="0">
                  <a:solidFill>
                    <a:srgbClr val="585E66"/>
                  </a:solidFill>
                  <a:latin typeface="+mn-lt"/>
                  <a:ea typeface="+mn-ea"/>
                  <a:cs typeface="+mn-cs"/>
                </a:rPr>
              </a:br>
              <a:r>
                <a:rPr lang="id" sz="860" dirty="0">
                  <a:solidFill>
                    <a:srgbClr val="585E66"/>
                  </a:solidFill>
                  <a:latin typeface="+mn-lt"/>
                  <a:ea typeface="+mn-ea"/>
                  <a:cs typeface="+mn-cs"/>
                </a:rPr>
                <a:t>Kontrak NHS: waktu dan kompleksitas</a:t>
              </a:r>
              <a:br>
                <a:rPr lang="id" sz="860" dirty="0">
                  <a:solidFill>
                    <a:srgbClr val="585E66"/>
                  </a:solidFill>
                  <a:latin typeface="+mn-lt"/>
                  <a:ea typeface="+mn-ea"/>
                  <a:cs typeface="+mn-cs"/>
                </a:rPr>
              </a:br>
              <a:r>
                <a:rPr lang="id" sz="860" dirty="0">
                  <a:solidFill>
                    <a:srgbClr val="585E66"/>
                  </a:solidFill>
                  <a:latin typeface="+mn-lt"/>
                  <a:ea typeface="+mn-ea"/>
                  <a:cs typeface="+mn-cs"/>
                </a:rPr>
                <a:t>kasus autistik tidak terbayar.</a:t>
              </a:r>
            </a:p>
          </p:txBody>
        </p:sp>
        <p:sp>
          <p:nvSpPr>
            <p:cNvPr id="12" name="Line 12"/>
            <p:cNvSpPr/>
            <p:nvPr/>
          </p:nvSpPr>
          <p:spPr>
            <a:xfrm>
              <a:off x="609600" y="3390900"/>
              <a:ext cx="3390900" cy="9525"/>
            </a:xfrm>
            <a:custGeom>
              <a:avLst/>
              <a:gdLst/>
              <a:ahLst/>
              <a:cxnLst/>
              <a:rect l="l" t="t" r="r" b="b"/>
              <a:pathLst>
                <a:path w="3390900" h="9525">
                  <a:moveTo>
                    <a:pt x="0" y="0"/>
                  </a:moveTo>
                  <a:lnTo>
                    <a:pt x="3390900" y="0"/>
                  </a:lnTo>
                </a:path>
              </a:pathLst>
            </a:custGeom>
            <a:noFill/>
            <a:ln w="9525">
              <a:solidFill>
                <a:srgbClr val="D6D9DE"/>
              </a:solidFill>
            </a:ln>
          </p:spPr>
        </p:sp>
        <p:sp>
          <p:nvSpPr>
            <p:cNvPr id="13" name="TextBox 13"/>
            <p:cNvSpPr txBox="1"/>
            <p:nvPr/>
          </p:nvSpPr>
          <p:spPr>
            <a:xfrm>
              <a:off x="598170" y="3568700"/>
              <a:ext cx="881749" cy="440055"/>
            </a:xfrm>
            <a:prstGeom prst="rect">
              <a:avLst/>
            </a:prstGeom>
            <a:noFill/>
            <a:ln>
              <a:noFill/>
            </a:ln>
          </p:spPr>
          <p:txBody>
            <a:bodyPr wrap="none" lIns="0" tIns="0" rIns="0" bIns="0" anchor="t" anchorCtr="0">
              <a:spAutoFit/>
            </a:bodyPr>
            <a:lstStyle/>
            <a:p>
              <a:pPr algn="l"/>
              <a:r>
                <a:rPr lang="id" sz="2250" b="1" dirty="0">
                  <a:solidFill>
                    <a:srgbClr val="E8000D"/>
                  </a:solidFill>
                  <a:latin typeface="+mn-lt"/>
                  <a:ea typeface="+mn-ea"/>
                  <a:cs typeface="+mn-cs"/>
                </a:rPr>
                <a:t>72,3%</a:t>
              </a:r>
            </a:p>
          </p:txBody>
        </p:sp>
        <p:sp>
          <p:nvSpPr>
            <p:cNvPr id="14" name="TextBox 14"/>
            <p:cNvSpPr txBox="1"/>
            <p:nvPr/>
          </p:nvSpPr>
          <p:spPr>
            <a:xfrm>
              <a:off x="604838" y="3968750"/>
              <a:ext cx="1923975"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dokter gigi AS: kompensasi tidak memadai</a:t>
              </a:r>
            </a:p>
          </p:txBody>
        </p:sp>
        <p:sp>
          <p:nvSpPr>
            <p:cNvPr id="15" name="Line 15"/>
            <p:cNvSpPr/>
            <p:nvPr/>
          </p:nvSpPr>
          <p:spPr>
            <a:xfrm>
              <a:off x="4229100" y="1676400"/>
              <a:ext cx="3390900" cy="9525"/>
            </a:xfrm>
            <a:custGeom>
              <a:avLst/>
              <a:gdLst/>
              <a:ahLst/>
              <a:cxnLst/>
              <a:rect l="l" t="t" r="r" b="b"/>
              <a:pathLst>
                <a:path w="3390900" h="9525">
                  <a:moveTo>
                    <a:pt x="0" y="0"/>
                  </a:moveTo>
                  <a:lnTo>
                    <a:pt x="3390900" y="0"/>
                  </a:lnTo>
                </a:path>
              </a:pathLst>
            </a:custGeom>
            <a:noFill/>
            <a:ln w="14288">
              <a:solidFill>
                <a:srgbClr val="111318"/>
              </a:solidFill>
            </a:ln>
          </p:spPr>
        </p:sp>
        <p:sp>
          <p:nvSpPr>
            <p:cNvPr id="16" name="TextBox 16"/>
            <p:cNvSpPr txBox="1"/>
            <p:nvPr/>
          </p:nvSpPr>
          <p:spPr>
            <a:xfrm>
              <a:off x="4224338" y="187960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02</a:t>
              </a:r>
            </a:p>
          </p:txBody>
        </p:sp>
        <p:sp>
          <p:nvSpPr>
            <p:cNvPr id="17" name="TextBox 17"/>
            <p:cNvSpPr txBox="1"/>
            <p:nvPr/>
          </p:nvSpPr>
          <p:spPr>
            <a:xfrm>
              <a:off x="4547235" y="1841500"/>
              <a:ext cx="2420569" cy="220028"/>
            </a:xfrm>
            <a:prstGeom prst="rect">
              <a:avLst/>
            </a:prstGeom>
            <a:noFill/>
            <a:ln>
              <a:noFill/>
            </a:ln>
          </p:spPr>
          <p:txBody>
            <a:bodyPr wrap="none" lIns="0" tIns="0" rIns="0" bIns="0" anchor="t" anchorCtr="0">
              <a:spAutoFit/>
            </a:bodyPr>
            <a:lstStyle/>
            <a:p>
              <a:pPr algn="l"/>
              <a:r>
                <a:rPr lang="id" sz="1120" b="1" dirty="0">
                  <a:solidFill>
                    <a:srgbClr val="111318"/>
                  </a:solidFill>
                  <a:latin typeface="+mn-lt"/>
                  <a:ea typeface="+mn-ea"/>
                  <a:cs typeface="+mn-cs"/>
                </a:rPr>
                <a:t>Faktor autisme &amp; kognitif/motorik</a:t>
              </a:r>
            </a:p>
          </p:txBody>
        </p:sp>
        <p:sp>
          <p:nvSpPr>
            <p:cNvPr id="18" name="TextBox 18"/>
            <p:cNvSpPr txBox="1"/>
            <p:nvPr/>
          </p:nvSpPr>
          <p:spPr>
            <a:xfrm>
              <a:off x="4224338" y="2120900"/>
              <a:ext cx="2031362" cy="816769"/>
            </a:xfrm>
            <a:prstGeom prst="rect">
              <a:avLst/>
            </a:prstGeom>
            <a:noFill/>
            <a:ln>
              <a:noFill/>
            </a:ln>
          </p:spPr>
          <p:txBody>
            <a:bodyPr wrap="none" lIns="0" tIns="0" rIns="0" bIns="0" anchor="t" anchorCtr="0">
              <a:spAutoFit/>
            </a:bodyPr>
            <a:lstStyle/>
            <a:p>
              <a:pPr algn="l">
                <a:lnSpc>
                  <a:spcPts val="1275"/>
                </a:lnSpc>
              </a:pPr>
              <a:r>
                <a:rPr lang="id" sz="860" dirty="0">
                  <a:solidFill>
                    <a:srgbClr val="585E66"/>
                  </a:solidFill>
                  <a:latin typeface="+mn-lt"/>
                  <a:ea typeface="+mn-ea"/>
                  <a:cs typeface="+mn-cs"/>
                </a:rPr>
                <a:t>Sensitivitas sensorik di 9 studi —</a:t>
              </a:r>
              <a:br>
                <a:rPr lang="id" sz="860" dirty="0">
                  <a:solidFill>
                    <a:srgbClr val="585E66"/>
                  </a:solidFill>
                  <a:latin typeface="+mn-lt"/>
                  <a:ea typeface="+mn-ea"/>
                  <a:cs typeface="+mn-cs"/>
                </a:rPr>
              </a:br>
              <a:r>
                <a:rPr lang="id" sz="860" dirty="0">
                  <a:solidFill>
                    <a:srgbClr val="585E66"/>
                  </a:solidFill>
                  <a:latin typeface="+mn-lt"/>
                  <a:ea typeface="+mn-ea"/>
                  <a:cs typeface="+mn-cs"/>
                </a:rPr>
                <a:t>penghalang utama sikat gigi di rumah.</a:t>
              </a:r>
              <a:br>
                <a:rPr lang="id" sz="860" dirty="0">
                  <a:solidFill>
                    <a:srgbClr val="585E66"/>
                  </a:solidFill>
                  <a:latin typeface="+mn-lt"/>
                  <a:ea typeface="+mn-ea"/>
                  <a:cs typeface="+mn-cs"/>
                </a:rPr>
              </a:br>
              <a:r>
                <a:rPr lang="id" sz="860" dirty="0">
                  <a:solidFill>
                    <a:srgbClr val="585E66"/>
                  </a:solidFill>
                  <a:latin typeface="+mn-lt"/>
                  <a:ea typeface="+mn-ea"/>
                  <a:cs typeface="+mn-cs"/>
                </a:rPr>
                <a:t>Kesulitan kognitif dan motorik membuat</a:t>
              </a:r>
              <a:br>
                <a:rPr lang="id" sz="860" dirty="0">
                  <a:solidFill>
                    <a:srgbClr val="585E66"/>
                  </a:solidFill>
                  <a:latin typeface="+mn-lt"/>
                  <a:ea typeface="+mn-ea"/>
                  <a:cs typeface="+mn-cs"/>
                </a:rPr>
              </a:br>
              <a:r>
                <a:rPr lang="id" sz="860" dirty="0">
                  <a:solidFill>
                    <a:srgbClr val="585E66"/>
                  </a:solidFill>
                  <a:latin typeface="+mn-lt"/>
                  <a:ea typeface="+mn-ea"/>
                  <a:cs typeface="+mn-cs"/>
                </a:rPr>
                <a:t>anak bergantung pada pengasuh.</a:t>
              </a:r>
              <a:br>
                <a:rPr lang="id" sz="860" dirty="0">
                  <a:solidFill>
                    <a:srgbClr val="585E66"/>
                  </a:solidFill>
                  <a:latin typeface="+mn-lt"/>
                  <a:ea typeface="+mn-ea"/>
                  <a:cs typeface="+mn-cs"/>
                </a:rPr>
              </a:br>
              <a:r>
                <a:rPr lang="id" sz="860" dirty="0">
                  <a:solidFill>
                    <a:srgbClr val="585E66"/>
                  </a:solidFill>
                  <a:latin typeface="+mn-lt"/>
                  <a:ea typeface="+mn-ea"/>
                  <a:cs typeface="+mn-cs"/>
                </a:rPr>
                <a:t>Prioritas harian orang tua saling bersaing.</a:t>
              </a:r>
            </a:p>
          </p:txBody>
        </p:sp>
        <p:sp>
          <p:nvSpPr>
            <p:cNvPr id="19" name="Line 19"/>
            <p:cNvSpPr/>
            <p:nvPr/>
          </p:nvSpPr>
          <p:spPr>
            <a:xfrm>
              <a:off x="4229100" y="3390900"/>
              <a:ext cx="3390900" cy="9525"/>
            </a:xfrm>
            <a:custGeom>
              <a:avLst/>
              <a:gdLst/>
              <a:ahLst/>
              <a:cxnLst/>
              <a:rect l="l" t="t" r="r" b="b"/>
              <a:pathLst>
                <a:path w="3390900" h="9525">
                  <a:moveTo>
                    <a:pt x="0" y="0"/>
                  </a:moveTo>
                  <a:lnTo>
                    <a:pt x="3390900" y="0"/>
                  </a:lnTo>
                </a:path>
              </a:pathLst>
            </a:custGeom>
            <a:noFill/>
            <a:ln w="9525">
              <a:solidFill>
                <a:srgbClr val="D6D9DE"/>
              </a:solidFill>
            </a:ln>
          </p:spPr>
        </p:sp>
        <p:sp>
          <p:nvSpPr>
            <p:cNvPr id="20" name="TextBox 20"/>
            <p:cNvSpPr txBox="1"/>
            <p:nvPr/>
          </p:nvSpPr>
          <p:spPr>
            <a:xfrm>
              <a:off x="4217670" y="3568700"/>
              <a:ext cx="1572168" cy="440055"/>
            </a:xfrm>
            <a:prstGeom prst="rect">
              <a:avLst/>
            </a:prstGeom>
            <a:noFill/>
            <a:ln>
              <a:noFill/>
            </a:ln>
          </p:spPr>
          <p:txBody>
            <a:bodyPr wrap="none" lIns="0" tIns="0" rIns="0" bIns="0" anchor="t" anchorCtr="0">
              <a:spAutoFit/>
            </a:bodyPr>
            <a:lstStyle/>
            <a:p>
              <a:pPr algn="l"/>
              <a:r>
                <a:rPr lang="id" sz="2250" b="1" dirty="0">
                  <a:solidFill>
                    <a:srgbClr val="E8000D"/>
                  </a:solidFill>
                  <a:latin typeface="+mn-lt"/>
                  <a:ea typeface="+mn-ea"/>
                  <a:cs typeface="+mn-cs"/>
                </a:rPr>
                <a:t>52% vs 6%</a:t>
              </a:r>
            </a:p>
          </p:txBody>
        </p:sp>
        <p:sp>
          <p:nvSpPr>
            <p:cNvPr id="21" name="TextBox 21"/>
            <p:cNvSpPr txBox="1"/>
            <p:nvPr/>
          </p:nvSpPr>
          <p:spPr>
            <a:xfrm>
              <a:off x="4224338" y="3968750"/>
              <a:ext cx="1925417"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≥3 variabel sensorik bermasalah (p &lt; .001)</a:t>
              </a:r>
            </a:p>
          </p:txBody>
        </p:sp>
        <p:sp>
          <p:nvSpPr>
            <p:cNvPr id="22" name="Line 22"/>
            <p:cNvSpPr/>
            <p:nvPr/>
          </p:nvSpPr>
          <p:spPr>
            <a:xfrm>
              <a:off x="7848600" y="1676400"/>
              <a:ext cx="3390900" cy="9525"/>
            </a:xfrm>
            <a:custGeom>
              <a:avLst/>
              <a:gdLst/>
              <a:ahLst/>
              <a:cxnLst/>
              <a:rect l="l" t="t" r="r" b="b"/>
              <a:pathLst>
                <a:path w="3390900" h="9525">
                  <a:moveTo>
                    <a:pt x="0" y="0"/>
                  </a:moveTo>
                  <a:lnTo>
                    <a:pt x="3390900" y="0"/>
                  </a:lnTo>
                </a:path>
              </a:pathLst>
            </a:custGeom>
            <a:noFill/>
            <a:ln w="14288">
              <a:solidFill>
                <a:srgbClr val="111318"/>
              </a:solidFill>
            </a:ln>
          </p:spPr>
        </p:sp>
        <p:sp>
          <p:nvSpPr>
            <p:cNvPr id="23" name="TextBox 23"/>
            <p:cNvSpPr txBox="1"/>
            <p:nvPr/>
          </p:nvSpPr>
          <p:spPr>
            <a:xfrm>
              <a:off x="7843838" y="187960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03</a:t>
              </a:r>
            </a:p>
          </p:txBody>
        </p:sp>
        <p:sp>
          <p:nvSpPr>
            <p:cNvPr id="24" name="TextBox 24"/>
            <p:cNvSpPr txBox="1"/>
            <p:nvPr/>
          </p:nvSpPr>
          <p:spPr>
            <a:xfrm>
              <a:off x="8166735" y="1841500"/>
              <a:ext cx="1356314" cy="220028"/>
            </a:xfrm>
            <a:prstGeom prst="rect">
              <a:avLst/>
            </a:prstGeom>
            <a:noFill/>
            <a:ln>
              <a:noFill/>
            </a:ln>
          </p:spPr>
          <p:txBody>
            <a:bodyPr wrap="none" lIns="0" tIns="0" rIns="0" bIns="0" anchor="t" anchorCtr="0">
              <a:spAutoFit/>
            </a:bodyPr>
            <a:lstStyle/>
            <a:p>
              <a:pPr algn="l"/>
              <a:r>
                <a:rPr lang="id" sz="1120" b="1" dirty="0">
                  <a:solidFill>
                    <a:srgbClr val="111318"/>
                  </a:solidFill>
                  <a:latin typeface="+mn-lt"/>
                  <a:ea typeface="+mn-ea"/>
                  <a:cs typeface="+mn-cs"/>
                </a:rPr>
                <a:t>Lingkungan dental</a:t>
              </a:r>
            </a:p>
          </p:txBody>
        </p:sp>
        <p:sp>
          <p:nvSpPr>
            <p:cNvPr id="25" name="TextBox 25"/>
            <p:cNvSpPr txBox="1"/>
            <p:nvPr/>
          </p:nvSpPr>
          <p:spPr>
            <a:xfrm>
              <a:off x="7843838" y="2120900"/>
              <a:ext cx="2122670" cy="816769"/>
            </a:xfrm>
            <a:prstGeom prst="rect">
              <a:avLst/>
            </a:prstGeom>
            <a:noFill/>
            <a:ln>
              <a:noFill/>
            </a:ln>
          </p:spPr>
          <p:txBody>
            <a:bodyPr wrap="none" lIns="0" tIns="0" rIns="0" bIns="0" anchor="t" anchorCtr="0">
              <a:spAutoFit/>
            </a:bodyPr>
            <a:lstStyle/>
            <a:p>
              <a:pPr algn="l">
                <a:lnSpc>
                  <a:spcPts val="1275"/>
                </a:lnSpc>
              </a:pPr>
              <a:r>
                <a:rPr lang="id" sz="860" dirty="0">
                  <a:solidFill>
                    <a:srgbClr val="585E66"/>
                  </a:solidFill>
                  <a:latin typeface="+mn-lt"/>
                  <a:ea typeface="+mn-ea"/>
                  <a:cs typeface="+mn-cs"/>
                </a:rPr>
                <a:t>Lampu, suara, rasa, bau, gerak kursi, dan</a:t>
              </a:r>
              <a:br>
                <a:rPr lang="id" sz="860" dirty="0">
                  <a:solidFill>
                    <a:srgbClr val="585E66"/>
                  </a:solidFill>
                  <a:latin typeface="+mn-lt"/>
                  <a:ea typeface="+mn-ea"/>
                  <a:cs typeface="+mn-cs"/>
                </a:rPr>
              </a:br>
              <a:r>
                <a:rPr lang="id" sz="860" dirty="0">
                  <a:solidFill>
                    <a:srgbClr val="585E66"/>
                  </a:solidFill>
                  <a:latin typeface="+mn-lt"/>
                  <a:ea typeface="+mn-ea"/>
                  <a:cs typeface="+mn-cs"/>
                </a:rPr>
                <a:t>jarak klinisi memicu distress.</a:t>
              </a:r>
              <a:br>
                <a:rPr lang="id" sz="860" dirty="0">
                  <a:solidFill>
                    <a:srgbClr val="585E66"/>
                  </a:solidFill>
                  <a:latin typeface="+mn-lt"/>
                  <a:ea typeface="+mn-ea"/>
                  <a:cs typeface="+mn-cs"/>
                </a:rPr>
              </a:br>
              <a:r>
                <a:rPr lang="id" sz="860" dirty="0">
                  <a:solidFill>
                    <a:srgbClr val="585E66"/>
                  </a:solidFill>
                  <a:latin typeface="+mn-lt"/>
                  <a:ea typeface="+mn-ea"/>
                  <a:cs typeface="+mn-cs"/>
                </a:rPr>
                <a:t>Ruang tunggu dan klinik disebut di 10 studi.</a:t>
              </a:r>
              <a:br>
                <a:rPr lang="id" sz="860" dirty="0">
                  <a:solidFill>
                    <a:srgbClr val="585E66"/>
                  </a:solidFill>
                  <a:latin typeface="+mn-lt"/>
                  <a:ea typeface="+mn-ea"/>
                  <a:cs typeface="+mn-cs"/>
                </a:rPr>
              </a:br>
              <a:r>
                <a:rPr lang="id" sz="860" dirty="0">
                  <a:solidFill>
                    <a:srgbClr val="585E66"/>
                  </a:solidFill>
                  <a:latin typeface="+mn-lt"/>
                  <a:ea typeface="+mn-ea"/>
                  <a:cs typeface="+mn-cs"/>
                </a:rPr>
                <a:t>Butuh waktu adaptasi dan kursi kosong,</a:t>
              </a:r>
              <a:br>
                <a:rPr lang="id" sz="860" dirty="0">
                  <a:solidFill>
                    <a:srgbClr val="585E66"/>
                  </a:solidFill>
                  <a:latin typeface="+mn-lt"/>
                  <a:ea typeface="+mn-ea"/>
                  <a:cs typeface="+mn-cs"/>
                </a:rPr>
              </a:br>
              <a:r>
                <a:rPr lang="id" sz="860" dirty="0">
                  <a:solidFill>
                    <a:srgbClr val="585E66"/>
                  </a:solidFill>
                  <a:latin typeface="+mn-lt"/>
                  <a:ea typeface="+mn-ea"/>
                  <a:cs typeface="+mn-cs"/>
                </a:rPr>
                <a:t>sehingga jadwal menumpuk.</a:t>
              </a:r>
            </a:p>
          </p:txBody>
        </p:sp>
        <p:sp>
          <p:nvSpPr>
            <p:cNvPr id="26" name="Line 26"/>
            <p:cNvSpPr/>
            <p:nvPr/>
          </p:nvSpPr>
          <p:spPr>
            <a:xfrm>
              <a:off x="7848600" y="3390900"/>
              <a:ext cx="3390900" cy="9525"/>
            </a:xfrm>
            <a:custGeom>
              <a:avLst/>
              <a:gdLst/>
              <a:ahLst/>
              <a:cxnLst/>
              <a:rect l="l" t="t" r="r" b="b"/>
              <a:pathLst>
                <a:path w="3390900" h="9525">
                  <a:moveTo>
                    <a:pt x="0" y="0"/>
                  </a:moveTo>
                  <a:lnTo>
                    <a:pt x="3390900" y="0"/>
                  </a:lnTo>
                </a:path>
              </a:pathLst>
            </a:custGeom>
            <a:noFill/>
            <a:ln w="9525">
              <a:solidFill>
                <a:srgbClr val="D6D9DE"/>
              </a:solidFill>
            </a:ln>
          </p:spPr>
        </p:sp>
        <p:sp>
          <p:nvSpPr>
            <p:cNvPr id="27" name="TextBox 27"/>
            <p:cNvSpPr txBox="1"/>
            <p:nvPr/>
          </p:nvSpPr>
          <p:spPr>
            <a:xfrm>
              <a:off x="7837170" y="3568700"/>
              <a:ext cx="881749" cy="440055"/>
            </a:xfrm>
            <a:prstGeom prst="rect">
              <a:avLst/>
            </a:prstGeom>
            <a:noFill/>
            <a:ln>
              <a:noFill/>
            </a:ln>
          </p:spPr>
          <p:txBody>
            <a:bodyPr wrap="none" lIns="0" tIns="0" rIns="0" bIns="0" anchor="t" anchorCtr="0">
              <a:spAutoFit/>
            </a:bodyPr>
            <a:lstStyle/>
            <a:p>
              <a:pPr algn="l"/>
              <a:r>
                <a:rPr lang="id" sz="2250" b="1" dirty="0">
                  <a:solidFill>
                    <a:srgbClr val="E8000D"/>
                  </a:solidFill>
                  <a:latin typeface="+mn-lt"/>
                  <a:ea typeface="+mn-ea"/>
                  <a:cs typeface="+mn-cs"/>
                </a:rPr>
                <a:t>78,5%</a:t>
              </a:r>
            </a:p>
          </p:txBody>
        </p:sp>
        <p:sp>
          <p:nvSpPr>
            <p:cNvPr id="28" name="TextBox 28"/>
            <p:cNvSpPr txBox="1"/>
            <p:nvPr/>
          </p:nvSpPr>
          <p:spPr>
            <a:xfrm>
              <a:off x="7843838" y="3968750"/>
              <a:ext cx="2401713"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orang tua UK: waktu tunggu mengubah perilaku anak</a:t>
              </a:r>
            </a:p>
          </p:txBody>
        </p:sp>
        <p:sp>
          <p:nvSpPr>
            <p:cNvPr id="29" name="TextBox 29"/>
            <p:cNvSpPr txBox="1"/>
            <p:nvPr/>
          </p:nvSpPr>
          <p:spPr>
            <a:xfrm>
              <a:off x="604838" y="4540250"/>
              <a:ext cx="2141906" cy="140494"/>
            </a:xfrm>
            <a:prstGeom prst="rect">
              <a:avLst/>
            </a:prstGeom>
            <a:noFill/>
            <a:ln>
              <a:noFill/>
            </a:ln>
          </p:spPr>
          <p:txBody>
            <a:bodyPr wrap="none" lIns="0" tIns="0" rIns="0" bIns="0" anchor="t" anchorCtr="0">
              <a:spAutoFit/>
            </a:bodyPr>
            <a:lstStyle/>
            <a:p>
              <a:pPr algn="l"/>
              <a:r>
                <a:rPr lang="id" sz="710" b="1" spc="150" dirty="0">
                  <a:solidFill>
                    <a:srgbClr val="8B9198"/>
                  </a:solidFill>
                  <a:latin typeface="+mn-lt"/>
                  <a:ea typeface="+mn-ea"/>
                  <a:cs typeface="+mn-cs"/>
                </a:rPr>
                <a:t>APA YANG DILIHAT ORANG TUA</a:t>
              </a:r>
            </a:p>
          </p:txBody>
        </p:sp>
        <p:sp>
          <p:nvSpPr>
            <p:cNvPr id="30" name="TextBox 30"/>
            <p:cNvSpPr txBox="1"/>
            <p:nvPr/>
          </p:nvSpPr>
          <p:spPr>
            <a:xfrm>
              <a:off x="603885" y="4749800"/>
              <a:ext cx="4518248" cy="429578"/>
            </a:xfrm>
            <a:prstGeom prst="rect">
              <a:avLst/>
            </a:prstGeom>
            <a:noFill/>
            <a:ln>
              <a:noFill/>
            </a:ln>
          </p:spPr>
          <p:txBody>
            <a:bodyPr wrap="none" lIns="0" tIns="0" rIns="0" bIns="0" anchor="t" anchorCtr="0">
              <a:spAutoFit/>
            </a:bodyPr>
            <a:lstStyle/>
            <a:p>
              <a:pPr algn="l">
                <a:lnSpc>
                  <a:spcPts val="1650"/>
                </a:lnSpc>
              </a:pPr>
              <a:r>
                <a:rPr lang="id" sz="1120" i="1" dirty="0">
                  <a:solidFill>
                    <a:srgbClr val="111318"/>
                  </a:solidFill>
                  <a:latin typeface="+mn-lt"/>
                  <a:ea typeface="+mn-ea"/>
                  <a:cs typeface="+mn-cs"/>
                </a:rPr>
                <a:t>“Sikat gigi ada di dasar daftar prioritas saya. Ada begitu banyak stresor.</a:t>
              </a:r>
              <a:br>
                <a:rPr lang="id" sz="1120" i="1" dirty="0">
                  <a:solidFill>
                    <a:srgbClr val="111318"/>
                  </a:solidFill>
                  <a:latin typeface="+mn-lt"/>
                  <a:ea typeface="+mn-ea"/>
                  <a:cs typeface="+mn-cs"/>
                </a:rPr>
              </a:br>
              <a:r>
                <a:rPr lang="id" sz="1120" i="1" dirty="0">
                  <a:solidFill>
                    <a:srgbClr val="111318"/>
                  </a:solidFill>
                  <a:latin typeface="+mn-lt"/>
                  <a:ea typeface="+mn-ea"/>
                  <a:cs typeface="+mn-cs"/>
                </a:rPr>
                <a:t>Kami semua sudah kelelahan di penghujung hari.”</a:t>
              </a:r>
            </a:p>
          </p:txBody>
        </p:sp>
        <p:sp>
          <p:nvSpPr>
            <p:cNvPr id="31" name="TextBox 31"/>
            <p:cNvSpPr txBox="1"/>
            <p:nvPr/>
          </p:nvSpPr>
          <p:spPr>
            <a:xfrm>
              <a:off x="604838" y="5207000"/>
              <a:ext cx="3149519"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 Orang tua, Lewis et al. (2015); senada dengan Rohani et al. (2018)</a:t>
              </a:r>
            </a:p>
          </p:txBody>
        </p:sp>
        <p:sp>
          <p:nvSpPr>
            <p:cNvPr id="32" name="TextBox 32"/>
            <p:cNvSpPr txBox="1"/>
            <p:nvPr/>
          </p:nvSpPr>
          <p:spPr>
            <a:xfrm>
              <a:off x="604838" y="5670550"/>
              <a:ext cx="6614908"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Implikasi: biaya dan jarak bukan sekadar variabel layanan — keduanya menentukan apakah anak pernah sampai ke kursi gigi.</a:t>
              </a:r>
            </a:p>
          </p:txBody>
        </p:sp>
      </p:grpSp>
      <p:grpSp>
        <p:nvGrpSpPr>
          <p:cNvPr id="37" name="footer"/>
          <p:cNvGrpSpPr/>
          <p:nvPr/>
        </p:nvGrpSpPr>
        <p:grpSpPr>
          <a:xfrm>
            <a:off x="604838" y="6324600"/>
            <a:ext cx="10982325" cy="268288"/>
            <a:chOff x="604838" y="6324600"/>
            <a:chExt cx="10982325" cy="268288"/>
          </a:xfrm>
        </p:grpSpPr>
        <p:sp>
          <p:nvSpPr>
            <p:cNvPr id="34" name="Line 34"/>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35" name="TextBox 35"/>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36" name="TextBox 36"/>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078674"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08 · TEMA 4–5</a:t>
              </a:r>
            </a:p>
          </p:txBody>
        </p:sp>
        <p:sp>
          <p:nvSpPr>
            <p:cNvPr id="3" name="TextBox 3"/>
            <p:cNvSpPr txBox="1"/>
            <p:nvPr/>
          </p:nvSpPr>
          <p:spPr>
            <a:xfrm>
              <a:off x="595503" y="685800"/>
              <a:ext cx="8110028"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Perilaku adalah gejala; adaptasi adalah terapi</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09 / 16</a:t>
              </a:r>
            </a:p>
          </p:txBody>
        </p:sp>
      </p:grpSp>
      <p:grpSp>
        <p:nvGrpSpPr>
          <p:cNvPr id="18" name="behaviour"/>
          <p:cNvGrpSpPr/>
          <p:nvPr/>
        </p:nvGrpSpPr>
        <p:grpSpPr>
          <a:xfrm>
            <a:off x="590550" y="1631950"/>
            <a:ext cx="4362450" cy="3673475"/>
            <a:chOff x="590550" y="1631950"/>
            <a:chExt cx="4362450" cy="3673475"/>
          </a:xfrm>
        </p:grpSpPr>
        <p:sp>
          <p:nvSpPr>
            <p:cNvPr id="8" name="TextBox 8"/>
            <p:cNvSpPr txBox="1"/>
            <p:nvPr/>
          </p:nvSpPr>
          <p:spPr>
            <a:xfrm>
              <a:off x="604838" y="170815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04</a:t>
              </a:r>
            </a:p>
          </p:txBody>
        </p:sp>
        <p:sp>
          <p:nvSpPr>
            <p:cNvPr id="9" name="TextBox 9"/>
            <p:cNvSpPr txBox="1"/>
            <p:nvPr/>
          </p:nvSpPr>
          <p:spPr>
            <a:xfrm>
              <a:off x="926211" y="1631950"/>
              <a:ext cx="2230172" cy="278702"/>
            </a:xfrm>
            <a:prstGeom prst="rect">
              <a:avLst/>
            </a:prstGeom>
            <a:noFill/>
            <a:ln>
              <a:noFill/>
            </a:ln>
          </p:spPr>
          <p:txBody>
            <a:bodyPr wrap="none" lIns="0" tIns="0" rIns="0" bIns="0" anchor="t" anchorCtr="0">
              <a:spAutoFit/>
            </a:bodyPr>
            <a:lstStyle/>
            <a:p>
              <a:pPr algn="l"/>
              <a:r>
                <a:rPr lang="id" sz="1420" b="1" dirty="0">
                  <a:solidFill>
                    <a:srgbClr val="111318"/>
                  </a:solidFill>
                  <a:latin typeface="+mn-lt"/>
                  <a:ea typeface="+mn-ea"/>
                  <a:cs typeface="+mn-cs"/>
                </a:rPr>
                <a:t>Mengelola perilaku anak</a:t>
              </a:r>
            </a:p>
          </p:txBody>
        </p:sp>
        <p:sp>
          <p:nvSpPr>
            <p:cNvPr id="10" name="TextBox 10"/>
            <p:cNvSpPr txBox="1"/>
            <p:nvPr/>
          </p:nvSpPr>
          <p:spPr>
            <a:xfrm>
              <a:off x="604838" y="1949450"/>
              <a:ext cx="2845116" cy="330994"/>
            </a:xfrm>
            <a:prstGeom prst="rect">
              <a:avLst/>
            </a:prstGeom>
            <a:noFill/>
            <a:ln>
              <a:noFill/>
            </a:ln>
          </p:spPr>
          <p:txBody>
            <a:bodyPr wrap="none" lIns="0" tIns="0" rIns="0" bIns="0" anchor="t" anchorCtr="0">
              <a:spAutoFit/>
            </a:bodyPr>
            <a:lstStyle/>
            <a:p>
              <a:pPr algn="l">
                <a:lnSpc>
                  <a:spcPts val="1275"/>
                </a:lnSpc>
              </a:pPr>
              <a:r>
                <a:rPr lang="id" sz="860" dirty="0">
                  <a:solidFill>
                    <a:srgbClr val="585E66"/>
                  </a:solidFill>
                  <a:latin typeface="+mn-lt"/>
                  <a:ea typeface="+mn-ea"/>
                  <a:cs typeface="+mn-cs"/>
                </a:rPr>
                <a:t>Perilaku tidak kooperatif termasuk penghalang yang paling</a:t>
              </a:r>
              <a:br>
                <a:rPr lang="id" sz="860" dirty="0">
                  <a:solidFill>
                    <a:srgbClr val="585E66"/>
                  </a:solidFill>
                  <a:latin typeface="+mn-lt"/>
                  <a:ea typeface="+mn-ea"/>
                  <a:cs typeface="+mn-cs"/>
                </a:rPr>
              </a:br>
              <a:r>
                <a:rPr lang="id" sz="860" dirty="0">
                  <a:solidFill>
                    <a:srgbClr val="585E66"/>
                  </a:solidFill>
                  <a:latin typeface="+mn-lt"/>
                  <a:ea typeface="+mn-ea"/>
                  <a:cs typeface="+mn-cs"/>
                </a:rPr>
                <a:t>sering dilaporkan orang tua maupun dokter gigi.</a:t>
              </a:r>
            </a:p>
          </p:txBody>
        </p:sp>
        <p:sp>
          <p:nvSpPr>
            <p:cNvPr id="11" name="TextBox 11"/>
            <p:cNvSpPr txBox="1"/>
            <p:nvPr/>
          </p:nvSpPr>
          <p:spPr>
            <a:xfrm>
              <a:off x="590550" y="2324100"/>
              <a:ext cx="1177906" cy="847725"/>
            </a:xfrm>
            <a:prstGeom prst="rect">
              <a:avLst/>
            </a:prstGeom>
            <a:noFill/>
            <a:ln>
              <a:noFill/>
            </a:ln>
          </p:spPr>
          <p:txBody>
            <a:bodyPr wrap="none" lIns="0" tIns="0" rIns="0" bIns="0" anchor="t" anchorCtr="0">
              <a:spAutoFit/>
            </a:bodyPr>
            <a:lstStyle/>
            <a:p>
              <a:pPr algn="l"/>
              <a:r>
                <a:rPr lang="id" sz="4350" b="1" dirty="0">
                  <a:solidFill>
                    <a:srgbClr val="E8000D"/>
                  </a:solidFill>
                  <a:latin typeface="+mn-lt"/>
                  <a:ea typeface="+mn-ea"/>
                  <a:cs typeface="+mn-cs"/>
                </a:rPr>
                <a:t>3,35</a:t>
              </a:r>
            </a:p>
          </p:txBody>
        </p:sp>
        <p:sp>
          <p:nvSpPr>
            <p:cNvPr id="12" name="TextBox 12"/>
            <p:cNvSpPr txBox="1"/>
            <p:nvPr/>
          </p:nvSpPr>
          <p:spPr>
            <a:xfrm>
              <a:off x="604838" y="3016250"/>
              <a:ext cx="816344" cy="140494"/>
            </a:xfrm>
            <a:prstGeom prst="rect">
              <a:avLst/>
            </a:prstGeom>
            <a:noFill/>
            <a:ln>
              <a:noFill/>
            </a:ln>
          </p:spPr>
          <p:txBody>
            <a:bodyPr wrap="none" lIns="0" tIns="0" rIns="0" bIns="0" anchor="t" anchorCtr="0">
              <a:spAutoFit/>
            </a:bodyPr>
            <a:lstStyle/>
            <a:p>
              <a:pPr algn="l"/>
              <a:r>
                <a:rPr lang="id" sz="710" b="1" spc="135" dirty="0">
                  <a:solidFill>
                    <a:srgbClr val="111318"/>
                  </a:solidFill>
                  <a:latin typeface="+mn-lt"/>
                  <a:ea typeface="+mn-ea"/>
                  <a:cs typeface="+mn-cs"/>
                </a:rPr>
                <a:t>ODDS RATIO</a:t>
              </a:r>
            </a:p>
          </p:txBody>
        </p:sp>
        <p:sp>
          <p:nvSpPr>
            <p:cNvPr id="13" name="TextBox 13"/>
            <p:cNvSpPr txBox="1"/>
            <p:nvPr/>
          </p:nvSpPr>
          <p:spPr>
            <a:xfrm>
              <a:off x="604838" y="3181350"/>
              <a:ext cx="1034447" cy="176212"/>
            </a:xfrm>
            <a:prstGeom prst="rect">
              <a:avLst/>
            </a:prstGeom>
            <a:noFill/>
            <a:ln>
              <a:noFill/>
            </a:ln>
          </p:spPr>
          <p:txBody>
            <a:bodyPr wrap="none" lIns="0" tIns="0" rIns="0" bIns="0" anchor="t" anchorCtr="0">
              <a:spAutoFit/>
            </a:bodyPr>
            <a:lstStyle/>
            <a:p>
              <a:pPr algn="l"/>
              <a:r>
                <a:rPr lang="id" sz="900" dirty="0">
                  <a:solidFill>
                    <a:srgbClr val="585E66"/>
                  </a:solidFill>
                  <a:latin typeface="+mn-lt"/>
                  <a:ea typeface="+mn-ea"/>
                  <a:cs typeface="+mn-cs"/>
                </a:rPr>
                <a:t>95% CI 1,69–6,67</a:t>
              </a:r>
            </a:p>
          </p:txBody>
        </p:sp>
        <p:sp>
          <p:nvSpPr>
            <p:cNvPr id="14" name="TextBox 14"/>
            <p:cNvSpPr txBox="1"/>
            <p:nvPr/>
          </p:nvSpPr>
          <p:spPr>
            <a:xfrm>
              <a:off x="604838" y="3549650"/>
              <a:ext cx="2474795" cy="654844"/>
            </a:xfrm>
            <a:prstGeom prst="rect">
              <a:avLst/>
            </a:prstGeom>
            <a:noFill/>
            <a:ln>
              <a:noFill/>
            </a:ln>
          </p:spPr>
          <p:txBody>
            <a:bodyPr wrap="none" lIns="0" tIns="0" rIns="0" bIns="0" anchor="t" anchorCtr="0">
              <a:spAutoFit/>
            </a:bodyPr>
            <a:lstStyle/>
            <a:p>
              <a:pPr algn="l">
                <a:lnSpc>
                  <a:spcPts val="1275"/>
                </a:lnSpc>
              </a:pPr>
              <a:r>
                <a:rPr lang="id" sz="860" dirty="0">
                  <a:solidFill>
                    <a:srgbClr val="111318"/>
                  </a:solidFill>
                  <a:latin typeface="+mn-lt"/>
                  <a:ea typeface="+mn-ea"/>
                  <a:cs typeface="+mn-cs"/>
                </a:rPr>
                <a:t>Anak autistik dengan kesulitan perilaku lebih besar</a:t>
              </a:r>
              <a:br>
                <a:rPr lang="id" sz="860" dirty="0">
                  <a:solidFill>
                    <a:srgbClr val="111318"/>
                  </a:solidFill>
                  <a:latin typeface="+mn-lt"/>
                  <a:ea typeface="+mn-ea"/>
                  <a:cs typeface="+mn-cs"/>
                </a:rPr>
              </a:br>
              <a:r>
                <a:rPr lang="id" sz="860" dirty="0">
                  <a:solidFill>
                    <a:srgbClr val="111318"/>
                  </a:solidFill>
                  <a:latin typeface="+mn-lt"/>
                  <a:ea typeface="+mn-ea"/>
                  <a:cs typeface="+mn-cs"/>
                </a:rPr>
                <a:t>berpeluang memiliki unmet dental needs dibanding</a:t>
              </a:r>
              <a:br>
                <a:rPr lang="id" sz="860" dirty="0">
                  <a:solidFill>
                    <a:srgbClr val="111318"/>
                  </a:solidFill>
                  <a:latin typeface="+mn-lt"/>
                  <a:ea typeface="+mn-ea"/>
                  <a:cs typeface="+mn-cs"/>
                </a:rPr>
              </a:br>
              <a:r>
                <a:rPr lang="id" sz="860" dirty="0">
                  <a:solidFill>
                    <a:srgbClr val="111318"/>
                  </a:solidFill>
                  <a:latin typeface="+mn-lt"/>
                  <a:ea typeface="+mn-ea"/>
                  <a:cs typeface="+mn-cs"/>
                </a:rPr>
                <a:t>anak autistik dengan perilaku serupa teman</a:t>
              </a:r>
              <a:br>
                <a:rPr lang="id" sz="860" dirty="0">
                  <a:solidFill>
                    <a:srgbClr val="111318"/>
                  </a:solidFill>
                  <a:latin typeface="+mn-lt"/>
                  <a:ea typeface="+mn-ea"/>
                  <a:cs typeface="+mn-cs"/>
                </a:rPr>
              </a:br>
              <a:r>
                <a:rPr lang="id" sz="860" dirty="0">
                  <a:solidFill>
                    <a:srgbClr val="111318"/>
                  </a:solidFill>
                  <a:latin typeface="+mn-lt"/>
                  <a:ea typeface="+mn-ea"/>
                  <a:cs typeface="+mn-cs"/>
                </a:rPr>
                <a:t>seusianya.</a:t>
              </a:r>
            </a:p>
          </p:txBody>
        </p:sp>
        <p:sp>
          <p:nvSpPr>
            <p:cNvPr id="15" name="TextBox 15"/>
            <p:cNvSpPr txBox="1"/>
            <p:nvPr/>
          </p:nvSpPr>
          <p:spPr>
            <a:xfrm>
              <a:off x="604838" y="4349750"/>
              <a:ext cx="2017937"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McKinney et al. (2014) · sampel nasional AS</a:t>
              </a:r>
            </a:p>
          </p:txBody>
        </p:sp>
        <p:sp>
          <p:nvSpPr>
            <p:cNvPr id="16" name="Line 16"/>
            <p:cNvSpPr/>
            <p:nvPr/>
          </p:nvSpPr>
          <p:spPr>
            <a:xfrm>
              <a:off x="609600" y="4686300"/>
              <a:ext cx="4343400" cy="9525"/>
            </a:xfrm>
            <a:custGeom>
              <a:avLst/>
              <a:gdLst/>
              <a:ahLst/>
              <a:cxnLst/>
              <a:rect l="l" t="t" r="r" b="b"/>
              <a:pathLst>
                <a:path w="4343400" h="9525">
                  <a:moveTo>
                    <a:pt x="0" y="0"/>
                  </a:moveTo>
                  <a:lnTo>
                    <a:pt x="4343400" y="0"/>
                  </a:lnTo>
                </a:path>
              </a:pathLst>
            </a:custGeom>
            <a:noFill/>
            <a:ln w="9525">
              <a:solidFill>
                <a:srgbClr val="D6D9DE"/>
              </a:solidFill>
            </a:ln>
          </p:spPr>
        </p:sp>
        <p:sp>
          <p:nvSpPr>
            <p:cNvPr id="17" name="TextBox 17"/>
            <p:cNvSpPr txBox="1"/>
            <p:nvPr/>
          </p:nvSpPr>
          <p:spPr>
            <a:xfrm>
              <a:off x="604838" y="4838700"/>
              <a:ext cx="2342407" cy="466725"/>
            </a:xfrm>
            <a:prstGeom prst="rect">
              <a:avLst/>
            </a:prstGeom>
            <a:noFill/>
            <a:ln>
              <a:noFill/>
            </a:ln>
          </p:spPr>
          <p:txBody>
            <a:bodyPr wrap="none" lIns="0" tIns="0" rIns="0" bIns="0" anchor="t" anchorCtr="0">
              <a:spAutoFit/>
            </a:bodyPr>
            <a:lstStyle/>
            <a:p>
              <a:pPr algn="l">
                <a:lnSpc>
                  <a:spcPts val="1200"/>
                </a:lnSpc>
              </a:pPr>
              <a:r>
                <a:rPr lang="id" sz="820" dirty="0">
                  <a:solidFill>
                    <a:srgbClr val="585E66"/>
                  </a:solidFill>
                  <a:latin typeface="+mn-lt"/>
                  <a:ea typeface="+mn-ea"/>
                  <a:cs typeface="+mn-cs"/>
                </a:rPr>
                <a:t>Distress bukan ‘nakal’: ia mengurangi kemampuan</a:t>
              </a:r>
              <a:br>
                <a:rPr lang="id" sz="820" dirty="0">
                  <a:solidFill>
                    <a:srgbClr val="585E66"/>
                  </a:solidFill>
                  <a:latin typeface="+mn-lt"/>
                  <a:ea typeface="+mn-ea"/>
                  <a:cs typeface="+mn-cs"/>
                </a:rPr>
              </a:br>
              <a:r>
                <a:rPr lang="id" sz="820" dirty="0">
                  <a:solidFill>
                    <a:srgbClr val="585E66"/>
                  </a:solidFill>
                  <a:latin typeface="+mn-lt"/>
                  <a:ea typeface="+mn-ea"/>
                  <a:cs typeface="+mn-cs"/>
                </a:rPr>
                <a:t>klinisi menyelesaikan prosedur, dan menurunkan</a:t>
              </a:r>
              <a:br>
                <a:rPr lang="id" sz="820" dirty="0">
                  <a:solidFill>
                    <a:srgbClr val="585E66"/>
                  </a:solidFill>
                  <a:latin typeface="+mn-lt"/>
                  <a:ea typeface="+mn-ea"/>
                  <a:cs typeface="+mn-cs"/>
                </a:rPr>
              </a:br>
              <a:r>
                <a:rPr lang="id" sz="820" dirty="0">
                  <a:solidFill>
                    <a:srgbClr val="585E66"/>
                  </a:solidFill>
                  <a:latin typeface="+mn-lt"/>
                  <a:ea typeface="+mn-ea"/>
                  <a:cs typeface="+mn-cs"/>
                </a:rPr>
                <a:t>kualitas luaran gigi anak.</a:t>
              </a:r>
            </a:p>
          </p:txBody>
        </p:sp>
      </p:grpSp>
      <p:grpSp>
        <p:nvGrpSpPr>
          <p:cNvPr id="55" name="adapting"/>
          <p:cNvGrpSpPr/>
          <p:nvPr/>
        </p:nvGrpSpPr>
        <p:grpSpPr>
          <a:xfrm>
            <a:off x="5634038" y="1631950"/>
            <a:ext cx="5948362" cy="4387850"/>
            <a:chOff x="5634038" y="1631950"/>
            <a:chExt cx="5948362" cy="4387850"/>
          </a:xfrm>
        </p:grpSpPr>
        <p:sp>
          <p:nvSpPr>
            <p:cNvPr id="19" name="TextBox 19"/>
            <p:cNvSpPr txBox="1"/>
            <p:nvPr/>
          </p:nvSpPr>
          <p:spPr>
            <a:xfrm>
              <a:off x="5634038" y="170815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05</a:t>
              </a:r>
            </a:p>
          </p:txBody>
        </p:sp>
        <p:sp>
          <p:nvSpPr>
            <p:cNvPr id="20" name="TextBox 20"/>
            <p:cNvSpPr txBox="1"/>
            <p:nvPr/>
          </p:nvSpPr>
          <p:spPr>
            <a:xfrm>
              <a:off x="5955411" y="1631950"/>
              <a:ext cx="2347599" cy="278702"/>
            </a:xfrm>
            <a:prstGeom prst="rect">
              <a:avLst/>
            </a:prstGeom>
            <a:noFill/>
            <a:ln>
              <a:noFill/>
            </a:ln>
          </p:spPr>
          <p:txBody>
            <a:bodyPr wrap="none" lIns="0" tIns="0" rIns="0" bIns="0" anchor="t" anchorCtr="0">
              <a:spAutoFit/>
            </a:bodyPr>
            <a:lstStyle/>
            <a:p>
              <a:pPr algn="l"/>
              <a:r>
                <a:rPr lang="id" sz="1420" b="1" dirty="0">
                  <a:solidFill>
                    <a:srgbClr val="111318"/>
                  </a:solidFill>
                  <a:latin typeface="+mn-lt"/>
                  <a:ea typeface="+mn-ea"/>
                  <a:cs typeface="+mn-cs"/>
                </a:rPr>
                <a:t>Merespons &amp; beradaptasi</a:t>
              </a:r>
            </a:p>
          </p:txBody>
        </p:sp>
        <p:sp>
          <p:nvSpPr>
            <p:cNvPr id="21" name="TextBox 21"/>
            <p:cNvSpPr txBox="1"/>
            <p:nvPr/>
          </p:nvSpPr>
          <p:spPr>
            <a:xfrm>
              <a:off x="5634038" y="1974850"/>
              <a:ext cx="2413520"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Intervensi yang diuji — beserta batas buktinya.</a:t>
              </a:r>
            </a:p>
          </p:txBody>
        </p:sp>
        <p:sp>
          <p:nvSpPr>
            <p:cNvPr id="22" name="TextBox 22"/>
            <p:cNvSpPr txBox="1"/>
            <p:nvPr/>
          </p:nvSpPr>
          <p:spPr>
            <a:xfrm>
              <a:off x="5634038" y="2298700"/>
              <a:ext cx="1080779"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Pesan teks real-time</a:t>
              </a:r>
            </a:p>
          </p:txBody>
        </p:sp>
        <p:sp>
          <p:nvSpPr>
            <p:cNvPr id="23" name="TextBox 23"/>
            <p:cNvSpPr txBox="1"/>
            <p:nvPr/>
          </p:nvSpPr>
          <p:spPr>
            <a:xfrm>
              <a:off x="8110538" y="2298700"/>
              <a:ext cx="313983"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n = 17</a:t>
              </a:r>
            </a:p>
          </p:txBody>
        </p:sp>
        <p:sp>
          <p:nvSpPr>
            <p:cNvPr id="24" name="TextBox 24"/>
            <p:cNvSpPr txBox="1"/>
            <p:nvPr/>
          </p:nvSpPr>
          <p:spPr>
            <a:xfrm>
              <a:off x="5634038" y="2444750"/>
              <a:ext cx="2105713"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Orang tua menilai kecemasan turun; sampel kecil</a:t>
              </a:r>
            </a:p>
          </p:txBody>
        </p:sp>
        <p:sp>
          <p:nvSpPr>
            <p:cNvPr id="25" name="Line 25"/>
            <p:cNvSpPr/>
            <p:nvPr/>
          </p:nvSpPr>
          <p:spPr>
            <a:xfrm>
              <a:off x="5638800" y="2609850"/>
              <a:ext cx="5943600" cy="9525"/>
            </a:xfrm>
            <a:custGeom>
              <a:avLst/>
              <a:gdLst/>
              <a:ahLst/>
              <a:cxnLst/>
              <a:rect l="l" t="t" r="r" b="b"/>
              <a:pathLst>
                <a:path w="5943600" h="9525">
                  <a:moveTo>
                    <a:pt x="0" y="0"/>
                  </a:moveTo>
                  <a:lnTo>
                    <a:pt x="5943600" y="0"/>
                  </a:lnTo>
                </a:path>
              </a:pathLst>
            </a:custGeom>
            <a:noFill/>
            <a:ln w="7620">
              <a:solidFill>
                <a:srgbClr val="D6D9DE"/>
              </a:solidFill>
            </a:ln>
          </p:spPr>
        </p:sp>
        <p:sp>
          <p:nvSpPr>
            <p:cNvPr id="26" name="TextBox 26"/>
            <p:cNvSpPr txBox="1"/>
            <p:nvPr/>
          </p:nvSpPr>
          <p:spPr>
            <a:xfrm>
              <a:off x="5634038" y="2679700"/>
              <a:ext cx="1153839"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Distraksi audio-visual</a:t>
              </a:r>
            </a:p>
          </p:txBody>
        </p:sp>
        <p:sp>
          <p:nvSpPr>
            <p:cNvPr id="27" name="TextBox 27"/>
            <p:cNvSpPr txBox="1"/>
            <p:nvPr/>
          </p:nvSpPr>
          <p:spPr>
            <a:xfrm>
              <a:off x="8110538" y="2679700"/>
              <a:ext cx="313983"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n = 28</a:t>
              </a:r>
            </a:p>
          </p:txBody>
        </p:sp>
        <p:sp>
          <p:nvSpPr>
            <p:cNvPr id="28" name="TextBox 28"/>
            <p:cNvSpPr txBox="1"/>
            <p:nvPr/>
          </p:nvSpPr>
          <p:spPr>
            <a:xfrm>
              <a:off x="5634038" y="2825750"/>
              <a:ext cx="1673387"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Denyut jantung rata-rata turun (p &lt; .02)</a:t>
              </a:r>
            </a:p>
          </p:txBody>
        </p:sp>
        <p:sp>
          <p:nvSpPr>
            <p:cNvPr id="29" name="Line 29"/>
            <p:cNvSpPr/>
            <p:nvPr/>
          </p:nvSpPr>
          <p:spPr>
            <a:xfrm>
              <a:off x="5638800" y="2990850"/>
              <a:ext cx="5943600" cy="9525"/>
            </a:xfrm>
            <a:custGeom>
              <a:avLst/>
              <a:gdLst/>
              <a:ahLst/>
              <a:cxnLst/>
              <a:rect l="l" t="t" r="r" b="b"/>
              <a:pathLst>
                <a:path w="5943600" h="9525">
                  <a:moveTo>
                    <a:pt x="0" y="0"/>
                  </a:moveTo>
                  <a:lnTo>
                    <a:pt x="5943600" y="0"/>
                  </a:lnTo>
                </a:path>
              </a:pathLst>
            </a:custGeom>
            <a:noFill/>
            <a:ln w="7620">
              <a:solidFill>
                <a:srgbClr val="D6D9DE"/>
              </a:solidFill>
            </a:ln>
          </p:spPr>
        </p:sp>
        <p:sp>
          <p:nvSpPr>
            <p:cNvPr id="30" name="TextBox 30"/>
            <p:cNvSpPr txBox="1"/>
            <p:nvPr/>
          </p:nvSpPr>
          <p:spPr>
            <a:xfrm>
              <a:off x="5634038" y="3060700"/>
              <a:ext cx="1283033"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Electronic screen media</a:t>
              </a:r>
            </a:p>
          </p:txBody>
        </p:sp>
        <p:sp>
          <p:nvSpPr>
            <p:cNvPr id="31" name="TextBox 31"/>
            <p:cNvSpPr txBox="1"/>
            <p:nvPr/>
          </p:nvSpPr>
          <p:spPr>
            <a:xfrm>
              <a:off x="8110538" y="3060700"/>
              <a:ext cx="492089"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pilot RCT</a:t>
              </a:r>
            </a:p>
          </p:txBody>
        </p:sp>
        <p:sp>
          <p:nvSpPr>
            <p:cNvPr id="32" name="TextBox 32"/>
            <p:cNvSpPr txBox="1"/>
            <p:nvPr/>
          </p:nvSpPr>
          <p:spPr>
            <a:xfrm>
              <a:off x="5634038" y="3206750"/>
              <a:ext cx="1806349"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Skor kecemasan &amp; perilaku turun (p = .03)</a:t>
              </a:r>
            </a:p>
          </p:txBody>
        </p:sp>
        <p:sp>
          <p:nvSpPr>
            <p:cNvPr id="33" name="Line 33"/>
            <p:cNvSpPr/>
            <p:nvPr/>
          </p:nvSpPr>
          <p:spPr>
            <a:xfrm>
              <a:off x="5638800" y="3371850"/>
              <a:ext cx="5943600" cy="9525"/>
            </a:xfrm>
            <a:custGeom>
              <a:avLst/>
              <a:gdLst/>
              <a:ahLst/>
              <a:cxnLst/>
              <a:rect l="l" t="t" r="r" b="b"/>
              <a:pathLst>
                <a:path w="5943600" h="9525">
                  <a:moveTo>
                    <a:pt x="0" y="0"/>
                  </a:moveTo>
                  <a:lnTo>
                    <a:pt x="5943600" y="0"/>
                  </a:lnTo>
                </a:path>
              </a:pathLst>
            </a:custGeom>
            <a:noFill/>
            <a:ln w="7620">
              <a:solidFill>
                <a:srgbClr val="D6D9DE"/>
              </a:solidFill>
            </a:ln>
          </p:spPr>
        </p:sp>
        <p:sp>
          <p:nvSpPr>
            <p:cNvPr id="34" name="TextBox 34"/>
            <p:cNvSpPr txBox="1"/>
            <p:nvPr/>
          </p:nvSpPr>
          <p:spPr>
            <a:xfrm>
              <a:off x="5634038" y="3441700"/>
              <a:ext cx="1595747"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Sensory adapted environment</a:t>
              </a:r>
            </a:p>
          </p:txBody>
        </p:sp>
        <p:sp>
          <p:nvSpPr>
            <p:cNvPr id="35" name="TextBox 35"/>
            <p:cNvSpPr txBox="1"/>
            <p:nvPr/>
          </p:nvSpPr>
          <p:spPr>
            <a:xfrm>
              <a:off x="8110538" y="3441700"/>
              <a:ext cx="313983"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n = 44</a:t>
              </a:r>
            </a:p>
          </p:txBody>
        </p:sp>
        <p:sp>
          <p:nvSpPr>
            <p:cNvPr id="36" name="TextBox 36"/>
            <p:cNvSpPr txBox="1"/>
            <p:nvPr/>
          </p:nvSpPr>
          <p:spPr>
            <a:xfrm>
              <a:off x="5634038" y="3587750"/>
              <a:ext cx="1683624"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Proporsi relaks/kooperatif naik (p = .08)</a:t>
              </a:r>
            </a:p>
          </p:txBody>
        </p:sp>
        <p:sp>
          <p:nvSpPr>
            <p:cNvPr id="37" name="Line 37"/>
            <p:cNvSpPr/>
            <p:nvPr/>
          </p:nvSpPr>
          <p:spPr>
            <a:xfrm>
              <a:off x="5638800" y="3752850"/>
              <a:ext cx="5943600" cy="9525"/>
            </a:xfrm>
            <a:custGeom>
              <a:avLst/>
              <a:gdLst/>
              <a:ahLst/>
              <a:cxnLst/>
              <a:rect l="l" t="t" r="r" b="b"/>
              <a:pathLst>
                <a:path w="5943600" h="9525">
                  <a:moveTo>
                    <a:pt x="0" y="0"/>
                  </a:moveTo>
                  <a:lnTo>
                    <a:pt x="5943600" y="0"/>
                  </a:lnTo>
                </a:path>
              </a:pathLst>
            </a:custGeom>
            <a:noFill/>
            <a:ln w="7620">
              <a:solidFill>
                <a:srgbClr val="D6D9DE"/>
              </a:solidFill>
            </a:ln>
          </p:spPr>
        </p:sp>
        <p:sp>
          <p:nvSpPr>
            <p:cNvPr id="38" name="TextBox 38"/>
            <p:cNvSpPr txBox="1"/>
            <p:nvPr/>
          </p:nvSpPr>
          <p:spPr>
            <a:xfrm>
              <a:off x="5634038" y="3822700"/>
              <a:ext cx="1178478"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Papan petunjuk visual</a:t>
              </a:r>
            </a:p>
          </p:txBody>
        </p:sp>
        <p:sp>
          <p:nvSpPr>
            <p:cNvPr id="39" name="TextBox 39"/>
            <p:cNvSpPr txBox="1"/>
            <p:nvPr/>
          </p:nvSpPr>
          <p:spPr>
            <a:xfrm>
              <a:off x="8110538" y="3822700"/>
              <a:ext cx="313983"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n = 14</a:t>
              </a:r>
            </a:p>
          </p:txBody>
        </p:sp>
        <p:sp>
          <p:nvSpPr>
            <p:cNvPr id="40" name="TextBox 40"/>
            <p:cNvSpPr txBox="1"/>
            <p:nvPr/>
          </p:nvSpPr>
          <p:spPr>
            <a:xfrm>
              <a:off x="5634038" y="3968750"/>
              <a:ext cx="1903688"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Potensi manfaat; terlalu kecil untuk simpulan</a:t>
              </a:r>
            </a:p>
          </p:txBody>
        </p:sp>
        <p:sp>
          <p:nvSpPr>
            <p:cNvPr id="41" name="Line 41"/>
            <p:cNvSpPr/>
            <p:nvPr/>
          </p:nvSpPr>
          <p:spPr>
            <a:xfrm>
              <a:off x="5638800" y="4133850"/>
              <a:ext cx="5943600" cy="9525"/>
            </a:xfrm>
            <a:custGeom>
              <a:avLst/>
              <a:gdLst/>
              <a:ahLst/>
              <a:cxnLst/>
              <a:rect l="l" t="t" r="r" b="b"/>
              <a:pathLst>
                <a:path w="5943600" h="9525">
                  <a:moveTo>
                    <a:pt x="0" y="0"/>
                  </a:moveTo>
                  <a:lnTo>
                    <a:pt x="5943600" y="0"/>
                  </a:lnTo>
                </a:path>
              </a:pathLst>
            </a:custGeom>
            <a:noFill/>
            <a:ln w="7620">
              <a:solidFill>
                <a:srgbClr val="D6D9DE"/>
              </a:solidFill>
            </a:ln>
          </p:spPr>
        </p:sp>
        <p:sp>
          <p:nvSpPr>
            <p:cNvPr id="42" name="TextBox 42"/>
            <p:cNvSpPr txBox="1"/>
            <p:nvPr/>
          </p:nvSpPr>
          <p:spPr>
            <a:xfrm>
              <a:off x="5634038" y="4203700"/>
              <a:ext cx="1004439"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Protokol IT + klinis</a:t>
              </a:r>
            </a:p>
          </p:txBody>
        </p:sp>
        <p:sp>
          <p:nvSpPr>
            <p:cNvPr id="43" name="TextBox 43"/>
            <p:cNvSpPr txBox="1"/>
            <p:nvPr/>
          </p:nvSpPr>
          <p:spPr>
            <a:xfrm>
              <a:off x="8110538" y="4203700"/>
              <a:ext cx="313983"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n = 59</a:t>
              </a:r>
            </a:p>
          </p:txBody>
        </p:sp>
        <p:sp>
          <p:nvSpPr>
            <p:cNvPr id="44" name="TextBox 44"/>
            <p:cNvSpPr txBox="1"/>
            <p:nvPr/>
          </p:nvSpPr>
          <p:spPr>
            <a:xfrm>
              <a:off x="5634038" y="4349750"/>
              <a:ext cx="1992357"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Kemampuan menyikat gigi membaik (p &lt; .001)</a:t>
              </a:r>
            </a:p>
          </p:txBody>
        </p:sp>
        <p:sp>
          <p:nvSpPr>
            <p:cNvPr id="45" name="Line 45"/>
            <p:cNvSpPr/>
            <p:nvPr/>
          </p:nvSpPr>
          <p:spPr>
            <a:xfrm>
              <a:off x="5638800" y="4514850"/>
              <a:ext cx="5943600" cy="9525"/>
            </a:xfrm>
            <a:custGeom>
              <a:avLst/>
              <a:gdLst/>
              <a:ahLst/>
              <a:cxnLst/>
              <a:rect l="l" t="t" r="r" b="b"/>
              <a:pathLst>
                <a:path w="5943600" h="9525">
                  <a:moveTo>
                    <a:pt x="0" y="0"/>
                  </a:moveTo>
                  <a:lnTo>
                    <a:pt x="5943600" y="0"/>
                  </a:lnTo>
                </a:path>
              </a:pathLst>
            </a:custGeom>
            <a:noFill/>
            <a:ln w="7620">
              <a:solidFill>
                <a:srgbClr val="D6D9DE"/>
              </a:solidFill>
            </a:ln>
          </p:spPr>
        </p:sp>
        <p:sp>
          <p:nvSpPr>
            <p:cNvPr id="46" name="TextBox 46"/>
            <p:cNvSpPr txBox="1"/>
            <p:nvPr/>
          </p:nvSpPr>
          <p:spPr>
            <a:xfrm>
              <a:off x="5634038" y="4584700"/>
              <a:ext cx="1194002"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Familiarisasi + tasking</a:t>
              </a:r>
            </a:p>
          </p:txBody>
        </p:sp>
        <p:sp>
          <p:nvSpPr>
            <p:cNvPr id="47" name="TextBox 47"/>
            <p:cNvSpPr txBox="1"/>
            <p:nvPr/>
          </p:nvSpPr>
          <p:spPr>
            <a:xfrm>
              <a:off x="8110538" y="4584700"/>
              <a:ext cx="313983" cy="155258"/>
            </a:xfrm>
            <a:prstGeom prst="rect">
              <a:avLst/>
            </a:prstGeom>
            <a:noFill/>
            <a:ln>
              <a:noFill/>
            </a:ln>
          </p:spPr>
          <p:txBody>
            <a:bodyPr wrap="none" lIns="0" tIns="0" rIns="0" bIns="0" anchor="t" anchorCtr="0">
              <a:spAutoFit/>
            </a:bodyPr>
            <a:lstStyle/>
            <a:p>
              <a:pPr algn="l"/>
              <a:r>
                <a:rPr lang="id" sz="790" b="1" dirty="0">
                  <a:solidFill>
                    <a:srgbClr val="E8000D"/>
                  </a:solidFill>
                  <a:latin typeface="+mn-lt"/>
                  <a:ea typeface="+mn-ea"/>
                  <a:cs typeface="+mn-cs"/>
                </a:rPr>
                <a:t>n = 44</a:t>
              </a:r>
            </a:p>
          </p:txBody>
        </p:sp>
        <p:sp>
          <p:nvSpPr>
            <p:cNvPr id="48" name="TextBox 48"/>
            <p:cNvSpPr txBox="1"/>
            <p:nvPr/>
          </p:nvSpPr>
          <p:spPr>
            <a:xfrm>
              <a:off x="5634038" y="4730750"/>
              <a:ext cx="2327798"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Perilaku membaik (p = .03); rujukan GA turun (p = .04)</a:t>
              </a:r>
            </a:p>
          </p:txBody>
        </p:sp>
        <p:sp>
          <p:nvSpPr>
            <p:cNvPr id="49" name="Line 49"/>
            <p:cNvSpPr/>
            <p:nvPr/>
          </p:nvSpPr>
          <p:spPr>
            <a:xfrm>
              <a:off x="5638800" y="4895850"/>
              <a:ext cx="5943600" cy="9525"/>
            </a:xfrm>
            <a:custGeom>
              <a:avLst/>
              <a:gdLst/>
              <a:ahLst/>
              <a:cxnLst/>
              <a:rect l="l" t="t" r="r" b="b"/>
              <a:pathLst>
                <a:path w="5943600" h="9525">
                  <a:moveTo>
                    <a:pt x="0" y="0"/>
                  </a:moveTo>
                  <a:lnTo>
                    <a:pt x="5943600" y="0"/>
                  </a:lnTo>
                </a:path>
              </a:pathLst>
            </a:custGeom>
            <a:noFill/>
            <a:ln w="7620">
              <a:solidFill>
                <a:srgbClr val="D6D9DE"/>
              </a:solidFill>
            </a:ln>
          </p:spPr>
        </p:sp>
        <p:sp>
          <p:nvSpPr>
            <p:cNvPr id="50" name="Rectangle 50"/>
            <p:cNvSpPr/>
            <p:nvPr/>
          </p:nvSpPr>
          <p:spPr>
            <a:xfrm>
              <a:off x="5638800" y="5067300"/>
              <a:ext cx="5943600" cy="952500"/>
            </a:xfrm>
            <a:prstGeom prst="rect">
              <a:avLst/>
            </a:prstGeom>
            <a:solidFill>
              <a:srgbClr val="111318"/>
            </a:solidFill>
            <a:ln>
              <a:noFill/>
            </a:ln>
          </p:spPr>
        </p:sp>
        <p:sp>
          <p:nvSpPr>
            <p:cNvPr id="51" name="TextBox 51"/>
            <p:cNvSpPr txBox="1"/>
            <p:nvPr/>
          </p:nvSpPr>
          <p:spPr>
            <a:xfrm>
              <a:off x="5824538" y="5226050"/>
              <a:ext cx="1906379" cy="134302"/>
            </a:xfrm>
            <a:prstGeom prst="rect">
              <a:avLst/>
            </a:prstGeom>
            <a:noFill/>
            <a:ln>
              <a:noFill/>
            </a:ln>
          </p:spPr>
          <p:txBody>
            <a:bodyPr wrap="none" lIns="0" tIns="0" rIns="0" bIns="0" anchor="t" anchorCtr="0">
              <a:spAutoFit/>
            </a:bodyPr>
            <a:lstStyle/>
            <a:p>
              <a:pPr algn="l"/>
              <a:r>
                <a:rPr lang="id" sz="680" b="1" spc="135" dirty="0">
                  <a:solidFill>
                    <a:srgbClr val="E8000D"/>
                  </a:solidFill>
                  <a:latin typeface="+mn-lt"/>
                  <a:ea typeface="+mn-ea"/>
                  <a:cs typeface="+mn-cs"/>
                </a:rPr>
                <a:t>DESENSITISASI GIGI · n = 168</a:t>
              </a:r>
            </a:p>
          </p:txBody>
        </p:sp>
        <p:sp>
          <p:nvSpPr>
            <p:cNvPr id="52" name="TextBox 52"/>
            <p:cNvSpPr txBox="1"/>
            <p:nvPr/>
          </p:nvSpPr>
          <p:spPr>
            <a:xfrm>
              <a:off x="5820156" y="5410200"/>
              <a:ext cx="705399" cy="352044"/>
            </a:xfrm>
            <a:prstGeom prst="rect">
              <a:avLst/>
            </a:prstGeom>
            <a:noFill/>
            <a:ln>
              <a:noFill/>
            </a:ln>
          </p:spPr>
          <p:txBody>
            <a:bodyPr wrap="none" lIns="0" tIns="0" rIns="0" bIns="0" anchor="t" anchorCtr="0">
              <a:spAutoFit/>
            </a:bodyPr>
            <a:lstStyle/>
            <a:p>
              <a:pPr algn="l"/>
              <a:r>
                <a:rPr lang="id" sz="1800" b="1" dirty="0">
                  <a:solidFill>
                    <a:srgbClr val="FFFFFF"/>
                  </a:solidFill>
                  <a:latin typeface="+mn-lt"/>
                  <a:ea typeface="+mn-ea"/>
                  <a:cs typeface="+mn-cs"/>
                </a:rPr>
                <a:t>77,4%</a:t>
              </a:r>
            </a:p>
          </p:txBody>
        </p:sp>
        <p:sp>
          <p:nvSpPr>
            <p:cNvPr id="53" name="TextBox 53"/>
            <p:cNvSpPr txBox="1"/>
            <p:nvPr/>
          </p:nvSpPr>
          <p:spPr>
            <a:xfrm>
              <a:off x="5824538" y="5740400"/>
              <a:ext cx="2623529" cy="140494"/>
            </a:xfrm>
            <a:prstGeom prst="rect">
              <a:avLst/>
            </a:prstGeom>
            <a:noFill/>
            <a:ln>
              <a:noFill/>
            </a:ln>
          </p:spPr>
          <p:txBody>
            <a:bodyPr wrap="none" lIns="0" tIns="0" rIns="0" bIns="0" anchor="t" anchorCtr="0">
              <a:spAutoFit/>
            </a:bodyPr>
            <a:lstStyle/>
            <a:p>
              <a:pPr algn="l"/>
              <a:r>
                <a:rPr lang="id" sz="710" dirty="0">
                  <a:solidFill>
                    <a:srgbClr val="FFFFFF"/>
                  </a:solidFill>
                  <a:latin typeface="+mn-lt"/>
                  <a:ea typeface="+mn-ea"/>
                  <a:cs typeface="+mn-cs"/>
                </a:rPr>
                <a:t>mencapai minimum threshold for exam dalam 1–2 kunjungan;</a:t>
              </a:r>
            </a:p>
          </p:txBody>
        </p:sp>
        <p:sp>
          <p:nvSpPr>
            <p:cNvPr id="54" name="TextBox 54"/>
            <p:cNvSpPr txBox="1"/>
            <p:nvPr/>
          </p:nvSpPr>
          <p:spPr>
            <a:xfrm>
              <a:off x="5824538" y="5873750"/>
              <a:ext cx="2892454" cy="140494"/>
            </a:xfrm>
            <a:prstGeom prst="rect">
              <a:avLst/>
            </a:prstGeom>
            <a:noFill/>
            <a:ln>
              <a:noFill/>
            </a:ln>
          </p:spPr>
          <p:txBody>
            <a:bodyPr wrap="none" lIns="0" tIns="0" rIns="0" bIns="0" anchor="t" anchorCtr="0">
              <a:spAutoFit/>
            </a:bodyPr>
            <a:lstStyle/>
            <a:p>
              <a:pPr algn="l"/>
              <a:r>
                <a:rPr lang="id" sz="710" dirty="0">
                  <a:solidFill>
                    <a:srgbClr val="B9BEC6"/>
                  </a:solidFill>
                  <a:latin typeface="+mn-lt"/>
                  <a:ea typeface="+mn-ea"/>
                  <a:cs typeface="+mn-cs"/>
                </a:rPr>
                <a:t>92% mempertahankannya pada Tahun 2 (Nelson 2017; Yost 2019).</a:t>
              </a:r>
            </a:p>
          </p:txBody>
        </p:sp>
      </p:grpSp>
      <p:grpSp>
        <p:nvGrpSpPr>
          <p:cNvPr id="59" name="footer"/>
          <p:cNvGrpSpPr/>
          <p:nvPr/>
        </p:nvGrpSpPr>
        <p:grpSpPr>
          <a:xfrm>
            <a:off x="604838" y="6324600"/>
            <a:ext cx="10982325" cy="268288"/>
            <a:chOff x="604838" y="6324600"/>
            <a:chExt cx="10982325" cy="268288"/>
          </a:xfrm>
        </p:grpSpPr>
        <p:sp>
          <p:nvSpPr>
            <p:cNvPr id="56" name="Line 56"/>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57" name="TextBox 57"/>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58" name="TextBox 58"/>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078674"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09 · TEMA 6–7</a:t>
              </a:r>
            </a:p>
          </p:txBody>
        </p:sp>
        <p:sp>
          <p:nvSpPr>
            <p:cNvPr id="3" name="TextBox 3"/>
            <p:cNvSpPr txBox="1"/>
            <p:nvPr/>
          </p:nvSpPr>
          <p:spPr>
            <a:xfrm>
              <a:off x="595503" y="685800"/>
              <a:ext cx="10146929"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Yang menghalangi bukan hanya alat, tetapi pengetahuan</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10 / 16</a:t>
              </a:r>
            </a:p>
          </p:txBody>
        </p:sp>
      </p:grpSp>
      <p:grpSp>
        <p:nvGrpSpPr>
          <p:cNvPr id="20" name="attitude"/>
          <p:cNvGrpSpPr/>
          <p:nvPr/>
        </p:nvGrpSpPr>
        <p:grpSpPr>
          <a:xfrm>
            <a:off x="594360" y="1631950"/>
            <a:ext cx="3215640" cy="4009708"/>
            <a:chOff x="594360" y="1631950"/>
            <a:chExt cx="3215640" cy="4009708"/>
          </a:xfrm>
        </p:grpSpPr>
        <p:sp>
          <p:nvSpPr>
            <p:cNvPr id="8" name="TextBox 8"/>
            <p:cNvSpPr txBox="1"/>
            <p:nvPr/>
          </p:nvSpPr>
          <p:spPr>
            <a:xfrm>
              <a:off x="604838" y="170815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06</a:t>
              </a:r>
            </a:p>
          </p:txBody>
        </p:sp>
        <p:sp>
          <p:nvSpPr>
            <p:cNvPr id="9" name="TextBox 9"/>
            <p:cNvSpPr txBox="1"/>
            <p:nvPr/>
          </p:nvSpPr>
          <p:spPr>
            <a:xfrm>
              <a:off x="926211" y="1631950"/>
              <a:ext cx="1008575" cy="278702"/>
            </a:xfrm>
            <a:prstGeom prst="rect">
              <a:avLst/>
            </a:prstGeom>
            <a:noFill/>
            <a:ln>
              <a:noFill/>
            </a:ln>
          </p:spPr>
          <p:txBody>
            <a:bodyPr wrap="none" lIns="0" tIns="0" rIns="0" bIns="0" anchor="t" anchorCtr="0">
              <a:spAutoFit/>
            </a:bodyPr>
            <a:lstStyle/>
            <a:p>
              <a:pPr algn="l"/>
              <a:r>
                <a:rPr lang="id" sz="1420" b="1" dirty="0">
                  <a:solidFill>
                    <a:srgbClr val="111318"/>
                  </a:solidFill>
                  <a:latin typeface="+mn-lt"/>
                  <a:ea typeface="+mn-ea"/>
                  <a:cs typeface="+mn-cs"/>
                </a:rPr>
                <a:t>Sikap DHP</a:t>
              </a:r>
            </a:p>
          </p:txBody>
        </p:sp>
        <p:sp>
          <p:nvSpPr>
            <p:cNvPr id="10" name="TextBox 10"/>
            <p:cNvSpPr txBox="1"/>
            <p:nvPr/>
          </p:nvSpPr>
          <p:spPr>
            <a:xfrm>
              <a:off x="604838" y="1949450"/>
              <a:ext cx="2304412" cy="330994"/>
            </a:xfrm>
            <a:prstGeom prst="rect">
              <a:avLst/>
            </a:prstGeom>
            <a:noFill/>
            <a:ln>
              <a:noFill/>
            </a:ln>
          </p:spPr>
          <p:txBody>
            <a:bodyPr wrap="none" lIns="0" tIns="0" rIns="0" bIns="0" anchor="t" anchorCtr="0">
              <a:spAutoFit/>
            </a:bodyPr>
            <a:lstStyle/>
            <a:p>
              <a:pPr algn="l">
                <a:lnSpc>
                  <a:spcPts val="1275"/>
                </a:lnSpc>
              </a:pPr>
              <a:r>
                <a:rPr lang="id" sz="860" dirty="0">
                  <a:solidFill>
                    <a:srgbClr val="585E66"/>
                  </a:solidFill>
                  <a:latin typeface="+mn-lt"/>
                  <a:ea typeface="+mn-ea"/>
                  <a:cs typeface="+mn-cs"/>
                </a:rPr>
                <a:t>Rasa dihakimi, dan sulitnya menemukan dokter</a:t>
              </a:r>
              <a:br>
                <a:rPr lang="id" sz="860" dirty="0">
                  <a:solidFill>
                    <a:srgbClr val="585E66"/>
                  </a:solidFill>
                  <a:latin typeface="+mn-lt"/>
                  <a:ea typeface="+mn-ea"/>
                  <a:cs typeface="+mn-cs"/>
                </a:rPr>
              </a:br>
              <a:r>
                <a:rPr lang="id" sz="860" dirty="0">
                  <a:solidFill>
                    <a:srgbClr val="585E66"/>
                  </a:solidFill>
                  <a:latin typeface="+mn-lt"/>
                  <a:ea typeface="+mn-ea"/>
                  <a:cs typeface="+mn-cs"/>
                </a:rPr>
                <a:t>yang mau menerima anak.</a:t>
              </a:r>
            </a:p>
          </p:txBody>
        </p:sp>
        <p:sp>
          <p:nvSpPr>
            <p:cNvPr id="11" name="TextBox 11"/>
            <p:cNvSpPr txBox="1"/>
            <p:nvPr/>
          </p:nvSpPr>
          <p:spPr>
            <a:xfrm>
              <a:off x="594360" y="2317750"/>
              <a:ext cx="479734" cy="586740"/>
            </a:xfrm>
            <a:prstGeom prst="rect">
              <a:avLst/>
            </a:prstGeom>
            <a:noFill/>
            <a:ln>
              <a:noFill/>
            </a:ln>
          </p:spPr>
          <p:txBody>
            <a:bodyPr wrap="none" lIns="0" tIns="0" rIns="0" bIns="0" anchor="t" anchorCtr="0">
              <a:spAutoFit/>
            </a:bodyPr>
            <a:lstStyle/>
            <a:p>
              <a:pPr algn="l"/>
              <a:r>
                <a:rPr lang="id" sz="3000" b="1" dirty="0">
                  <a:solidFill>
                    <a:srgbClr val="111318"/>
                  </a:solidFill>
                  <a:latin typeface="+mn-lt"/>
                  <a:ea typeface="+mn-ea"/>
                  <a:cs typeface="+mn-cs"/>
                </a:rPr>
                <a:t>14</a:t>
              </a:r>
            </a:p>
          </p:txBody>
        </p:sp>
        <p:sp>
          <p:nvSpPr>
            <p:cNvPr id="12" name="TextBox 12"/>
            <p:cNvSpPr txBox="1"/>
            <p:nvPr/>
          </p:nvSpPr>
          <p:spPr>
            <a:xfrm>
              <a:off x="1157288" y="2571750"/>
              <a:ext cx="265459" cy="176212"/>
            </a:xfrm>
            <a:prstGeom prst="rect">
              <a:avLst/>
            </a:prstGeom>
            <a:noFill/>
            <a:ln>
              <a:noFill/>
            </a:ln>
          </p:spPr>
          <p:txBody>
            <a:bodyPr wrap="none" lIns="0" tIns="0" rIns="0" bIns="0" anchor="t" anchorCtr="0">
              <a:spAutoFit/>
            </a:bodyPr>
            <a:lstStyle/>
            <a:p>
              <a:pPr algn="l"/>
              <a:r>
                <a:rPr lang="id" sz="900" dirty="0">
                  <a:solidFill>
                    <a:srgbClr val="585E66"/>
                  </a:solidFill>
                  <a:latin typeface="+mn-lt"/>
                  <a:ea typeface="+mn-ea"/>
                  <a:cs typeface="+mn-cs"/>
                </a:rPr>
                <a:t>studi</a:t>
              </a:r>
            </a:p>
          </p:txBody>
        </p:sp>
        <p:sp>
          <p:nvSpPr>
            <p:cNvPr id="13" name="TextBox 13"/>
            <p:cNvSpPr txBox="1"/>
            <p:nvPr/>
          </p:nvSpPr>
          <p:spPr>
            <a:xfrm>
              <a:off x="604838" y="2787650"/>
              <a:ext cx="2181403"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melaporkan kesulitan mencari dokter gigi ‘cocok’</a:t>
              </a:r>
            </a:p>
          </p:txBody>
        </p:sp>
        <p:sp>
          <p:nvSpPr>
            <p:cNvPr id="14" name="TextBox 14"/>
            <p:cNvSpPr txBox="1"/>
            <p:nvPr/>
          </p:nvSpPr>
          <p:spPr>
            <a:xfrm>
              <a:off x="597408" y="3251200"/>
              <a:ext cx="671077" cy="469392"/>
            </a:xfrm>
            <a:prstGeom prst="rect">
              <a:avLst/>
            </a:prstGeom>
            <a:noFill/>
            <a:ln>
              <a:noFill/>
            </a:ln>
          </p:spPr>
          <p:txBody>
            <a:bodyPr wrap="none" lIns="0" tIns="0" rIns="0" bIns="0" anchor="t" anchorCtr="0">
              <a:spAutoFit/>
            </a:bodyPr>
            <a:lstStyle/>
            <a:p>
              <a:pPr algn="l"/>
              <a:r>
                <a:rPr lang="id" sz="2400" b="1" dirty="0">
                  <a:solidFill>
                    <a:srgbClr val="E8000D"/>
                  </a:solidFill>
                  <a:latin typeface="+mn-lt"/>
                  <a:ea typeface="+mn-ea"/>
                  <a:cs typeface="+mn-cs"/>
                </a:rPr>
                <a:t>54%</a:t>
              </a:r>
            </a:p>
          </p:txBody>
        </p:sp>
        <p:sp>
          <p:nvSpPr>
            <p:cNvPr id="15" name="TextBox 15"/>
            <p:cNvSpPr txBox="1"/>
            <p:nvPr/>
          </p:nvSpPr>
          <p:spPr>
            <a:xfrm>
              <a:off x="604838" y="3632200"/>
              <a:ext cx="1412519" cy="280988"/>
            </a:xfrm>
            <a:prstGeom prst="rect">
              <a:avLst/>
            </a:prstGeom>
            <a:noFill/>
            <a:ln>
              <a:noFill/>
            </a:ln>
          </p:spPr>
          <p:txBody>
            <a:bodyPr wrap="none" lIns="0" tIns="0" rIns="0" bIns="0" anchor="t" anchorCtr="0">
              <a:spAutoFit/>
            </a:bodyPr>
            <a:lstStyle/>
            <a:p>
              <a:pPr algn="l">
                <a:lnSpc>
                  <a:spcPts val="1050"/>
                </a:lnSpc>
              </a:pPr>
              <a:r>
                <a:rPr lang="id" sz="750" dirty="0">
                  <a:solidFill>
                    <a:srgbClr val="585E66"/>
                  </a:solidFill>
                  <a:latin typeface="+mn-lt"/>
                  <a:ea typeface="+mn-ea"/>
                  <a:cs typeface="+mn-cs"/>
                </a:rPr>
                <a:t>sulit menemukan klinik yang mau</a:t>
              </a:r>
              <a:br>
                <a:rPr lang="id" sz="750" dirty="0">
                  <a:solidFill>
                    <a:srgbClr val="585E66"/>
                  </a:solidFill>
                  <a:latin typeface="+mn-lt"/>
                  <a:ea typeface="+mn-ea"/>
                  <a:cs typeface="+mn-cs"/>
                </a:rPr>
              </a:br>
              <a:r>
                <a:rPr lang="id" sz="750" dirty="0">
                  <a:solidFill>
                    <a:srgbClr val="585E66"/>
                  </a:solidFill>
                  <a:latin typeface="+mn-lt"/>
                  <a:ea typeface="+mn-ea"/>
                  <a:cs typeface="+mn-cs"/>
                </a:rPr>
                <a:t>merawat anak (Arab Saudi)</a:t>
              </a:r>
            </a:p>
          </p:txBody>
        </p:sp>
        <p:sp>
          <p:nvSpPr>
            <p:cNvPr id="16" name="TextBox 16"/>
            <p:cNvSpPr txBox="1"/>
            <p:nvPr/>
          </p:nvSpPr>
          <p:spPr>
            <a:xfrm>
              <a:off x="597408" y="3975100"/>
              <a:ext cx="940532" cy="469392"/>
            </a:xfrm>
            <a:prstGeom prst="rect">
              <a:avLst/>
            </a:prstGeom>
            <a:noFill/>
            <a:ln>
              <a:noFill/>
            </a:ln>
          </p:spPr>
          <p:txBody>
            <a:bodyPr wrap="none" lIns="0" tIns="0" rIns="0" bIns="0" anchor="t" anchorCtr="0">
              <a:spAutoFit/>
            </a:bodyPr>
            <a:lstStyle/>
            <a:p>
              <a:pPr algn="l"/>
              <a:r>
                <a:rPr lang="id" sz="2400" b="1" dirty="0">
                  <a:solidFill>
                    <a:srgbClr val="E8000D"/>
                  </a:solidFill>
                  <a:latin typeface="+mn-lt"/>
                  <a:ea typeface="+mn-ea"/>
                  <a:cs typeface="+mn-cs"/>
                </a:rPr>
                <a:t>32,7%</a:t>
              </a:r>
            </a:p>
          </p:txBody>
        </p:sp>
        <p:sp>
          <p:nvSpPr>
            <p:cNvPr id="17" name="TextBox 17"/>
            <p:cNvSpPr txBox="1"/>
            <p:nvPr/>
          </p:nvSpPr>
          <p:spPr>
            <a:xfrm>
              <a:off x="604838" y="4356100"/>
              <a:ext cx="1073887" cy="280988"/>
            </a:xfrm>
            <a:prstGeom prst="rect">
              <a:avLst/>
            </a:prstGeom>
            <a:noFill/>
            <a:ln>
              <a:noFill/>
            </a:ln>
          </p:spPr>
          <p:txBody>
            <a:bodyPr wrap="none" lIns="0" tIns="0" rIns="0" bIns="0" anchor="t" anchorCtr="0">
              <a:spAutoFit/>
            </a:bodyPr>
            <a:lstStyle/>
            <a:p>
              <a:pPr algn="l">
                <a:lnSpc>
                  <a:spcPts val="1050"/>
                </a:lnSpc>
              </a:pPr>
              <a:r>
                <a:rPr lang="id" sz="750" dirty="0">
                  <a:solidFill>
                    <a:srgbClr val="585E66"/>
                  </a:solidFill>
                  <a:latin typeface="+mn-lt"/>
                  <a:ea typeface="+mn-ea"/>
                  <a:cs typeface="+mn-cs"/>
                </a:rPr>
                <a:t>pernah ditolak dokter gigi</a:t>
              </a:r>
              <a:br>
                <a:rPr lang="id" sz="750" dirty="0">
                  <a:solidFill>
                    <a:srgbClr val="585E66"/>
                  </a:solidFill>
                  <a:latin typeface="+mn-lt"/>
                  <a:ea typeface="+mn-ea"/>
                  <a:cs typeface="+mn-cs"/>
                </a:rPr>
              </a:br>
              <a:r>
                <a:rPr lang="id" sz="750" dirty="0">
                  <a:solidFill>
                    <a:srgbClr val="585E66"/>
                  </a:solidFill>
                  <a:latin typeface="+mn-lt"/>
                  <a:ea typeface="+mn-ea"/>
                  <a:cs typeface="+mn-cs"/>
                </a:rPr>
                <a:t>(Alhammad et al., 2020)</a:t>
              </a:r>
            </a:p>
          </p:txBody>
        </p:sp>
        <p:sp>
          <p:nvSpPr>
            <p:cNvPr id="18" name="Line 18"/>
            <p:cNvSpPr/>
            <p:nvPr/>
          </p:nvSpPr>
          <p:spPr>
            <a:xfrm>
              <a:off x="609600" y="4876800"/>
              <a:ext cx="3200400" cy="9525"/>
            </a:xfrm>
            <a:custGeom>
              <a:avLst/>
              <a:gdLst/>
              <a:ahLst/>
              <a:cxnLst/>
              <a:rect l="l" t="t" r="r" b="b"/>
              <a:pathLst>
                <a:path w="3200400" h="9525">
                  <a:moveTo>
                    <a:pt x="0" y="0"/>
                  </a:moveTo>
                  <a:lnTo>
                    <a:pt x="3200400" y="0"/>
                  </a:lnTo>
                </a:path>
              </a:pathLst>
            </a:custGeom>
            <a:noFill/>
            <a:ln w="9525">
              <a:solidFill>
                <a:srgbClr val="D6D9DE"/>
              </a:solidFill>
            </a:ln>
          </p:spPr>
        </p:sp>
        <p:sp>
          <p:nvSpPr>
            <p:cNvPr id="19" name="TextBox 19"/>
            <p:cNvSpPr txBox="1"/>
            <p:nvPr/>
          </p:nvSpPr>
          <p:spPr>
            <a:xfrm>
              <a:off x="604838" y="5029200"/>
              <a:ext cx="2340773" cy="6124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Orang tua merasa dikritik karena dianggap tidak</a:t>
              </a:r>
              <a:br>
                <a:rPr lang="id" sz="790" dirty="0">
                  <a:solidFill>
                    <a:srgbClr val="585E66"/>
                  </a:solidFill>
                  <a:latin typeface="+mn-lt"/>
                  <a:ea typeface="+mn-ea"/>
                  <a:cs typeface="+mn-cs"/>
                </a:rPr>
              </a:br>
              <a:r>
                <a:rPr lang="id" sz="790" dirty="0">
                  <a:solidFill>
                    <a:srgbClr val="585E66"/>
                  </a:solidFill>
                  <a:latin typeface="+mn-lt"/>
                  <a:ea typeface="+mn-ea"/>
                  <a:cs typeface="+mn-cs"/>
                </a:rPr>
                <a:t>mendisiplinkan anak atau menjaga giginya.</a:t>
              </a:r>
              <a:br>
                <a:rPr lang="id" sz="790" dirty="0">
                  <a:solidFill>
                    <a:srgbClr val="585E66"/>
                  </a:solidFill>
                  <a:latin typeface="+mn-lt"/>
                  <a:ea typeface="+mn-ea"/>
                  <a:cs typeface="+mn-cs"/>
                </a:rPr>
              </a:br>
              <a:r>
                <a:rPr lang="id" sz="790" dirty="0">
                  <a:solidFill>
                    <a:srgbClr val="585E66"/>
                  </a:solidFill>
                  <a:latin typeface="+mn-lt"/>
                  <a:ea typeface="+mn-ea"/>
                  <a:cs typeface="+mn-cs"/>
                </a:rPr>
                <a:t>Sikap resepsionis ikut menentukan: satu komentar</a:t>
              </a:r>
              <a:br>
                <a:rPr lang="id" sz="790" dirty="0">
                  <a:solidFill>
                    <a:srgbClr val="585E66"/>
                  </a:solidFill>
                  <a:latin typeface="+mn-lt"/>
                  <a:ea typeface="+mn-ea"/>
                  <a:cs typeface="+mn-cs"/>
                </a:rPr>
              </a:br>
              <a:r>
                <a:rPr lang="id" sz="790" dirty="0">
                  <a:solidFill>
                    <a:srgbClr val="585E66"/>
                  </a:solidFill>
                  <a:latin typeface="+mn-lt"/>
                  <a:ea typeface="+mn-ea"/>
                  <a:cs typeface="+mn-cs"/>
                </a:rPr>
                <a:t>sarkastik cukup membatalkan kunjungan berikutnya.</a:t>
              </a:r>
            </a:p>
          </p:txBody>
        </p:sp>
      </p:grpSp>
      <p:grpSp>
        <p:nvGrpSpPr>
          <p:cNvPr id="57" name="knowledge"/>
          <p:cNvGrpSpPr/>
          <p:nvPr/>
        </p:nvGrpSpPr>
        <p:grpSpPr>
          <a:xfrm>
            <a:off x="4300538" y="1631950"/>
            <a:ext cx="7281862" cy="4275138"/>
            <a:chOff x="4300538" y="1631950"/>
            <a:chExt cx="7281862" cy="4275138"/>
          </a:xfrm>
        </p:grpSpPr>
        <p:sp>
          <p:nvSpPr>
            <p:cNvPr id="21" name="TextBox 21"/>
            <p:cNvSpPr txBox="1"/>
            <p:nvPr/>
          </p:nvSpPr>
          <p:spPr>
            <a:xfrm>
              <a:off x="4300538" y="170815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07</a:t>
              </a:r>
            </a:p>
          </p:txBody>
        </p:sp>
        <p:sp>
          <p:nvSpPr>
            <p:cNvPr id="22" name="TextBox 22"/>
            <p:cNvSpPr txBox="1"/>
            <p:nvPr/>
          </p:nvSpPr>
          <p:spPr>
            <a:xfrm>
              <a:off x="4621911" y="1631950"/>
              <a:ext cx="4178624" cy="278702"/>
            </a:xfrm>
            <a:prstGeom prst="rect">
              <a:avLst/>
            </a:prstGeom>
            <a:noFill/>
            <a:ln>
              <a:noFill/>
            </a:ln>
          </p:spPr>
          <p:txBody>
            <a:bodyPr wrap="none" lIns="0" tIns="0" rIns="0" bIns="0" anchor="t" anchorCtr="0">
              <a:spAutoFit/>
            </a:bodyPr>
            <a:lstStyle/>
            <a:p>
              <a:pPr algn="l"/>
              <a:r>
                <a:rPr lang="id" sz="1420" b="1" dirty="0">
                  <a:solidFill>
                    <a:srgbClr val="111318"/>
                  </a:solidFill>
                  <a:latin typeface="+mn-lt"/>
                  <a:ea typeface="+mn-ea"/>
                  <a:cs typeface="+mn-cs"/>
                </a:rPr>
                <a:t>Pengetahuan cara merawat &amp; mendukung OH</a:t>
              </a:r>
            </a:p>
          </p:txBody>
        </p:sp>
        <p:sp>
          <p:nvSpPr>
            <p:cNvPr id="23" name="TextBox 23"/>
            <p:cNvSpPr txBox="1"/>
            <p:nvPr/>
          </p:nvSpPr>
          <p:spPr>
            <a:xfrm>
              <a:off x="4300538" y="1974850"/>
              <a:ext cx="3436431"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Intervensi edukatif: arah positif, hampir semuanya bersampel kecil.</a:t>
              </a:r>
            </a:p>
          </p:txBody>
        </p:sp>
        <p:sp>
          <p:nvSpPr>
            <p:cNvPr id="24" name="TextBox 24"/>
            <p:cNvSpPr txBox="1"/>
            <p:nvPr/>
          </p:nvSpPr>
          <p:spPr>
            <a:xfrm>
              <a:off x="4300538" y="2343150"/>
              <a:ext cx="709437" cy="126682"/>
            </a:xfrm>
            <a:prstGeom prst="rect">
              <a:avLst/>
            </a:prstGeom>
            <a:noFill/>
            <a:ln>
              <a:noFill/>
            </a:ln>
          </p:spPr>
          <p:txBody>
            <a:bodyPr wrap="none" lIns="0" tIns="0" rIns="0" bIns="0" anchor="t" anchorCtr="0">
              <a:spAutoFit/>
            </a:bodyPr>
            <a:lstStyle/>
            <a:p>
              <a:pPr algn="l"/>
              <a:r>
                <a:rPr lang="id" sz="640" b="1" spc="120" dirty="0">
                  <a:solidFill>
                    <a:srgbClr val="8B9198"/>
                  </a:solidFill>
                  <a:latin typeface="+mn-lt"/>
                  <a:ea typeface="+mn-ea"/>
                  <a:cs typeface="+mn-cs"/>
                </a:rPr>
                <a:t>INTERVENSI</a:t>
              </a:r>
            </a:p>
          </p:txBody>
        </p:sp>
        <p:sp>
          <p:nvSpPr>
            <p:cNvPr id="25" name="TextBox 25"/>
            <p:cNvSpPr txBox="1"/>
            <p:nvPr/>
          </p:nvSpPr>
          <p:spPr>
            <a:xfrm>
              <a:off x="7234238" y="2343150"/>
              <a:ext cx="62150" cy="126682"/>
            </a:xfrm>
            <a:prstGeom prst="rect">
              <a:avLst/>
            </a:prstGeom>
            <a:noFill/>
            <a:ln>
              <a:noFill/>
            </a:ln>
          </p:spPr>
          <p:txBody>
            <a:bodyPr wrap="none" lIns="0" tIns="0" rIns="0" bIns="0" anchor="t" anchorCtr="0">
              <a:spAutoFit/>
            </a:bodyPr>
            <a:lstStyle/>
            <a:p>
              <a:pPr algn="l"/>
              <a:r>
                <a:rPr lang="id" sz="640" b="1" spc="120" dirty="0">
                  <a:solidFill>
                    <a:srgbClr val="8B9198"/>
                  </a:solidFill>
                  <a:latin typeface="+mn-lt"/>
                  <a:ea typeface="+mn-ea"/>
                  <a:cs typeface="+mn-cs"/>
                </a:rPr>
                <a:t>n</a:t>
              </a:r>
            </a:p>
          </p:txBody>
        </p:sp>
        <p:sp>
          <p:nvSpPr>
            <p:cNvPr id="26" name="TextBox 26"/>
            <p:cNvSpPr txBox="1"/>
            <p:nvPr/>
          </p:nvSpPr>
          <p:spPr>
            <a:xfrm>
              <a:off x="7900988" y="2343150"/>
              <a:ext cx="350901" cy="126682"/>
            </a:xfrm>
            <a:prstGeom prst="rect">
              <a:avLst/>
            </a:prstGeom>
            <a:noFill/>
            <a:ln>
              <a:noFill/>
            </a:ln>
          </p:spPr>
          <p:txBody>
            <a:bodyPr wrap="none" lIns="0" tIns="0" rIns="0" bIns="0" anchor="t" anchorCtr="0">
              <a:spAutoFit/>
            </a:bodyPr>
            <a:lstStyle/>
            <a:p>
              <a:pPr algn="l"/>
              <a:r>
                <a:rPr lang="id" sz="640" b="1" spc="120" dirty="0">
                  <a:solidFill>
                    <a:srgbClr val="8B9198"/>
                  </a:solidFill>
                  <a:latin typeface="+mn-lt"/>
                  <a:ea typeface="+mn-ea"/>
                  <a:cs typeface="+mn-cs"/>
                </a:rPr>
                <a:t>HASIL</a:t>
              </a:r>
            </a:p>
          </p:txBody>
        </p:sp>
        <p:sp>
          <p:nvSpPr>
            <p:cNvPr id="27" name="TextBox 27"/>
            <p:cNvSpPr txBox="1"/>
            <p:nvPr/>
          </p:nvSpPr>
          <p:spPr>
            <a:xfrm>
              <a:off x="4300538" y="2679700"/>
              <a:ext cx="1018547"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Edukasi digital gigi</a:t>
              </a:r>
            </a:p>
          </p:txBody>
        </p:sp>
        <p:sp>
          <p:nvSpPr>
            <p:cNvPr id="28" name="TextBox 28"/>
            <p:cNvSpPr txBox="1"/>
            <p:nvPr/>
          </p:nvSpPr>
          <p:spPr>
            <a:xfrm>
              <a:off x="7234238" y="2679700"/>
              <a:ext cx="132321"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15</a:t>
              </a:r>
            </a:p>
          </p:txBody>
        </p:sp>
        <p:sp>
          <p:nvSpPr>
            <p:cNvPr id="29" name="TextBox 29"/>
            <p:cNvSpPr txBox="1"/>
            <p:nvPr/>
          </p:nvSpPr>
          <p:spPr>
            <a:xfrm>
              <a:off x="7900988" y="2692400"/>
              <a:ext cx="1934145"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Skor pengetahuan OH naik pada 4 minggu</a:t>
              </a:r>
            </a:p>
          </p:txBody>
        </p:sp>
        <p:sp>
          <p:nvSpPr>
            <p:cNvPr id="30" name="Line 30"/>
            <p:cNvSpPr/>
            <p:nvPr/>
          </p:nvSpPr>
          <p:spPr>
            <a:xfrm>
              <a:off x="4305300" y="2876550"/>
              <a:ext cx="7277100" cy="9525"/>
            </a:xfrm>
            <a:custGeom>
              <a:avLst/>
              <a:gdLst/>
              <a:ahLst/>
              <a:cxnLst/>
              <a:rect l="l" t="t" r="r" b="b"/>
              <a:pathLst>
                <a:path w="7277100" h="9525">
                  <a:moveTo>
                    <a:pt x="0" y="0"/>
                  </a:moveTo>
                  <a:lnTo>
                    <a:pt x="7277100" y="0"/>
                  </a:lnTo>
                </a:path>
              </a:pathLst>
            </a:custGeom>
            <a:noFill/>
            <a:ln w="7620">
              <a:solidFill>
                <a:srgbClr val="D6D9DE"/>
              </a:solidFill>
            </a:ln>
          </p:spPr>
        </p:sp>
        <p:sp>
          <p:nvSpPr>
            <p:cNvPr id="31" name="TextBox 31"/>
            <p:cNvSpPr txBox="1"/>
            <p:nvPr/>
          </p:nvSpPr>
          <p:spPr>
            <a:xfrm>
              <a:off x="4300538" y="3003550"/>
              <a:ext cx="1123186"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Sikat gigi mekatronik</a:t>
              </a:r>
            </a:p>
          </p:txBody>
        </p:sp>
        <p:sp>
          <p:nvSpPr>
            <p:cNvPr id="32" name="TextBox 32"/>
            <p:cNvSpPr txBox="1"/>
            <p:nvPr/>
          </p:nvSpPr>
          <p:spPr>
            <a:xfrm>
              <a:off x="7234238" y="3003550"/>
              <a:ext cx="132321"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12</a:t>
              </a:r>
            </a:p>
          </p:txBody>
        </p:sp>
        <p:sp>
          <p:nvSpPr>
            <p:cNvPr id="33" name="TextBox 33"/>
            <p:cNvSpPr txBox="1"/>
            <p:nvPr/>
          </p:nvSpPr>
          <p:spPr>
            <a:xfrm>
              <a:off x="7900988" y="3016250"/>
              <a:ext cx="1802740"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Gerakan menyikat membaik; stres turun</a:t>
              </a:r>
            </a:p>
          </p:txBody>
        </p:sp>
        <p:sp>
          <p:nvSpPr>
            <p:cNvPr id="34" name="Line 34"/>
            <p:cNvSpPr/>
            <p:nvPr/>
          </p:nvSpPr>
          <p:spPr>
            <a:xfrm>
              <a:off x="4305300" y="3200400"/>
              <a:ext cx="7277100" cy="9525"/>
            </a:xfrm>
            <a:custGeom>
              <a:avLst/>
              <a:gdLst/>
              <a:ahLst/>
              <a:cxnLst/>
              <a:rect l="l" t="t" r="r" b="b"/>
              <a:pathLst>
                <a:path w="7277100" h="9525">
                  <a:moveTo>
                    <a:pt x="0" y="0"/>
                  </a:moveTo>
                  <a:lnTo>
                    <a:pt x="7277100" y="0"/>
                  </a:lnTo>
                </a:path>
              </a:pathLst>
            </a:custGeom>
            <a:noFill/>
            <a:ln w="7620">
              <a:solidFill>
                <a:srgbClr val="D6D9DE"/>
              </a:solidFill>
            </a:ln>
          </p:spPr>
        </p:sp>
        <p:sp>
          <p:nvSpPr>
            <p:cNvPr id="35" name="TextBox 35"/>
            <p:cNvSpPr txBox="1"/>
            <p:nvPr/>
          </p:nvSpPr>
          <p:spPr>
            <a:xfrm>
              <a:off x="4300538" y="3327400"/>
              <a:ext cx="1417918"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Social stories (prasekolah)</a:t>
              </a:r>
            </a:p>
          </p:txBody>
        </p:sp>
        <p:sp>
          <p:nvSpPr>
            <p:cNvPr id="36" name="TextBox 36"/>
            <p:cNvSpPr txBox="1"/>
            <p:nvPr/>
          </p:nvSpPr>
          <p:spPr>
            <a:xfrm>
              <a:off x="7234238" y="3327400"/>
              <a:ext cx="193719"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181</a:t>
              </a:r>
            </a:p>
          </p:txBody>
        </p:sp>
        <p:sp>
          <p:nvSpPr>
            <p:cNvPr id="37" name="TextBox 37"/>
            <p:cNvSpPr txBox="1"/>
            <p:nvPr/>
          </p:nvSpPr>
          <p:spPr>
            <a:xfrm>
              <a:off x="7900988" y="3340100"/>
              <a:ext cx="2339662"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Penyikatan, kebersihan, gingiva membaik (p &lt; .001)</a:t>
              </a:r>
            </a:p>
          </p:txBody>
        </p:sp>
        <p:sp>
          <p:nvSpPr>
            <p:cNvPr id="38" name="Line 38"/>
            <p:cNvSpPr/>
            <p:nvPr/>
          </p:nvSpPr>
          <p:spPr>
            <a:xfrm>
              <a:off x="4305300" y="3524250"/>
              <a:ext cx="7277100" cy="9525"/>
            </a:xfrm>
            <a:custGeom>
              <a:avLst/>
              <a:gdLst/>
              <a:ahLst/>
              <a:cxnLst/>
              <a:rect l="l" t="t" r="r" b="b"/>
              <a:pathLst>
                <a:path w="7277100" h="9525">
                  <a:moveTo>
                    <a:pt x="0" y="0"/>
                  </a:moveTo>
                  <a:lnTo>
                    <a:pt x="7277100" y="0"/>
                  </a:lnTo>
                </a:path>
              </a:pathLst>
            </a:custGeom>
            <a:noFill/>
            <a:ln w="7620">
              <a:solidFill>
                <a:srgbClr val="D6D9DE"/>
              </a:solidFill>
            </a:ln>
          </p:spPr>
        </p:sp>
        <p:sp>
          <p:nvSpPr>
            <p:cNvPr id="39" name="TextBox 39"/>
            <p:cNvSpPr txBox="1"/>
            <p:nvPr/>
          </p:nvSpPr>
          <p:spPr>
            <a:xfrm>
              <a:off x="4300538" y="3651250"/>
              <a:ext cx="1282811"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Social stories (replikasi)</a:t>
              </a:r>
            </a:p>
          </p:txBody>
        </p:sp>
        <p:sp>
          <p:nvSpPr>
            <p:cNvPr id="40" name="TextBox 40"/>
            <p:cNvSpPr txBox="1"/>
            <p:nvPr/>
          </p:nvSpPr>
          <p:spPr>
            <a:xfrm>
              <a:off x="7234238" y="3651250"/>
              <a:ext cx="132321"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32</a:t>
              </a:r>
            </a:p>
          </p:txBody>
        </p:sp>
        <p:sp>
          <p:nvSpPr>
            <p:cNvPr id="41" name="TextBox 41"/>
            <p:cNvSpPr txBox="1"/>
            <p:nvPr/>
          </p:nvSpPr>
          <p:spPr>
            <a:xfrm>
              <a:off x="7900988" y="3663950"/>
              <a:ext cx="1819397"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Frekuensi menyikat naik; tidak signifikan</a:t>
              </a:r>
            </a:p>
          </p:txBody>
        </p:sp>
        <p:sp>
          <p:nvSpPr>
            <p:cNvPr id="42" name="Line 42"/>
            <p:cNvSpPr/>
            <p:nvPr/>
          </p:nvSpPr>
          <p:spPr>
            <a:xfrm>
              <a:off x="4305300" y="3848100"/>
              <a:ext cx="7277100" cy="9525"/>
            </a:xfrm>
            <a:custGeom>
              <a:avLst/>
              <a:gdLst/>
              <a:ahLst/>
              <a:cxnLst/>
              <a:rect l="l" t="t" r="r" b="b"/>
              <a:pathLst>
                <a:path w="7277100" h="9525">
                  <a:moveTo>
                    <a:pt x="0" y="0"/>
                  </a:moveTo>
                  <a:lnTo>
                    <a:pt x="7277100" y="0"/>
                  </a:lnTo>
                </a:path>
              </a:pathLst>
            </a:custGeom>
            <a:noFill/>
            <a:ln w="7620">
              <a:solidFill>
                <a:srgbClr val="D6D9DE"/>
              </a:solidFill>
            </a:ln>
          </p:spPr>
        </p:sp>
        <p:sp>
          <p:nvSpPr>
            <p:cNvPr id="43" name="TextBox 43"/>
            <p:cNvSpPr txBox="1"/>
            <p:nvPr/>
          </p:nvSpPr>
          <p:spPr>
            <a:xfrm>
              <a:off x="4300538" y="3975100"/>
              <a:ext cx="703131"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Aplikasi iPad</a:t>
              </a:r>
            </a:p>
          </p:txBody>
        </p:sp>
        <p:sp>
          <p:nvSpPr>
            <p:cNvPr id="44" name="TextBox 44"/>
            <p:cNvSpPr txBox="1"/>
            <p:nvPr/>
          </p:nvSpPr>
          <p:spPr>
            <a:xfrm>
              <a:off x="7234238" y="3975100"/>
              <a:ext cx="132321"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52</a:t>
              </a:r>
            </a:p>
          </p:txBody>
        </p:sp>
        <p:sp>
          <p:nvSpPr>
            <p:cNvPr id="45" name="TextBox 45"/>
            <p:cNvSpPr txBox="1"/>
            <p:nvPr/>
          </p:nvSpPr>
          <p:spPr>
            <a:xfrm>
              <a:off x="7900988" y="3987800"/>
              <a:ext cx="1728157"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Kepatuhan pemeriksaan naik (p &lt; .01)</a:t>
              </a:r>
            </a:p>
          </p:txBody>
        </p:sp>
        <p:sp>
          <p:nvSpPr>
            <p:cNvPr id="46" name="Line 46"/>
            <p:cNvSpPr/>
            <p:nvPr/>
          </p:nvSpPr>
          <p:spPr>
            <a:xfrm>
              <a:off x="4305300" y="4171950"/>
              <a:ext cx="7277100" cy="9525"/>
            </a:xfrm>
            <a:custGeom>
              <a:avLst/>
              <a:gdLst/>
              <a:ahLst/>
              <a:cxnLst/>
              <a:rect l="l" t="t" r="r" b="b"/>
              <a:pathLst>
                <a:path w="7277100" h="9525">
                  <a:moveTo>
                    <a:pt x="0" y="0"/>
                  </a:moveTo>
                  <a:lnTo>
                    <a:pt x="7277100" y="0"/>
                  </a:lnTo>
                </a:path>
              </a:pathLst>
            </a:custGeom>
            <a:noFill/>
            <a:ln w="7620">
              <a:solidFill>
                <a:srgbClr val="D6D9DE"/>
              </a:solidFill>
            </a:ln>
          </p:spPr>
        </p:sp>
        <p:sp>
          <p:nvSpPr>
            <p:cNvPr id="47" name="TextBox 47"/>
            <p:cNvSpPr txBox="1"/>
            <p:nvPr/>
          </p:nvSpPr>
          <p:spPr>
            <a:xfrm>
              <a:off x="4300538" y="4298950"/>
              <a:ext cx="1197101" cy="161925"/>
            </a:xfrm>
            <a:prstGeom prst="rect">
              <a:avLst/>
            </a:prstGeom>
            <a:noFill/>
            <a:ln>
              <a:noFill/>
            </a:ln>
          </p:spPr>
          <p:txBody>
            <a:bodyPr wrap="none" lIns="0" tIns="0" rIns="0" bIns="0" anchor="t" anchorCtr="0">
              <a:spAutoFit/>
            </a:bodyPr>
            <a:lstStyle/>
            <a:p>
              <a:pPr algn="l"/>
              <a:r>
                <a:rPr lang="id" sz="820" b="1" dirty="0">
                  <a:solidFill>
                    <a:srgbClr val="111318"/>
                  </a:solidFill>
                  <a:latin typeface="+mn-lt"/>
                  <a:ea typeface="+mn-ea"/>
                  <a:cs typeface="+mn-cs"/>
                </a:rPr>
                <a:t>Program psikoedukasi</a:t>
              </a:r>
            </a:p>
          </p:txBody>
        </p:sp>
        <p:sp>
          <p:nvSpPr>
            <p:cNvPr id="48" name="TextBox 48"/>
            <p:cNvSpPr txBox="1"/>
            <p:nvPr/>
          </p:nvSpPr>
          <p:spPr>
            <a:xfrm>
              <a:off x="7234238" y="4298950"/>
              <a:ext cx="132321" cy="161925"/>
            </a:xfrm>
            <a:prstGeom prst="rect">
              <a:avLst/>
            </a:prstGeom>
            <a:noFill/>
            <a:ln>
              <a:noFill/>
            </a:ln>
          </p:spPr>
          <p:txBody>
            <a:bodyPr wrap="none" lIns="0" tIns="0" rIns="0" bIns="0" anchor="t" anchorCtr="0">
              <a:spAutoFit/>
            </a:bodyPr>
            <a:lstStyle/>
            <a:p>
              <a:pPr algn="l"/>
              <a:r>
                <a:rPr lang="id" sz="820" b="1" dirty="0">
                  <a:solidFill>
                    <a:srgbClr val="E8000D"/>
                  </a:solidFill>
                  <a:latin typeface="+mn-lt"/>
                  <a:ea typeface="+mn-ea"/>
                  <a:cs typeface="+mn-cs"/>
                </a:rPr>
                <a:t>74</a:t>
              </a:r>
            </a:p>
          </p:txBody>
        </p:sp>
        <p:sp>
          <p:nvSpPr>
            <p:cNvPr id="49" name="TextBox 49"/>
            <p:cNvSpPr txBox="1"/>
            <p:nvPr/>
          </p:nvSpPr>
          <p:spPr>
            <a:xfrm>
              <a:off x="7900988" y="4311650"/>
              <a:ext cx="2216584"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Langkah pemeriksaan &amp; perilaku naik (p &lt; .0001)</a:t>
              </a:r>
            </a:p>
          </p:txBody>
        </p:sp>
        <p:sp>
          <p:nvSpPr>
            <p:cNvPr id="50" name="Line 50"/>
            <p:cNvSpPr/>
            <p:nvPr/>
          </p:nvSpPr>
          <p:spPr>
            <a:xfrm>
              <a:off x="4305300" y="4495800"/>
              <a:ext cx="7277100" cy="9525"/>
            </a:xfrm>
            <a:custGeom>
              <a:avLst/>
              <a:gdLst/>
              <a:ahLst/>
              <a:cxnLst/>
              <a:rect l="l" t="t" r="r" b="b"/>
              <a:pathLst>
                <a:path w="7277100" h="9525">
                  <a:moveTo>
                    <a:pt x="0" y="0"/>
                  </a:moveTo>
                  <a:lnTo>
                    <a:pt x="7277100" y="0"/>
                  </a:lnTo>
                </a:path>
              </a:pathLst>
            </a:custGeom>
            <a:noFill/>
            <a:ln w="7620">
              <a:solidFill>
                <a:srgbClr val="D6D9DE"/>
              </a:solidFill>
            </a:ln>
          </p:spPr>
        </p:sp>
        <p:sp>
          <p:nvSpPr>
            <p:cNvPr id="51" name="Rectangle 51"/>
            <p:cNvSpPr/>
            <p:nvPr/>
          </p:nvSpPr>
          <p:spPr>
            <a:xfrm>
              <a:off x="4305300" y="4876800"/>
              <a:ext cx="7277100" cy="1028700"/>
            </a:xfrm>
            <a:prstGeom prst="rect">
              <a:avLst/>
            </a:prstGeom>
            <a:solidFill>
              <a:srgbClr val="F3F3F1"/>
            </a:solidFill>
            <a:ln>
              <a:noFill/>
            </a:ln>
          </p:spPr>
        </p:sp>
        <p:sp>
          <p:nvSpPr>
            <p:cNvPr id="52" name="TextBox 52"/>
            <p:cNvSpPr txBox="1"/>
            <p:nvPr/>
          </p:nvSpPr>
          <p:spPr>
            <a:xfrm>
              <a:off x="4529138" y="5073650"/>
              <a:ext cx="1297099" cy="134302"/>
            </a:xfrm>
            <a:prstGeom prst="rect">
              <a:avLst/>
            </a:prstGeom>
            <a:noFill/>
            <a:ln>
              <a:noFill/>
            </a:ln>
          </p:spPr>
          <p:txBody>
            <a:bodyPr wrap="none" lIns="0" tIns="0" rIns="0" bIns="0" anchor="t" anchorCtr="0">
              <a:spAutoFit/>
            </a:bodyPr>
            <a:lstStyle/>
            <a:p>
              <a:pPr algn="l"/>
              <a:r>
                <a:rPr lang="id" sz="680" b="1" spc="135" dirty="0">
                  <a:solidFill>
                    <a:srgbClr val="E8000D"/>
                  </a:solidFill>
                  <a:latin typeface="+mn-lt"/>
                  <a:ea typeface="+mn-ea"/>
                  <a:cs typeface="+mn-cs"/>
                </a:rPr>
                <a:t>CELAH KOMPETENSI</a:t>
              </a:r>
            </a:p>
          </p:txBody>
        </p:sp>
        <p:sp>
          <p:nvSpPr>
            <p:cNvPr id="53" name="TextBox 53"/>
            <p:cNvSpPr txBox="1"/>
            <p:nvPr/>
          </p:nvSpPr>
          <p:spPr>
            <a:xfrm>
              <a:off x="4523994" y="5264150"/>
              <a:ext cx="764183" cy="381381"/>
            </a:xfrm>
            <a:prstGeom prst="rect">
              <a:avLst/>
            </a:prstGeom>
            <a:noFill/>
            <a:ln>
              <a:noFill/>
            </a:ln>
          </p:spPr>
          <p:txBody>
            <a:bodyPr wrap="none" lIns="0" tIns="0" rIns="0" bIns="0" anchor="t" anchorCtr="0">
              <a:spAutoFit/>
            </a:bodyPr>
            <a:lstStyle/>
            <a:p>
              <a:pPr algn="l"/>
              <a:r>
                <a:rPr lang="id" sz="1950" b="1" dirty="0">
                  <a:solidFill>
                    <a:srgbClr val="111318"/>
                  </a:solidFill>
                  <a:latin typeface="+mn-lt"/>
                  <a:ea typeface="+mn-ea"/>
                  <a:cs typeface="+mn-cs"/>
                </a:rPr>
                <a:t>44,7%</a:t>
              </a:r>
            </a:p>
          </p:txBody>
        </p:sp>
        <p:sp>
          <p:nvSpPr>
            <p:cNvPr id="54" name="TextBox 54"/>
            <p:cNvSpPr txBox="1"/>
            <p:nvPr/>
          </p:nvSpPr>
          <p:spPr>
            <a:xfrm>
              <a:off x="5386388" y="5403850"/>
              <a:ext cx="2526764" cy="161925"/>
            </a:xfrm>
            <a:prstGeom prst="rect">
              <a:avLst/>
            </a:prstGeom>
            <a:noFill/>
            <a:ln>
              <a:noFill/>
            </a:ln>
          </p:spPr>
          <p:txBody>
            <a:bodyPr wrap="none" lIns="0" tIns="0" rIns="0" bIns="0" anchor="t" anchorCtr="0">
              <a:spAutoFit/>
            </a:bodyPr>
            <a:lstStyle/>
            <a:p>
              <a:pPr algn="l"/>
              <a:r>
                <a:rPr lang="id" sz="820" dirty="0">
                  <a:solidFill>
                    <a:srgbClr val="111318"/>
                  </a:solidFill>
                  <a:latin typeface="+mn-lt"/>
                  <a:ea typeface="+mn-ea"/>
                  <a:cs typeface="+mn-cs"/>
                </a:rPr>
                <a:t>DHP di Inggris pernah mendapat pelatihan autisme</a:t>
              </a:r>
            </a:p>
          </p:txBody>
        </p:sp>
        <p:sp>
          <p:nvSpPr>
            <p:cNvPr id="55" name="TextBox 55"/>
            <p:cNvSpPr txBox="1"/>
            <p:nvPr/>
          </p:nvSpPr>
          <p:spPr>
            <a:xfrm>
              <a:off x="4529138" y="5626100"/>
              <a:ext cx="3557233"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14 studi menyebut kurangnya pengetahuan tim gigi sebagai penghalang akses.</a:t>
              </a:r>
            </a:p>
          </p:txBody>
        </p:sp>
        <p:sp>
          <p:nvSpPr>
            <p:cNvPr id="56" name="TextBox 56"/>
            <p:cNvSpPr txBox="1"/>
            <p:nvPr/>
          </p:nvSpPr>
          <p:spPr>
            <a:xfrm>
              <a:off x="4529138" y="5759450"/>
              <a:ext cx="3531630"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DHP hanya ‘somewhat confident’ merawat pasien autistik (Eades et al., 2019).</a:t>
              </a:r>
            </a:p>
          </p:txBody>
        </p:sp>
      </p:grpSp>
      <p:grpSp>
        <p:nvGrpSpPr>
          <p:cNvPr id="61" name="footer"/>
          <p:cNvGrpSpPr/>
          <p:nvPr/>
        </p:nvGrpSpPr>
        <p:grpSpPr>
          <a:xfrm>
            <a:off x="604838" y="6324600"/>
            <a:ext cx="10982325" cy="268288"/>
            <a:chOff x="604838" y="6324600"/>
            <a:chExt cx="10982325" cy="268288"/>
          </a:xfrm>
        </p:grpSpPr>
        <p:sp>
          <p:nvSpPr>
            <p:cNvPr id="58" name="Line 58"/>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59" name="TextBox 59"/>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60" name="TextBox 60"/>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078674"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10 · TEMA 8–9</a:t>
              </a:r>
            </a:p>
          </p:txBody>
        </p:sp>
        <p:sp>
          <p:nvSpPr>
            <p:cNvPr id="3" name="TextBox 3"/>
            <p:cNvSpPr txBox="1"/>
            <p:nvPr/>
          </p:nvSpPr>
          <p:spPr>
            <a:xfrm>
              <a:off x="595503" y="685800"/>
              <a:ext cx="10503272"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Kemitraan dan percakapan yang membangun kepercayaan</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11 / 16</a:t>
              </a:r>
            </a:p>
          </p:txBody>
        </p:sp>
      </p:grpSp>
      <p:grpSp>
        <p:nvGrpSpPr>
          <p:cNvPr id="19" name="empower"/>
          <p:cNvGrpSpPr/>
          <p:nvPr/>
        </p:nvGrpSpPr>
        <p:grpSpPr>
          <a:xfrm>
            <a:off x="604076" y="1581150"/>
            <a:ext cx="10978324" cy="4438650"/>
            <a:chOff x="604076" y="1581150"/>
            <a:chExt cx="10978324" cy="4438650"/>
          </a:xfrm>
        </p:grpSpPr>
        <p:sp>
          <p:nvSpPr>
            <p:cNvPr id="8" name="TextBox 8"/>
            <p:cNvSpPr txBox="1"/>
            <p:nvPr/>
          </p:nvSpPr>
          <p:spPr>
            <a:xfrm>
              <a:off x="604838" y="1708150"/>
              <a:ext cx="144437" cy="161925"/>
            </a:xfrm>
            <a:prstGeom prst="rect">
              <a:avLst/>
            </a:prstGeom>
            <a:noFill/>
            <a:ln>
              <a:noFill/>
            </a:ln>
          </p:spPr>
          <p:txBody>
            <a:bodyPr wrap="none" lIns="0" tIns="0" rIns="0" bIns="0" anchor="t" anchorCtr="0">
              <a:spAutoFit/>
            </a:bodyPr>
            <a:lstStyle/>
            <a:p>
              <a:pPr algn="l"/>
              <a:r>
                <a:rPr lang="id" sz="820" b="1" spc="90" dirty="0">
                  <a:solidFill>
                    <a:srgbClr val="E8000D"/>
                  </a:solidFill>
                  <a:latin typeface="+mn-lt"/>
                  <a:ea typeface="+mn-ea"/>
                  <a:cs typeface="+mn-cs"/>
                </a:rPr>
                <a:t>08</a:t>
              </a:r>
            </a:p>
          </p:txBody>
        </p:sp>
        <p:sp>
          <p:nvSpPr>
            <p:cNvPr id="9" name="TextBox 9"/>
            <p:cNvSpPr txBox="1"/>
            <p:nvPr/>
          </p:nvSpPr>
          <p:spPr>
            <a:xfrm>
              <a:off x="926211" y="1631950"/>
              <a:ext cx="3505563" cy="278702"/>
            </a:xfrm>
            <a:prstGeom prst="rect">
              <a:avLst/>
            </a:prstGeom>
            <a:noFill/>
            <a:ln>
              <a:noFill/>
            </a:ln>
          </p:spPr>
          <p:txBody>
            <a:bodyPr wrap="none" lIns="0" tIns="0" rIns="0" bIns="0" anchor="t" anchorCtr="0">
              <a:spAutoFit/>
            </a:bodyPr>
            <a:lstStyle/>
            <a:p>
              <a:pPr algn="l"/>
              <a:r>
                <a:rPr lang="id" sz="1420" b="1" dirty="0">
                  <a:solidFill>
                    <a:srgbClr val="111318"/>
                  </a:solidFill>
                  <a:latin typeface="+mn-lt"/>
                  <a:ea typeface="+mn-ea"/>
                  <a:cs typeface="+mn-cs"/>
                </a:rPr>
                <a:t>Pemberdayaan orang tua &amp; kolaborasi</a:t>
              </a:r>
            </a:p>
          </p:txBody>
        </p:sp>
        <p:sp>
          <p:nvSpPr>
            <p:cNvPr id="10" name="TextBox 10"/>
            <p:cNvSpPr txBox="1"/>
            <p:nvPr/>
          </p:nvSpPr>
          <p:spPr>
            <a:xfrm>
              <a:off x="604838" y="2146300"/>
              <a:ext cx="2970809" cy="519112"/>
            </a:xfrm>
            <a:prstGeom prst="rect">
              <a:avLst/>
            </a:prstGeom>
            <a:noFill/>
            <a:ln>
              <a:noFill/>
            </a:ln>
          </p:spPr>
          <p:txBody>
            <a:bodyPr wrap="none" lIns="0" tIns="0" rIns="0" bIns="0" anchor="t" anchorCtr="0">
              <a:spAutoFit/>
            </a:bodyPr>
            <a:lstStyle/>
            <a:p>
              <a:pPr algn="l">
                <a:lnSpc>
                  <a:spcPts val="1350"/>
                </a:lnSpc>
              </a:pPr>
              <a:r>
                <a:rPr lang="id" sz="900" dirty="0">
                  <a:solidFill>
                    <a:srgbClr val="585E66"/>
                  </a:solidFill>
                  <a:latin typeface="+mn-lt"/>
                  <a:ea typeface="+mn-ea"/>
                  <a:cs typeface="+mn-cs"/>
                </a:rPr>
                <a:t>Orang tua adalah pemegang data klinis yang paling akurat</a:t>
              </a:r>
              <a:br>
                <a:rPr lang="id" sz="900" dirty="0">
                  <a:solidFill>
                    <a:srgbClr val="585E66"/>
                  </a:solidFill>
                  <a:latin typeface="+mn-lt"/>
                  <a:ea typeface="+mn-ea"/>
                  <a:cs typeface="+mn-cs"/>
                </a:rPr>
              </a:br>
              <a:r>
                <a:rPr lang="id" sz="900" dirty="0">
                  <a:solidFill>
                    <a:srgbClr val="585E66"/>
                  </a:solidFill>
                  <a:latin typeface="+mn-lt"/>
                  <a:ea typeface="+mn-ea"/>
                  <a:cs typeface="+mn-cs"/>
                </a:rPr>
                <a:t>tentang anaknya: pemicu sensorik, isyarat awal distress,</a:t>
              </a:r>
              <a:br>
                <a:rPr lang="id" sz="900" dirty="0">
                  <a:solidFill>
                    <a:srgbClr val="585E66"/>
                  </a:solidFill>
                  <a:latin typeface="+mn-lt"/>
                  <a:ea typeface="+mn-ea"/>
                  <a:cs typeface="+mn-cs"/>
                </a:rPr>
              </a:br>
              <a:r>
                <a:rPr lang="id" sz="900" dirty="0">
                  <a:solidFill>
                    <a:srgbClr val="585E66"/>
                  </a:solidFill>
                  <a:latin typeface="+mn-lt"/>
                  <a:ea typeface="+mn-ea"/>
                  <a:cs typeface="+mn-cs"/>
                </a:rPr>
                <a:t>dan penguatan positif yang berhasil di rumah.</a:t>
              </a:r>
            </a:p>
          </p:txBody>
        </p:sp>
        <p:sp>
          <p:nvSpPr>
            <p:cNvPr id="11" name="Line 11"/>
            <p:cNvSpPr/>
            <p:nvPr/>
          </p:nvSpPr>
          <p:spPr>
            <a:xfrm>
              <a:off x="609600" y="3009900"/>
              <a:ext cx="6438900" cy="9525"/>
            </a:xfrm>
            <a:custGeom>
              <a:avLst/>
              <a:gdLst/>
              <a:ahLst/>
              <a:cxnLst/>
              <a:rect l="l" t="t" r="r" b="b"/>
              <a:pathLst>
                <a:path w="6438900" h="9525">
                  <a:moveTo>
                    <a:pt x="0" y="0"/>
                  </a:moveTo>
                  <a:lnTo>
                    <a:pt x="6438900" y="0"/>
                  </a:lnTo>
                </a:path>
              </a:pathLst>
            </a:custGeom>
            <a:noFill/>
            <a:ln w="14288">
              <a:solidFill>
                <a:srgbClr val="111318"/>
              </a:solidFill>
            </a:ln>
          </p:spPr>
        </p:sp>
        <p:sp>
          <p:nvSpPr>
            <p:cNvPr id="12" name="TextBox 12"/>
            <p:cNvSpPr txBox="1"/>
            <p:nvPr/>
          </p:nvSpPr>
          <p:spPr>
            <a:xfrm>
              <a:off x="604076" y="3187700"/>
              <a:ext cx="3104489" cy="841820"/>
            </a:xfrm>
            <a:prstGeom prst="rect">
              <a:avLst/>
            </a:prstGeom>
            <a:noFill/>
            <a:ln>
              <a:noFill/>
            </a:ln>
          </p:spPr>
          <p:txBody>
            <a:bodyPr wrap="none" lIns="0" tIns="0" rIns="0" bIns="0" anchor="t" anchorCtr="0">
              <a:spAutoFit/>
            </a:bodyPr>
            <a:lstStyle/>
            <a:p>
              <a:pPr algn="l">
                <a:lnSpc>
                  <a:spcPts val="1650"/>
                </a:lnSpc>
              </a:pPr>
              <a:r>
                <a:rPr lang="id" sz="1090" i="1" dirty="0">
                  <a:solidFill>
                    <a:srgbClr val="111318"/>
                  </a:solidFill>
                  <a:latin typeface="+mn-lt"/>
                  <a:ea typeface="+mn-ea"/>
                  <a:cs typeface="+mn-cs"/>
                </a:rPr>
                <a:t>“Tidak pernah ada yang bertanya kepada saya,</a:t>
              </a:r>
              <a:br>
                <a:rPr lang="id" sz="1090" i="1" dirty="0">
                  <a:solidFill>
                    <a:srgbClr val="111318"/>
                  </a:solidFill>
                  <a:latin typeface="+mn-lt"/>
                  <a:ea typeface="+mn-ea"/>
                  <a:cs typeface="+mn-cs"/>
                </a:rPr>
              </a:br>
              <a:r>
                <a:rPr lang="id" sz="1090" i="1" dirty="0">
                  <a:solidFill>
                    <a:srgbClr val="111318"/>
                  </a:solidFill>
                  <a:latin typeface="+mn-lt"/>
                  <a:ea typeface="+mn-ea"/>
                  <a:cs typeface="+mn-cs"/>
                </a:rPr>
                <a:t>padahal saya akan senang sekali jika ada yang</a:t>
              </a:r>
              <a:br>
                <a:rPr lang="id" sz="1090" i="1" dirty="0">
                  <a:solidFill>
                    <a:srgbClr val="111318"/>
                  </a:solidFill>
                  <a:latin typeface="+mn-lt"/>
                  <a:ea typeface="+mn-ea"/>
                  <a:cs typeface="+mn-cs"/>
                </a:rPr>
              </a:br>
              <a:r>
                <a:rPr lang="id" sz="1090" i="1" dirty="0">
                  <a:solidFill>
                    <a:srgbClr val="111318"/>
                  </a:solidFill>
                  <a:latin typeface="+mn-lt"/>
                  <a:ea typeface="+mn-ea"/>
                  <a:cs typeface="+mn-cs"/>
                </a:rPr>
                <a:t>ingin tahu apakah ada hal khusus yang perlu</a:t>
              </a:r>
              <a:br>
                <a:rPr lang="id" sz="1090" i="1" dirty="0">
                  <a:solidFill>
                    <a:srgbClr val="111318"/>
                  </a:solidFill>
                  <a:latin typeface="+mn-lt"/>
                  <a:ea typeface="+mn-ea"/>
                  <a:cs typeface="+mn-cs"/>
                </a:rPr>
              </a:br>
              <a:r>
                <a:rPr lang="id" sz="1090" i="1" dirty="0">
                  <a:solidFill>
                    <a:srgbClr val="111318"/>
                  </a:solidFill>
                  <a:latin typeface="+mn-lt"/>
                  <a:ea typeface="+mn-ea"/>
                  <a:cs typeface="+mn-cs"/>
                </a:rPr>
                <a:t>kami lakukan berbeda karena autisme anak saya.”</a:t>
              </a:r>
            </a:p>
          </p:txBody>
        </p:sp>
        <p:sp>
          <p:nvSpPr>
            <p:cNvPr id="13" name="TextBox 13"/>
            <p:cNvSpPr txBox="1"/>
            <p:nvPr/>
          </p:nvSpPr>
          <p:spPr>
            <a:xfrm>
              <a:off x="604838" y="4216400"/>
              <a:ext cx="1478388"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 Orang tua, Lewis et al. (2015)</a:t>
              </a:r>
            </a:p>
          </p:txBody>
        </p:sp>
        <p:sp>
          <p:nvSpPr>
            <p:cNvPr id="14" name="TextBox 14"/>
            <p:cNvSpPr txBox="1"/>
            <p:nvPr/>
          </p:nvSpPr>
          <p:spPr>
            <a:xfrm>
              <a:off x="604838" y="4464050"/>
              <a:ext cx="1837716" cy="140494"/>
            </a:xfrm>
            <a:prstGeom prst="rect">
              <a:avLst/>
            </a:prstGeom>
            <a:noFill/>
            <a:ln>
              <a:noFill/>
            </a:ln>
          </p:spPr>
          <p:txBody>
            <a:bodyPr wrap="none" lIns="0" tIns="0" rIns="0" bIns="0" anchor="t" anchorCtr="0">
              <a:spAutoFit/>
            </a:bodyPr>
            <a:lstStyle/>
            <a:p>
              <a:pPr algn="l"/>
              <a:r>
                <a:rPr lang="id" sz="710" b="1" spc="150" dirty="0">
                  <a:solidFill>
                    <a:srgbClr val="8B9198"/>
                  </a:solidFill>
                  <a:latin typeface="+mn-lt"/>
                  <a:ea typeface="+mn-ea"/>
                  <a:cs typeface="+mn-cs"/>
                </a:rPr>
                <a:t>YANG DIMINTA ORANG TUA</a:t>
              </a:r>
            </a:p>
          </p:txBody>
        </p:sp>
        <p:sp>
          <p:nvSpPr>
            <p:cNvPr id="15" name="TextBox 15"/>
            <p:cNvSpPr txBox="1"/>
            <p:nvPr/>
          </p:nvSpPr>
          <p:spPr>
            <a:xfrm>
              <a:off x="604838" y="4660900"/>
              <a:ext cx="3060640" cy="504825"/>
            </a:xfrm>
            <a:prstGeom prst="rect">
              <a:avLst/>
            </a:prstGeom>
            <a:noFill/>
            <a:ln>
              <a:noFill/>
            </a:ln>
          </p:spPr>
          <p:txBody>
            <a:bodyPr wrap="none" lIns="0" tIns="0" rIns="0" bIns="0" anchor="t" anchorCtr="0">
              <a:spAutoFit/>
            </a:bodyPr>
            <a:lstStyle/>
            <a:p>
              <a:pPr algn="l">
                <a:lnSpc>
                  <a:spcPts val="1350"/>
                </a:lnSpc>
              </a:pPr>
              <a:r>
                <a:rPr lang="id" sz="820" dirty="0">
                  <a:solidFill>
                    <a:srgbClr val="585E66"/>
                  </a:solidFill>
                  <a:latin typeface="+mn-lt"/>
                  <a:ea typeface="+mn-ea"/>
                  <a:cs typeface="+mn-cs"/>
                </a:rPr>
                <a:t>Bertanya di muka: ‘apa yang biasanya berhasil untuk anak Anda?’</a:t>
              </a:r>
              <a:br>
                <a:rPr lang="id" sz="820" dirty="0">
                  <a:solidFill>
                    <a:srgbClr val="585E66"/>
                  </a:solidFill>
                  <a:latin typeface="+mn-lt"/>
                  <a:ea typeface="+mn-ea"/>
                  <a:cs typeface="+mn-cs"/>
                </a:rPr>
              </a:br>
              <a:r>
                <a:rPr lang="id" sz="820" dirty="0">
                  <a:solidFill>
                    <a:srgbClr val="585E66"/>
                  </a:solidFill>
                  <a:latin typeface="+mn-lt"/>
                  <a:ea typeface="+mn-ea"/>
                  <a:cs typeface="+mn-cs"/>
                </a:rPr>
                <a:t>Memakai strategi rumah di klinik; menghargai expertise orang tua;</a:t>
              </a:r>
              <a:br>
                <a:rPr lang="id" sz="820" dirty="0">
                  <a:solidFill>
                    <a:srgbClr val="585E66"/>
                  </a:solidFill>
                  <a:latin typeface="+mn-lt"/>
                  <a:ea typeface="+mn-ea"/>
                  <a:cs typeface="+mn-cs"/>
                </a:rPr>
              </a:br>
              <a:r>
                <a:rPr lang="id" sz="820" dirty="0">
                  <a:solidFill>
                    <a:srgbClr val="585E66"/>
                  </a:solidFill>
                  <a:latin typeface="+mn-lt"/>
                  <a:ea typeface="+mn-ea"/>
                  <a:cs typeface="+mn-cs"/>
                </a:rPr>
                <a:t>memberi ruang agar orang tua merasa berdaya bersuara.</a:t>
              </a:r>
            </a:p>
          </p:txBody>
        </p:sp>
        <p:sp>
          <p:nvSpPr>
            <p:cNvPr id="16" name="Line 16"/>
            <p:cNvSpPr/>
            <p:nvPr/>
          </p:nvSpPr>
          <p:spPr>
            <a:xfrm>
              <a:off x="609600" y="5295900"/>
              <a:ext cx="6438900" cy="9525"/>
            </a:xfrm>
            <a:custGeom>
              <a:avLst/>
              <a:gdLst/>
              <a:ahLst/>
              <a:cxnLst/>
              <a:rect l="l" t="t" r="r" b="b"/>
              <a:pathLst>
                <a:path w="6438900" h="9525">
                  <a:moveTo>
                    <a:pt x="0" y="0"/>
                  </a:moveTo>
                  <a:lnTo>
                    <a:pt x="6438900" y="0"/>
                  </a:lnTo>
                </a:path>
              </a:pathLst>
            </a:custGeom>
            <a:noFill/>
            <a:ln w="14288">
              <a:solidFill>
                <a:srgbClr val="111318"/>
              </a:solidFill>
            </a:ln>
          </p:spPr>
        </p:sp>
        <p:sp>
          <p:nvSpPr>
            <p:cNvPr id="17" name="TextBox 17"/>
            <p:cNvSpPr txBox="1"/>
            <p:nvPr/>
          </p:nvSpPr>
          <p:spPr>
            <a:xfrm>
              <a:off x="604838" y="5461000"/>
              <a:ext cx="2898634" cy="340519"/>
            </a:xfrm>
            <a:prstGeom prst="rect">
              <a:avLst/>
            </a:prstGeom>
            <a:noFill/>
            <a:ln>
              <a:noFill/>
            </a:ln>
          </p:spPr>
          <p:txBody>
            <a:bodyPr wrap="none" lIns="0" tIns="0" rIns="0" bIns="0" anchor="t" anchorCtr="0">
              <a:spAutoFit/>
            </a:bodyPr>
            <a:lstStyle/>
            <a:p>
              <a:pPr algn="l">
                <a:lnSpc>
                  <a:spcPts val="1350"/>
                </a:lnSpc>
              </a:pPr>
              <a:r>
                <a:rPr lang="id" sz="860" b="1" dirty="0">
                  <a:solidFill>
                    <a:srgbClr val="111318"/>
                  </a:solidFill>
                  <a:latin typeface="+mn-lt"/>
                  <a:ea typeface="+mn-ea"/>
                  <a:cs typeface="+mn-cs"/>
                </a:rPr>
                <a:t>Kolaborasi bukan konsesi — ia menghemat waktu kursi</a:t>
              </a:r>
              <a:br>
                <a:rPr lang="id" sz="860" b="1" dirty="0">
                  <a:solidFill>
                    <a:srgbClr val="111318"/>
                  </a:solidFill>
                  <a:latin typeface="+mn-lt"/>
                  <a:ea typeface="+mn-ea"/>
                  <a:cs typeface="+mn-cs"/>
                </a:rPr>
              </a:br>
              <a:r>
                <a:rPr lang="id" sz="860" b="1" dirty="0">
                  <a:solidFill>
                    <a:srgbClr val="111318"/>
                  </a:solidFill>
                  <a:latin typeface="+mn-lt"/>
                  <a:ea typeface="+mn-ea"/>
                  <a:cs typeface="+mn-cs"/>
                </a:rPr>
                <a:t>dan menurunkan distress pada kunjungan berikutnya.</a:t>
              </a:r>
            </a:p>
          </p:txBody>
        </p:sp>
        <p:sp>
          <p:nvSpPr>
            <p:cNvPr id="18" name="Rectangle 18"/>
            <p:cNvSpPr/>
            <p:nvPr/>
          </p:nvSpPr>
          <p:spPr>
            <a:xfrm>
              <a:off x="7505700" y="1581150"/>
              <a:ext cx="4076700" cy="4438650"/>
            </a:xfrm>
            <a:prstGeom prst="rect">
              <a:avLst/>
            </a:prstGeom>
            <a:solidFill>
              <a:srgbClr val="F3F3F1"/>
            </a:solidFill>
            <a:ln>
              <a:noFill/>
            </a:ln>
          </p:spPr>
        </p:sp>
      </p:grpSp>
      <p:grpSp>
        <p:nvGrpSpPr>
          <p:cNvPr id="32" name="comms"/>
          <p:cNvGrpSpPr/>
          <p:nvPr/>
        </p:nvGrpSpPr>
        <p:grpSpPr>
          <a:xfrm>
            <a:off x="7800594" y="1854200"/>
            <a:ext cx="3477006" cy="4096702"/>
            <a:chOff x="7800594" y="1854200"/>
            <a:chExt cx="3477006" cy="4096702"/>
          </a:xfrm>
        </p:grpSpPr>
        <p:sp>
          <p:nvSpPr>
            <p:cNvPr id="20" name="TextBox 20"/>
            <p:cNvSpPr txBox="1"/>
            <p:nvPr/>
          </p:nvSpPr>
          <p:spPr>
            <a:xfrm>
              <a:off x="7805738" y="1854200"/>
              <a:ext cx="1883741" cy="134302"/>
            </a:xfrm>
            <a:prstGeom prst="rect">
              <a:avLst/>
            </a:prstGeom>
            <a:noFill/>
            <a:ln>
              <a:noFill/>
            </a:ln>
          </p:spPr>
          <p:txBody>
            <a:bodyPr wrap="none" lIns="0" tIns="0" rIns="0" bIns="0" anchor="t" anchorCtr="0">
              <a:spAutoFit/>
            </a:bodyPr>
            <a:lstStyle/>
            <a:p>
              <a:pPr algn="l"/>
              <a:r>
                <a:rPr lang="id" sz="680" b="1" spc="135" dirty="0">
                  <a:solidFill>
                    <a:srgbClr val="E8000D"/>
                  </a:solidFill>
                  <a:latin typeface="+mn-lt"/>
                  <a:ea typeface="+mn-ea"/>
                  <a:cs typeface="+mn-cs"/>
                </a:rPr>
                <a:t>09 · KOMUNIKASI &amp; RAPPORT</a:t>
              </a:r>
            </a:p>
          </p:txBody>
        </p:sp>
        <p:sp>
          <p:nvSpPr>
            <p:cNvPr id="21" name="TextBox 21"/>
            <p:cNvSpPr txBox="1"/>
            <p:nvPr/>
          </p:nvSpPr>
          <p:spPr>
            <a:xfrm>
              <a:off x="7803642" y="2159000"/>
              <a:ext cx="1968980" cy="264033"/>
            </a:xfrm>
            <a:prstGeom prst="rect">
              <a:avLst/>
            </a:prstGeom>
            <a:noFill/>
            <a:ln>
              <a:noFill/>
            </a:ln>
          </p:spPr>
          <p:txBody>
            <a:bodyPr wrap="none" lIns="0" tIns="0" rIns="0" bIns="0" anchor="t" anchorCtr="0">
              <a:spAutoFit/>
            </a:bodyPr>
            <a:lstStyle/>
            <a:p>
              <a:pPr algn="l"/>
              <a:r>
                <a:rPr lang="id" sz="1350" b="1" dirty="0">
                  <a:solidFill>
                    <a:srgbClr val="111318"/>
                  </a:solidFill>
                  <a:latin typeface="+mn-lt"/>
                  <a:ea typeface="+mn-ea"/>
                  <a:cs typeface="+mn-cs"/>
                </a:rPr>
                <a:t>Nyeri yang tak terucap</a:t>
              </a:r>
            </a:p>
          </p:txBody>
        </p:sp>
        <p:sp>
          <p:nvSpPr>
            <p:cNvPr id="22" name="TextBox 22"/>
            <p:cNvSpPr txBox="1"/>
            <p:nvPr/>
          </p:nvSpPr>
          <p:spPr>
            <a:xfrm>
              <a:off x="7805738" y="2476500"/>
              <a:ext cx="2139688" cy="314325"/>
            </a:xfrm>
            <a:prstGeom prst="rect">
              <a:avLst/>
            </a:prstGeom>
            <a:noFill/>
            <a:ln>
              <a:noFill/>
            </a:ln>
          </p:spPr>
          <p:txBody>
            <a:bodyPr wrap="none" lIns="0" tIns="0" rIns="0" bIns="0" anchor="t" anchorCtr="0">
              <a:spAutoFit/>
            </a:bodyPr>
            <a:lstStyle/>
            <a:p>
              <a:pPr algn="l">
                <a:lnSpc>
                  <a:spcPts val="1200"/>
                </a:lnSpc>
              </a:pPr>
              <a:r>
                <a:rPr lang="id" sz="820" dirty="0">
                  <a:solidFill>
                    <a:srgbClr val="585E66"/>
                  </a:solidFill>
                  <a:latin typeface="+mn-lt"/>
                  <a:ea typeface="+mn-ea"/>
                  <a:cs typeface="+mn-cs"/>
                </a:rPr>
                <a:t>Anak sulit menyampaikan sakit gigi, nyeri saat</a:t>
              </a:r>
              <a:br>
                <a:rPr lang="id" sz="820" dirty="0">
                  <a:solidFill>
                    <a:srgbClr val="585E66"/>
                  </a:solidFill>
                  <a:latin typeface="+mn-lt"/>
                  <a:ea typeface="+mn-ea"/>
                  <a:cs typeface="+mn-cs"/>
                </a:rPr>
              </a:br>
              <a:r>
                <a:rPr lang="id" sz="820" dirty="0">
                  <a:solidFill>
                    <a:srgbClr val="585E66"/>
                  </a:solidFill>
                  <a:latin typeface="+mn-lt"/>
                  <a:ea typeface="+mn-ea"/>
                  <a:cs typeface="+mn-cs"/>
                </a:rPr>
                <a:t>perawatan, atau ketidaknyamanan.</a:t>
              </a:r>
            </a:p>
          </p:txBody>
        </p:sp>
        <p:sp>
          <p:nvSpPr>
            <p:cNvPr id="23" name="TextBox 23"/>
            <p:cNvSpPr txBox="1"/>
            <p:nvPr/>
          </p:nvSpPr>
          <p:spPr>
            <a:xfrm>
              <a:off x="7800594" y="2921000"/>
              <a:ext cx="844248" cy="381381"/>
            </a:xfrm>
            <a:prstGeom prst="rect">
              <a:avLst/>
            </a:prstGeom>
            <a:noFill/>
            <a:ln>
              <a:noFill/>
            </a:ln>
          </p:spPr>
          <p:txBody>
            <a:bodyPr wrap="none" lIns="0" tIns="0" rIns="0" bIns="0" anchor="t" anchorCtr="0">
              <a:spAutoFit/>
            </a:bodyPr>
            <a:lstStyle/>
            <a:p>
              <a:pPr algn="l"/>
              <a:r>
                <a:rPr lang="id" sz="1950" b="1" dirty="0">
                  <a:solidFill>
                    <a:srgbClr val="E8000D"/>
                  </a:solidFill>
                  <a:latin typeface="+mn-lt"/>
                  <a:ea typeface="+mn-ea"/>
                  <a:cs typeface="+mn-cs"/>
                </a:rPr>
                <a:t>p = .05</a:t>
              </a:r>
            </a:p>
          </p:txBody>
        </p:sp>
        <p:sp>
          <p:nvSpPr>
            <p:cNvPr id="24" name="TextBox 24"/>
            <p:cNvSpPr txBox="1"/>
            <p:nvPr/>
          </p:nvSpPr>
          <p:spPr>
            <a:xfrm>
              <a:off x="7805738" y="3289300"/>
              <a:ext cx="2229326" cy="298132"/>
            </a:xfrm>
            <a:prstGeom prst="rect">
              <a:avLst/>
            </a:prstGeom>
            <a:noFill/>
            <a:ln>
              <a:noFill/>
            </a:ln>
          </p:spPr>
          <p:txBody>
            <a:bodyPr wrap="none" lIns="0" tIns="0" rIns="0" bIns="0" anchor="t" anchorCtr="0">
              <a:spAutoFit/>
            </a:bodyPr>
            <a:lstStyle/>
            <a:p>
              <a:pPr algn="l">
                <a:lnSpc>
                  <a:spcPts val="1125"/>
                </a:lnSpc>
              </a:pPr>
              <a:r>
                <a:rPr lang="id" sz="790" dirty="0">
                  <a:solidFill>
                    <a:srgbClr val="585E66"/>
                  </a:solidFill>
                  <a:latin typeface="+mn-lt"/>
                  <a:ea typeface="+mn-ea"/>
                  <a:cs typeface="+mn-cs"/>
                </a:rPr>
                <a:t>Anak dengan kesulitan komunikasi/fisik tambahan</a:t>
              </a:r>
              <a:br>
                <a:rPr lang="id" sz="790" dirty="0">
                  <a:solidFill>
                    <a:srgbClr val="585E66"/>
                  </a:solidFill>
                  <a:latin typeface="+mn-lt"/>
                  <a:ea typeface="+mn-ea"/>
                  <a:cs typeface="+mn-cs"/>
                </a:rPr>
              </a:br>
              <a:r>
                <a:rPr lang="id" sz="790" dirty="0">
                  <a:solidFill>
                    <a:srgbClr val="585E66"/>
                  </a:solidFill>
                  <a:latin typeface="+mn-lt"/>
                  <a:ea typeface="+mn-ea"/>
                  <a:cs typeface="+mn-cs"/>
                </a:rPr>
                <a:t>lebih berpeluang memiliki unmet dental needs.</a:t>
              </a:r>
            </a:p>
          </p:txBody>
        </p:sp>
        <p:sp>
          <p:nvSpPr>
            <p:cNvPr id="25" name="TextBox 25"/>
            <p:cNvSpPr txBox="1"/>
            <p:nvPr/>
          </p:nvSpPr>
          <p:spPr>
            <a:xfrm>
              <a:off x="7805738" y="3740150"/>
              <a:ext cx="974846" cy="140494"/>
            </a:xfrm>
            <a:prstGeom prst="rect">
              <a:avLst/>
            </a:prstGeom>
            <a:noFill/>
            <a:ln>
              <a:noFill/>
            </a:ln>
          </p:spPr>
          <p:txBody>
            <a:bodyPr wrap="none" lIns="0" tIns="0" rIns="0" bIns="0" anchor="t" anchorCtr="0">
              <a:spAutoFit/>
            </a:bodyPr>
            <a:lstStyle/>
            <a:p>
              <a:pPr algn="l"/>
              <a:r>
                <a:rPr lang="id" sz="710" dirty="0">
                  <a:solidFill>
                    <a:srgbClr val="8B9198"/>
                  </a:solidFill>
                  <a:latin typeface="+mn-lt"/>
                  <a:ea typeface="+mn-ea"/>
                  <a:cs typeface="+mn-cs"/>
                </a:rPr>
                <a:t>McKinney et al. (2014)</a:t>
              </a:r>
            </a:p>
          </p:txBody>
        </p:sp>
        <p:sp>
          <p:nvSpPr>
            <p:cNvPr id="26" name="Line 26"/>
            <p:cNvSpPr/>
            <p:nvPr/>
          </p:nvSpPr>
          <p:spPr>
            <a:xfrm>
              <a:off x="7810500" y="4038600"/>
              <a:ext cx="3467100" cy="9525"/>
            </a:xfrm>
            <a:custGeom>
              <a:avLst/>
              <a:gdLst/>
              <a:ahLst/>
              <a:cxnLst/>
              <a:rect l="l" t="t" r="r" b="b"/>
              <a:pathLst>
                <a:path w="3467100" h="9525">
                  <a:moveTo>
                    <a:pt x="0" y="0"/>
                  </a:moveTo>
                  <a:lnTo>
                    <a:pt x="3467100" y="0"/>
                  </a:lnTo>
                </a:path>
              </a:pathLst>
            </a:custGeom>
            <a:noFill/>
            <a:ln w="9525">
              <a:solidFill>
                <a:srgbClr val="D6D9DE"/>
              </a:solidFill>
            </a:ln>
          </p:spPr>
        </p:sp>
        <p:sp>
          <p:nvSpPr>
            <p:cNvPr id="27" name="TextBox 27"/>
            <p:cNvSpPr txBox="1"/>
            <p:nvPr/>
          </p:nvSpPr>
          <p:spPr>
            <a:xfrm>
              <a:off x="7805738" y="4203700"/>
              <a:ext cx="1152451" cy="169069"/>
            </a:xfrm>
            <a:prstGeom prst="rect">
              <a:avLst/>
            </a:prstGeom>
            <a:noFill/>
            <a:ln>
              <a:noFill/>
            </a:ln>
          </p:spPr>
          <p:txBody>
            <a:bodyPr wrap="none" lIns="0" tIns="0" rIns="0" bIns="0" anchor="t" anchorCtr="0">
              <a:spAutoFit/>
            </a:bodyPr>
            <a:lstStyle/>
            <a:p>
              <a:pPr algn="l"/>
              <a:r>
                <a:rPr lang="id" sz="860" b="1" dirty="0">
                  <a:solidFill>
                    <a:srgbClr val="111318"/>
                  </a:solidFill>
                  <a:latin typeface="+mn-lt"/>
                  <a:ea typeface="+mn-ea"/>
                  <a:cs typeface="+mn-cs"/>
                </a:rPr>
                <a:t>Apa yang membantu</a:t>
              </a:r>
            </a:p>
          </p:txBody>
        </p:sp>
        <p:sp>
          <p:nvSpPr>
            <p:cNvPr id="28" name="TextBox 28"/>
            <p:cNvSpPr txBox="1"/>
            <p:nvPr/>
          </p:nvSpPr>
          <p:spPr>
            <a:xfrm>
              <a:off x="7805738" y="4375150"/>
              <a:ext cx="1861416" cy="669608"/>
            </a:xfrm>
            <a:prstGeom prst="rect">
              <a:avLst/>
            </a:prstGeom>
            <a:noFill/>
            <a:ln>
              <a:noFill/>
            </a:ln>
          </p:spPr>
          <p:txBody>
            <a:bodyPr wrap="none" lIns="0" tIns="0" rIns="0" bIns="0" anchor="t" anchorCtr="0">
              <a:spAutoFit/>
            </a:bodyPr>
            <a:lstStyle/>
            <a:p>
              <a:pPr algn="l">
                <a:lnSpc>
                  <a:spcPts val="1350"/>
                </a:lnSpc>
              </a:pPr>
              <a:r>
                <a:rPr lang="id" sz="790" dirty="0">
                  <a:solidFill>
                    <a:srgbClr val="585E66"/>
                  </a:solidFill>
                  <a:latin typeface="+mn-lt"/>
                  <a:ea typeface="+mn-ea"/>
                  <a:cs typeface="+mn-cs"/>
                </a:rPr>
                <a:t>Bahasa jelas, tidak ambigu, sesuai usia;</a:t>
              </a:r>
              <a:br>
                <a:rPr lang="id" sz="790" dirty="0">
                  <a:solidFill>
                    <a:srgbClr val="585E66"/>
                  </a:solidFill>
                  <a:latin typeface="+mn-lt"/>
                  <a:ea typeface="+mn-ea"/>
                  <a:cs typeface="+mn-cs"/>
                </a:rPr>
              </a:br>
              <a:r>
                <a:rPr lang="id" sz="790" dirty="0">
                  <a:solidFill>
                    <a:srgbClr val="585E66"/>
                  </a:solidFill>
                  <a:latin typeface="+mn-lt"/>
                  <a:ea typeface="+mn-ea"/>
                  <a:cs typeface="+mn-cs"/>
                </a:rPr>
                <a:t>memberi waktu memproses;</a:t>
              </a:r>
              <a:br>
                <a:rPr lang="id" sz="790" dirty="0">
                  <a:solidFill>
                    <a:srgbClr val="585E66"/>
                  </a:solidFill>
                  <a:latin typeface="+mn-lt"/>
                  <a:ea typeface="+mn-ea"/>
                  <a:cs typeface="+mn-cs"/>
                </a:rPr>
              </a:br>
              <a:r>
                <a:rPr lang="id" sz="790" dirty="0">
                  <a:solidFill>
                    <a:srgbClr val="585E66"/>
                  </a:solidFill>
                  <a:latin typeface="+mn-lt"/>
                  <a:ea typeface="+mn-ea"/>
                  <a:cs typeface="+mn-cs"/>
                </a:rPr>
                <a:t>bertanya dan benar-benar mendengar;</a:t>
              </a:r>
              <a:br>
                <a:rPr lang="id" sz="790" dirty="0">
                  <a:solidFill>
                    <a:srgbClr val="585E66"/>
                  </a:solidFill>
                  <a:latin typeface="+mn-lt"/>
                  <a:ea typeface="+mn-ea"/>
                  <a:cs typeface="+mn-cs"/>
                </a:rPr>
              </a:br>
              <a:r>
                <a:rPr lang="id" sz="790" dirty="0">
                  <a:solidFill>
                    <a:srgbClr val="585E66"/>
                  </a:solidFill>
                  <a:latin typeface="+mn-lt"/>
                  <a:ea typeface="+mn-ea"/>
                  <a:cs typeface="+mn-cs"/>
                </a:rPr>
                <a:t>rapport jangka panjang sebagai investasi.</a:t>
              </a:r>
            </a:p>
          </p:txBody>
        </p:sp>
        <p:sp>
          <p:nvSpPr>
            <p:cNvPr id="29" name="Line 29"/>
            <p:cNvSpPr/>
            <p:nvPr/>
          </p:nvSpPr>
          <p:spPr>
            <a:xfrm>
              <a:off x="7810500" y="5257800"/>
              <a:ext cx="3467100" cy="9525"/>
            </a:xfrm>
            <a:custGeom>
              <a:avLst/>
              <a:gdLst/>
              <a:ahLst/>
              <a:cxnLst/>
              <a:rect l="l" t="t" r="r" b="b"/>
              <a:pathLst>
                <a:path w="3467100" h="9525">
                  <a:moveTo>
                    <a:pt x="0" y="0"/>
                  </a:moveTo>
                  <a:lnTo>
                    <a:pt x="3467100" y="0"/>
                  </a:lnTo>
                </a:path>
              </a:pathLst>
            </a:custGeom>
            <a:noFill/>
            <a:ln w="9525">
              <a:solidFill>
                <a:srgbClr val="D6D9DE"/>
              </a:solidFill>
            </a:ln>
          </p:spPr>
        </p:sp>
        <p:sp>
          <p:nvSpPr>
            <p:cNvPr id="30" name="TextBox 30"/>
            <p:cNvSpPr txBox="1"/>
            <p:nvPr/>
          </p:nvSpPr>
          <p:spPr>
            <a:xfrm>
              <a:off x="7805738" y="5384800"/>
              <a:ext cx="2245981" cy="441008"/>
            </a:xfrm>
            <a:prstGeom prst="rect">
              <a:avLst/>
            </a:prstGeom>
            <a:noFill/>
            <a:ln>
              <a:noFill/>
            </a:ln>
          </p:spPr>
          <p:txBody>
            <a:bodyPr wrap="none" lIns="0" tIns="0" rIns="0" bIns="0" anchor="t" anchorCtr="0">
              <a:spAutoFit/>
            </a:bodyPr>
            <a:lstStyle/>
            <a:p>
              <a:pPr algn="l">
                <a:lnSpc>
                  <a:spcPts val="1125"/>
                </a:lnSpc>
              </a:pPr>
              <a:r>
                <a:rPr lang="id" sz="790" i="1" dirty="0">
                  <a:solidFill>
                    <a:srgbClr val="111318"/>
                  </a:solidFill>
                  <a:latin typeface="+mn-lt"/>
                  <a:ea typeface="+mn-ea"/>
                  <a:cs typeface="+mn-cs"/>
                </a:rPr>
                <a:t>“Sulit saat mereka berusia empat sampai tujuh</a:t>
              </a:r>
              <a:br>
                <a:rPr lang="id" sz="790" i="1" dirty="0">
                  <a:solidFill>
                    <a:srgbClr val="111318"/>
                  </a:solidFill>
                  <a:latin typeface="+mn-lt"/>
                  <a:ea typeface="+mn-ea"/>
                  <a:cs typeface="+mn-cs"/>
                </a:rPr>
              </a:br>
              <a:r>
                <a:rPr lang="id" sz="790" i="1" dirty="0">
                  <a:solidFill>
                    <a:srgbClr val="111318"/>
                  </a:solidFill>
                  <a:latin typeface="+mn-lt"/>
                  <a:ea typeface="+mn-ea"/>
                  <a:cs typeface="+mn-cs"/>
                </a:rPr>
                <a:t>tahun, tetapi mereka terus kembali; pada usia</a:t>
              </a:r>
              <a:br>
                <a:rPr lang="id" sz="790" i="1" dirty="0">
                  <a:solidFill>
                    <a:srgbClr val="111318"/>
                  </a:solidFill>
                  <a:latin typeface="+mn-lt"/>
                  <a:ea typeface="+mn-ea"/>
                  <a:cs typeface="+mn-cs"/>
                </a:rPr>
              </a:br>
              <a:r>
                <a:rPr lang="id" sz="790" i="1" dirty="0">
                  <a:solidFill>
                    <a:srgbClr val="111318"/>
                  </a:solidFill>
                  <a:latin typeface="+mn-lt"/>
                  <a:ea typeface="+mn-ea"/>
                  <a:cs typeface="+mn-cs"/>
                </a:rPr>
                <a:t>sepuluh sampai dua belas, mereka menyukainya.”</a:t>
              </a:r>
            </a:p>
          </p:txBody>
        </p:sp>
        <p:sp>
          <p:nvSpPr>
            <p:cNvPr id="31" name="TextBox 31"/>
            <p:cNvSpPr txBox="1"/>
            <p:nvPr/>
          </p:nvSpPr>
          <p:spPr>
            <a:xfrm>
              <a:off x="7805738" y="5816600"/>
              <a:ext cx="1526797" cy="134302"/>
            </a:xfrm>
            <a:prstGeom prst="rect">
              <a:avLst/>
            </a:prstGeom>
            <a:noFill/>
            <a:ln>
              <a:noFill/>
            </a:ln>
          </p:spPr>
          <p:txBody>
            <a:bodyPr wrap="none" lIns="0" tIns="0" rIns="0" bIns="0" anchor="t" anchorCtr="0">
              <a:spAutoFit/>
            </a:bodyPr>
            <a:lstStyle/>
            <a:p>
              <a:pPr algn="l"/>
              <a:r>
                <a:rPr lang="id" sz="680" dirty="0">
                  <a:solidFill>
                    <a:srgbClr val="8B9198"/>
                  </a:solidFill>
                  <a:latin typeface="+mn-lt"/>
                  <a:ea typeface="+mn-ea"/>
                  <a:cs typeface="+mn-cs"/>
                </a:rPr>
                <a:t>Dokter gigi, Parry &amp; Shepherd (2018)</a:t>
              </a:r>
            </a:p>
          </p:txBody>
        </p:sp>
      </p:grpSp>
      <p:grpSp>
        <p:nvGrpSpPr>
          <p:cNvPr id="36" name="footer"/>
          <p:cNvGrpSpPr/>
          <p:nvPr/>
        </p:nvGrpSpPr>
        <p:grpSpPr>
          <a:xfrm>
            <a:off x="604838" y="6324600"/>
            <a:ext cx="10982325" cy="268288"/>
            <a:chOff x="604838" y="6324600"/>
            <a:chExt cx="10982325" cy="268288"/>
          </a:xfrm>
        </p:grpSpPr>
        <p:sp>
          <p:nvSpPr>
            <p:cNvPr id="33" name="Line 33"/>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34" name="TextBox 34"/>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35" name="TextBox 35"/>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782556"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11 · BUKTI KUALITATIF</a:t>
              </a:r>
            </a:p>
          </p:txBody>
        </p:sp>
        <p:sp>
          <p:nvSpPr>
            <p:cNvPr id="3" name="TextBox 3"/>
            <p:cNvSpPr txBox="1"/>
            <p:nvPr/>
          </p:nvSpPr>
          <p:spPr>
            <a:xfrm>
              <a:off x="595503" y="685800"/>
              <a:ext cx="8150534"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Apa yang dikatakan orang tua dan dokter gigi</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12 / 16</a:t>
              </a:r>
            </a:p>
          </p:txBody>
        </p:sp>
      </p:grpSp>
      <p:grpSp>
        <p:nvGrpSpPr>
          <p:cNvPr id="26" name="quotes"/>
          <p:cNvGrpSpPr/>
          <p:nvPr/>
        </p:nvGrpSpPr>
        <p:grpSpPr>
          <a:xfrm>
            <a:off x="604838" y="1682750"/>
            <a:ext cx="10977562" cy="4567238"/>
            <a:chOff x="604838" y="1682750"/>
            <a:chExt cx="10977562" cy="4567238"/>
          </a:xfrm>
        </p:grpSpPr>
        <p:sp>
          <p:nvSpPr>
            <p:cNvPr id="8" name="TextBox 8"/>
            <p:cNvSpPr txBox="1"/>
            <p:nvPr/>
          </p:nvSpPr>
          <p:spPr>
            <a:xfrm>
              <a:off x="604838" y="1682750"/>
              <a:ext cx="1360344"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SUARA PARTISIPAN</a:t>
              </a:r>
            </a:p>
          </p:txBody>
        </p:sp>
        <p:sp>
          <p:nvSpPr>
            <p:cNvPr id="9" name="TextBox 9"/>
            <p:cNvSpPr txBox="1"/>
            <p:nvPr/>
          </p:nvSpPr>
          <p:spPr>
            <a:xfrm>
              <a:off x="604838" y="1936750"/>
              <a:ext cx="2999593"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Tiga kutipan yang menjelaskan angka-angka sebelumnya.</a:t>
              </a:r>
            </a:p>
          </p:txBody>
        </p:sp>
        <p:sp>
          <p:nvSpPr>
            <p:cNvPr id="10" name="Line 10"/>
            <p:cNvSpPr/>
            <p:nvPr/>
          </p:nvSpPr>
          <p:spPr>
            <a:xfrm>
              <a:off x="609600" y="2381250"/>
              <a:ext cx="9525" cy="1352550"/>
            </a:xfrm>
            <a:custGeom>
              <a:avLst/>
              <a:gdLst/>
              <a:ahLst/>
              <a:cxnLst/>
              <a:rect l="l" t="t" r="r" b="b"/>
              <a:pathLst>
                <a:path w="9525" h="1352550">
                  <a:moveTo>
                    <a:pt x="0" y="0"/>
                  </a:moveTo>
                  <a:lnTo>
                    <a:pt x="0" y="1352550"/>
                  </a:lnTo>
                </a:path>
              </a:pathLst>
            </a:custGeom>
            <a:noFill/>
            <a:ln w="28575">
              <a:solidFill>
                <a:srgbClr val="E8000D"/>
              </a:solidFill>
            </a:ln>
          </p:spPr>
        </p:sp>
        <p:sp>
          <p:nvSpPr>
            <p:cNvPr id="11" name="TextBox 11"/>
            <p:cNvSpPr txBox="1"/>
            <p:nvPr/>
          </p:nvSpPr>
          <p:spPr>
            <a:xfrm>
              <a:off x="833056" y="2438400"/>
              <a:ext cx="3340510" cy="798100"/>
            </a:xfrm>
            <a:prstGeom prst="rect">
              <a:avLst/>
            </a:prstGeom>
            <a:noFill/>
            <a:ln>
              <a:noFill/>
            </a:ln>
          </p:spPr>
          <p:txBody>
            <a:bodyPr wrap="none" lIns="0" tIns="0" rIns="0" bIns="0" anchor="t" anchorCtr="0">
              <a:spAutoFit/>
            </a:bodyPr>
            <a:lstStyle/>
            <a:p>
              <a:pPr algn="l">
                <a:lnSpc>
                  <a:spcPts val="1575"/>
                </a:lnSpc>
              </a:pPr>
              <a:r>
                <a:rPr lang="id" sz="1010" i="1" dirty="0">
                  <a:solidFill>
                    <a:srgbClr val="111318"/>
                  </a:solidFill>
                  <a:latin typeface="+mn-lt"/>
                  <a:ea typeface="+mn-ea"/>
                  <a:cs typeface="+mn-cs"/>
                </a:rPr>
                <a:t>“Karena ruang tunggu itu hal yang benar-benar terpisah —</a:t>
              </a:r>
              <a:br>
                <a:rPr lang="id" sz="1010" i="1" dirty="0">
                  <a:solidFill>
                    <a:srgbClr val="111318"/>
                  </a:solidFill>
                  <a:latin typeface="+mn-lt"/>
                  <a:ea typeface="+mn-ea"/>
                  <a:cs typeface="+mn-cs"/>
                </a:rPr>
              </a:br>
              <a:r>
                <a:rPr lang="id" sz="1010" i="1" dirty="0">
                  <a:solidFill>
                    <a:srgbClr val="111318"/>
                  </a:solidFill>
                  <a:latin typeface="+mn-lt"/>
                  <a:ea typeface="+mn-ea"/>
                  <a:cs typeface="+mn-cs"/>
                </a:rPr>
                <a:t>hampir seperti punya janji temu sendiri: datang dan</a:t>
              </a:r>
              <a:br>
                <a:rPr lang="id" sz="1010" i="1" dirty="0">
                  <a:solidFill>
                    <a:srgbClr val="111318"/>
                  </a:solidFill>
                  <a:latin typeface="+mn-lt"/>
                  <a:ea typeface="+mn-ea"/>
                  <a:cs typeface="+mn-cs"/>
                </a:rPr>
              </a:br>
              <a:r>
                <a:rPr lang="id" sz="1010" i="1" dirty="0">
                  <a:solidFill>
                    <a:srgbClr val="111318"/>
                  </a:solidFill>
                  <a:latin typeface="+mn-lt"/>
                  <a:ea typeface="+mn-ea"/>
                  <a:cs typeface="+mn-cs"/>
                </a:rPr>
                <a:t>duduk di ruang tunggu itu satu hal, lalu masuk ke</a:t>
              </a:r>
              <a:br>
                <a:rPr lang="id" sz="1010" i="1" dirty="0">
                  <a:solidFill>
                    <a:srgbClr val="111318"/>
                  </a:solidFill>
                  <a:latin typeface="+mn-lt"/>
                  <a:ea typeface="+mn-ea"/>
                  <a:cs typeface="+mn-cs"/>
                </a:rPr>
              </a:br>
              <a:r>
                <a:rPr lang="id" sz="1010" i="1" dirty="0">
                  <a:solidFill>
                    <a:srgbClr val="111318"/>
                  </a:solidFill>
                  <a:latin typeface="+mn-lt"/>
                  <a:ea typeface="+mn-ea"/>
                  <a:cs typeface="+mn-cs"/>
                </a:rPr>
                <a:t>dokter gigi yang juga hal besar lainnya.”</a:t>
              </a:r>
            </a:p>
          </p:txBody>
        </p:sp>
        <p:sp>
          <p:nvSpPr>
            <p:cNvPr id="12" name="TextBox 12"/>
            <p:cNvSpPr txBox="1"/>
            <p:nvPr/>
          </p:nvSpPr>
          <p:spPr>
            <a:xfrm>
              <a:off x="833438" y="3549650"/>
              <a:ext cx="1567487" cy="140494"/>
            </a:xfrm>
            <a:prstGeom prst="rect">
              <a:avLst/>
            </a:prstGeom>
            <a:noFill/>
            <a:ln>
              <a:noFill/>
            </a:ln>
          </p:spPr>
          <p:txBody>
            <a:bodyPr wrap="none" lIns="0" tIns="0" rIns="0" bIns="0" anchor="t" anchorCtr="0">
              <a:spAutoFit/>
            </a:bodyPr>
            <a:lstStyle/>
            <a:p>
              <a:pPr algn="l"/>
              <a:r>
                <a:rPr lang="id" sz="710" dirty="0">
                  <a:solidFill>
                    <a:srgbClr val="8B9198"/>
                  </a:solidFill>
                  <a:latin typeface="+mn-lt"/>
                  <a:ea typeface="+mn-ea"/>
                  <a:cs typeface="+mn-cs"/>
                </a:rPr>
                <a:t>Orang tua · Stein Duker et al. (2019)</a:t>
              </a:r>
            </a:p>
          </p:txBody>
        </p:sp>
        <p:sp>
          <p:nvSpPr>
            <p:cNvPr id="13" name="Line 13"/>
            <p:cNvSpPr/>
            <p:nvPr/>
          </p:nvSpPr>
          <p:spPr>
            <a:xfrm>
              <a:off x="5905500" y="2381250"/>
              <a:ext cx="9525" cy="1352550"/>
            </a:xfrm>
            <a:custGeom>
              <a:avLst/>
              <a:gdLst/>
              <a:ahLst/>
              <a:cxnLst/>
              <a:rect l="l" t="t" r="r" b="b"/>
              <a:pathLst>
                <a:path w="9525" h="1352550">
                  <a:moveTo>
                    <a:pt x="0" y="0"/>
                  </a:moveTo>
                  <a:lnTo>
                    <a:pt x="0" y="1352550"/>
                  </a:lnTo>
                </a:path>
              </a:pathLst>
            </a:custGeom>
            <a:noFill/>
            <a:ln w="28575">
              <a:solidFill>
                <a:srgbClr val="111318"/>
              </a:solidFill>
            </a:ln>
          </p:spPr>
        </p:sp>
        <p:sp>
          <p:nvSpPr>
            <p:cNvPr id="14" name="TextBox 14"/>
            <p:cNvSpPr txBox="1"/>
            <p:nvPr/>
          </p:nvSpPr>
          <p:spPr>
            <a:xfrm>
              <a:off x="6128956" y="2438400"/>
              <a:ext cx="3497333" cy="798100"/>
            </a:xfrm>
            <a:prstGeom prst="rect">
              <a:avLst/>
            </a:prstGeom>
            <a:noFill/>
            <a:ln>
              <a:noFill/>
            </a:ln>
          </p:spPr>
          <p:txBody>
            <a:bodyPr wrap="none" lIns="0" tIns="0" rIns="0" bIns="0" anchor="t" anchorCtr="0">
              <a:spAutoFit/>
            </a:bodyPr>
            <a:lstStyle/>
            <a:p>
              <a:pPr algn="l">
                <a:lnSpc>
                  <a:spcPts val="1575"/>
                </a:lnSpc>
              </a:pPr>
              <a:r>
                <a:rPr lang="id" sz="1010" i="1" dirty="0">
                  <a:solidFill>
                    <a:srgbClr val="111318"/>
                  </a:solidFill>
                  <a:latin typeface="+mn-lt"/>
                  <a:ea typeface="+mn-ea"/>
                  <a:cs typeface="+mn-cs"/>
                </a:rPr>
                <a:t>“Hambatan bagi saya: Anda tidak mendapat umpan balik</a:t>
              </a:r>
              <a:br>
                <a:rPr lang="id" sz="1010" i="1" dirty="0">
                  <a:solidFill>
                    <a:srgbClr val="111318"/>
                  </a:solidFill>
                  <a:latin typeface="+mn-lt"/>
                  <a:ea typeface="+mn-ea"/>
                  <a:cs typeface="+mn-cs"/>
                </a:rPr>
              </a:br>
              <a:r>
                <a:rPr lang="id" sz="1010" i="1" dirty="0">
                  <a:solidFill>
                    <a:srgbClr val="111318"/>
                  </a:solidFill>
                  <a:latin typeface="+mn-lt"/>
                  <a:ea typeface="+mn-ea"/>
                  <a:cs typeface="+mn-cs"/>
                </a:rPr>
                <a:t>seperti biasanya. Anda mencoba kontak, mencoba mendapat</a:t>
              </a:r>
              <a:br>
                <a:rPr lang="id" sz="1010" i="1" dirty="0">
                  <a:solidFill>
                    <a:srgbClr val="111318"/>
                  </a:solidFill>
                  <a:latin typeface="+mn-lt"/>
                  <a:ea typeface="+mn-ea"/>
                  <a:cs typeface="+mn-cs"/>
                </a:rPr>
              </a:br>
              <a:r>
                <a:rPr lang="id" sz="1010" i="1" dirty="0">
                  <a:solidFill>
                    <a:srgbClr val="111318"/>
                  </a:solidFill>
                  <a:latin typeface="+mn-lt"/>
                  <a:ea typeface="+mn-ea"/>
                  <a:cs typeface="+mn-cs"/>
                </a:rPr>
                <a:t>respons — dan pada orang dengan ASD sering kali respons</a:t>
              </a:r>
              <a:br>
                <a:rPr lang="id" sz="1010" i="1" dirty="0">
                  <a:solidFill>
                    <a:srgbClr val="111318"/>
                  </a:solidFill>
                  <a:latin typeface="+mn-lt"/>
                  <a:ea typeface="+mn-ea"/>
                  <a:cs typeface="+mn-cs"/>
                </a:rPr>
              </a:br>
              <a:r>
                <a:rPr lang="id" sz="1010" i="1" dirty="0">
                  <a:solidFill>
                    <a:srgbClr val="111318"/>
                  </a:solidFill>
                  <a:latin typeface="+mn-lt"/>
                  <a:ea typeface="+mn-ea"/>
                  <a:cs typeface="+mn-cs"/>
                </a:rPr>
                <a:t>yang diharapkan tidak datang, sehingga Anda tersesat.”</a:t>
              </a:r>
            </a:p>
          </p:txBody>
        </p:sp>
        <p:sp>
          <p:nvSpPr>
            <p:cNvPr id="15" name="TextBox 15"/>
            <p:cNvSpPr txBox="1"/>
            <p:nvPr/>
          </p:nvSpPr>
          <p:spPr>
            <a:xfrm>
              <a:off x="6129338" y="3549650"/>
              <a:ext cx="1260498" cy="140494"/>
            </a:xfrm>
            <a:prstGeom prst="rect">
              <a:avLst/>
            </a:prstGeom>
            <a:noFill/>
            <a:ln>
              <a:noFill/>
            </a:ln>
          </p:spPr>
          <p:txBody>
            <a:bodyPr wrap="none" lIns="0" tIns="0" rIns="0" bIns="0" anchor="t" anchorCtr="0">
              <a:spAutoFit/>
            </a:bodyPr>
            <a:lstStyle/>
            <a:p>
              <a:pPr algn="l"/>
              <a:r>
                <a:rPr lang="id" sz="710" dirty="0">
                  <a:solidFill>
                    <a:srgbClr val="8B9198"/>
                  </a:solidFill>
                  <a:latin typeface="+mn-lt"/>
                  <a:ea typeface="+mn-ea"/>
                  <a:cs typeface="+mn-cs"/>
                </a:rPr>
                <a:t>Dokter gigi · Kooijman (2016)</a:t>
              </a:r>
            </a:p>
          </p:txBody>
        </p:sp>
        <p:sp>
          <p:nvSpPr>
            <p:cNvPr id="16" name="Line 16"/>
            <p:cNvSpPr/>
            <p:nvPr/>
          </p:nvSpPr>
          <p:spPr>
            <a:xfrm>
              <a:off x="609600" y="4000500"/>
              <a:ext cx="9525" cy="1200150"/>
            </a:xfrm>
            <a:custGeom>
              <a:avLst/>
              <a:gdLst/>
              <a:ahLst/>
              <a:cxnLst/>
              <a:rect l="l" t="t" r="r" b="b"/>
              <a:pathLst>
                <a:path w="9525" h="1200150">
                  <a:moveTo>
                    <a:pt x="0" y="0"/>
                  </a:moveTo>
                  <a:lnTo>
                    <a:pt x="0" y="1200150"/>
                  </a:lnTo>
                </a:path>
              </a:pathLst>
            </a:custGeom>
            <a:noFill/>
            <a:ln w="28575">
              <a:solidFill>
                <a:srgbClr val="111318"/>
              </a:solidFill>
            </a:ln>
          </p:spPr>
        </p:sp>
        <p:sp>
          <p:nvSpPr>
            <p:cNvPr id="17" name="TextBox 17"/>
            <p:cNvSpPr txBox="1"/>
            <p:nvPr/>
          </p:nvSpPr>
          <p:spPr>
            <a:xfrm>
              <a:off x="833056" y="4057650"/>
              <a:ext cx="3461468" cy="798100"/>
            </a:xfrm>
            <a:prstGeom prst="rect">
              <a:avLst/>
            </a:prstGeom>
            <a:noFill/>
            <a:ln>
              <a:noFill/>
            </a:ln>
          </p:spPr>
          <p:txBody>
            <a:bodyPr wrap="none" lIns="0" tIns="0" rIns="0" bIns="0" anchor="t" anchorCtr="0">
              <a:spAutoFit/>
            </a:bodyPr>
            <a:lstStyle/>
            <a:p>
              <a:pPr algn="l">
                <a:lnSpc>
                  <a:spcPts val="1575"/>
                </a:lnSpc>
              </a:pPr>
              <a:r>
                <a:rPr lang="id" sz="1010" i="1" dirty="0">
                  <a:solidFill>
                    <a:srgbClr val="111318"/>
                  </a:solidFill>
                  <a:latin typeface="+mn-lt"/>
                  <a:ea typeface="+mn-ea"/>
                  <a:cs typeface="+mn-cs"/>
                </a:rPr>
                <a:t>“Banyak sekali memutar mata. Orang melihat Anda seperti:</a:t>
              </a:r>
              <a:br>
                <a:rPr lang="id" sz="1010" i="1" dirty="0">
                  <a:solidFill>
                    <a:srgbClr val="111318"/>
                  </a:solidFill>
                  <a:latin typeface="+mn-lt"/>
                  <a:ea typeface="+mn-ea"/>
                  <a:cs typeface="+mn-cs"/>
                </a:rPr>
              </a:br>
              <a:r>
                <a:rPr lang="id" sz="1010" i="1" dirty="0">
                  <a:solidFill>
                    <a:srgbClr val="111318"/>
                  </a:solidFill>
                  <a:latin typeface="+mn-lt"/>
                  <a:ea typeface="+mn-ea"/>
                  <a:cs typeface="+mn-cs"/>
                </a:rPr>
                <a:t>kenapa tidak sekalian mendisiplinkan anakmu? Mereka tidak</a:t>
              </a:r>
              <a:br>
                <a:rPr lang="id" sz="1010" i="1" dirty="0">
                  <a:solidFill>
                    <a:srgbClr val="111318"/>
                  </a:solidFill>
                  <a:latin typeface="+mn-lt"/>
                  <a:ea typeface="+mn-ea"/>
                  <a:cs typeface="+mn-cs"/>
                </a:rPr>
              </a:br>
              <a:r>
                <a:rPr lang="id" sz="1010" i="1" dirty="0">
                  <a:solidFill>
                    <a:srgbClr val="111318"/>
                  </a:solidFill>
                  <a:latin typeface="+mn-lt"/>
                  <a:ea typeface="+mn-ea"/>
                  <a:cs typeface="+mn-cs"/>
                </a:rPr>
                <a:t>pernah menjelaskan apa pun kepadanya; stafnya tidak</a:t>
              </a:r>
              <a:br>
                <a:rPr lang="id" sz="1010" i="1" dirty="0">
                  <a:solidFill>
                    <a:srgbClr val="111318"/>
                  </a:solidFill>
                  <a:latin typeface="+mn-lt"/>
                  <a:ea typeface="+mn-ea"/>
                  <a:cs typeface="+mn-cs"/>
                </a:rPr>
              </a:br>
              <a:r>
                <a:rPr lang="id" sz="1010" i="1" dirty="0">
                  <a:solidFill>
                    <a:srgbClr val="111318"/>
                  </a:solidFill>
                  <a:latin typeface="+mn-lt"/>
                  <a:ea typeface="+mn-ea"/>
                  <a:cs typeface="+mn-cs"/>
                </a:rPr>
                <a:t>benar-benar berusaha, tidak hangat, lalu menyerah.”</a:t>
              </a:r>
            </a:p>
          </p:txBody>
        </p:sp>
        <p:sp>
          <p:nvSpPr>
            <p:cNvPr id="18" name="TextBox 18"/>
            <p:cNvSpPr txBox="1"/>
            <p:nvPr/>
          </p:nvSpPr>
          <p:spPr>
            <a:xfrm>
              <a:off x="833438" y="5016500"/>
              <a:ext cx="1483802" cy="140494"/>
            </a:xfrm>
            <a:prstGeom prst="rect">
              <a:avLst/>
            </a:prstGeom>
            <a:noFill/>
            <a:ln>
              <a:noFill/>
            </a:ln>
          </p:spPr>
          <p:txBody>
            <a:bodyPr wrap="none" lIns="0" tIns="0" rIns="0" bIns="0" anchor="t" anchorCtr="0">
              <a:spAutoFit/>
            </a:bodyPr>
            <a:lstStyle/>
            <a:p>
              <a:pPr algn="l"/>
              <a:r>
                <a:rPr lang="id" sz="710" dirty="0">
                  <a:solidFill>
                    <a:srgbClr val="8B9198"/>
                  </a:solidFill>
                  <a:latin typeface="+mn-lt"/>
                  <a:ea typeface="+mn-ea"/>
                  <a:cs typeface="+mn-cs"/>
                </a:rPr>
                <a:t>Orang tua · Hauschild et al. (2019)</a:t>
              </a:r>
            </a:p>
          </p:txBody>
        </p:sp>
        <p:sp>
          <p:nvSpPr>
            <p:cNvPr id="19" name="Line 19"/>
            <p:cNvSpPr/>
            <p:nvPr/>
          </p:nvSpPr>
          <p:spPr>
            <a:xfrm>
              <a:off x="5905500" y="4000500"/>
              <a:ext cx="9525" cy="1200150"/>
            </a:xfrm>
            <a:custGeom>
              <a:avLst/>
              <a:gdLst/>
              <a:ahLst/>
              <a:cxnLst/>
              <a:rect l="l" t="t" r="r" b="b"/>
              <a:pathLst>
                <a:path w="9525" h="1200150">
                  <a:moveTo>
                    <a:pt x="0" y="0"/>
                  </a:moveTo>
                  <a:lnTo>
                    <a:pt x="0" y="1200150"/>
                  </a:lnTo>
                </a:path>
              </a:pathLst>
            </a:custGeom>
            <a:noFill/>
            <a:ln w="28575">
              <a:solidFill>
                <a:srgbClr val="E8000D"/>
              </a:solidFill>
            </a:ln>
          </p:spPr>
        </p:sp>
        <p:sp>
          <p:nvSpPr>
            <p:cNvPr id="20" name="TextBox 20"/>
            <p:cNvSpPr txBox="1"/>
            <p:nvPr/>
          </p:nvSpPr>
          <p:spPr>
            <a:xfrm>
              <a:off x="6128956" y="4057650"/>
              <a:ext cx="3362110" cy="798100"/>
            </a:xfrm>
            <a:prstGeom prst="rect">
              <a:avLst/>
            </a:prstGeom>
            <a:noFill/>
            <a:ln>
              <a:noFill/>
            </a:ln>
          </p:spPr>
          <p:txBody>
            <a:bodyPr wrap="none" lIns="0" tIns="0" rIns="0" bIns="0" anchor="t" anchorCtr="0">
              <a:spAutoFit/>
            </a:bodyPr>
            <a:lstStyle/>
            <a:p>
              <a:pPr algn="l">
                <a:lnSpc>
                  <a:spcPts val="1575"/>
                </a:lnSpc>
              </a:pPr>
              <a:r>
                <a:rPr lang="id" sz="1010" i="1" dirty="0">
                  <a:solidFill>
                    <a:srgbClr val="111318"/>
                  </a:solidFill>
                  <a:latin typeface="+mn-lt"/>
                  <a:ea typeface="+mn-ea"/>
                  <a:cs typeface="+mn-cs"/>
                </a:rPr>
                <a:t>“Yang membantu anak saya adalah social stories;</a:t>
              </a:r>
              <a:br>
                <a:rPr lang="id" sz="1010" i="1" dirty="0">
                  <a:solidFill>
                    <a:srgbClr val="111318"/>
                  </a:solidFill>
                  <a:latin typeface="+mn-lt"/>
                  <a:ea typeface="+mn-ea"/>
                  <a:cs typeface="+mn-cs"/>
                </a:rPr>
              </a:br>
              <a:r>
                <a:rPr lang="id" sz="1010" i="1" dirty="0">
                  <a:solidFill>
                    <a:srgbClr val="111318"/>
                  </a:solidFill>
                  <a:latin typeface="+mn-lt"/>
                  <a:ea typeface="+mn-ea"/>
                  <a:cs typeface="+mn-cs"/>
                </a:rPr>
                <a:t>menyiapkannya dengan buku yang saya buat, Going to the</a:t>
              </a:r>
              <a:br>
                <a:rPr lang="id" sz="1010" i="1" dirty="0">
                  <a:solidFill>
                    <a:srgbClr val="111318"/>
                  </a:solidFill>
                  <a:latin typeface="+mn-lt"/>
                  <a:ea typeface="+mn-ea"/>
                  <a:cs typeface="+mn-cs"/>
                </a:rPr>
              </a:br>
              <a:r>
                <a:rPr lang="id" sz="1010" i="1" dirty="0">
                  <a:solidFill>
                    <a:srgbClr val="111318"/>
                  </a:solidFill>
                  <a:latin typeface="+mn-lt"/>
                  <a:ea typeface="+mn-ea"/>
                  <a:cs typeface="+mn-cs"/>
                </a:rPr>
                <a:t>Dentist, dengan foto asli kantor dokter gigi dan</a:t>
              </a:r>
              <a:br>
                <a:rPr lang="id" sz="1010" i="1" dirty="0">
                  <a:solidFill>
                    <a:srgbClr val="111318"/>
                  </a:solidFill>
                  <a:latin typeface="+mn-lt"/>
                  <a:ea typeface="+mn-ea"/>
                  <a:cs typeface="+mn-cs"/>
                </a:rPr>
              </a:br>
              <a:r>
                <a:rPr lang="id" sz="1010" i="1" dirty="0">
                  <a:solidFill>
                    <a:srgbClr val="111318"/>
                  </a:solidFill>
                  <a:latin typeface="+mn-lt"/>
                  <a:ea typeface="+mn-ea"/>
                  <a:cs typeface="+mn-cs"/>
                </a:rPr>
                <a:t>orang-orang yang akan ia temui.”</a:t>
              </a:r>
            </a:p>
          </p:txBody>
        </p:sp>
        <p:sp>
          <p:nvSpPr>
            <p:cNvPr id="21" name="TextBox 21"/>
            <p:cNvSpPr txBox="1"/>
            <p:nvPr/>
          </p:nvSpPr>
          <p:spPr>
            <a:xfrm>
              <a:off x="6129338" y="5016500"/>
              <a:ext cx="1309143" cy="140494"/>
            </a:xfrm>
            <a:prstGeom prst="rect">
              <a:avLst/>
            </a:prstGeom>
            <a:noFill/>
            <a:ln>
              <a:noFill/>
            </a:ln>
          </p:spPr>
          <p:txBody>
            <a:bodyPr wrap="none" lIns="0" tIns="0" rIns="0" bIns="0" anchor="t" anchorCtr="0">
              <a:spAutoFit/>
            </a:bodyPr>
            <a:lstStyle/>
            <a:p>
              <a:pPr algn="l"/>
              <a:r>
                <a:rPr lang="id" sz="710" dirty="0">
                  <a:solidFill>
                    <a:srgbClr val="8B9198"/>
                  </a:solidFill>
                  <a:latin typeface="+mn-lt"/>
                  <a:ea typeface="+mn-ea"/>
                  <a:cs typeface="+mn-cs"/>
                </a:rPr>
                <a:t>Orang tua · Lewis et al. (2015)</a:t>
              </a:r>
            </a:p>
          </p:txBody>
        </p:sp>
        <p:sp>
          <p:nvSpPr>
            <p:cNvPr id="22" name="Line 22"/>
            <p:cNvSpPr/>
            <p:nvPr/>
          </p:nvSpPr>
          <p:spPr>
            <a:xfrm>
              <a:off x="609600" y="550545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23" name="TextBox 23"/>
            <p:cNvSpPr txBox="1"/>
            <p:nvPr/>
          </p:nvSpPr>
          <p:spPr>
            <a:xfrm>
              <a:off x="604838" y="5683250"/>
              <a:ext cx="1221453" cy="140494"/>
            </a:xfrm>
            <a:prstGeom prst="rect">
              <a:avLst/>
            </a:prstGeom>
            <a:noFill/>
            <a:ln>
              <a:noFill/>
            </a:ln>
          </p:spPr>
          <p:txBody>
            <a:bodyPr wrap="none" lIns="0" tIns="0" rIns="0" bIns="0" anchor="t" anchorCtr="0">
              <a:spAutoFit/>
            </a:bodyPr>
            <a:lstStyle/>
            <a:p>
              <a:pPr algn="l"/>
              <a:r>
                <a:rPr lang="id" sz="710" b="1" spc="150" dirty="0">
                  <a:solidFill>
                    <a:srgbClr val="8B9198"/>
                  </a:solidFill>
                  <a:latin typeface="+mn-lt"/>
                  <a:ea typeface="+mn-ea"/>
                  <a:cs typeface="+mn-cs"/>
                </a:rPr>
                <a:t>Pola lintas kutipan</a:t>
              </a:r>
            </a:p>
          </p:txBody>
        </p:sp>
        <p:sp>
          <p:nvSpPr>
            <p:cNvPr id="24" name="TextBox 24"/>
            <p:cNvSpPr txBox="1"/>
            <p:nvPr/>
          </p:nvSpPr>
          <p:spPr>
            <a:xfrm>
              <a:off x="604838" y="5918200"/>
              <a:ext cx="5558543" cy="169069"/>
            </a:xfrm>
            <a:prstGeom prst="rect">
              <a:avLst/>
            </a:prstGeom>
            <a:noFill/>
            <a:ln>
              <a:noFill/>
            </a:ln>
          </p:spPr>
          <p:txBody>
            <a:bodyPr wrap="none" lIns="0" tIns="0" rIns="0" bIns="0" anchor="t" anchorCtr="0">
              <a:spAutoFit/>
            </a:bodyPr>
            <a:lstStyle/>
            <a:p>
              <a:pPr algn="l"/>
              <a:r>
                <a:rPr lang="id" sz="860" b="1" dirty="0">
                  <a:solidFill>
                    <a:srgbClr val="111318"/>
                  </a:solidFill>
                  <a:latin typeface="+mn-lt"/>
                  <a:ea typeface="+mn-ea"/>
                  <a:cs typeface="+mn-cs"/>
                </a:rPr>
                <a:t>Distress anak paling sering dipicu lingkungan dan ketidakpastian — bukan oleh prosedur itu sendiri.</a:t>
              </a:r>
            </a:p>
          </p:txBody>
        </p:sp>
        <p:sp>
          <p:nvSpPr>
            <p:cNvPr id="25" name="TextBox 25"/>
            <p:cNvSpPr txBox="1"/>
            <p:nvPr/>
          </p:nvSpPr>
          <p:spPr>
            <a:xfrm>
              <a:off x="604838" y="6102350"/>
              <a:ext cx="3941533"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Kutipan orang tua mendominasi literatur (65% studi); suara dokter gigi jauh lebih jarang.</a:t>
              </a:r>
            </a:p>
          </p:txBody>
        </p:sp>
      </p:grpSp>
      <p:grpSp>
        <p:nvGrpSpPr>
          <p:cNvPr id="30" name="footer"/>
          <p:cNvGrpSpPr/>
          <p:nvPr/>
        </p:nvGrpSpPr>
        <p:grpSpPr>
          <a:xfrm>
            <a:off x="604838" y="6324600"/>
            <a:ext cx="10982325" cy="268288"/>
            <a:chOff x="604838" y="6324600"/>
            <a:chExt cx="10982325" cy="268288"/>
          </a:xfrm>
        </p:grpSpPr>
        <p:sp>
          <p:nvSpPr>
            <p:cNvPr id="27" name="Line 27"/>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28" name="TextBox 28"/>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29" name="TextBox 29"/>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1267151"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12 · INTERVENSI</a:t>
              </a:r>
            </a:p>
          </p:txBody>
        </p:sp>
        <p:sp>
          <p:nvSpPr>
            <p:cNvPr id="3" name="TextBox 3"/>
            <p:cNvSpPr txBox="1"/>
            <p:nvPr/>
          </p:nvSpPr>
          <p:spPr>
            <a:xfrm>
              <a:off x="595503" y="685800"/>
              <a:ext cx="8378890"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Bukti menjanjikan, kualitas metodologis belum</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13 / 16</a:t>
              </a:r>
            </a:p>
          </p:txBody>
        </p:sp>
      </p:grpSp>
      <p:grpSp>
        <p:nvGrpSpPr>
          <p:cNvPr id="29" name="assessment"/>
          <p:cNvGrpSpPr/>
          <p:nvPr/>
        </p:nvGrpSpPr>
        <p:grpSpPr>
          <a:xfrm>
            <a:off x="598932" y="1720850"/>
            <a:ext cx="3973068" cy="4221162"/>
            <a:chOff x="598932" y="1720850"/>
            <a:chExt cx="3973068" cy="4221162"/>
          </a:xfrm>
        </p:grpSpPr>
        <p:sp>
          <p:nvSpPr>
            <p:cNvPr id="8" name="TextBox 8"/>
            <p:cNvSpPr txBox="1"/>
            <p:nvPr/>
          </p:nvSpPr>
          <p:spPr>
            <a:xfrm>
              <a:off x="604838" y="1720850"/>
              <a:ext cx="1509444"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18 STUDI INTERVENSI</a:t>
              </a:r>
            </a:p>
          </p:txBody>
        </p:sp>
        <p:sp>
          <p:nvSpPr>
            <p:cNvPr id="9" name="TextBox 9"/>
            <p:cNvSpPr txBox="1"/>
            <p:nvPr/>
          </p:nvSpPr>
          <p:spPr>
            <a:xfrm>
              <a:off x="601980" y="1949450"/>
              <a:ext cx="3963734" cy="560070"/>
            </a:xfrm>
            <a:prstGeom prst="rect">
              <a:avLst/>
            </a:prstGeom>
            <a:noFill/>
            <a:ln>
              <a:noFill/>
            </a:ln>
          </p:spPr>
          <p:txBody>
            <a:bodyPr wrap="none" lIns="0" tIns="0" rIns="0" bIns="0" anchor="t" anchorCtr="0">
              <a:spAutoFit/>
            </a:bodyPr>
            <a:lstStyle/>
            <a:p>
              <a:pPr algn="l">
                <a:lnSpc>
                  <a:spcPts val="2100"/>
                </a:lnSpc>
              </a:pPr>
              <a:r>
                <a:rPr lang="id" sz="1500" b="1" dirty="0">
                  <a:solidFill>
                    <a:srgbClr val="111318"/>
                  </a:solidFill>
                  <a:latin typeface="+mn-lt"/>
                  <a:ea typeface="+mn-ea"/>
                  <a:cs typeface="+mn-cs"/>
                </a:rPr>
                <a:t>Semua intervensi menunjukkan tren positif,</a:t>
              </a:r>
              <a:br>
                <a:rPr lang="id" sz="1500" b="1" dirty="0">
                  <a:solidFill>
                    <a:srgbClr val="111318"/>
                  </a:solidFill>
                  <a:latin typeface="+mn-lt"/>
                  <a:ea typeface="+mn-ea"/>
                  <a:cs typeface="+mn-cs"/>
                </a:rPr>
              </a:br>
              <a:r>
                <a:rPr lang="id" sz="1500" b="1" dirty="0">
                  <a:solidFill>
                    <a:srgbClr val="111318"/>
                  </a:solidFill>
                  <a:latin typeface="+mn-lt"/>
                  <a:ea typeface="+mn-ea"/>
                  <a:cs typeface="+mn-cs"/>
                </a:rPr>
                <a:t>tetapi buktinya rapuh.</a:t>
              </a:r>
            </a:p>
          </p:txBody>
        </p:sp>
        <p:sp>
          <p:nvSpPr>
            <p:cNvPr id="10" name="TextBox 10"/>
            <p:cNvSpPr txBox="1"/>
            <p:nvPr/>
          </p:nvSpPr>
          <p:spPr>
            <a:xfrm>
              <a:off x="598932" y="2565400"/>
              <a:ext cx="335814" cy="410718"/>
            </a:xfrm>
            <a:prstGeom prst="rect">
              <a:avLst/>
            </a:prstGeom>
            <a:noFill/>
            <a:ln>
              <a:noFill/>
            </a:ln>
          </p:spPr>
          <p:txBody>
            <a:bodyPr wrap="none" lIns="0" tIns="0" rIns="0" bIns="0" anchor="t" anchorCtr="0">
              <a:spAutoFit/>
            </a:bodyPr>
            <a:lstStyle/>
            <a:p>
              <a:pPr algn="l"/>
              <a:r>
                <a:rPr lang="id" sz="2100" b="1" dirty="0">
                  <a:solidFill>
                    <a:srgbClr val="111318"/>
                  </a:solidFill>
                  <a:latin typeface="+mn-lt"/>
                  <a:ea typeface="+mn-ea"/>
                  <a:cs typeface="+mn-cs"/>
                </a:rPr>
                <a:t>23</a:t>
              </a:r>
            </a:p>
          </p:txBody>
        </p:sp>
        <p:sp>
          <p:nvSpPr>
            <p:cNvPr id="11" name="TextBox 11"/>
            <p:cNvSpPr txBox="1"/>
            <p:nvPr/>
          </p:nvSpPr>
          <p:spPr>
            <a:xfrm>
              <a:off x="604838" y="2933700"/>
              <a:ext cx="1053263" cy="126682"/>
            </a:xfrm>
            <a:prstGeom prst="rect">
              <a:avLst/>
            </a:prstGeom>
            <a:noFill/>
            <a:ln>
              <a:noFill/>
            </a:ln>
          </p:spPr>
          <p:txBody>
            <a:bodyPr wrap="none" lIns="0" tIns="0" rIns="0" bIns="0" anchor="t" anchorCtr="0">
              <a:spAutoFit/>
            </a:bodyPr>
            <a:lstStyle/>
            <a:p>
              <a:pPr algn="l"/>
              <a:r>
                <a:rPr lang="id" sz="640" b="1" spc="105" dirty="0">
                  <a:solidFill>
                    <a:srgbClr val="585E66"/>
                  </a:solidFill>
                  <a:latin typeface="+mn-lt"/>
                  <a:ea typeface="+mn-ea"/>
                  <a:cs typeface="+mn-cs"/>
                </a:rPr>
                <a:t>NON-RANDOMIZED</a:t>
              </a:r>
            </a:p>
          </p:txBody>
        </p:sp>
        <p:sp>
          <p:nvSpPr>
            <p:cNvPr id="12" name="TextBox 12"/>
            <p:cNvSpPr txBox="1"/>
            <p:nvPr/>
          </p:nvSpPr>
          <p:spPr>
            <a:xfrm>
              <a:off x="2103882" y="2565400"/>
              <a:ext cx="178575" cy="410718"/>
            </a:xfrm>
            <a:prstGeom prst="rect">
              <a:avLst/>
            </a:prstGeom>
            <a:noFill/>
            <a:ln>
              <a:noFill/>
            </a:ln>
          </p:spPr>
          <p:txBody>
            <a:bodyPr wrap="none" lIns="0" tIns="0" rIns="0" bIns="0" anchor="t" anchorCtr="0">
              <a:spAutoFit/>
            </a:bodyPr>
            <a:lstStyle/>
            <a:p>
              <a:pPr algn="l"/>
              <a:r>
                <a:rPr lang="id" sz="2100" b="1" dirty="0">
                  <a:solidFill>
                    <a:srgbClr val="E8000D"/>
                  </a:solidFill>
                  <a:latin typeface="+mn-lt"/>
                  <a:ea typeface="+mn-ea"/>
                  <a:cs typeface="+mn-cs"/>
                </a:rPr>
                <a:t>3</a:t>
              </a:r>
            </a:p>
          </p:txBody>
        </p:sp>
        <p:sp>
          <p:nvSpPr>
            <p:cNvPr id="13" name="TextBox 13"/>
            <p:cNvSpPr txBox="1"/>
            <p:nvPr/>
          </p:nvSpPr>
          <p:spPr>
            <a:xfrm>
              <a:off x="2109788" y="2933700"/>
              <a:ext cx="609409" cy="126682"/>
            </a:xfrm>
            <a:prstGeom prst="rect">
              <a:avLst/>
            </a:prstGeom>
            <a:noFill/>
            <a:ln>
              <a:noFill/>
            </a:ln>
          </p:spPr>
          <p:txBody>
            <a:bodyPr wrap="none" lIns="0" tIns="0" rIns="0" bIns="0" anchor="t" anchorCtr="0">
              <a:spAutoFit/>
            </a:bodyPr>
            <a:lstStyle/>
            <a:p>
              <a:pPr algn="l"/>
              <a:r>
                <a:rPr lang="id" sz="640" b="1" spc="105" dirty="0">
                  <a:solidFill>
                    <a:srgbClr val="585E66"/>
                  </a:solidFill>
                  <a:latin typeface="+mn-lt"/>
                  <a:ea typeface="+mn-ea"/>
                  <a:cs typeface="+mn-cs"/>
                </a:rPr>
                <a:t>PILOT RCT</a:t>
              </a:r>
            </a:p>
          </p:txBody>
        </p:sp>
        <p:sp>
          <p:nvSpPr>
            <p:cNvPr id="14" name="Line 14"/>
            <p:cNvSpPr/>
            <p:nvPr/>
          </p:nvSpPr>
          <p:spPr>
            <a:xfrm>
              <a:off x="609600" y="3314700"/>
              <a:ext cx="3962400" cy="9525"/>
            </a:xfrm>
            <a:custGeom>
              <a:avLst/>
              <a:gdLst/>
              <a:ahLst/>
              <a:cxnLst/>
              <a:rect l="l" t="t" r="r" b="b"/>
              <a:pathLst>
                <a:path w="3962400" h="9525">
                  <a:moveTo>
                    <a:pt x="0" y="0"/>
                  </a:moveTo>
                  <a:lnTo>
                    <a:pt x="3962400" y="0"/>
                  </a:lnTo>
                </a:path>
              </a:pathLst>
            </a:custGeom>
            <a:noFill/>
            <a:ln w="9525">
              <a:solidFill>
                <a:srgbClr val="D6D9DE"/>
              </a:solidFill>
            </a:ln>
          </p:spPr>
        </p:sp>
        <p:sp>
          <p:nvSpPr>
            <p:cNvPr id="15" name="TextBox 15"/>
            <p:cNvSpPr txBox="1"/>
            <p:nvPr/>
          </p:nvSpPr>
          <p:spPr>
            <a:xfrm>
              <a:off x="604838" y="3473450"/>
              <a:ext cx="1763793" cy="134302"/>
            </a:xfrm>
            <a:prstGeom prst="rect">
              <a:avLst/>
            </a:prstGeom>
            <a:noFill/>
            <a:ln>
              <a:noFill/>
            </a:ln>
          </p:spPr>
          <p:txBody>
            <a:bodyPr wrap="none" lIns="0" tIns="0" rIns="0" bIns="0" anchor="t" anchorCtr="0">
              <a:spAutoFit/>
            </a:bodyPr>
            <a:lstStyle/>
            <a:p>
              <a:pPr algn="l"/>
              <a:r>
                <a:rPr lang="id" sz="680" b="1" spc="135" dirty="0">
                  <a:solidFill>
                    <a:srgbClr val="8B9198"/>
                  </a:solidFill>
                  <a:latin typeface="+mn-lt"/>
                  <a:ea typeface="+mn-ea"/>
                  <a:cs typeface="+mn-cs"/>
                </a:rPr>
                <a:t>KELEMAHAN METODOLOGIS</a:t>
              </a:r>
            </a:p>
          </p:txBody>
        </p:sp>
        <p:sp>
          <p:nvSpPr>
            <p:cNvPr id="16" name="Rectangle 16"/>
            <p:cNvSpPr/>
            <p:nvPr/>
          </p:nvSpPr>
          <p:spPr>
            <a:xfrm>
              <a:off x="609600" y="3733800"/>
              <a:ext cx="47625" cy="47625"/>
            </a:xfrm>
            <a:prstGeom prst="rect">
              <a:avLst/>
            </a:prstGeom>
            <a:solidFill>
              <a:srgbClr val="E8000D"/>
            </a:solidFill>
            <a:ln>
              <a:noFill/>
            </a:ln>
          </p:spPr>
        </p:sp>
        <p:sp>
          <p:nvSpPr>
            <p:cNvPr id="17" name="TextBox 17"/>
            <p:cNvSpPr txBox="1"/>
            <p:nvPr/>
          </p:nvSpPr>
          <p:spPr>
            <a:xfrm>
              <a:off x="757238" y="3708400"/>
              <a:ext cx="1661886"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Detail metodologis tidak dilaporkan</a:t>
              </a:r>
            </a:p>
          </p:txBody>
        </p:sp>
        <p:sp>
          <p:nvSpPr>
            <p:cNvPr id="18" name="Rectangle 18"/>
            <p:cNvSpPr/>
            <p:nvPr/>
          </p:nvSpPr>
          <p:spPr>
            <a:xfrm>
              <a:off x="609600" y="3962400"/>
              <a:ext cx="47625" cy="47625"/>
            </a:xfrm>
            <a:prstGeom prst="rect">
              <a:avLst/>
            </a:prstGeom>
            <a:solidFill>
              <a:srgbClr val="E8000D"/>
            </a:solidFill>
            <a:ln>
              <a:noFill/>
            </a:ln>
          </p:spPr>
        </p:sp>
        <p:sp>
          <p:nvSpPr>
            <p:cNvPr id="19" name="TextBox 19"/>
            <p:cNvSpPr txBox="1"/>
            <p:nvPr/>
          </p:nvSpPr>
          <p:spPr>
            <a:xfrm>
              <a:off x="757238" y="3937000"/>
              <a:ext cx="1313277"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Tidak ada kelompok kontrol</a:t>
              </a:r>
            </a:p>
          </p:txBody>
        </p:sp>
        <p:sp>
          <p:nvSpPr>
            <p:cNvPr id="20" name="Rectangle 20"/>
            <p:cNvSpPr/>
            <p:nvPr/>
          </p:nvSpPr>
          <p:spPr>
            <a:xfrm>
              <a:off x="609600" y="4191000"/>
              <a:ext cx="47625" cy="47625"/>
            </a:xfrm>
            <a:prstGeom prst="rect">
              <a:avLst/>
            </a:prstGeom>
            <a:solidFill>
              <a:srgbClr val="E8000D"/>
            </a:solidFill>
            <a:ln>
              <a:noFill/>
            </a:ln>
          </p:spPr>
        </p:sp>
        <p:sp>
          <p:nvSpPr>
            <p:cNvPr id="21" name="TextBox 21"/>
            <p:cNvSpPr txBox="1"/>
            <p:nvPr/>
          </p:nvSpPr>
          <p:spPr>
            <a:xfrm>
              <a:off x="757238" y="4165600"/>
              <a:ext cx="1283701"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Perancu tidak dikendalikan</a:t>
              </a:r>
            </a:p>
          </p:txBody>
        </p:sp>
        <p:sp>
          <p:nvSpPr>
            <p:cNvPr id="22" name="Rectangle 22"/>
            <p:cNvSpPr/>
            <p:nvPr/>
          </p:nvSpPr>
          <p:spPr>
            <a:xfrm>
              <a:off x="609600" y="4419600"/>
              <a:ext cx="47625" cy="47625"/>
            </a:xfrm>
            <a:prstGeom prst="rect">
              <a:avLst/>
            </a:prstGeom>
            <a:solidFill>
              <a:srgbClr val="E8000D"/>
            </a:solidFill>
            <a:ln>
              <a:noFill/>
            </a:ln>
          </p:spPr>
        </p:sp>
        <p:sp>
          <p:nvSpPr>
            <p:cNvPr id="23" name="TextBox 23"/>
            <p:cNvSpPr txBox="1"/>
            <p:nvPr/>
          </p:nvSpPr>
          <p:spPr>
            <a:xfrm>
              <a:off x="757238" y="4394200"/>
              <a:ext cx="1542599"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Sampel sangat kecil (n = 12–59)</a:t>
              </a:r>
            </a:p>
          </p:txBody>
        </p:sp>
        <p:sp>
          <p:nvSpPr>
            <p:cNvPr id="24" name="Rectangle 24"/>
            <p:cNvSpPr/>
            <p:nvPr/>
          </p:nvSpPr>
          <p:spPr>
            <a:xfrm>
              <a:off x="609600" y="4648200"/>
              <a:ext cx="47625" cy="47625"/>
            </a:xfrm>
            <a:prstGeom prst="rect">
              <a:avLst/>
            </a:prstGeom>
            <a:solidFill>
              <a:srgbClr val="E8000D"/>
            </a:solidFill>
            <a:ln>
              <a:noFill/>
            </a:ln>
          </p:spPr>
        </p:sp>
        <p:sp>
          <p:nvSpPr>
            <p:cNvPr id="25" name="TextBox 25"/>
            <p:cNvSpPr txBox="1"/>
            <p:nvPr/>
          </p:nvSpPr>
          <p:spPr>
            <a:xfrm>
              <a:off x="757238" y="4622800"/>
              <a:ext cx="1331010" cy="155258"/>
            </a:xfrm>
            <a:prstGeom prst="rect">
              <a:avLst/>
            </a:prstGeom>
            <a:noFill/>
            <a:ln>
              <a:noFill/>
            </a:ln>
          </p:spPr>
          <p:txBody>
            <a:bodyPr wrap="none" lIns="0" tIns="0" rIns="0" bIns="0" anchor="t" anchorCtr="0">
              <a:spAutoFit/>
            </a:bodyPr>
            <a:lstStyle/>
            <a:p>
              <a:pPr algn="l"/>
              <a:r>
                <a:rPr lang="id" sz="790" dirty="0">
                  <a:solidFill>
                    <a:srgbClr val="585E66"/>
                  </a:solidFill>
                  <a:latin typeface="+mn-lt"/>
                  <a:ea typeface="+mn-ea"/>
                  <a:cs typeface="+mn-cs"/>
                </a:rPr>
                <a:t>Tidak ada power calculation</a:t>
              </a:r>
            </a:p>
          </p:txBody>
        </p:sp>
        <p:sp>
          <p:nvSpPr>
            <p:cNvPr id="26" name="Line 26"/>
            <p:cNvSpPr/>
            <p:nvPr/>
          </p:nvSpPr>
          <p:spPr>
            <a:xfrm>
              <a:off x="609600" y="4991100"/>
              <a:ext cx="3962400" cy="9525"/>
            </a:xfrm>
            <a:custGeom>
              <a:avLst/>
              <a:gdLst/>
              <a:ahLst/>
              <a:cxnLst/>
              <a:rect l="l" t="t" r="r" b="b"/>
              <a:pathLst>
                <a:path w="3962400" h="9525">
                  <a:moveTo>
                    <a:pt x="0" y="0"/>
                  </a:moveTo>
                  <a:lnTo>
                    <a:pt x="3962400" y="0"/>
                  </a:lnTo>
                </a:path>
              </a:pathLst>
            </a:custGeom>
            <a:noFill/>
            <a:ln w="11430">
              <a:solidFill>
                <a:srgbClr val="111318"/>
              </a:solidFill>
            </a:ln>
          </p:spPr>
        </p:sp>
        <p:sp>
          <p:nvSpPr>
            <p:cNvPr id="27" name="TextBox 27"/>
            <p:cNvSpPr txBox="1"/>
            <p:nvPr/>
          </p:nvSpPr>
          <p:spPr>
            <a:xfrm>
              <a:off x="604838" y="5143500"/>
              <a:ext cx="1763715" cy="307658"/>
            </a:xfrm>
            <a:prstGeom prst="rect">
              <a:avLst/>
            </a:prstGeom>
            <a:noFill/>
            <a:ln>
              <a:noFill/>
            </a:ln>
          </p:spPr>
          <p:txBody>
            <a:bodyPr wrap="none" lIns="0" tIns="0" rIns="0" bIns="0" anchor="t" anchorCtr="0">
              <a:spAutoFit/>
            </a:bodyPr>
            <a:lstStyle/>
            <a:p>
              <a:pPr algn="l">
                <a:lnSpc>
                  <a:spcPts val="1200"/>
                </a:lnSpc>
              </a:pPr>
              <a:r>
                <a:rPr lang="id" sz="790" dirty="0">
                  <a:solidFill>
                    <a:srgbClr val="111318"/>
                  </a:solidFill>
                  <a:latin typeface="+mn-lt"/>
                  <a:ea typeface="+mn-ea"/>
                  <a:cs typeface="+mn-cs"/>
                </a:rPr>
                <a:t>Hanya satu intervensi berskala cukup</a:t>
              </a:r>
              <a:br>
                <a:rPr lang="id" sz="790" dirty="0">
                  <a:solidFill>
                    <a:srgbClr val="111318"/>
                  </a:solidFill>
                  <a:latin typeface="+mn-lt"/>
                  <a:ea typeface="+mn-ea"/>
                  <a:cs typeface="+mn-cs"/>
                </a:rPr>
              </a:br>
              <a:r>
                <a:rPr lang="id" sz="790" dirty="0">
                  <a:solidFill>
                    <a:srgbClr val="111318"/>
                  </a:solidFill>
                  <a:latin typeface="+mn-lt"/>
                  <a:ea typeface="+mn-ea"/>
                  <a:cs typeface="+mn-cs"/>
                </a:rPr>
                <a:t>besar (n = 181) dengan hasil signifikan.</a:t>
              </a:r>
            </a:p>
          </p:txBody>
        </p:sp>
        <p:sp>
          <p:nvSpPr>
            <p:cNvPr id="28" name="TextBox 28"/>
            <p:cNvSpPr txBox="1"/>
            <p:nvPr/>
          </p:nvSpPr>
          <p:spPr>
            <a:xfrm>
              <a:off x="604838" y="5651500"/>
              <a:ext cx="1920831" cy="290512"/>
            </a:xfrm>
            <a:prstGeom prst="rect">
              <a:avLst/>
            </a:prstGeom>
            <a:noFill/>
            <a:ln>
              <a:noFill/>
            </a:ln>
          </p:spPr>
          <p:txBody>
            <a:bodyPr wrap="none" lIns="0" tIns="0" rIns="0" bIns="0" anchor="t" anchorCtr="0">
              <a:spAutoFit/>
            </a:bodyPr>
            <a:lstStyle/>
            <a:p>
              <a:pPr algn="l">
                <a:lnSpc>
                  <a:spcPts val="1125"/>
                </a:lnSpc>
              </a:pPr>
              <a:r>
                <a:rPr lang="id" sz="750" dirty="0">
                  <a:solidFill>
                    <a:srgbClr val="8B9198"/>
                  </a:solidFill>
                  <a:latin typeface="+mn-lt"/>
                  <a:ea typeface="+mn-ea"/>
                  <a:cs typeface="+mn-cs"/>
                </a:rPr>
                <a:t>Kualitas studi primer yang rendah membatasi</a:t>
              </a:r>
              <a:br>
                <a:rPr lang="id" sz="750" dirty="0">
                  <a:solidFill>
                    <a:srgbClr val="8B9198"/>
                  </a:solidFill>
                  <a:latin typeface="+mn-lt"/>
                  <a:ea typeface="+mn-ea"/>
                  <a:cs typeface="+mn-cs"/>
                </a:rPr>
              </a:br>
              <a:r>
                <a:rPr lang="id" sz="750" dirty="0">
                  <a:solidFill>
                    <a:srgbClr val="8B9198"/>
                  </a:solidFill>
                  <a:latin typeface="+mn-lt"/>
                  <a:ea typeface="+mn-ea"/>
                  <a:cs typeface="+mn-cs"/>
                </a:rPr>
                <a:t>kekuatan seluruh kesimpulan tinjauan.</a:t>
              </a:r>
            </a:p>
          </p:txBody>
        </p:sp>
      </p:grpSp>
      <p:grpSp>
        <p:nvGrpSpPr>
          <p:cNvPr id="79" name="map"/>
          <p:cNvGrpSpPr/>
          <p:nvPr/>
        </p:nvGrpSpPr>
        <p:grpSpPr>
          <a:xfrm>
            <a:off x="5214938" y="1720850"/>
            <a:ext cx="6367462" cy="4013200"/>
            <a:chOff x="5214938" y="1720850"/>
            <a:chExt cx="6367462" cy="4013200"/>
          </a:xfrm>
        </p:grpSpPr>
        <p:sp>
          <p:nvSpPr>
            <p:cNvPr id="30" name="TextBox 30"/>
            <p:cNvSpPr txBox="1"/>
            <p:nvPr/>
          </p:nvSpPr>
          <p:spPr>
            <a:xfrm>
              <a:off x="5214938" y="1720850"/>
              <a:ext cx="1241539"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PETA INTERVENSI</a:t>
              </a:r>
            </a:p>
          </p:txBody>
        </p:sp>
        <p:sp>
          <p:nvSpPr>
            <p:cNvPr id="31" name="TextBox 31"/>
            <p:cNvSpPr txBox="1"/>
            <p:nvPr/>
          </p:nvSpPr>
          <p:spPr>
            <a:xfrm>
              <a:off x="5214938" y="1917700"/>
              <a:ext cx="1399925" cy="161925"/>
            </a:xfrm>
            <a:prstGeom prst="rect">
              <a:avLst/>
            </a:prstGeom>
            <a:noFill/>
            <a:ln>
              <a:noFill/>
            </a:ln>
          </p:spPr>
          <p:txBody>
            <a:bodyPr wrap="none" lIns="0" tIns="0" rIns="0" bIns="0" anchor="t" anchorCtr="0">
              <a:spAutoFit/>
            </a:bodyPr>
            <a:lstStyle/>
            <a:p>
              <a:pPr algn="l"/>
              <a:r>
                <a:rPr lang="id" sz="820" dirty="0">
                  <a:solidFill>
                    <a:srgbClr val="585E66"/>
                  </a:solidFill>
                  <a:latin typeface="+mn-lt"/>
                  <a:ea typeface="+mn-ea"/>
                  <a:cs typeface="+mn-cs"/>
                </a:rPr>
                <a:t>Menurut sasaran perubahan</a:t>
              </a:r>
            </a:p>
          </p:txBody>
        </p:sp>
        <p:sp>
          <p:nvSpPr>
            <p:cNvPr id="32" name="TextBox 32"/>
            <p:cNvSpPr txBox="1"/>
            <p:nvPr/>
          </p:nvSpPr>
          <p:spPr>
            <a:xfrm>
              <a:off x="5214938" y="2190750"/>
              <a:ext cx="656091" cy="119062"/>
            </a:xfrm>
            <a:prstGeom prst="rect">
              <a:avLst/>
            </a:prstGeom>
            <a:noFill/>
            <a:ln>
              <a:noFill/>
            </a:ln>
          </p:spPr>
          <p:txBody>
            <a:bodyPr wrap="none" lIns="0" tIns="0" rIns="0" bIns="0" anchor="t" anchorCtr="0">
              <a:spAutoFit/>
            </a:bodyPr>
            <a:lstStyle/>
            <a:p>
              <a:pPr algn="l"/>
              <a:r>
                <a:rPr lang="id" sz="600" b="1" spc="105" dirty="0">
                  <a:solidFill>
                    <a:srgbClr val="8B9198"/>
                  </a:solidFill>
                  <a:latin typeface="+mn-lt"/>
                  <a:ea typeface="+mn-ea"/>
                  <a:cs typeface="+mn-cs"/>
                </a:rPr>
                <a:t>INTERVENSI</a:t>
              </a:r>
            </a:p>
          </p:txBody>
        </p:sp>
        <p:sp>
          <p:nvSpPr>
            <p:cNvPr id="33" name="TextBox 33"/>
            <p:cNvSpPr txBox="1"/>
            <p:nvPr/>
          </p:nvSpPr>
          <p:spPr>
            <a:xfrm>
              <a:off x="7615238" y="2190750"/>
              <a:ext cx="58861" cy="119062"/>
            </a:xfrm>
            <a:prstGeom prst="rect">
              <a:avLst/>
            </a:prstGeom>
            <a:noFill/>
            <a:ln>
              <a:noFill/>
            </a:ln>
          </p:spPr>
          <p:txBody>
            <a:bodyPr wrap="none" lIns="0" tIns="0" rIns="0" bIns="0" anchor="t" anchorCtr="0">
              <a:spAutoFit/>
            </a:bodyPr>
            <a:lstStyle/>
            <a:p>
              <a:pPr algn="l"/>
              <a:r>
                <a:rPr lang="id" sz="600" b="1" spc="105" dirty="0">
                  <a:solidFill>
                    <a:srgbClr val="8B9198"/>
                  </a:solidFill>
                  <a:latin typeface="+mn-lt"/>
                  <a:ea typeface="+mn-ea"/>
                  <a:cs typeface="+mn-cs"/>
                </a:rPr>
                <a:t>n</a:t>
              </a:r>
            </a:p>
          </p:txBody>
        </p:sp>
        <p:sp>
          <p:nvSpPr>
            <p:cNvPr id="34" name="TextBox 34"/>
            <p:cNvSpPr txBox="1"/>
            <p:nvPr/>
          </p:nvSpPr>
          <p:spPr>
            <a:xfrm>
              <a:off x="8072438" y="2190750"/>
              <a:ext cx="325298" cy="119062"/>
            </a:xfrm>
            <a:prstGeom prst="rect">
              <a:avLst/>
            </a:prstGeom>
            <a:noFill/>
            <a:ln>
              <a:noFill/>
            </a:ln>
          </p:spPr>
          <p:txBody>
            <a:bodyPr wrap="none" lIns="0" tIns="0" rIns="0" bIns="0" anchor="t" anchorCtr="0">
              <a:spAutoFit/>
            </a:bodyPr>
            <a:lstStyle/>
            <a:p>
              <a:pPr algn="l"/>
              <a:r>
                <a:rPr lang="id" sz="600" b="1" spc="105" dirty="0">
                  <a:solidFill>
                    <a:srgbClr val="8B9198"/>
                  </a:solidFill>
                  <a:latin typeface="+mn-lt"/>
                  <a:ea typeface="+mn-ea"/>
                  <a:cs typeface="+mn-cs"/>
                </a:rPr>
                <a:t>HASIL</a:t>
              </a:r>
            </a:p>
          </p:txBody>
        </p:sp>
        <p:sp>
          <p:nvSpPr>
            <p:cNvPr id="35" name="TextBox 35"/>
            <p:cNvSpPr txBox="1"/>
            <p:nvPr/>
          </p:nvSpPr>
          <p:spPr>
            <a:xfrm>
              <a:off x="5214938" y="2457450"/>
              <a:ext cx="1409003" cy="126682"/>
            </a:xfrm>
            <a:prstGeom prst="rect">
              <a:avLst/>
            </a:prstGeom>
            <a:noFill/>
            <a:ln>
              <a:noFill/>
            </a:ln>
          </p:spPr>
          <p:txBody>
            <a:bodyPr wrap="none" lIns="0" tIns="0" rIns="0" bIns="0" anchor="t" anchorCtr="0">
              <a:spAutoFit/>
            </a:bodyPr>
            <a:lstStyle/>
            <a:p>
              <a:pPr algn="l"/>
              <a:r>
                <a:rPr lang="id" sz="640" b="1" spc="112" dirty="0">
                  <a:solidFill>
                    <a:srgbClr val="111318"/>
                  </a:solidFill>
                  <a:latin typeface="+mn-lt"/>
                  <a:ea typeface="+mn-ea"/>
                  <a:cs typeface="+mn-cs"/>
                </a:rPr>
                <a:t>PROSES &amp; LINGKUNGAN</a:t>
              </a:r>
            </a:p>
          </p:txBody>
        </p:sp>
        <p:sp>
          <p:nvSpPr>
            <p:cNvPr id="36" name="Line 36"/>
            <p:cNvSpPr/>
            <p:nvPr/>
          </p:nvSpPr>
          <p:spPr>
            <a:xfrm>
              <a:off x="5219700" y="2609850"/>
              <a:ext cx="6362700" cy="9525"/>
            </a:xfrm>
            <a:custGeom>
              <a:avLst/>
              <a:gdLst/>
              <a:ahLst/>
              <a:cxnLst/>
              <a:rect l="l" t="t" r="r" b="b"/>
              <a:pathLst>
                <a:path w="6362700" h="9525">
                  <a:moveTo>
                    <a:pt x="0" y="0"/>
                  </a:moveTo>
                  <a:lnTo>
                    <a:pt x="6362700" y="0"/>
                  </a:lnTo>
                </a:path>
              </a:pathLst>
            </a:custGeom>
            <a:noFill/>
            <a:ln w="9525">
              <a:solidFill>
                <a:srgbClr val="111318"/>
              </a:solidFill>
            </a:ln>
          </p:spPr>
        </p:sp>
        <p:sp>
          <p:nvSpPr>
            <p:cNvPr id="37" name="TextBox 37"/>
            <p:cNvSpPr txBox="1"/>
            <p:nvPr/>
          </p:nvSpPr>
          <p:spPr>
            <a:xfrm>
              <a:off x="5214938" y="2717800"/>
              <a:ext cx="1041587"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Pesan teks real-time</a:t>
              </a:r>
            </a:p>
          </p:txBody>
        </p:sp>
        <p:sp>
          <p:nvSpPr>
            <p:cNvPr id="38" name="TextBox 38"/>
            <p:cNvSpPr txBox="1"/>
            <p:nvPr/>
          </p:nvSpPr>
          <p:spPr>
            <a:xfrm>
              <a:off x="7615238" y="27305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17</a:t>
              </a:r>
            </a:p>
          </p:txBody>
        </p:sp>
        <p:sp>
          <p:nvSpPr>
            <p:cNvPr id="39" name="TextBox 39"/>
            <p:cNvSpPr txBox="1"/>
            <p:nvPr/>
          </p:nvSpPr>
          <p:spPr>
            <a:xfrm>
              <a:off x="8072438" y="2730500"/>
              <a:ext cx="1340715"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Kecemasan turun; sampel kecil</a:t>
              </a:r>
            </a:p>
          </p:txBody>
        </p:sp>
        <p:sp>
          <p:nvSpPr>
            <p:cNvPr id="40" name="Line 40"/>
            <p:cNvSpPr/>
            <p:nvPr/>
          </p:nvSpPr>
          <p:spPr>
            <a:xfrm>
              <a:off x="5219700" y="29051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41" name="TextBox 41"/>
            <p:cNvSpPr txBox="1"/>
            <p:nvPr/>
          </p:nvSpPr>
          <p:spPr>
            <a:xfrm>
              <a:off x="5214938" y="2984500"/>
              <a:ext cx="1111974"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Distraksi audio-visual</a:t>
              </a:r>
            </a:p>
          </p:txBody>
        </p:sp>
        <p:sp>
          <p:nvSpPr>
            <p:cNvPr id="42" name="TextBox 42"/>
            <p:cNvSpPr txBox="1"/>
            <p:nvPr/>
          </p:nvSpPr>
          <p:spPr>
            <a:xfrm>
              <a:off x="7615238" y="29972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28</a:t>
              </a:r>
            </a:p>
          </p:txBody>
        </p:sp>
        <p:sp>
          <p:nvSpPr>
            <p:cNvPr id="43" name="TextBox 43"/>
            <p:cNvSpPr txBox="1"/>
            <p:nvPr/>
          </p:nvSpPr>
          <p:spPr>
            <a:xfrm>
              <a:off x="8072438" y="2997200"/>
              <a:ext cx="1285909"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Denyut jantung turun (p &lt; .02)</a:t>
              </a:r>
            </a:p>
          </p:txBody>
        </p:sp>
        <p:sp>
          <p:nvSpPr>
            <p:cNvPr id="44" name="Line 44"/>
            <p:cNvSpPr/>
            <p:nvPr/>
          </p:nvSpPr>
          <p:spPr>
            <a:xfrm>
              <a:off x="5219700" y="31718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45" name="TextBox 45"/>
            <p:cNvSpPr txBox="1"/>
            <p:nvPr/>
          </p:nvSpPr>
          <p:spPr>
            <a:xfrm>
              <a:off x="5214938" y="3251200"/>
              <a:ext cx="1236441"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Electronic screen media</a:t>
              </a:r>
            </a:p>
          </p:txBody>
        </p:sp>
        <p:sp>
          <p:nvSpPr>
            <p:cNvPr id="46" name="TextBox 46"/>
            <p:cNvSpPr txBox="1"/>
            <p:nvPr/>
          </p:nvSpPr>
          <p:spPr>
            <a:xfrm>
              <a:off x="7615238" y="3263900"/>
              <a:ext cx="222581"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pilot</a:t>
              </a:r>
            </a:p>
          </p:txBody>
        </p:sp>
        <p:sp>
          <p:nvSpPr>
            <p:cNvPr id="47" name="TextBox 47"/>
            <p:cNvSpPr txBox="1"/>
            <p:nvPr/>
          </p:nvSpPr>
          <p:spPr>
            <a:xfrm>
              <a:off x="8072438" y="3263900"/>
              <a:ext cx="1148151"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Kecemasan turun (p = .03)</a:t>
              </a:r>
            </a:p>
          </p:txBody>
        </p:sp>
        <p:sp>
          <p:nvSpPr>
            <p:cNvPr id="48" name="Line 48"/>
            <p:cNvSpPr/>
            <p:nvPr/>
          </p:nvSpPr>
          <p:spPr>
            <a:xfrm>
              <a:off x="5219700" y="34385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49" name="TextBox 49"/>
            <p:cNvSpPr txBox="1"/>
            <p:nvPr/>
          </p:nvSpPr>
          <p:spPr>
            <a:xfrm>
              <a:off x="5214938" y="3517900"/>
              <a:ext cx="1537714"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Sensory adapted environment</a:t>
              </a:r>
            </a:p>
          </p:txBody>
        </p:sp>
        <p:sp>
          <p:nvSpPr>
            <p:cNvPr id="50" name="TextBox 50"/>
            <p:cNvSpPr txBox="1"/>
            <p:nvPr/>
          </p:nvSpPr>
          <p:spPr>
            <a:xfrm>
              <a:off x="7615238" y="35306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44</a:t>
              </a:r>
            </a:p>
          </p:txBody>
        </p:sp>
        <p:sp>
          <p:nvSpPr>
            <p:cNvPr id="51" name="TextBox 51"/>
            <p:cNvSpPr txBox="1"/>
            <p:nvPr/>
          </p:nvSpPr>
          <p:spPr>
            <a:xfrm>
              <a:off x="8072438" y="3530600"/>
              <a:ext cx="1338662"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Relaks/kooperatif naik (p = .08)</a:t>
              </a:r>
            </a:p>
          </p:txBody>
        </p:sp>
        <p:sp>
          <p:nvSpPr>
            <p:cNvPr id="52" name="Line 52"/>
            <p:cNvSpPr/>
            <p:nvPr/>
          </p:nvSpPr>
          <p:spPr>
            <a:xfrm>
              <a:off x="5219700" y="37052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53" name="TextBox 53"/>
            <p:cNvSpPr txBox="1"/>
            <p:nvPr/>
          </p:nvSpPr>
          <p:spPr>
            <a:xfrm>
              <a:off x="5214938" y="3784600"/>
              <a:ext cx="968040"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Protokol IT + klinis</a:t>
              </a:r>
            </a:p>
          </p:txBody>
        </p:sp>
        <p:sp>
          <p:nvSpPr>
            <p:cNvPr id="54" name="TextBox 54"/>
            <p:cNvSpPr txBox="1"/>
            <p:nvPr/>
          </p:nvSpPr>
          <p:spPr>
            <a:xfrm>
              <a:off x="7615238" y="37973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59</a:t>
              </a:r>
            </a:p>
          </p:txBody>
        </p:sp>
        <p:sp>
          <p:nvSpPr>
            <p:cNvPr id="55" name="TextBox 55"/>
            <p:cNvSpPr txBox="1"/>
            <p:nvPr/>
          </p:nvSpPr>
          <p:spPr>
            <a:xfrm>
              <a:off x="8072438" y="3797300"/>
              <a:ext cx="1795842"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Perilaku &amp; kebersihan membaik (p &lt; .001)</a:t>
              </a:r>
            </a:p>
          </p:txBody>
        </p:sp>
        <p:sp>
          <p:nvSpPr>
            <p:cNvPr id="56" name="Line 56"/>
            <p:cNvSpPr/>
            <p:nvPr/>
          </p:nvSpPr>
          <p:spPr>
            <a:xfrm>
              <a:off x="5219700" y="39719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57" name="TextBox 57"/>
            <p:cNvSpPr txBox="1"/>
            <p:nvPr/>
          </p:nvSpPr>
          <p:spPr>
            <a:xfrm>
              <a:off x="5214938" y="4051300"/>
              <a:ext cx="1150667"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Familiarisasi + tasking</a:t>
              </a:r>
            </a:p>
          </p:txBody>
        </p:sp>
        <p:sp>
          <p:nvSpPr>
            <p:cNvPr id="58" name="TextBox 58"/>
            <p:cNvSpPr txBox="1"/>
            <p:nvPr/>
          </p:nvSpPr>
          <p:spPr>
            <a:xfrm>
              <a:off x="7615238" y="40640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44</a:t>
              </a:r>
            </a:p>
          </p:txBody>
        </p:sp>
        <p:sp>
          <p:nvSpPr>
            <p:cNvPr id="59" name="TextBox 59"/>
            <p:cNvSpPr txBox="1"/>
            <p:nvPr/>
          </p:nvSpPr>
          <p:spPr>
            <a:xfrm>
              <a:off x="8072438" y="4064000"/>
              <a:ext cx="1776891"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Perilaku naik (p = .03); GA turun (p = .04)</a:t>
              </a:r>
            </a:p>
          </p:txBody>
        </p:sp>
        <p:sp>
          <p:nvSpPr>
            <p:cNvPr id="60" name="Line 60"/>
            <p:cNvSpPr/>
            <p:nvPr/>
          </p:nvSpPr>
          <p:spPr>
            <a:xfrm>
              <a:off x="5219700" y="42386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61" name="TextBox 61"/>
            <p:cNvSpPr txBox="1"/>
            <p:nvPr/>
          </p:nvSpPr>
          <p:spPr>
            <a:xfrm>
              <a:off x="5214938" y="4476750"/>
              <a:ext cx="1950361" cy="126682"/>
            </a:xfrm>
            <a:prstGeom prst="rect">
              <a:avLst/>
            </a:prstGeom>
            <a:noFill/>
            <a:ln>
              <a:noFill/>
            </a:ln>
          </p:spPr>
          <p:txBody>
            <a:bodyPr wrap="none" lIns="0" tIns="0" rIns="0" bIns="0" anchor="t" anchorCtr="0">
              <a:spAutoFit/>
            </a:bodyPr>
            <a:lstStyle/>
            <a:p>
              <a:pPr algn="l"/>
              <a:r>
                <a:rPr lang="id" sz="640" b="1" spc="112" dirty="0">
                  <a:solidFill>
                    <a:srgbClr val="111318"/>
                  </a:solidFill>
                  <a:latin typeface="+mn-lt"/>
                  <a:ea typeface="+mn-ea"/>
                  <a:cs typeface="+mn-cs"/>
                </a:rPr>
                <a:t>PENGETAHUAN &amp; KETERAMPILAN</a:t>
              </a:r>
            </a:p>
          </p:txBody>
        </p:sp>
        <p:sp>
          <p:nvSpPr>
            <p:cNvPr id="62" name="Line 62"/>
            <p:cNvSpPr/>
            <p:nvPr/>
          </p:nvSpPr>
          <p:spPr>
            <a:xfrm>
              <a:off x="5219700" y="4629150"/>
              <a:ext cx="6362700" cy="9525"/>
            </a:xfrm>
            <a:custGeom>
              <a:avLst/>
              <a:gdLst/>
              <a:ahLst/>
              <a:cxnLst/>
              <a:rect l="l" t="t" r="r" b="b"/>
              <a:pathLst>
                <a:path w="6362700" h="9525">
                  <a:moveTo>
                    <a:pt x="0" y="0"/>
                  </a:moveTo>
                  <a:lnTo>
                    <a:pt x="6362700" y="0"/>
                  </a:lnTo>
                </a:path>
              </a:pathLst>
            </a:custGeom>
            <a:noFill/>
            <a:ln w="9525">
              <a:solidFill>
                <a:srgbClr val="111318"/>
              </a:solidFill>
            </a:ln>
          </p:spPr>
        </p:sp>
        <p:sp>
          <p:nvSpPr>
            <p:cNvPr id="63" name="TextBox 63"/>
            <p:cNvSpPr txBox="1"/>
            <p:nvPr/>
          </p:nvSpPr>
          <p:spPr>
            <a:xfrm>
              <a:off x="5214938" y="4737100"/>
              <a:ext cx="763070"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Edukasi digital</a:t>
              </a:r>
            </a:p>
          </p:txBody>
        </p:sp>
        <p:sp>
          <p:nvSpPr>
            <p:cNvPr id="64" name="TextBox 64"/>
            <p:cNvSpPr txBox="1"/>
            <p:nvPr/>
          </p:nvSpPr>
          <p:spPr>
            <a:xfrm>
              <a:off x="7615238" y="47498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15</a:t>
              </a:r>
            </a:p>
          </p:txBody>
        </p:sp>
        <p:sp>
          <p:nvSpPr>
            <p:cNvPr id="65" name="TextBox 65"/>
            <p:cNvSpPr txBox="1"/>
            <p:nvPr/>
          </p:nvSpPr>
          <p:spPr>
            <a:xfrm>
              <a:off x="8072438" y="4749800"/>
              <a:ext cx="1442393"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Pengetahuan naik pada 4 minggu</a:t>
              </a:r>
            </a:p>
          </p:txBody>
        </p:sp>
        <p:sp>
          <p:nvSpPr>
            <p:cNvPr id="66" name="Line 66"/>
            <p:cNvSpPr/>
            <p:nvPr/>
          </p:nvSpPr>
          <p:spPr>
            <a:xfrm>
              <a:off x="5219700" y="49244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67" name="TextBox 67"/>
            <p:cNvSpPr txBox="1"/>
            <p:nvPr/>
          </p:nvSpPr>
          <p:spPr>
            <a:xfrm>
              <a:off x="5214938" y="5003800"/>
              <a:ext cx="704129"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Social stories</a:t>
              </a:r>
            </a:p>
          </p:txBody>
        </p:sp>
        <p:sp>
          <p:nvSpPr>
            <p:cNvPr id="68" name="TextBox 68"/>
            <p:cNvSpPr txBox="1"/>
            <p:nvPr/>
          </p:nvSpPr>
          <p:spPr>
            <a:xfrm>
              <a:off x="7615238" y="5016500"/>
              <a:ext cx="177995"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181</a:t>
              </a:r>
            </a:p>
          </p:txBody>
        </p:sp>
        <p:sp>
          <p:nvSpPr>
            <p:cNvPr id="69" name="TextBox 69"/>
            <p:cNvSpPr txBox="1"/>
            <p:nvPr/>
          </p:nvSpPr>
          <p:spPr>
            <a:xfrm>
              <a:off x="8072438" y="5016500"/>
              <a:ext cx="1758809"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Penyikatan &amp; gingiva membaik (p &lt; .001)</a:t>
              </a:r>
            </a:p>
          </p:txBody>
        </p:sp>
        <p:sp>
          <p:nvSpPr>
            <p:cNvPr id="70" name="Line 70"/>
            <p:cNvSpPr/>
            <p:nvPr/>
          </p:nvSpPr>
          <p:spPr>
            <a:xfrm>
              <a:off x="5219700" y="51911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71" name="TextBox 71"/>
            <p:cNvSpPr txBox="1"/>
            <p:nvPr/>
          </p:nvSpPr>
          <p:spPr>
            <a:xfrm>
              <a:off x="5214938" y="5270500"/>
              <a:ext cx="677755"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Aplikasi iPad</a:t>
              </a:r>
            </a:p>
          </p:txBody>
        </p:sp>
        <p:sp>
          <p:nvSpPr>
            <p:cNvPr id="72" name="TextBox 72"/>
            <p:cNvSpPr txBox="1"/>
            <p:nvPr/>
          </p:nvSpPr>
          <p:spPr>
            <a:xfrm>
              <a:off x="7615238" y="52832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52</a:t>
              </a:r>
            </a:p>
          </p:txBody>
        </p:sp>
        <p:sp>
          <p:nvSpPr>
            <p:cNvPr id="73" name="TextBox 73"/>
            <p:cNvSpPr txBox="1"/>
            <p:nvPr/>
          </p:nvSpPr>
          <p:spPr>
            <a:xfrm>
              <a:off x="8072438" y="5283200"/>
              <a:ext cx="1434749"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Kepatuhan pemeriksaan (p &lt; .01)</a:t>
              </a:r>
            </a:p>
          </p:txBody>
        </p:sp>
        <p:sp>
          <p:nvSpPr>
            <p:cNvPr id="74" name="Line 74"/>
            <p:cNvSpPr/>
            <p:nvPr/>
          </p:nvSpPr>
          <p:spPr>
            <a:xfrm>
              <a:off x="5219700" y="5457825"/>
              <a:ext cx="6362700" cy="9525"/>
            </a:xfrm>
            <a:custGeom>
              <a:avLst/>
              <a:gdLst/>
              <a:ahLst/>
              <a:cxnLst/>
              <a:rect l="l" t="t" r="r" b="b"/>
              <a:pathLst>
                <a:path w="6362700" h="9525">
                  <a:moveTo>
                    <a:pt x="0" y="0"/>
                  </a:moveTo>
                  <a:lnTo>
                    <a:pt x="6362700" y="0"/>
                  </a:lnTo>
                </a:path>
              </a:pathLst>
            </a:custGeom>
            <a:noFill/>
            <a:ln w="5715">
              <a:solidFill>
                <a:srgbClr val="D6D9DE"/>
              </a:solidFill>
            </a:ln>
          </p:spPr>
        </p:sp>
        <p:sp>
          <p:nvSpPr>
            <p:cNvPr id="75" name="TextBox 75"/>
            <p:cNvSpPr txBox="1"/>
            <p:nvPr/>
          </p:nvSpPr>
          <p:spPr>
            <a:xfrm>
              <a:off x="5214938" y="5537200"/>
              <a:ext cx="1425795"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Psikoedukasi langkah exam</a:t>
              </a:r>
            </a:p>
          </p:txBody>
        </p:sp>
        <p:sp>
          <p:nvSpPr>
            <p:cNvPr id="76" name="TextBox 76"/>
            <p:cNvSpPr txBox="1"/>
            <p:nvPr/>
          </p:nvSpPr>
          <p:spPr>
            <a:xfrm>
              <a:off x="7615238" y="55499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74</a:t>
              </a:r>
            </a:p>
          </p:txBody>
        </p:sp>
        <p:sp>
          <p:nvSpPr>
            <p:cNvPr id="77" name="TextBox 77"/>
            <p:cNvSpPr txBox="1"/>
            <p:nvPr/>
          </p:nvSpPr>
          <p:spPr>
            <a:xfrm>
              <a:off x="8072438" y="5549900"/>
              <a:ext cx="1525557"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Langkah &amp; perilaku naik (p &lt; .0001)</a:t>
              </a:r>
            </a:p>
          </p:txBody>
        </p:sp>
        <p:sp>
          <p:nvSpPr>
            <p:cNvPr id="78" name="Line 78"/>
            <p:cNvSpPr/>
            <p:nvPr/>
          </p:nvSpPr>
          <p:spPr>
            <a:xfrm>
              <a:off x="5219700" y="5724525"/>
              <a:ext cx="6362700" cy="9525"/>
            </a:xfrm>
            <a:custGeom>
              <a:avLst/>
              <a:gdLst/>
              <a:ahLst/>
              <a:cxnLst/>
              <a:rect l="l" t="t" r="r" b="b"/>
              <a:pathLst>
                <a:path w="6362700" h="9525">
                  <a:moveTo>
                    <a:pt x="0" y="0"/>
                  </a:moveTo>
                  <a:lnTo>
                    <a:pt x="6362700" y="0"/>
                  </a:lnTo>
                </a:path>
              </a:pathLst>
            </a:custGeom>
            <a:noFill/>
            <a:ln w="5715">
              <a:solidFill>
                <a:srgbClr val="D6D9DE"/>
              </a:solidFill>
            </a:ln>
          </p:spPr>
        </p:sp>
      </p:grpSp>
      <p:grpSp>
        <p:nvGrpSpPr>
          <p:cNvPr id="83" name="footer"/>
          <p:cNvGrpSpPr/>
          <p:nvPr/>
        </p:nvGrpSpPr>
        <p:grpSpPr>
          <a:xfrm>
            <a:off x="604838" y="6324600"/>
            <a:ext cx="10982325" cy="268288"/>
            <a:chOff x="604838" y="6324600"/>
            <a:chExt cx="10982325" cy="268288"/>
          </a:xfrm>
        </p:grpSpPr>
        <p:sp>
          <p:nvSpPr>
            <p:cNvPr id="80" name="Line 80"/>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81" name="TextBox 81"/>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82" name="TextBox 82"/>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971805"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13 · DISKUSI</a:t>
              </a:r>
            </a:p>
          </p:txBody>
        </p:sp>
        <p:sp>
          <p:nvSpPr>
            <p:cNvPr id="3" name="TextBox 3"/>
            <p:cNvSpPr txBox="1"/>
            <p:nvPr/>
          </p:nvSpPr>
          <p:spPr>
            <a:xfrm>
              <a:off x="595503" y="685800"/>
              <a:ext cx="6071847"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Dari temuan ke perubahan praktik</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14 / 16</a:t>
              </a:r>
            </a:p>
          </p:txBody>
        </p:sp>
      </p:grpSp>
      <p:grpSp>
        <p:nvGrpSpPr>
          <p:cNvPr id="26" name="clinical"/>
          <p:cNvGrpSpPr/>
          <p:nvPr/>
        </p:nvGrpSpPr>
        <p:grpSpPr>
          <a:xfrm>
            <a:off x="604838" y="1492250"/>
            <a:ext cx="10977562" cy="4527550"/>
            <a:chOff x="604838" y="1492250"/>
            <a:chExt cx="10977562" cy="4527550"/>
          </a:xfrm>
        </p:grpSpPr>
        <p:sp>
          <p:nvSpPr>
            <p:cNvPr id="8" name="TextBox 8"/>
            <p:cNvSpPr txBox="1"/>
            <p:nvPr/>
          </p:nvSpPr>
          <p:spPr>
            <a:xfrm>
              <a:off x="604838" y="1492250"/>
              <a:ext cx="3674175" cy="147638"/>
            </a:xfrm>
            <a:prstGeom prst="rect">
              <a:avLst/>
            </a:prstGeom>
            <a:noFill/>
            <a:ln>
              <a:noFill/>
            </a:ln>
          </p:spPr>
          <p:txBody>
            <a:bodyPr wrap="none" lIns="0" tIns="0" rIns="0" bIns="0" anchor="t" anchorCtr="0">
              <a:spAutoFit/>
            </a:bodyPr>
            <a:lstStyle/>
            <a:p>
              <a:pPr algn="l"/>
              <a:r>
                <a:rPr lang="id" sz="750" b="1" spc="165" dirty="0">
                  <a:solidFill>
                    <a:srgbClr val="E8000D"/>
                  </a:solidFill>
                  <a:latin typeface="+mn-lt"/>
                  <a:ea typeface="+mn-ea"/>
                  <a:cs typeface="+mn-cs"/>
                </a:rPr>
                <a:t>“ALL BEHAVIOUR IS A FORM OF COMMUNICATION”</a:t>
              </a:r>
            </a:p>
          </p:txBody>
        </p:sp>
        <p:sp>
          <p:nvSpPr>
            <p:cNvPr id="9" name="Rectangle 9"/>
            <p:cNvSpPr/>
            <p:nvPr/>
          </p:nvSpPr>
          <p:spPr>
            <a:xfrm>
              <a:off x="609600" y="1828800"/>
              <a:ext cx="6667500" cy="1257300"/>
            </a:xfrm>
            <a:prstGeom prst="rect">
              <a:avLst/>
            </a:prstGeom>
            <a:solidFill>
              <a:srgbClr val="111318"/>
            </a:solidFill>
            <a:ln>
              <a:noFill/>
            </a:ln>
          </p:spPr>
        </p:sp>
        <p:sp>
          <p:nvSpPr>
            <p:cNvPr id="10" name="TextBox 10"/>
            <p:cNvSpPr txBox="1"/>
            <p:nvPr/>
          </p:nvSpPr>
          <p:spPr>
            <a:xfrm>
              <a:off x="870966" y="2032000"/>
              <a:ext cx="3606371" cy="662559"/>
            </a:xfrm>
            <a:prstGeom prst="rect">
              <a:avLst/>
            </a:prstGeom>
            <a:noFill/>
            <a:ln>
              <a:noFill/>
            </a:ln>
          </p:spPr>
          <p:txBody>
            <a:bodyPr wrap="none" lIns="0" tIns="0" rIns="0" bIns="0" anchor="t" anchorCtr="0">
              <a:spAutoFit/>
            </a:bodyPr>
            <a:lstStyle/>
            <a:p>
              <a:pPr algn="l">
                <a:lnSpc>
                  <a:spcPts val="1800"/>
                </a:lnSpc>
              </a:pPr>
              <a:r>
                <a:rPr lang="id" sz="1050" dirty="0">
                  <a:solidFill>
                    <a:srgbClr val="FFFFFF"/>
                  </a:solidFill>
                  <a:latin typeface="+mn-lt"/>
                  <a:ea typeface="+mn-ea"/>
                  <a:cs typeface="+mn-cs"/>
                </a:rPr>
                <a:t>Perilaku menantang adalah gejala, bukan diagnosis perilaku:</a:t>
              </a:r>
              <a:br>
                <a:rPr lang="id" sz="1050" dirty="0">
                  <a:solidFill>
                    <a:srgbClr val="FFFFFF"/>
                  </a:solidFill>
                  <a:latin typeface="+mn-lt"/>
                  <a:ea typeface="+mn-ea"/>
                  <a:cs typeface="+mn-cs"/>
                </a:rPr>
              </a:br>
              <a:r>
                <a:rPr lang="id" sz="1050" dirty="0">
                  <a:solidFill>
                    <a:srgbClr val="FFFFFF"/>
                  </a:solidFill>
                  <a:latin typeface="+mn-lt"/>
                  <a:ea typeface="+mn-ea"/>
                  <a:cs typeface="+mn-cs"/>
                </a:rPr>
                <a:t>ia sering menandakan nyeri, ketidakpastian, atau kebutuhan</a:t>
              </a:r>
              <a:br>
                <a:rPr lang="id" sz="1050" dirty="0">
                  <a:solidFill>
                    <a:srgbClr val="FFFFFF"/>
                  </a:solidFill>
                  <a:latin typeface="+mn-lt"/>
                  <a:ea typeface="+mn-ea"/>
                  <a:cs typeface="+mn-cs"/>
                </a:rPr>
              </a:br>
              <a:r>
                <a:rPr lang="id" sz="1050" dirty="0">
                  <a:solidFill>
                    <a:srgbClr val="FFFFFF"/>
                  </a:solidFill>
                  <a:latin typeface="+mn-lt"/>
                  <a:ea typeface="+mn-ea"/>
                  <a:cs typeface="+mn-cs"/>
                </a:rPr>
                <a:t>yang belum terpenuhi — termasuk kebutuhan gigi.</a:t>
              </a:r>
            </a:p>
          </p:txBody>
        </p:sp>
        <p:sp>
          <p:nvSpPr>
            <p:cNvPr id="11" name="TextBox 11"/>
            <p:cNvSpPr txBox="1"/>
            <p:nvPr/>
          </p:nvSpPr>
          <p:spPr>
            <a:xfrm>
              <a:off x="871538" y="2825750"/>
              <a:ext cx="1622545" cy="140494"/>
            </a:xfrm>
            <a:prstGeom prst="rect">
              <a:avLst/>
            </a:prstGeom>
            <a:noFill/>
            <a:ln>
              <a:noFill/>
            </a:ln>
          </p:spPr>
          <p:txBody>
            <a:bodyPr wrap="none" lIns="0" tIns="0" rIns="0" bIns="0" anchor="t" anchorCtr="0">
              <a:spAutoFit/>
            </a:bodyPr>
            <a:lstStyle/>
            <a:p>
              <a:pPr algn="l"/>
              <a:r>
                <a:rPr lang="id" sz="710" dirty="0">
                  <a:solidFill>
                    <a:srgbClr val="B9BEC6"/>
                  </a:solidFill>
                  <a:latin typeface="+mn-lt"/>
                  <a:ea typeface="+mn-ea"/>
                  <a:cs typeface="+mn-cs"/>
                </a:rPr>
                <a:t>Erwin et al. (2022), sintesis Tema 3–5</a:t>
              </a:r>
            </a:p>
          </p:txBody>
        </p:sp>
        <p:sp>
          <p:nvSpPr>
            <p:cNvPr id="12" name="TextBox 12"/>
            <p:cNvSpPr txBox="1"/>
            <p:nvPr/>
          </p:nvSpPr>
          <p:spPr>
            <a:xfrm>
              <a:off x="604838" y="3397250"/>
              <a:ext cx="1199214" cy="140494"/>
            </a:xfrm>
            <a:prstGeom prst="rect">
              <a:avLst/>
            </a:prstGeom>
            <a:noFill/>
            <a:ln>
              <a:noFill/>
            </a:ln>
          </p:spPr>
          <p:txBody>
            <a:bodyPr wrap="none" lIns="0" tIns="0" rIns="0" bIns="0" anchor="t" anchorCtr="0">
              <a:spAutoFit/>
            </a:bodyPr>
            <a:lstStyle/>
            <a:p>
              <a:pPr algn="l"/>
              <a:r>
                <a:rPr lang="id" sz="710" b="1" spc="150" dirty="0">
                  <a:solidFill>
                    <a:srgbClr val="8B9198"/>
                  </a:solidFill>
                  <a:latin typeface="+mn-lt"/>
                  <a:ea typeface="+mn-ea"/>
                  <a:cs typeface="+mn-cs"/>
                </a:rPr>
                <a:t>IMPLIKASI KLINIS</a:t>
              </a:r>
            </a:p>
          </p:txBody>
        </p:sp>
        <p:sp>
          <p:nvSpPr>
            <p:cNvPr id="13" name="TextBox 13"/>
            <p:cNvSpPr txBox="1"/>
            <p:nvPr/>
          </p:nvSpPr>
          <p:spPr>
            <a:xfrm>
              <a:off x="604838" y="3657600"/>
              <a:ext cx="1823892"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Ruang tunggu adalah titik kritis</a:t>
              </a:r>
            </a:p>
          </p:txBody>
        </p:sp>
        <p:sp>
          <p:nvSpPr>
            <p:cNvPr id="14" name="TextBox 14"/>
            <p:cNvSpPr txBox="1"/>
            <p:nvPr/>
          </p:nvSpPr>
          <p:spPr>
            <a:xfrm>
              <a:off x="604838" y="3844925"/>
              <a:ext cx="3234422"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Kurangi waktu tunggu, sediakan distraksi, dan jadwalkan pada jam sepi.</a:t>
              </a:r>
            </a:p>
          </p:txBody>
        </p:sp>
        <p:sp>
          <p:nvSpPr>
            <p:cNvPr id="15" name="Line 15"/>
            <p:cNvSpPr/>
            <p:nvPr/>
          </p:nvSpPr>
          <p:spPr>
            <a:xfrm>
              <a:off x="609600" y="4057650"/>
              <a:ext cx="6667500" cy="9525"/>
            </a:xfrm>
            <a:custGeom>
              <a:avLst/>
              <a:gdLst/>
              <a:ahLst/>
              <a:cxnLst/>
              <a:rect l="l" t="t" r="r" b="b"/>
              <a:pathLst>
                <a:path w="6667500" h="9525">
                  <a:moveTo>
                    <a:pt x="0" y="0"/>
                  </a:moveTo>
                  <a:lnTo>
                    <a:pt x="6667500" y="0"/>
                  </a:lnTo>
                </a:path>
              </a:pathLst>
            </a:custGeom>
            <a:noFill/>
            <a:ln w="7620">
              <a:solidFill>
                <a:srgbClr val="D6D9DE"/>
              </a:solidFill>
            </a:ln>
          </p:spPr>
        </p:sp>
        <p:sp>
          <p:nvSpPr>
            <p:cNvPr id="16" name="TextBox 16"/>
            <p:cNvSpPr txBox="1"/>
            <p:nvPr/>
          </p:nvSpPr>
          <p:spPr>
            <a:xfrm>
              <a:off x="604838" y="4152900"/>
              <a:ext cx="2275692"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Tanyakan lebih dulu, jangan berasumsi</a:t>
              </a:r>
            </a:p>
          </p:txBody>
        </p:sp>
        <p:sp>
          <p:nvSpPr>
            <p:cNvPr id="17" name="TextBox 17"/>
            <p:cNvSpPr txBox="1"/>
            <p:nvPr/>
          </p:nvSpPr>
          <p:spPr>
            <a:xfrm>
              <a:off x="604838" y="4340225"/>
              <a:ext cx="3105013"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Pemicu sensorik, isyarat awal distress, dan penguatan yang berhasil.</a:t>
              </a:r>
            </a:p>
          </p:txBody>
        </p:sp>
        <p:sp>
          <p:nvSpPr>
            <p:cNvPr id="18" name="Line 18"/>
            <p:cNvSpPr/>
            <p:nvPr/>
          </p:nvSpPr>
          <p:spPr>
            <a:xfrm>
              <a:off x="609600" y="4552950"/>
              <a:ext cx="6667500" cy="9525"/>
            </a:xfrm>
            <a:custGeom>
              <a:avLst/>
              <a:gdLst/>
              <a:ahLst/>
              <a:cxnLst/>
              <a:rect l="l" t="t" r="r" b="b"/>
              <a:pathLst>
                <a:path w="6667500" h="9525">
                  <a:moveTo>
                    <a:pt x="0" y="0"/>
                  </a:moveTo>
                  <a:lnTo>
                    <a:pt x="6667500" y="0"/>
                  </a:lnTo>
                </a:path>
              </a:pathLst>
            </a:custGeom>
            <a:noFill/>
            <a:ln w="7620">
              <a:solidFill>
                <a:srgbClr val="D6D9DE"/>
              </a:solidFill>
            </a:ln>
          </p:spPr>
        </p:sp>
        <p:sp>
          <p:nvSpPr>
            <p:cNvPr id="19" name="TextBox 19"/>
            <p:cNvSpPr txBox="1"/>
            <p:nvPr/>
          </p:nvSpPr>
          <p:spPr>
            <a:xfrm>
              <a:off x="604838" y="4648200"/>
              <a:ext cx="1581840"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Fleksibilitas yang terjadwal</a:t>
              </a:r>
            </a:p>
          </p:txBody>
        </p:sp>
        <p:sp>
          <p:nvSpPr>
            <p:cNvPr id="20" name="TextBox 20"/>
            <p:cNvSpPr txBox="1"/>
            <p:nvPr/>
          </p:nvSpPr>
          <p:spPr>
            <a:xfrm>
              <a:off x="604838" y="4835525"/>
              <a:ext cx="3464331"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Kunjungan familiarisasi bertahap; continuity of staff; tanpa deadline prosedur.</a:t>
              </a:r>
            </a:p>
          </p:txBody>
        </p:sp>
        <p:sp>
          <p:nvSpPr>
            <p:cNvPr id="21" name="Line 21"/>
            <p:cNvSpPr/>
            <p:nvPr/>
          </p:nvSpPr>
          <p:spPr>
            <a:xfrm>
              <a:off x="609600" y="5048250"/>
              <a:ext cx="6667500" cy="9525"/>
            </a:xfrm>
            <a:custGeom>
              <a:avLst/>
              <a:gdLst/>
              <a:ahLst/>
              <a:cxnLst/>
              <a:rect l="l" t="t" r="r" b="b"/>
              <a:pathLst>
                <a:path w="6667500" h="9525">
                  <a:moveTo>
                    <a:pt x="0" y="0"/>
                  </a:moveTo>
                  <a:lnTo>
                    <a:pt x="6667500" y="0"/>
                  </a:lnTo>
                </a:path>
              </a:pathLst>
            </a:custGeom>
            <a:noFill/>
            <a:ln w="7620">
              <a:solidFill>
                <a:srgbClr val="D6D9DE"/>
              </a:solidFill>
            </a:ln>
          </p:spPr>
        </p:sp>
        <p:sp>
          <p:nvSpPr>
            <p:cNvPr id="22" name="TextBox 22"/>
            <p:cNvSpPr txBox="1"/>
            <p:nvPr/>
          </p:nvSpPr>
          <p:spPr>
            <a:xfrm>
              <a:off x="604838" y="5143500"/>
              <a:ext cx="1979409"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Pelatihan tim, bukan hanya dokter</a:t>
              </a:r>
            </a:p>
          </p:txBody>
        </p:sp>
        <p:sp>
          <p:nvSpPr>
            <p:cNvPr id="23" name="TextBox 23"/>
            <p:cNvSpPr txBox="1"/>
            <p:nvPr/>
          </p:nvSpPr>
          <p:spPr>
            <a:xfrm>
              <a:off x="604838" y="5330825"/>
              <a:ext cx="2942719"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Resepsionis dan perawat gigi menentukan pengalaman keluarga.</a:t>
              </a:r>
            </a:p>
          </p:txBody>
        </p:sp>
        <p:sp>
          <p:nvSpPr>
            <p:cNvPr id="24" name="Line 24"/>
            <p:cNvSpPr/>
            <p:nvPr/>
          </p:nvSpPr>
          <p:spPr>
            <a:xfrm>
              <a:off x="609600" y="5543550"/>
              <a:ext cx="6667500" cy="9525"/>
            </a:xfrm>
            <a:custGeom>
              <a:avLst/>
              <a:gdLst/>
              <a:ahLst/>
              <a:cxnLst/>
              <a:rect l="l" t="t" r="r" b="b"/>
              <a:pathLst>
                <a:path w="6667500" h="9525">
                  <a:moveTo>
                    <a:pt x="0" y="0"/>
                  </a:moveTo>
                  <a:lnTo>
                    <a:pt x="6667500" y="0"/>
                  </a:lnTo>
                </a:path>
              </a:pathLst>
            </a:custGeom>
            <a:noFill/>
            <a:ln w="7620">
              <a:solidFill>
                <a:srgbClr val="D6D9DE"/>
              </a:solidFill>
            </a:ln>
          </p:spPr>
        </p:sp>
        <p:sp>
          <p:nvSpPr>
            <p:cNvPr id="25" name="Rectangle 25"/>
            <p:cNvSpPr/>
            <p:nvPr/>
          </p:nvSpPr>
          <p:spPr>
            <a:xfrm>
              <a:off x="7543800" y="1581150"/>
              <a:ext cx="4038600" cy="4438650"/>
            </a:xfrm>
            <a:prstGeom prst="rect">
              <a:avLst/>
            </a:prstGeom>
            <a:solidFill>
              <a:srgbClr val="F3F3F1"/>
            </a:solidFill>
            <a:ln>
              <a:noFill/>
            </a:ln>
          </p:spPr>
        </p:sp>
      </p:grpSp>
      <p:grpSp>
        <p:nvGrpSpPr>
          <p:cNvPr id="43" name="policy"/>
          <p:cNvGrpSpPr/>
          <p:nvPr/>
        </p:nvGrpSpPr>
        <p:grpSpPr>
          <a:xfrm>
            <a:off x="7843838" y="1854200"/>
            <a:ext cx="3433762" cy="4306252"/>
            <a:chOff x="7843838" y="1854200"/>
            <a:chExt cx="3433762" cy="4306252"/>
          </a:xfrm>
        </p:grpSpPr>
        <p:sp>
          <p:nvSpPr>
            <p:cNvPr id="27" name="TextBox 27"/>
            <p:cNvSpPr txBox="1"/>
            <p:nvPr/>
          </p:nvSpPr>
          <p:spPr>
            <a:xfrm>
              <a:off x="7843838" y="1854200"/>
              <a:ext cx="1559798"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IMPLIKASI KEBIJAKAN</a:t>
              </a:r>
            </a:p>
          </p:txBody>
        </p:sp>
        <p:sp>
          <p:nvSpPr>
            <p:cNvPr id="28" name="TextBox 28"/>
            <p:cNvSpPr txBox="1"/>
            <p:nvPr/>
          </p:nvSpPr>
          <p:spPr>
            <a:xfrm>
              <a:off x="7843838" y="2146300"/>
              <a:ext cx="1892440" cy="169069"/>
            </a:xfrm>
            <a:prstGeom prst="rect">
              <a:avLst/>
            </a:prstGeom>
            <a:noFill/>
            <a:ln>
              <a:noFill/>
            </a:ln>
          </p:spPr>
          <p:txBody>
            <a:bodyPr wrap="none" lIns="0" tIns="0" rIns="0" bIns="0" anchor="t" anchorCtr="0">
              <a:spAutoFit/>
            </a:bodyPr>
            <a:lstStyle/>
            <a:p>
              <a:pPr algn="l"/>
              <a:r>
                <a:rPr lang="id" sz="860" dirty="0">
                  <a:solidFill>
                    <a:srgbClr val="585E66"/>
                  </a:solidFill>
                  <a:latin typeface="+mn-lt"/>
                  <a:ea typeface="+mn-ea"/>
                  <a:cs typeface="+mn-cs"/>
                </a:rPr>
                <a:t>Tiga hal yang gagal dipenuhi sistem:</a:t>
              </a:r>
            </a:p>
          </p:txBody>
        </p:sp>
        <p:sp>
          <p:nvSpPr>
            <p:cNvPr id="29" name="TextBox 29"/>
            <p:cNvSpPr txBox="1"/>
            <p:nvPr/>
          </p:nvSpPr>
          <p:spPr>
            <a:xfrm>
              <a:off x="7843838" y="25400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01</a:t>
              </a:r>
            </a:p>
          </p:txBody>
        </p:sp>
        <p:sp>
          <p:nvSpPr>
            <p:cNvPr id="30" name="TextBox 30"/>
            <p:cNvSpPr txBox="1"/>
            <p:nvPr/>
          </p:nvSpPr>
          <p:spPr>
            <a:xfrm>
              <a:off x="8072438" y="2514600"/>
              <a:ext cx="970074" cy="183832"/>
            </a:xfrm>
            <a:prstGeom prst="rect">
              <a:avLst/>
            </a:prstGeom>
            <a:noFill/>
            <a:ln>
              <a:noFill/>
            </a:ln>
          </p:spPr>
          <p:txBody>
            <a:bodyPr wrap="none" lIns="0" tIns="0" rIns="0" bIns="0" anchor="t" anchorCtr="0">
              <a:spAutoFit/>
            </a:bodyPr>
            <a:lstStyle/>
            <a:p>
              <a:pPr algn="l"/>
              <a:r>
                <a:rPr lang="id" sz="940" b="1" dirty="0">
                  <a:solidFill>
                    <a:srgbClr val="111318"/>
                  </a:solidFill>
                  <a:latin typeface="+mn-lt"/>
                  <a:ea typeface="+mn-ea"/>
                  <a:cs typeface="+mn-cs"/>
                </a:rPr>
                <a:t>Reimbursement</a:t>
              </a:r>
            </a:p>
          </p:txBody>
        </p:sp>
        <p:sp>
          <p:nvSpPr>
            <p:cNvPr id="31" name="TextBox 31"/>
            <p:cNvSpPr txBox="1"/>
            <p:nvPr/>
          </p:nvSpPr>
          <p:spPr>
            <a:xfrm>
              <a:off x="8072438" y="2711450"/>
              <a:ext cx="2902839"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Kompensasi tidak mengakui waktu tambahan untuk familiarisasi.</a:t>
              </a:r>
            </a:p>
          </p:txBody>
        </p:sp>
        <p:sp>
          <p:nvSpPr>
            <p:cNvPr id="32" name="TextBox 32"/>
            <p:cNvSpPr txBox="1"/>
            <p:nvPr/>
          </p:nvSpPr>
          <p:spPr>
            <a:xfrm>
              <a:off x="7843838" y="316865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02</a:t>
              </a:r>
            </a:p>
          </p:txBody>
        </p:sp>
        <p:sp>
          <p:nvSpPr>
            <p:cNvPr id="33" name="TextBox 33"/>
            <p:cNvSpPr txBox="1"/>
            <p:nvPr/>
          </p:nvSpPr>
          <p:spPr>
            <a:xfrm>
              <a:off x="8072438" y="3143250"/>
              <a:ext cx="998059" cy="183832"/>
            </a:xfrm>
            <a:prstGeom prst="rect">
              <a:avLst/>
            </a:prstGeom>
            <a:noFill/>
            <a:ln>
              <a:noFill/>
            </a:ln>
          </p:spPr>
          <p:txBody>
            <a:bodyPr wrap="none" lIns="0" tIns="0" rIns="0" bIns="0" anchor="t" anchorCtr="0">
              <a:spAutoFit/>
            </a:bodyPr>
            <a:lstStyle/>
            <a:p>
              <a:pPr algn="l"/>
              <a:r>
                <a:rPr lang="id" sz="940" b="1" dirty="0">
                  <a:solidFill>
                    <a:srgbClr val="111318"/>
                  </a:solidFill>
                  <a:latin typeface="+mn-lt"/>
                  <a:ea typeface="+mn-ea"/>
                  <a:cs typeface="+mn-cs"/>
                </a:rPr>
                <a:t>Kontrak layanan</a:t>
              </a:r>
            </a:p>
          </p:txBody>
        </p:sp>
        <p:sp>
          <p:nvSpPr>
            <p:cNvPr id="34" name="TextBox 34"/>
            <p:cNvSpPr txBox="1"/>
            <p:nvPr/>
          </p:nvSpPr>
          <p:spPr>
            <a:xfrm>
              <a:off x="8072438" y="3340100"/>
              <a:ext cx="3150039"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Target waktu dan volume menghukum klinisi yang meluangkan waktu.</a:t>
              </a:r>
            </a:p>
          </p:txBody>
        </p:sp>
        <p:sp>
          <p:nvSpPr>
            <p:cNvPr id="35" name="TextBox 35"/>
            <p:cNvSpPr txBox="1"/>
            <p:nvPr/>
          </p:nvSpPr>
          <p:spPr>
            <a:xfrm>
              <a:off x="7843838" y="37973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03</a:t>
              </a:r>
            </a:p>
          </p:txBody>
        </p:sp>
        <p:sp>
          <p:nvSpPr>
            <p:cNvPr id="36" name="TextBox 36"/>
            <p:cNvSpPr txBox="1"/>
            <p:nvPr/>
          </p:nvSpPr>
          <p:spPr>
            <a:xfrm>
              <a:off x="8072438" y="3771900"/>
              <a:ext cx="1084031" cy="183832"/>
            </a:xfrm>
            <a:prstGeom prst="rect">
              <a:avLst/>
            </a:prstGeom>
            <a:noFill/>
            <a:ln>
              <a:noFill/>
            </a:ln>
          </p:spPr>
          <p:txBody>
            <a:bodyPr wrap="none" lIns="0" tIns="0" rIns="0" bIns="0" anchor="t" anchorCtr="0">
              <a:spAutoFit/>
            </a:bodyPr>
            <a:lstStyle/>
            <a:p>
              <a:pPr algn="l"/>
              <a:r>
                <a:rPr lang="id" sz="940" b="1" dirty="0">
                  <a:solidFill>
                    <a:srgbClr val="111318"/>
                  </a:solidFill>
                  <a:latin typeface="+mn-lt"/>
                  <a:ea typeface="+mn-ea"/>
                  <a:cs typeface="+mn-cs"/>
                </a:rPr>
                <a:t>Kurikulum &amp; CPD</a:t>
              </a:r>
            </a:p>
          </p:txBody>
        </p:sp>
        <p:sp>
          <p:nvSpPr>
            <p:cNvPr id="37" name="TextBox 37"/>
            <p:cNvSpPr txBox="1"/>
            <p:nvPr/>
          </p:nvSpPr>
          <p:spPr>
            <a:xfrm>
              <a:off x="8072438" y="3968750"/>
              <a:ext cx="2577241"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Pelatihan autisme belum menjadi kompetensi inti tim gigi.</a:t>
              </a:r>
            </a:p>
          </p:txBody>
        </p:sp>
        <p:sp>
          <p:nvSpPr>
            <p:cNvPr id="38" name="Line 38"/>
            <p:cNvSpPr/>
            <p:nvPr/>
          </p:nvSpPr>
          <p:spPr>
            <a:xfrm>
              <a:off x="7848600" y="4533900"/>
              <a:ext cx="3429000" cy="9525"/>
            </a:xfrm>
            <a:custGeom>
              <a:avLst/>
              <a:gdLst/>
              <a:ahLst/>
              <a:cxnLst/>
              <a:rect l="l" t="t" r="r" b="b"/>
              <a:pathLst>
                <a:path w="3429000" h="9525">
                  <a:moveTo>
                    <a:pt x="0" y="0"/>
                  </a:moveTo>
                  <a:lnTo>
                    <a:pt x="3429000" y="0"/>
                  </a:lnTo>
                </a:path>
              </a:pathLst>
            </a:custGeom>
            <a:noFill/>
            <a:ln w="9525">
              <a:solidFill>
                <a:srgbClr val="D6D9DE"/>
              </a:solidFill>
            </a:ln>
          </p:spPr>
        </p:sp>
        <p:sp>
          <p:nvSpPr>
            <p:cNvPr id="39" name="TextBox 39"/>
            <p:cNvSpPr txBox="1"/>
            <p:nvPr/>
          </p:nvSpPr>
          <p:spPr>
            <a:xfrm>
              <a:off x="7843838" y="4711700"/>
              <a:ext cx="835745" cy="134302"/>
            </a:xfrm>
            <a:prstGeom prst="rect">
              <a:avLst/>
            </a:prstGeom>
            <a:noFill/>
            <a:ln>
              <a:noFill/>
            </a:ln>
          </p:spPr>
          <p:txBody>
            <a:bodyPr wrap="none" lIns="0" tIns="0" rIns="0" bIns="0" anchor="t" anchorCtr="0">
              <a:spAutoFit/>
            </a:bodyPr>
            <a:lstStyle/>
            <a:p>
              <a:pPr algn="l"/>
              <a:r>
                <a:rPr lang="id" sz="680" b="1" spc="120" dirty="0">
                  <a:solidFill>
                    <a:srgbClr val="111318"/>
                  </a:solidFill>
                  <a:latin typeface="+mn-lt"/>
                  <a:ea typeface="+mn-ea"/>
                  <a:cs typeface="+mn-cs"/>
                </a:rPr>
                <a:t>CELAH BUKTI</a:t>
              </a:r>
            </a:p>
          </p:txBody>
        </p:sp>
        <p:sp>
          <p:nvSpPr>
            <p:cNvPr id="40" name="TextBox 40"/>
            <p:cNvSpPr txBox="1"/>
            <p:nvPr/>
          </p:nvSpPr>
          <p:spPr>
            <a:xfrm>
              <a:off x="7843838" y="4940300"/>
              <a:ext cx="1900204" cy="479108"/>
            </a:xfrm>
            <a:prstGeom prst="rect">
              <a:avLst/>
            </a:prstGeom>
            <a:noFill/>
            <a:ln>
              <a:noFill/>
            </a:ln>
          </p:spPr>
          <p:txBody>
            <a:bodyPr wrap="none" lIns="0" tIns="0" rIns="0" bIns="0" anchor="t" anchorCtr="0">
              <a:spAutoFit/>
            </a:bodyPr>
            <a:lstStyle/>
            <a:p>
              <a:pPr algn="l">
                <a:lnSpc>
                  <a:spcPts val="1275"/>
                </a:lnSpc>
              </a:pPr>
              <a:r>
                <a:rPr lang="id" sz="790" dirty="0">
                  <a:solidFill>
                    <a:srgbClr val="585E66"/>
                  </a:solidFill>
                  <a:latin typeface="+mn-lt"/>
                  <a:ea typeface="+mn-ea"/>
                  <a:cs typeface="+mn-cs"/>
                </a:rPr>
                <a:t>Hanya 1 dari 59 studi mewawancarai anak</a:t>
              </a:r>
              <a:br>
                <a:rPr lang="id" sz="790" dirty="0">
                  <a:solidFill>
                    <a:srgbClr val="585E66"/>
                  </a:solidFill>
                  <a:latin typeface="+mn-lt"/>
                  <a:ea typeface="+mn-ea"/>
                  <a:cs typeface="+mn-cs"/>
                </a:rPr>
              </a:br>
              <a:r>
                <a:rPr lang="id" sz="790" dirty="0">
                  <a:solidFill>
                    <a:srgbClr val="585E66"/>
                  </a:solidFill>
                  <a:latin typeface="+mn-lt"/>
                  <a:ea typeface="+mn-ea"/>
                  <a:cs typeface="+mn-cs"/>
                </a:rPr>
                <a:t>autistik langsung; anak non-verbal hampir</a:t>
              </a:r>
              <a:br>
                <a:rPr lang="id" sz="790" dirty="0">
                  <a:solidFill>
                    <a:srgbClr val="585E66"/>
                  </a:solidFill>
                  <a:latin typeface="+mn-lt"/>
                  <a:ea typeface="+mn-ea"/>
                  <a:cs typeface="+mn-cs"/>
                </a:rPr>
              </a:br>
              <a:r>
                <a:rPr lang="id" sz="790" dirty="0">
                  <a:solidFill>
                    <a:srgbClr val="585E66"/>
                  </a:solidFill>
                  <a:latin typeface="+mn-lt"/>
                  <a:ea typeface="+mn-ea"/>
                  <a:cs typeface="+mn-cs"/>
                </a:rPr>
                <a:t>tidak pernah terwakili.</a:t>
              </a:r>
            </a:p>
          </p:txBody>
        </p:sp>
        <p:sp>
          <p:nvSpPr>
            <p:cNvPr id="41" name="TextBox 41"/>
            <p:cNvSpPr txBox="1"/>
            <p:nvPr/>
          </p:nvSpPr>
          <p:spPr>
            <a:xfrm>
              <a:off x="7843838" y="5492750"/>
              <a:ext cx="1911521" cy="479108"/>
            </a:xfrm>
            <a:prstGeom prst="rect">
              <a:avLst/>
            </a:prstGeom>
            <a:noFill/>
            <a:ln>
              <a:noFill/>
            </a:ln>
          </p:spPr>
          <p:txBody>
            <a:bodyPr wrap="none" lIns="0" tIns="0" rIns="0" bIns="0" anchor="t" anchorCtr="0">
              <a:spAutoFit/>
            </a:bodyPr>
            <a:lstStyle/>
            <a:p>
              <a:pPr algn="l">
                <a:lnSpc>
                  <a:spcPts val="1275"/>
                </a:lnSpc>
              </a:pPr>
              <a:r>
                <a:rPr lang="id" sz="790" dirty="0">
                  <a:solidFill>
                    <a:srgbClr val="585E66"/>
                  </a:solidFill>
                  <a:latin typeface="+mn-lt"/>
                  <a:ea typeface="+mn-ea"/>
                  <a:cs typeface="+mn-cs"/>
                </a:rPr>
                <a:t>Stigma tidak muncul sebagai tema kuat —</a:t>
              </a:r>
              <a:br>
                <a:rPr lang="id" sz="790" dirty="0">
                  <a:solidFill>
                    <a:srgbClr val="585E66"/>
                  </a:solidFill>
                  <a:latin typeface="+mn-lt"/>
                  <a:ea typeface="+mn-ea"/>
                  <a:cs typeface="+mn-cs"/>
                </a:rPr>
              </a:br>
              <a:r>
                <a:rPr lang="id" sz="790" dirty="0">
                  <a:solidFill>
                    <a:srgbClr val="585E66"/>
                  </a:solidFill>
                  <a:latin typeface="+mn-lt"/>
                  <a:ea typeface="+mn-ea"/>
                  <a:cs typeface="+mn-cs"/>
                </a:rPr>
                <a:t>kemungkinan karena cara bertanya, bukan</a:t>
              </a:r>
              <a:br>
                <a:rPr lang="id" sz="790" dirty="0">
                  <a:solidFill>
                    <a:srgbClr val="585E66"/>
                  </a:solidFill>
                  <a:latin typeface="+mn-lt"/>
                  <a:ea typeface="+mn-ea"/>
                  <a:cs typeface="+mn-cs"/>
                </a:rPr>
              </a:br>
              <a:r>
                <a:rPr lang="id" sz="790" dirty="0">
                  <a:solidFill>
                    <a:srgbClr val="585E66"/>
                  </a:solidFill>
                  <a:latin typeface="+mn-lt"/>
                  <a:ea typeface="+mn-ea"/>
                  <a:cs typeface="+mn-cs"/>
                </a:rPr>
                <a:t>karena tidak dialami.</a:t>
              </a:r>
            </a:p>
          </p:txBody>
        </p:sp>
        <p:sp>
          <p:nvSpPr>
            <p:cNvPr id="42" name="TextBox 42"/>
            <p:cNvSpPr txBox="1"/>
            <p:nvPr/>
          </p:nvSpPr>
          <p:spPr>
            <a:xfrm>
              <a:off x="7843838" y="6026150"/>
              <a:ext cx="874949" cy="134302"/>
            </a:xfrm>
            <a:prstGeom prst="rect">
              <a:avLst/>
            </a:prstGeom>
            <a:noFill/>
            <a:ln>
              <a:noFill/>
            </a:ln>
          </p:spPr>
          <p:txBody>
            <a:bodyPr wrap="none" lIns="0" tIns="0" rIns="0" bIns="0" anchor="t" anchorCtr="0">
              <a:spAutoFit/>
            </a:bodyPr>
            <a:lstStyle/>
            <a:p>
              <a:pPr algn="l"/>
              <a:r>
                <a:rPr lang="id" sz="680" dirty="0">
                  <a:solidFill>
                    <a:srgbClr val="8B9198"/>
                  </a:solidFill>
                  <a:latin typeface="+mn-lt"/>
                  <a:ea typeface="+mn-ea"/>
                  <a:cs typeface="+mn-cs"/>
                </a:rPr>
                <a:t>Erwin et al., 2022, §4</a:t>
              </a:r>
            </a:p>
          </p:txBody>
        </p:sp>
      </p:grpSp>
      <p:grpSp>
        <p:nvGrpSpPr>
          <p:cNvPr id="47" name="footer"/>
          <p:cNvGrpSpPr/>
          <p:nvPr/>
        </p:nvGrpSpPr>
        <p:grpSpPr>
          <a:xfrm>
            <a:off x="604838" y="6324600"/>
            <a:ext cx="10982325" cy="268288"/>
            <a:chOff x="604838" y="6324600"/>
            <a:chExt cx="10982325" cy="268288"/>
          </a:xfrm>
        </p:grpSpPr>
        <p:sp>
          <p:nvSpPr>
            <p:cNvPr id="44" name="Line 44"/>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45" name="TextBox 45"/>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46" name="TextBox 46"/>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3635785"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14 · KEKUATAN, KETERBATASAN, KESIMPULAN</a:t>
              </a:r>
            </a:p>
          </p:txBody>
        </p:sp>
        <p:sp>
          <p:nvSpPr>
            <p:cNvPr id="3" name="TextBox 3"/>
            <p:cNvSpPr txBox="1"/>
            <p:nvPr/>
          </p:nvSpPr>
          <p:spPr>
            <a:xfrm>
              <a:off x="595503" y="685800"/>
              <a:ext cx="8235884"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Apa yang bisa dipercaya, dan apa yang belum</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15 / 16</a:t>
              </a:r>
            </a:p>
          </p:txBody>
        </p:sp>
      </p:grpSp>
      <p:grpSp>
        <p:nvGrpSpPr>
          <p:cNvPr id="36" name="appraisal"/>
          <p:cNvGrpSpPr/>
          <p:nvPr/>
        </p:nvGrpSpPr>
        <p:grpSpPr>
          <a:xfrm>
            <a:off x="604838" y="1581150"/>
            <a:ext cx="10977562" cy="4452144"/>
            <a:chOff x="604838" y="1581150"/>
            <a:chExt cx="10977562" cy="4452144"/>
          </a:xfrm>
        </p:grpSpPr>
        <p:sp>
          <p:nvSpPr>
            <p:cNvPr id="8" name="TextBox 8"/>
            <p:cNvSpPr txBox="1"/>
            <p:nvPr/>
          </p:nvSpPr>
          <p:spPr>
            <a:xfrm>
              <a:off x="604838" y="1720850"/>
              <a:ext cx="740469" cy="140494"/>
            </a:xfrm>
            <a:prstGeom prst="rect">
              <a:avLst/>
            </a:prstGeom>
            <a:noFill/>
            <a:ln>
              <a:noFill/>
            </a:ln>
          </p:spPr>
          <p:txBody>
            <a:bodyPr wrap="none" lIns="0" tIns="0" rIns="0" bIns="0" anchor="t" anchorCtr="0">
              <a:spAutoFit/>
            </a:bodyPr>
            <a:lstStyle/>
            <a:p>
              <a:pPr algn="l"/>
              <a:r>
                <a:rPr lang="id" sz="710" b="1" spc="165" dirty="0">
                  <a:solidFill>
                    <a:srgbClr val="111318"/>
                  </a:solidFill>
                  <a:latin typeface="+mn-lt"/>
                  <a:ea typeface="+mn-ea"/>
                  <a:cs typeface="+mn-cs"/>
                </a:rPr>
                <a:t>KEKUATAN</a:t>
              </a:r>
            </a:p>
          </p:txBody>
        </p:sp>
        <p:sp>
          <p:nvSpPr>
            <p:cNvPr id="9" name="Rectangle 9"/>
            <p:cNvSpPr/>
            <p:nvPr/>
          </p:nvSpPr>
          <p:spPr>
            <a:xfrm>
              <a:off x="609600" y="2009775"/>
              <a:ext cx="47625" cy="47625"/>
            </a:xfrm>
            <a:prstGeom prst="rect">
              <a:avLst/>
            </a:prstGeom>
            <a:solidFill>
              <a:srgbClr val="E8000D"/>
            </a:solidFill>
            <a:ln>
              <a:noFill/>
            </a:ln>
          </p:spPr>
        </p:sp>
        <p:sp>
          <p:nvSpPr>
            <p:cNvPr id="10" name="TextBox 10"/>
            <p:cNvSpPr txBox="1"/>
            <p:nvPr/>
          </p:nvSpPr>
          <p:spPr>
            <a:xfrm>
              <a:off x="776288" y="1981200"/>
              <a:ext cx="1642717"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Tinjauan sistematis pertama</a:t>
              </a:r>
            </a:p>
          </p:txBody>
        </p:sp>
        <p:sp>
          <p:nvSpPr>
            <p:cNvPr id="11" name="TextBox 11"/>
            <p:cNvSpPr txBox="1"/>
            <p:nvPr/>
          </p:nvSpPr>
          <p:spPr>
            <a:xfrm>
              <a:off x="776288" y="2168525"/>
              <a:ext cx="3727046"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Tentang faktor perilaku OH, akses, dan penyediaan layanan gigi bagi CYP autistik.</a:t>
              </a:r>
            </a:p>
          </p:txBody>
        </p:sp>
        <p:sp>
          <p:nvSpPr>
            <p:cNvPr id="12" name="Rectangle 12"/>
            <p:cNvSpPr/>
            <p:nvPr/>
          </p:nvSpPr>
          <p:spPr>
            <a:xfrm>
              <a:off x="609600" y="2562225"/>
              <a:ext cx="47625" cy="47625"/>
            </a:xfrm>
            <a:prstGeom prst="rect">
              <a:avLst/>
            </a:prstGeom>
            <a:solidFill>
              <a:srgbClr val="E8000D"/>
            </a:solidFill>
            <a:ln>
              <a:noFill/>
            </a:ln>
          </p:spPr>
        </p:sp>
        <p:sp>
          <p:nvSpPr>
            <p:cNvPr id="13" name="TextBox 13"/>
            <p:cNvSpPr txBox="1"/>
            <p:nvPr/>
          </p:nvSpPr>
          <p:spPr>
            <a:xfrm>
              <a:off x="776288" y="2533650"/>
              <a:ext cx="2073498"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Protokol a priori &amp; pelaporan ganda</a:t>
              </a:r>
            </a:p>
          </p:txBody>
        </p:sp>
        <p:sp>
          <p:nvSpPr>
            <p:cNvPr id="14" name="TextBox 14"/>
            <p:cNvSpPr txBox="1"/>
            <p:nvPr/>
          </p:nvSpPr>
          <p:spPr>
            <a:xfrm>
              <a:off x="776288" y="2720975"/>
              <a:ext cx="4013432"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PROSPERO, PRISMA 2020, ENTREQ; pencarian diulang untuk menangkap studi baru.</a:t>
              </a:r>
            </a:p>
          </p:txBody>
        </p:sp>
        <p:sp>
          <p:nvSpPr>
            <p:cNvPr id="15" name="Rectangle 15"/>
            <p:cNvSpPr/>
            <p:nvPr/>
          </p:nvSpPr>
          <p:spPr>
            <a:xfrm>
              <a:off x="609600" y="3114675"/>
              <a:ext cx="47625" cy="47625"/>
            </a:xfrm>
            <a:prstGeom prst="rect">
              <a:avLst/>
            </a:prstGeom>
            <a:solidFill>
              <a:srgbClr val="E8000D"/>
            </a:solidFill>
            <a:ln>
              <a:noFill/>
            </a:ln>
          </p:spPr>
        </p:sp>
        <p:sp>
          <p:nvSpPr>
            <p:cNvPr id="16" name="TextBox 16"/>
            <p:cNvSpPr txBox="1"/>
            <p:nvPr/>
          </p:nvSpPr>
          <p:spPr>
            <a:xfrm>
              <a:off x="776288" y="3086100"/>
              <a:ext cx="1236247"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Kontribusi PPI group</a:t>
              </a:r>
            </a:p>
          </p:txBody>
        </p:sp>
        <p:sp>
          <p:nvSpPr>
            <p:cNvPr id="17" name="TextBox 17"/>
            <p:cNvSpPr txBox="1"/>
            <p:nvPr/>
          </p:nvSpPr>
          <p:spPr>
            <a:xfrm>
              <a:off x="776288" y="3273425"/>
              <a:ext cx="4031027"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Suara autistik membentuk interpretasi temuan dan pilihan bahasa (identity-first language).</a:t>
              </a:r>
            </a:p>
          </p:txBody>
        </p:sp>
        <p:sp>
          <p:nvSpPr>
            <p:cNvPr id="18" name="Rectangle 18"/>
            <p:cNvSpPr/>
            <p:nvPr/>
          </p:nvSpPr>
          <p:spPr>
            <a:xfrm>
              <a:off x="609600" y="3667125"/>
              <a:ext cx="47625" cy="47625"/>
            </a:xfrm>
            <a:prstGeom prst="rect">
              <a:avLst/>
            </a:prstGeom>
            <a:solidFill>
              <a:srgbClr val="E8000D"/>
            </a:solidFill>
            <a:ln>
              <a:noFill/>
            </a:ln>
          </p:spPr>
        </p:sp>
        <p:sp>
          <p:nvSpPr>
            <p:cNvPr id="19" name="TextBox 19"/>
            <p:cNvSpPr txBox="1"/>
            <p:nvPr/>
          </p:nvSpPr>
          <p:spPr>
            <a:xfrm>
              <a:off x="776288" y="3638550"/>
              <a:ext cx="801348"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Cakupan luas</a:t>
              </a:r>
            </a:p>
          </p:txBody>
        </p:sp>
        <p:sp>
          <p:nvSpPr>
            <p:cNvPr id="20" name="TextBox 20"/>
            <p:cNvSpPr txBox="1"/>
            <p:nvPr/>
          </p:nvSpPr>
          <p:spPr>
            <a:xfrm>
              <a:off x="776288" y="3825875"/>
              <a:ext cx="3127405" cy="147638"/>
            </a:xfrm>
            <a:prstGeom prst="rect">
              <a:avLst/>
            </a:prstGeom>
            <a:noFill/>
            <a:ln>
              <a:noFill/>
            </a:ln>
          </p:spPr>
          <p:txBody>
            <a:bodyPr wrap="none" lIns="0" tIns="0" rIns="0" bIns="0" anchor="t" anchorCtr="0">
              <a:spAutoFit/>
            </a:bodyPr>
            <a:lstStyle/>
            <a:p>
              <a:pPr algn="l"/>
              <a:r>
                <a:rPr lang="id" sz="750" dirty="0">
                  <a:solidFill>
                    <a:srgbClr val="585E66"/>
                  </a:solidFill>
                  <a:latin typeface="+mn-lt"/>
                  <a:ea typeface="+mn-ea"/>
                  <a:cs typeface="+mn-cs"/>
                </a:rPr>
                <a:t>8 database + grey literature; 13 negara; 59 studi; tiga perspektif aktor.</a:t>
              </a:r>
            </a:p>
          </p:txBody>
        </p:sp>
        <p:sp>
          <p:nvSpPr>
            <p:cNvPr id="21" name="Line 21"/>
            <p:cNvSpPr/>
            <p:nvPr/>
          </p:nvSpPr>
          <p:spPr>
            <a:xfrm>
              <a:off x="609600" y="4133850"/>
              <a:ext cx="5067300" cy="9525"/>
            </a:xfrm>
            <a:custGeom>
              <a:avLst/>
              <a:gdLst/>
              <a:ahLst/>
              <a:cxnLst/>
              <a:rect l="l" t="t" r="r" b="b"/>
              <a:pathLst>
                <a:path w="5067300" h="9525">
                  <a:moveTo>
                    <a:pt x="0" y="0"/>
                  </a:moveTo>
                  <a:lnTo>
                    <a:pt x="5067300" y="0"/>
                  </a:lnTo>
                </a:path>
              </a:pathLst>
            </a:custGeom>
            <a:noFill/>
            <a:ln w="9525">
              <a:solidFill>
                <a:srgbClr val="D6D9DE"/>
              </a:solidFill>
            </a:ln>
          </p:spPr>
        </p:sp>
        <p:sp>
          <p:nvSpPr>
            <p:cNvPr id="22" name="TextBox 22"/>
            <p:cNvSpPr txBox="1"/>
            <p:nvPr/>
          </p:nvSpPr>
          <p:spPr>
            <a:xfrm>
              <a:off x="604838" y="4273550"/>
              <a:ext cx="1103689"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KETERBATASAN</a:t>
              </a:r>
            </a:p>
          </p:txBody>
        </p:sp>
        <p:sp>
          <p:nvSpPr>
            <p:cNvPr id="23" name="Rectangle 23"/>
            <p:cNvSpPr/>
            <p:nvPr/>
          </p:nvSpPr>
          <p:spPr>
            <a:xfrm>
              <a:off x="609600" y="4543425"/>
              <a:ext cx="47625" cy="47625"/>
            </a:xfrm>
            <a:prstGeom prst="rect">
              <a:avLst/>
            </a:prstGeom>
            <a:solidFill>
              <a:srgbClr val="111318"/>
            </a:solidFill>
            <a:ln>
              <a:noFill/>
            </a:ln>
          </p:spPr>
        </p:sp>
        <p:sp>
          <p:nvSpPr>
            <p:cNvPr id="24" name="TextBox 24"/>
            <p:cNvSpPr txBox="1"/>
            <p:nvPr/>
          </p:nvSpPr>
          <p:spPr>
            <a:xfrm>
              <a:off x="776288" y="4527550"/>
              <a:ext cx="1375343" cy="169069"/>
            </a:xfrm>
            <a:prstGeom prst="rect">
              <a:avLst/>
            </a:prstGeom>
            <a:noFill/>
            <a:ln>
              <a:noFill/>
            </a:ln>
          </p:spPr>
          <p:txBody>
            <a:bodyPr wrap="none" lIns="0" tIns="0" rIns="0" bIns="0" anchor="t" anchorCtr="0">
              <a:spAutoFit/>
            </a:bodyPr>
            <a:lstStyle/>
            <a:p>
              <a:pPr algn="l"/>
              <a:r>
                <a:rPr lang="id" sz="860" b="1" dirty="0">
                  <a:solidFill>
                    <a:srgbClr val="111318"/>
                  </a:solidFill>
                  <a:latin typeface="+mn-lt"/>
                  <a:ea typeface="+mn-ea"/>
                  <a:cs typeface="+mn-cs"/>
                </a:rPr>
                <a:t>Hanya negara HDI ≥ 0,80</a:t>
              </a:r>
            </a:p>
          </p:txBody>
        </p:sp>
        <p:sp>
          <p:nvSpPr>
            <p:cNvPr id="25" name="TextBox 25"/>
            <p:cNvSpPr txBox="1"/>
            <p:nvPr/>
          </p:nvSpPr>
          <p:spPr>
            <a:xfrm>
              <a:off x="776288" y="4692650"/>
              <a:ext cx="3270105"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Temuan mungkin tidak berlaku di negara berpendapatan rendah–menengah.</a:t>
              </a:r>
            </a:p>
          </p:txBody>
        </p:sp>
        <p:sp>
          <p:nvSpPr>
            <p:cNvPr id="26" name="Rectangle 26"/>
            <p:cNvSpPr/>
            <p:nvPr/>
          </p:nvSpPr>
          <p:spPr>
            <a:xfrm>
              <a:off x="609600" y="4943475"/>
              <a:ext cx="47625" cy="47625"/>
            </a:xfrm>
            <a:prstGeom prst="rect">
              <a:avLst/>
            </a:prstGeom>
            <a:solidFill>
              <a:srgbClr val="111318"/>
            </a:solidFill>
            <a:ln>
              <a:noFill/>
            </a:ln>
          </p:spPr>
        </p:sp>
        <p:sp>
          <p:nvSpPr>
            <p:cNvPr id="27" name="TextBox 27"/>
            <p:cNvSpPr txBox="1"/>
            <p:nvPr/>
          </p:nvSpPr>
          <p:spPr>
            <a:xfrm>
              <a:off x="776288" y="4927600"/>
              <a:ext cx="1582802" cy="169069"/>
            </a:xfrm>
            <a:prstGeom prst="rect">
              <a:avLst/>
            </a:prstGeom>
            <a:noFill/>
            <a:ln>
              <a:noFill/>
            </a:ln>
          </p:spPr>
          <p:txBody>
            <a:bodyPr wrap="none" lIns="0" tIns="0" rIns="0" bIns="0" anchor="t" anchorCtr="0">
              <a:spAutoFit/>
            </a:bodyPr>
            <a:lstStyle/>
            <a:p>
              <a:pPr algn="l"/>
              <a:r>
                <a:rPr lang="id" sz="860" b="1" dirty="0">
                  <a:solidFill>
                    <a:srgbClr val="111318"/>
                  </a:solidFill>
                  <a:latin typeface="+mn-lt"/>
                  <a:ea typeface="+mn-ea"/>
                  <a:cs typeface="+mn-cs"/>
                </a:rPr>
                <a:t>Kualitas studi primer rendah</a:t>
              </a:r>
            </a:p>
          </p:txBody>
        </p:sp>
        <p:sp>
          <p:nvSpPr>
            <p:cNvPr id="28" name="TextBox 28"/>
            <p:cNvSpPr txBox="1"/>
            <p:nvPr/>
          </p:nvSpPr>
          <p:spPr>
            <a:xfrm>
              <a:off x="776288" y="5092700"/>
              <a:ext cx="2293762"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Studi non-randomized paling rendah skor MMAT-nya.</a:t>
              </a:r>
            </a:p>
          </p:txBody>
        </p:sp>
        <p:sp>
          <p:nvSpPr>
            <p:cNvPr id="29" name="Rectangle 29"/>
            <p:cNvSpPr/>
            <p:nvPr/>
          </p:nvSpPr>
          <p:spPr>
            <a:xfrm>
              <a:off x="609600" y="5343525"/>
              <a:ext cx="47625" cy="47625"/>
            </a:xfrm>
            <a:prstGeom prst="rect">
              <a:avLst/>
            </a:prstGeom>
            <a:solidFill>
              <a:srgbClr val="111318"/>
            </a:solidFill>
            <a:ln>
              <a:noFill/>
            </a:ln>
          </p:spPr>
        </p:sp>
        <p:sp>
          <p:nvSpPr>
            <p:cNvPr id="30" name="TextBox 30"/>
            <p:cNvSpPr txBox="1"/>
            <p:nvPr/>
          </p:nvSpPr>
          <p:spPr>
            <a:xfrm>
              <a:off x="776288" y="5327650"/>
              <a:ext cx="1132085" cy="169069"/>
            </a:xfrm>
            <a:prstGeom prst="rect">
              <a:avLst/>
            </a:prstGeom>
            <a:noFill/>
            <a:ln>
              <a:noFill/>
            </a:ln>
          </p:spPr>
          <p:txBody>
            <a:bodyPr wrap="none" lIns="0" tIns="0" rIns="0" bIns="0" anchor="t" anchorCtr="0">
              <a:spAutoFit/>
            </a:bodyPr>
            <a:lstStyle/>
            <a:p>
              <a:pPr algn="l"/>
              <a:r>
                <a:rPr lang="id" sz="860" b="1" dirty="0">
                  <a:solidFill>
                    <a:srgbClr val="111318"/>
                  </a:solidFill>
                  <a:latin typeface="+mn-lt"/>
                  <a:ea typeface="+mn-ea"/>
                  <a:cs typeface="+mn-cs"/>
                </a:rPr>
                <a:t>Heterogenitas tinggi</a:t>
              </a:r>
            </a:p>
          </p:txBody>
        </p:sp>
        <p:sp>
          <p:nvSpPr>
            <p:cNvPr id="31" name="TextBox 31"/>
            <p:cNvSpPr txBox="1"/>
            <p:nvPr/>
          </p:nvSpPr>
          <p:spPr>
            <a:xfrm>
              <a:off x="776288" y="5492750"/>
              <a:ext cx="2785919"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Tidak memungkinkan meta-analisis atau estimasi efek gabungan.</a:t>
              </a:r>
            </a:p>
          </p:txBody>
        </p:sp>
        <p:sp>
          <p:nvSpPr>
            <p:cNvPr id="32" name="Rectangle 32"/>
            <p:cNvSpPr/>
            <p:nvPr/>
          </p:nvSpPr>
          <p:spPr>
            <a:xfrm>
              <a:off x="609600" y="5743575"/>
              <a:ext cx="47625" cy="47625"/>
            </a:xfrm>
            <a:prstGeom prst="rect">
              <a:avLst/>
            </a:prstGeom>
            <a:solidFill>
              <a:srgbClr val="111318"/>
            </a:solidFill>
            <a:ln>
              <a:noFill/>
            </a:ln>
          </p:spPr>
        </p:sp>
        <p:sp>
          <p:nvSpPr>
            <p:cNvPr id="33" name="TextBox 33"/>
            <p:cNvSpPr txBox="1"/>
            <p:nvPr/>
          </p:nvSpPr>
          <p:spPr>
            <a:xfrm>
              <a:off x="776288" y="5727700"/>
              <a:ext cx="1416249" cy="169069"/>
            </a:xfrm>
            <a:prstGeom prst="rect">
              <a:avLst/>
            </a:prstGeom>
            <a:noFill/>
            <a:ln>
              <a:noFill/>
            </a:ln>
          </p:spPr>
          <p:txBody>
            <a:bodyPr wrap="none" lIns="0" tIns="0" rIns="0" bIns="0" anchor="t" anchorCtr="0">
              <a:spAutoFit/>
            </a:bodyPr>
            <a:lstStyle/>
            <a:p>
              <a:pPr algn="l"/>
              <a:r>
                <a:rPr lang="id" sz="860" b="1" dirty="0">
                  <a:solidFill>
                    <a:srgbClr val="111318"/>
                  </a:solidFill>
                  <a:latin typeface="+mn-lt"/>
                  <a:ea typeface="+mn-ea"/>
                  <a:cs typeface="+mn-cs"/>
                </a:rPr>
                <a:t>Suara anak hampir absen</a:t>
              </a:r>
            </a:p>
          </p:txBody>
        </p:sp>
        <p:sp>
          <p:nvSpPr>
            <p:cNvPr id="34" name="TextBox 34"/>
            <p:cNvSpPr txBox="1"/>
            <p:nvPr/>
          </p:nvSpPr>
          <p:spPr>
            <a:xfrm>
              <a:off x="776288" y="5892800"/>
              <a:ext cx="2802491" cy="140494"/>
            </a:xfrm>
            <a:prstGeom prst="rect">
              <a:avLst/>
            </a:prstGeom>
            <a:noFill/>
            <a:ln>
              <a:noFill/>
            </a:ln>
          </p:spPr>
          <p:txBody>
            <a:bodyPr wrap="none" lIns="0" tIns="0" rIns="0" bIns="0" anchor="t" anchorCtr="0">
              <a:spAutoFit/>
            </a:bodyPr>
            <a:lstStyle/>
            <a:p>
              <a:pPr algn="l"/>
              <a:r>
                <a:rPr lang="id" sz="710" dirty="0">
                  <a:solidFill>
                    <a:srgbClr val="585E66"/>
                  </a:solidFill>
                  <a:latin typeface="+mn-lt"/>
                  <a:ea typeface="+mn-ea"/>
                  <a:cs typeface="+mn-cs"/>
                </a:rPr>
                <a:t>Sebagian besar bukti adalah laporan orang dewasa tentang anak.</a:t>
              </a:r>
            </a:p>
          </p:txBody>
        </p:sp>
        <p:sp>
          <p:nvSpPr>
            <p:cNvPr id="35" name="Rectangle 35"/>
            <p:cNvSpPr/>
            <p:nvPr/>
          </p:nvSpPr>
          <p:spPr>
            <a:xfrm>
              <a:off x="6286500" y="1581150"/>
              <a:ext cx="5295900" cy="4438650"/>
            </a:xfrm>
            <a:prstGeom prst="rect">
              <a:avLst/>
            </a:prstGeom>
            <a:solidFill>
              <a:srgbClr val="111318"/>
            </a:solidFill>
            <a:ln>
              <a:noFill/>
            </a:ln>
          </p:spPr>
        </p:sp>
      </p:grpSp>
      <p:grpSp>
        <p:nvGrpSpPr>
          <p:cNvPr id="47" name="conclusion"/>
          <p:cNvGrpSpPr/>
          <p:nvPr/>
        </p:nvGrpSpPr>
        <p:grpSpPr>
          <a:xfrm>
            <a:off x="6661785" y="1911350"/>
            <a:ext cx="4577715" cy="3914458"/>
            <a:chOff x="6661785" y="1911350"/>
            <a:chExt cx="4577715" cy="3914458"/>
          </a:xfrm>
        </p:grpSpPr>
        <p:sp>
          <p:nvSpPr>
            <p:cNvPr id="37" name="TextBox 37"/>
            <p:cNvSpPr txBox="1"/>
            <p:nvPr/>
          </p:nvSpPr>
          <p:spPr>
            <a:xfrm>
              <a:off x="6662738" y="1911350"/>
              <a:ext cx="907642" cy="140494"/>
            </a:xfrm>
            <a:prstGeom prst="rect">
              <a:avLst/>
            </a:prstGeom>
            <a:noFill/>
            <a:ln>
              <a:noFill/>
            </a:ln>
          </p:spPr>
          <p:txBody>
            <a:bodyPr wrap="none" lIns="0" tIns="0" rIns="0" bIns="0" anchor="t" anchorCtr="0">
              <a:spAutoFit/>
            </a:bodyPr>
            <a:lstStyle/>
            <a:p>
              <a:pPr algn="l"/>
              <a:r>
                <a:rPr lang="id" sz="710" b="1" spc="180" dirty="0">
                  <a:solidFill>
                    <a:srgbClr val="E8000D"/>
                  </a:solidFill>
                  <a:latin typeface="+mn-lt"/>
                  <a:ea typeface="+mn-ea"/>
                  <a:cs typeface="+mn-cs"/>
                </a:rPr>
                <a:t>KESIMPULAN</a:t>
              </a:r>
            </a:p>
          </p:txBody>
        </p:sp>
        <p:sp>
          <p:nvSpPr>
            <p:cNvPr id="38" name="TextBox 38"/>
            <p:cNvSpPr txBox="1"/>
            <p:nvPr/>
          </p:nvSpPr>
          <p:spPr>
            <a:xfrm>
              <a:off x="6662547" y="2279650"/>
              <a:ext cx="2265395" cy="382143"/>
            </a:xfrm>
            <a:prstGeom prst="rect">
              <a:avLst/>
            </a:prstGeom>
            <a:noFill/>
            <a:ln>
              <a:noFill/>
            </a:ln>
          </p:spPr>
          <p:txBody>
            <a:bodyPr wrap="none" lIns="0" tIns="0" rIns="0" bIns="0" anchor="t" anchorCtr="0">
              <a:spAutoFit/>
            </a:bodyPr>
            <a:lstStyle/>
            <a:p>
              <a:pPr algn="l">
                <a:lnSpc>
                  <a:spcPts val="1500"/>
                </a:lnSpc>
              </a:pPr>
              <a:r>
                <a:rPr lang="id" sz="980" dirty="0">
                  <a:solidFill>
                    <a:srgbClr val="C9CDD4"/>
                  </a:solidFill>
                  <a:latin typeface="+mn-lt"/>
                  <a:ea typeface="+mn-ea"/>
                  <a:cs typeface="+mn-cs"/>
                </a:rPr>
                <a:t>Akses dan kesehatan mulut anak autistik</a:t>
              </a:r>
              <a:br>
                <a:rPr lang="id" sz="980" dirty="0">
                  <a:solidFill>
                    <a:srgbClr val="C9CDD4"/>
                  </a:solidFill>
                  <a:latin typeface="+mn-lt"/>
                  <a:ea typeface="+mn-ea"/>
                  <a:cs typeface="+mn-cs"/>
                </a:rPr>
              </a:br>
              <a:r>
                <a:rPr lang="id" sz="980" dirty="0">
                  <a:solidFill>
                    <a:srgbClr val="C9CDD4"/>
                  </a:solidFill>
                  <a:latin typeface="+mn-lt"/>
                  <a:ea typeface="+mn-ea"/>
                  <a:cs typeface="+mn-cs"/>
                </a:rPr>
                <a:t>membaik melalui tiga langkah:</a:t>
              </a:r>
            </a:p>
          </p:txBody>
        </p:sp>
        <p:sp>
          <p:nvSpPr>
            <p:cNvPr id="39" name="TextBox 39"/>
            <p:cNvSpPr txBox="1"/>
            <p:nvPr/>
          </p:nvSpPr>
          <p:spPr>
            <a:xfrm>
              <a:off x="6661785" y="3003550"/>
              <a:ext cx="1480448" cy="220028"/>
            </a:xfrm>
            <a:prstGeom prst="rect">
              <a:avLst/>
            </a:prstGeom>
            <a:noFill/>
            <a:ln>
              <a:noFill/>
            </a:ln>
          </p:spPr>
          <p:txBody>
            <a:bodyPr wrap="none" lIns="0" tIns="0" rIns="0" bIns="0" anchor="t" anchorCtr="0">
              <a:spAutoFit/>
            </a:bodyPr>
            <a:lstStyle/>
            <a:p>
              <a:pPr algn="l"/>
              <a:r>
                <a:rPr lang="id" sz="1120" b="1" dirty="0">
                  <a:solidFill>
                    <a:srgbClr val="FFFFFF"/>
                  </a:solidFill>
                  <a:latin typeface="+mn-lt"/>
                  <a:ea typeface="+mn-ea"/>
                  <a:cs typeface="+mn-cs"/>
                </a:rPr>
                <a:t>ACCOMMODATION</a:t>
              </a:r>
            </a:p>
          </p:txBody>
        </p:sp>
        <p:sp>
          <p:nvSpPr>
            <p:cNvPr id="40" name="TextBox 40"/>
            <p:cNvSpPr txBox="1"/>
            <p:nvPr/>
          </p:nvSpPr>
          <p:spPr>
            <a:xfrm>
              <a:off x="6662738" y="3241675"/>
              <a:ext cx="3921094" cy="155258"/>
            </a:xfrm>
            <a:prstGeom prst="rect">
              <a:avLst/>
            </a:prstGeom>
            <a:noFill/>
            <a:ln>
              <a:noFill/>
            </a:ln>
          </p:spPr>
          <p:txBody>
            <a:bodyPr wrap="none" lIns="0" tIns="0" rIns="0" bIns="0" anchor="t" anchorCtr="0">
              <a:spAutoFit/>
            </a:bodyPr>
            <a:lstStyle/>
            <a:p>
              <a:pPr algn="l"/>
              <a:r>
                <a:rPr lang="id" sz="790" dirty="0">
                  <a:solidFill>
                    <a:srgbClr val="B9BEC6"/>
                  </a:solidFill>
                  <a:latin typeface="+mn-lt"/>
                  <a:ea typeface="+mn-ea"/>
                  <a:cs typeface="+mn-cs"/>
                </a:rPr>
                <a:t>Menyesuaikan layanan pada kebutuhan individu — waktu, ruang, orang, dan ritme.</a:t>
              </a:r>
            </a:p>
          </p:txBody>
        </p:sp>
        <p:sp>
          <p:nvSpPr>
            <p:cNvPr id="41" name="TextBox 41"/>
            <p:cNvSpPr txBox="1"/>
            <p:nvPr/>
          </p:nvSpPr>
          <p:spPr>
            <a:xfrm>
              <a:off x="6661785" y="3708400"/>
              <a:ext cx="958425" cy="220028"/>
            </a:xfrm>
            <a:prstGeom prst="rect">
              <a:avLst/>
            </a:prstGeom>
            <a:noFill/>
            <a:ln>
              <a:noFill/>
            </a:ln>
          </p:spPr>
          <p:txBody>
            <a:bodyPr wrap="none" lIns="0" tIns="0" rIns="0" bIns="0" anchor="t" anchorCtr="0">
              <a:spAutoFit/>
            </a:bodyPr>
            <a:lstStyle/>
            <a:p>
              <a:pPr algn="l"/>
              <a:r>
                <a:rPr lang="id" sz="1120" b="1" dirty="0">
                  <a:solidFill>
                    <a:srgbClr val="FFFFFF"/>
                  </a:solidFill>
                  <a:latin typeface="+mn-lt"/>
                  <a:ea typeface="+mn-ea"/>
                  <a:cs typeface="+mn-cs"/>
                </a:rPr>
                <a:t>EDUCATION</a:t>
              </a:r>
            </a:p>
          </p:txBody>
        </p:sp>
        <p:sp>
          <p:nvSpPr>
            <p:cNvPr id="42" name="TextBox 42"/>
            <p:cNvSpPr txBox="1"/>
            <p:nvPr/>
          </p:nvSpPr>
          <p:spPr>
            <a:xfrm>
              <a:off x="6662738" y="3946525"/>
              <a:ext cx="3595562" cy="155258"/>
            </a:xfrm>
            <a:prstGeom prst="rect">
              <a:avLst/>
            </a:prstGeom>
            <a:noFill/>
            <a:ln>
              <a:noFill/>
            </a:ln>
          </p:spPr>
          <p:txBody>
            <a:bodyPr wrap="none" lIns="0" tIns="0" rIns="0" bIns="0" anchor="t" anchorCtr="0">
              <a:spAutoFit/>
            </a:bodyPr>
            <a:lstStyle/>
            <a:p>
              <a:pPr algn="l"/>
              <a:r>
                <a:rPr lang="id" sz="790" dirty="0">
                  <a:solidFill>
                    <a:srgbClr val="B9BEC6"/>
                  </a:solidFill>
                  <a:latin typeface="+mn-lt"/>
                  <a:ea typeface="+mn-ea"/>
                  <a:cs typeface="+mn-cs"/>
                </a:rPr>
                <a:t>Melatih seluruh tim gigi dan memberdayakan orang tua sebagai pakar anak.</a:t>
              </a:r>
            </a:p>
          </p:txBody>
        </p:sp>
        <p:sp>
          <p:nvSpPr>
            <p:cNvPr id="43" name="TextBox 43"/>
            <p:cNvSpPr txBox="1"/>
            <p:nvPr/>
          </p:nvSpPr>
          <p:spPr>
            <a:xfrm>
              <a:off x="6661785" y="4413250"/>
              <a:ext cx="1055731" cy="220028"/>
            </a:xfrm>
            <a:prstGeom prst="rect">
              <a:avLst/>
            </a:prstGeom>
            <a:noFill/>
            <a:ln>
              <a:noFill/>
            </a:ln>
          </p:spPr>
          <p:txBody>
            <a:bodyPr wrap="none" lIns="0" tIns="0" rIns="0" bIns="0" anchor="t" anchorCtr="0">
              <a:spAutoFit/>
            </a:bodyPr>
            <a:lstStyle/>
            <a:p>
              <a:pPr algn="l"/>
              <a:r>
                <a:rPr lang="id" sz="1120" b="1" dirty="0">
                  <a:solidFill>
                    <a:srgbClr val="FFFFFF"/>
                  </a:solidFill>
                  <a:latin typeface="+mn-lt"/>
                  <a:ea typeface="+mn-ea"/>
                  <a:cs typeface="+mn-cs"/>
                </a:rPr>
                <a:t>ADAPTATION</a:t>
              </a:r>
            </a:p>
          </p:txBody>
        </p:sp>
        <p:sp>
          <p:nvSpPr>
            <p:cNvPr id="44" name="TextBox 44"/>
            <p:cNvSpPr txBox="1"/>
            <p:nvPr/>
          </p:nvSpPr>
          <p:spPr>
            <a:xfrm>
              <a:off x="6662738" y="4651375"/>
              <a:ext cx="3495582" cy="155258"/>
            </a:xfrm>
            <a:prstGeom prst="rect">
              <a:avLst/>
            </a:prstGeom>
            <a:noFill/>
            <a:ln>
              <a:noFill/>
            </a:ln>
          </p:spPr>
          <p:txBody>
            <a:bodyPr wrap="none" lIns="0" tIns="0" rIns="0" bIns="0" anchor="t" anchorCtr="0">
              <a:spAutoFit/>
            </a:bodyPr>
            <a:lstStyle/>
            <a:p>
              <a:pPr algn="l"/>
              <a:r>
                <a:rPr lang="id" sz="790" dirty="0">
                  <a:solidFill>
                    <a:srgbClr val="B9BEC6"/>
                  </a:solidFill>
                  <a:latin typeface="+mn-lt"/>
                  <a:ea typeface="+mn-ea"/>
                  <a:cs typeface="+mn-cs"/>
                </a:rPr>
                <a:t>Mengubah proses dan protokol, bukan menuntut anak berubah lebih dulu.</a:t>
              </a:r>
            </a:p>
          </p:txBody>
        </p:sp>
        <p:sp>
          <p:nvSpPr>
            <p:cNvPr id="45" name="Line 45"/>
            <p:cNvSpPr/>
            <p:nvPr/>
          </p:nvSpPr>
          <p:spPr>
            <a:xfrm>
              <a:off x="6667500" y="5200650"/>
              <a:ext cx="4572000" cy="9525"/>
            </a:xfrm>
            <a:custGeom>
              <a:avLst/>
              <a:gdLst/>
              <a:ahLst/>
              <a:cxnLst/>
              <a:rect l="l" t="t" r="r" b="b"/>
              <a:pathLst>
                <a:path w="4572000" h="9525">
                  <a:moveTo>
                    <a:pt x="0" y="0"/>
                  </a:moveTo>
                  <a:lnTo>
                    <a:pt x="4572000" y="0"/>
                  </a:lnTo>
                </a:path>
              </a:pathLst>
            </a:custGeom>
            <a:noFill/>
            <a:ln w="9525">
              <a:solidFill>
                <a:srgbClr val="3A3F47"/>
              </a:solidFill>
            </a:ln>
          </p:spPr>
        </p:sp>
        <p:sp>
          <p:nvSpPr>
            <p:cNvPr id="46" name="TextBox 46"/>
            <p:cNvSpPr txBox="1"/>
            <p:nvPr/>
          </p:nvSpPr>
          <p:spPr>
            <a:xfrm>
              <a:off x="6662738" y="5327650"/>
              <a:ext cx="2641863" cy="498158"/>
            </a:xfrm>
            <a:prstGeom prst="rect">
              <a:avLst/>
            </a:prstGeom>
            <a:noFill/>
            <a:ln>
              <a:noFill/>
            </a:ln>
          </p:spPr>
          <p:txBody>
            <a:bodyPr wrap="none" lIns="0" tIns="0" rIns="0" bIns="0" anchor="t" anchorCtr="0">
              <a:spAutoFit/>
            </a:bodyPr>
            <a:lstStyle/>
            <a:p>
              <a:pPr algn="l">
                <a:lnSpc>
                  <a:spcPts val="1350"/>
                </a:lnSpc>
              </a:pPr>
              <a:r>
                <a:rPr lang="id" sz="790" dirty="0">
                  <a:solidFill>
                    <a:srgbClr val="FFFFFF"/>
                  </a:solidFill>
                  <a:latin typeface="+mn-lt"/>
                  <a:ea typeface="+mn-ea"/>
                  <a:cs typeface="+mn-cs"/>
                </a:rPr>
                <a:t>Implikasi riset: studi intervensi yang lebih kuat, dan riset</a:t>
              </a:r>
              <a:br>
                <a:rPr lang="id" sz="790" dirty="0">
                  <a:solidFill>
                    <a:srgbClr val="FFFFFF"/>
                  </a:solidFill>
                  <a:latin typeface="+mn-lt"/>
                  <a:ea typeface="+mn-ea"/>
                  <a:cs typeface="+mn-cs"/>
                </a:rPr>
              </a:br>
              <a:r>
                <a:rPr lang="id" sz="790" dirty="0">
                  <a:solidFill>
                    <a:srgbClr val="FFFFFF"/>
                  </a:solidFill>
                  <a:latin typeface="+mn-lt"/>
                  <a:ea typeface="+mn-ea"/>
                  <a:cs typeface="+mn-cs"/>
                </a:rPr>
                <a:t>yang melibatkan anak autistik — termasuk yang non-verbal</a:t>
              </a:r>
            </a:p>
            <a:p>
              <a:pPr algn="l">
                <a:lnSpc>
                  <a:spcPts val="1350"/>
                </a:lnSpc>
              </a:pPr>
              <a:r>
                <a:rPr lang="id" sz="790" dirty="0">
                  <a:solidFill>
                    <a:srgbClr val="FFFFFF"/>
                  </a:solidFill>
                  <a:latin typeface="+mn-lt"/>
                  <a:ea typeface="+mn-ea"/>
                  <a:cs typeface="+mn-cs"/>
                </a:rPr>
                <a:t>— sebagai partisipan, bukan objek.</a:t>
              </a:r>
            </a:p>
          </p:txBody>
        </p:sp>
      </p:grpSp>
      <p:grpSp>
        <p:nvGrpSpPr>
          <p:cNvPr id="51" name="footer"/>
          <p:cNvGrpSpPr/>
          <p:nvPr/>
        </p:nvGrpSpPr>
        <p:grpSpPr>
          <a:xfrm>
            <a:off x="604838" y="6324600"/>
            <a:ext cx="10982325" cy="268288"/>
            <a:chOff x="604838" y="6324600"/>
            <a:chExt cx="10982325" cy="268288"/>
          </a:xfrm>
        </p:grpSpPr>
        <p:sp>
          <p:nvSpPr>
            <p:cNvPr id="48" name="Line 48"/>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49" name="TextBox 49"/>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50" name="TextBox 50"/>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header"/>
          <p:cNvGrpSpPr/>
          <p:nvPr/>
        </p:nvGrpSpPr>
        <p:grpSpPr>
          <a:xfrm>
            <a:off x="595503" y="450850"/>
            <a:ext cx="10991660" cy="796925"/>
            <a:chOff x="595503" y="450850"/>
            <a:chExt cx="10991660" cy="796925"/>
          </a:xfrm>
        </p:grpSpPr>
        <p:sp>
          <p:nvSpPr>
            <p:cNvPr id="2" name="TextBox 2"/>
            <p:cNvSpPr txBox="1"/>
            <p:nvPr/>
          </p:nvSpPr>
          <p:spPr>
            <a:xfrm>
              <a:off x="604838" y="450850"/>
              <a:ext cx="2065743" cy="155258"/>
            </a:xfrm>
            <a:prstGeom prst="rect">
              <a:avLst/>
            </a:prstGeom>
            <a:noFill/>
            <a:ln>
              <a:noFill/>
            </a:ln>
          </p:spPr>
          <p:txBody>
            <a:bodyPr wrap="none" lIns="0" tIns="0" rIns="0" bIns="0" anchor="t" anchorCtr="0">
              <a:spAutoFit/>
            </a:bodyPr>
            <a:lstStyle/>
            <a:p>
              <a:pPr algn="l"/>
              <a:r>
                <a:rPr lang="id" sz="790" b="1" spc="180" dirty="0">
                  <a:solidFill>
                    <a:srgbClr val="E8000D"/>
                  </a:solidFill>
                  <a:latin typeface="+mn-lt"/>
                  <a:ea typeface="+mn-ea"/>
                  <a:cs typeface="+mn-cs"/>
                </a:rPr>
                <a:t>15 · REFERENSI &amp; DISKUSI</a:t>
              </a:r>
            </a:p>
          </p:txBody>
        </p:sp>
        <p:sp>
          <p:nvSpPr>
            <p:cNvPr id="3" name="TextBox 3"/>
            <p:cNvSpPr txBox="1"/>
            <p:nvPr/>
          </p:nvSpPr>
          <p:spPr>
            <a:xfrm>
              <a:off x="595503" y="685800"/>
              <a:ext cx="8005385" cy="543687"/>
            </a:xfrm>
            <a:prstGeom prst="rect">
              <a:avLst/>
            </a:prstGeom>
            <a:noFill/>
            <a:ln>
              <a:noFill/>
            </a:ln>
          </p:spPr>
          <p:txBody>
            <a:bodyPr wrap="none" lIns="0" tIns="0" rIns="0" bIns="0" anchor="t" anchorCtr="0">
              <a:spAutoFit/>
            </a:bodyPr>
            <a:lstStyle/>
            <a:p>
              <a:pPr algn="l"/>
              <a:r>
                <a:rPr lang="id" sz="2780" b="1" dirty="0">
                  <a:solidFill>
                    <a:srgbClr val="111318"/>
                  </a:solidFill>
                  <a:latin typeface="+mn-lt"/>
                  <a:ea typeface="+mn-ea"/>
                  <a:cs typeface="+mn-cs"/>
                </a:rPr>
                <a:t>Bacaan lanjutan dan tiga pertanyaan terbuka</a:t>
              </a:r>
            </a:p>
          </p:txBody>
        </p:sp>
        <p:sp>
          <p:nvSpPr>
            <p:cNvPr id="4" name="Rectangle 4"/>
            <p:cNvSpPr/>
            <p:nvPr/>
          </p:nvSpPr>
          <p:spPr>
            <a:xfrm>
              <a:off x="609600" y="1219200"/>
              <a:ext cx="419100" cy="28575"/>
            </a:xfrm>
            <a:prstGeom prst="rect">
              <a:avLst/>
            </a:prstGeom>
            <a:solidFill>
              <a:srgbClr val="E8000D"/>
            </a:solidFill>
            <a:ln>
              <a:noFill/>
            </a:ln>
          </p:spPr>
        </p:sp>
        <p:sp>
          <p:nvSpPr>
            <p:cNvPr id="5" name="Line 5"/>
            <p:cNvSpPr/>
            <p:nvPr/>
          </p:nvSpPr>
          <p:spPr>
            <a:xfrm>
              <a:off x="1143000" y="1233488"/>
              <a:ext cx="10439400" cy="9525"/>
            </a:xfrm>
            <a:custGeom>
              <a:avLst/>
              <a:gdLst/>
              <a:ahLst/>
              <a:cxnLst/>
              <a:rect l="l" t="t" r="r" b="b"/>
              <a:pathLst>
                <a:path w="10439400" h="9525">
                  <a:moveTo>
                    <a:pt x="0" y="0"/>
                  </a:moveTo>
                  <a:lnTo>
                    <a:pt x="10439400" y="0"/>
                  </a:lnTo>
                </a:path>
              </a:pathLst>
            </a:custGeom>
            <a:noFill/>
            <a:ln w="9525">
              <a:solidFill>
                <a:srgbClr val="D6D9DE"/>
              </a:solidFill>
            </a:ln>
          </p:spPr>
        </p:sp>
        <p:sp>
          <p:nvSpPr>
            <p:cNvPr id="6" name="TextBox 6"/>
            <p:cNvSpPr txBox="1"/>
            <p:nvPr/>
          </p:nvSpPr>
          <p:spPr>
            <a:xfrm>
              <a:off x="11179704" y="450850"/>
              <a:ext cx="407459" cy="155258"/>
            </a:xfrm>
            <a:prstGeom prst="rect">
              <a:avLst/>
            </a:prstGeom>
            <a:noFill/>
            <a:ln>
              <a:noFill/>
            </a:ln>
          </p:spPr>
          <p:txBody>
            <a:bodyPr wrap="none" lIns="0" tIns="0" rIns="0" bIns="0" anchor="t" anchorCtr="0">
              <a:spAutoFit/>
            </a:bodyPr>
            <a:lstStyle/>
            <a:p>
              <a:pPr algn="r"/>
              <a:r>
                <a:rPr lang="id" sz="790" spc="90" dirty="0">
                  <a:solidFill>
                    <a:srgbClr val="8B9198"/>
                  </a:solidFill>
                  <a:latin typeface="+mn-lt"/>
                  <a:ea typeface="+mn-ea"/>
                  <a:cs typeface="+mn-cs"/>
                </a:rPr>
                <a:t>16 / 16</a:t>
              </a:r>
            </a:p>
          </p:txBody>
        </p:sp>
      </p:grpSp>
      <p:grpSp>
        <p:nvGrpSpPr>
          <p:cNvPr id="32" name="references"/>
          <p:cNvGrpSpPr/>
          <p:nvPr/>
        </p:nvGrpSpPr>
        <p:grpSpPr>
          <a:xfrm>
            <a:off x="604838" y="1682750"/>
            <a:ext cx="6443662" cy="4401502"/>
            <a:chOff x="604838" y="1682750"/>
            <a:chExt cx="6443662" cy="4401502"/>
          </a:xfrm>
        </p:grpSpPr>
        <p:sp>
          <p:nvSpPr>
            <p:cNvPr id="8" name="TextBox 8"/>
            <p:cNvSpPr txBox="1"/>
            <p:nvPr/>
          </p:nvSpPr>
          <p:spPr>
            <a:xfrm>
              <a:off x="604838" y="1682750"/>
              <a:ext cx="1263939"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REFERENSI KUNCI</a:t>
              </a:r>
            </a:p>
          </p:txBody>
        </p:sp>
        <p:sp>
          <p:nvSpPr>
            <p:cNvPr id="9" name="TextBox 9"/>
            <p:cNvSpPr txBox="1"/>
            <p:nvPr/>
          </p:nvSpPr>
          <p:spPr>
            <a:xfrm>
              <a:off x="604838" y="1949450"/>
              <a:ext cx="115848"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01</a:t>
              </a:r>
            </a:p>
          </p:txBody>
        </p:sp>
        <p:sp>
          <p:nvSpPr>
            <p:cNvPr id="10" name="TextBox 10"/>
            <p:cNvSpPr txBox="1"/>
            <p:nvPr/>
          </p:nvSpPr>
          <p:spPr>
            <a:xfrm>
              <a:off x="909638" y="1936750"/>
              <a:ext cx="1864086"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Erwin J, Paisi M, Neill S, et al. (2022)</a:t>
              </a:r>
            </a:p>
          </p:txBody>
        </p:sp>
        <p:sp>
          <p:nvSpPr>
            <p:cNvPr id="11" name="TextBox 11"/>
            <p:cNvSpPr txBox="1"/>
            <p:nvPr/>
          </p:nvSpPr>
          <p:spPr>
            <a:xfrm>
              <a:off x="909638" y="2070100"/>
              <a:ext cx="3230442" cy="258128"/>
            </a:xfrm>
            <a:prstGeom prst="rect">
              <a:avLst/>
            </a:prstGeom>
            <a:noFill/>
            <a:ln>
              <a:noFill/>
            </a:ln>
          </p:spPr>
          <p:txBody>
            <a:bodyPr wrap="none" lIns="0" tIns="0" rIns="0" bIns="0" anchor="t" anchorCtr="0">
              <a:spAutoFit/>
            </a:bodyPr>
            <a:lstStyle/>
            <a:p>
              <a:pPr algn="l">
                <a:lnSpc>
                  <a:spcPts val="975"/>
                </a:lnSpc>
              </a:pPr>
              <a:r>
                <a:rPr lang="id" sz="680" dirty="0">
                  <a:solidFill>
                    <a:srgbClr val="585E66"/>
                  </a:solidFill>
                  <a:latin typeface="+mn-lt"/>
                  <a:ea typeface="+mn-ea"/>
                  <a:cs typeface="+mn-cs"/>
                </a:rPr>
                <a:t>Factors influencing oral health behaviours, access and delivery of dental care</a:t>
              </a:r>
              <a:br>
                <a:rPr lang="id" sz="680" dirty="0">
                  <a:solidFill>
                    <a:srgbClr val="585E66"/>
                  </a:solidFill>
                  <a:latin typeface="+mn-lt"/>
                  <a:ea typeface="+mn-ea"/>
                  <a:cs typeface="+mn-cs"/>
                </a:rPr>
              </a:br>
              <a:r>
                <a:rPr lang="id" sz="680" dirty="0">
                  <a:solidFill>
                    <a:srgbClr val="585E66"/>
                  </a:solidFill>
                  <a:latin typeface="+mn-lt"/>
                  <a:ea typeface="+mn-ea"/>
                  <a:cs typeface="+mn-cs"/>
                </a:rPr>
                <a:t>for autistic CYP: a mixed-methods systematic review. Health Expect. 25:1269–1318.</a:t>
              </a:r>
            </a:p>
          </p:txBody>
        </p:sp>
        <p:sp>
          <p:nvSpPr>
            <p:cNvPr id="12" name="TextBox 12"/>
            <p:cNvSpPr txBox="1"/>
            <p:nvPr/>
          </p:nvSpPr>
          <p:spPr>
            <a:xfrm>
              <a:off x="604838" y="2482850"/>
              <a:ext cx="115848"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02</a:t>
              </a:r>
            </a:p>
          </p:txBody>
        </p:sp>
        <p:sp>
          <p:nvSpPr>
            <p:cNvPr id="13" name="TextBox 13"/>
            <p:cNvSpPr txBox="1"/>
            <p:nvPr/>
          </p:nvSpPr>
          <p:spPr>
            <a:xfrm>
              <a:off x="909638" y="2470150"/>
              <a:ext cx="2398286"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McKinney CM, Nelson T, Scott JM, et al. (2014)</a:t>
              </a:r>
            </a:p>
          </p:txBody>
        </p:sp>
        <p:sp>
          <p:nvSpPr>
            <p:cNvPr id="14" name="TextBox 14"/>
            <p:cNvSpPr txBox="1"/>
            <p:nvPr/>
          </p:nvSpPr>
          <p:spPr>
            <a:xfrm>
              <a:off x="909638" y="2603500"/>
              <a:ext cx="2846468" cy="258128"/>
            </a:xfrm>
            <a:prstGeom prst="rect">
              <a:avLst/>
            </a:prstGeom>
            <a:noFill/>
            <a:ln>
              <a:noFill/>
            </a:ln>
          </p:spPr>
          <p:txBody>
            <a:bodyPr wrap="none" lIns="0" tIns="0" rIns="0" bIns="0" anchor="t" anchorCtr="0">
              <a:spAutoFit/>
            </a:bodyPr>
            <a:lstStyle/>
            <a:p>
              <a:pPr algn="l">
                <a:lnSpc>
                  <a:spcPts val="975"/>
                </a:lnSpc>
              </a:pPr>
              <a:r>
                <a:rPr lang="id" sz="680" dirty="0">
                  <a:solidFill>
                    <a:srgbClr val="585E66"/>
                  </a:solidFill>
                  <a:latin typeface="+mn-lt"/>
                  <a:ea typeface="+mn-ea"/>
                  <a:cs typeface="+mn-cs"/>
                </a:rPr>
                <a:t>Predictors of unmet dental need in children with autism spectrum disorder:</a:t>
              </a:r>
              <a:br>
                <a:rPr lang="id" sz="680" dirty="0">
                  <a:solidFill>
                    <a:srgbClr val="585E66"/>
                  </a:solidFill>
                  <a:latin typeface="+mn-lt"/>
                  <a:ea typeface="+mn-ea"/>
                  <a:cs typeface="+mn-cs"/>
                </a:rPr>
              </a:br>
              <a:r>
                <a:rPr lang="id" sz="680" dirty="0">
                  <a:solidFill>
                    <a:srgbClr val="585E66"/>
                  </a:solidFill>
                  <a:latin typeface="+mn-lt"/>
                  <a:ea typeface="+mn-ea"/>
                  <a:cs typeface="+mn-cs"/>
                </a:rPr>
                <a:t>results from a national sample. Acad Pediatr. 14(6):624–631.</a:t>
              </a:r>
            </a:p>
          </p:txBody>
        </p:sp>
        <p:sp>
          <p:nvSpPr>
            <p:cNvPr id="15" name="TextBox 15"/>
            <p:cNvSpPr txBox="1"/>
            <p:nvPr/>
          </p:nvSpPr>
          <p:spPr>
            <a:xfrm>
              <a:off x="604838" y="3016250"/>
              <a:ext cx="115848"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03</a:t>
              </a:r>
            </a:p>
          </p:txBody>
        </p:sp>
        <p:sp>
          <p:nvSpPr>
            <p:cNvPr id="16" name="TextBox 16"/>
            <p:cNvSpPr txBox="1"/>
            <p:nvPr/>
          </p:nvSpPr>
          <p:spPr>
            <a:xfrm>
              <a:off x="909638" y="3003550"/>
              <a:ext cx="2146745"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Nelson T, Chim A, Sheller BL, et al. (2017)</a:t>
              </a:r>
            </a:p>
          </p:txBody>
        </p:sp>
        <p:sp>
          <p:nvSpPr>
            <p:cNvPr id="17" name="TextBox 17"/>
            <p:cNvSpPr txBox="1"/>
            <p:nvPr/>
          </p:nvSpPr>
          <p:spPr>
            <a:xfrm>
              <a:off x="909638" y="3136900"/>
              <a:ext cx="2577940" cy="258128"/>
            </a:xfrm>
            <a:prstGeom prst="rect">
              <a:avLst/>
            </a:prstGeom>
            <a:noFill/>
            <a:ln>
              <a:noFill/>
            </a:ln>
          </p:spPr>
          <p:txBody>
            <a:bodyPr wrap="none" lIns="0" tIns="0" rIns="0" bIns="0" anchor="t" anchorCtr="0">
              <a:spAutoFit/>
            </a:bodyPr>
            <a:lstStyle/>
            <a:p>
              <a:pPr algn="l">
                <a:lnSpc>
                  <a:spcPts val="975"/>
                </a:lnSpc>
              </a:pPr>
              <a:r>
                <a:rPr lang="id" sz="680" dirty="0">
                  <a:solidFill>
                    <a:srgbClr val="585E66"/>
                  </a:solidFill>
                  <a:latin typeface="+mn-lt"/>
                  <a:ea typeface="+mn-ea"/>
                  <a:cs typeface="+mn-cs"/>
                </a:rPr>
                <a:t>Predicting successful dental examinations in the context of a dental</a:t>
              </a:r>
              <a:br>
                <a:rPr lang="id" sz="680" dirty="0">
                  <a:solidFill>
                    <a:srgbClr val="585E66"/>
                  </a:solidFill>
                  <a:latin typeface="+mn-lt"/>
                  <a:ea typeface="+mn-ea"/>
                  <a:cs typeface="+mn-cs"/>
                </a:rPr>
              </a:br>
              <a:r>
                <a:rPr lang="id" sz="680" dirty="0">
                  <a:solidFill>
                    <a:srgbClr val="585E66"/>
                  </a:solidFill>
                  <a:latin typeface="+mn-lt"/>
                  <a:ea typeface="+mn-ea"/>
                  <a:cs typeface="+mn-cs"/>
                </a:rPr>
                <a:t>desensitization program. J Am Dent Assoc. 148(7):485–492.</a:t>
              </a:r>
            </a:p>
          </p:txBody>
        </p:sp>
        <p:sp>
          <p:nvSpPr>
            <p:cNvPr id="18" name="TextBox 18"/>
            <p:cNvSpPr txBox="1"/>
            <p:nvPr/>
          </p:nvSpPr>
          <p:spPr>
            <a:xfrm>
              <a:off x="604838" y="3549650"/>
              <a:ext cx="115848"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04</a:t>
              </a:r>
            </a:p>
          </p:txBody>
        </p:sp>
        <p:sp>
          <p:nvSpPr>
            <p:cNvPr id="19" name="TextBox 19"/>
            <p:cNvSpPr txBox="1"/>
            <p:nvPr/>
          </p:nvSpPr>
          <p:spPr>
            <a:xfrm>
              <a:off x="909638" y="3536950"/>
              <a:ext cx="2084442"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Eades D, Leung P, Cronin A, et al. (2019)</a:t>
              </a:r>
            </a:p>
          </p:txBody>
        </p:sp>
        <p:sp>
          <p:nvSpPr>
            <p:cNvPr id="20" name="TextBox 20"/>
            <p:cNvSpPr txBox="1"/>
            <p:nvPr/>
          </p:nvSpPr>
          <p:spPr>
            <a:xfrm>
              <a:off x="909638" y="3670300"/>
              <a:ext cx="2997901" cy="258128"/>
            </a:xfrm>
            <a:prstGeom prst="rect">
              <a:avLst/>
            </a:prstGeom>
            <a:noFill/>
            <a:ln>
              <a:noFill/>
            </a:ln>
          </p:spPr>
          <p:txBody>
            <a:bodyPr wrap="none" lIns="0" tIns="0" rIns="0" bIns="0" anchor="t" anchorCtr="0">
              <a:spAutoFit/>
            </a:bodyPr>
            <a:lstStyle/>
            <a:p>
              <a:pPr algn="l">
                <a:lnSpc>
                  <a:spcPts val="975"/>
                </a:lnSpc>
              </a:pPr>
              <a:r>
                <a:rPr lang="id" sz="680" dirty="0">
                  <a:solidFill>
                    <a:srgbClr val="585E66"/>
                  </a:solidFill>
                  <a:latin typeface="+mn-lt"/>
                  <a:ea typeface="+mn-ea"/>
                  <a:cs typeface="+mn-cs"/>
                </a:rPr>
                <a:t>UK dental professionals' knowledge, experience and confidence when treating</a:t>
              </a:r>
              <a:br>
                <a:rPr lang="id" sz="680" dirty="0">
                  <a:solidFill>
                    <a:srgbClr val="585E66"/>
                  </a:solidFill>
                  <a:latin typeface="+mn-lt"/>
                  <a:ea typeface="+mn-ea"/>
                  <a:cs typeface="+mn-cs"/>
                </a:rPr>
              </a:br>
              <a:r>
                <a:rPr lang="id" sz="680" dirty="0">
                  <a:solidFill>
                    <a:srgbClr val="585E66"/>
                  </a:solidFill>
                  <a:latin typeface="+mn-lt"/>
                  <a:ea typeface="+mn-ea"/>
                  <a:cs typeface="+mn-cs"/>
                </a:rPr>
                <a:t>patients on the autism spectrum. Br Dent J. 227(6):504–510.</a:t>
              </a:r>
            </a:p>
          </p:txBody>
        </p:sp>
        <p:sp>
          <p:nvSpPr>
            <p:cNvPr id="21" name="TextBox 21"/>
            <p:cNvSpPr txBox="1"/>
            <p:nvPr/>
          </p:nvSpPr>
          <p:spPr>
            <a:xfrm>
              <a:off x="604838" y="4083050"/>
              <a:ext cx="115848"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05</a:t>
              </a:r>
            </a:p>
          </p:txBody>
        </p:sp>
        <p:sp>
          <p:nvSpPr>
            <p:cNvPr id="22" name="TextBox 22"/>
            <p:cNvSpPr txBox="1"/>
            <p:nvPr/>
          </p:nvSpPr>
          <p:spPr>
            <a:xfrm>
              <a:off x="909638" y="4070350"/>
              <a:ext cx="2648179"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Alhammad KAS, Hesham AM, Zakria M, et al. (2020)</a:t>
              </a:r>
            </a:p>
          </p:txBody>
        </p:sp>
        <p:sp>
          <p:nvSpPr>
            <p:cNvPr id="23" name="TextBox 23"/>
            <p:cNvSpPr txBox="1"/>
            <p:nvPr/>
          </p:nvSpPr>
          <p:spPr>
            <a:xfrm>
              <a:off x="909638" y="4203700"/>
              <a:ext cx="2966923" cy="258128"/>
            </a:xfrm>
            <a:prstGeom prst="rect">
              <a:avLst/>
            </a:prstGeom>
            <a:noFill/>
            <a:ln>
              <a:noFill/>
            </a:ln>
          </p:spPr>
          <p:txBody>
            <a:bodyPr wrap="none" lIns="0" tIns="0" rIns="0" bIns="0" anchor="t" anchorCtr="0">
              <a:spAutoFit/>
            </a:bodyPr>
            <a:lstStyle/>
            <a:p>
              <a:pPr algn="l">
                <a:lnSpc>
                  <a:spcPts val="975"/>
                </a:lnSpc>
              </a:pPr>
              <a:r>
                <a:rPr lang="id" sz="680" dirty="0">
                  <a:solidFill>
                    <a:srgbClr val="585E66"/>
                  </a:solidFill>
                  <a:latin typeface="+mn-lt"/>
                  <a:ea typeface="+mn-ea"/>
                  <a:cs typeface="+mn-cs"/>
                </a:rPr>
                <a:t>Challenges of autism spectrum disorders families towards oral health care in</a:t>
              </a:r>
              <a:br>
                <a:rPr lang="id" sz="680" dirty="0">
                  <a:solidFill>
                    <a:srgbClr val="585E66"/>
                  </a:solidFill>
                  <a:latin typeface="+mn-lt"/>
                  <a:ea typeface="+mn-ea"/>
                  <a:cs typeface="+mn-cs"/>
                </a:rPr>
              </a:br>
              <a:r>
                <a:rPr lang="id" sz="680" dirty="0">
                  <a:solidFill>
                    <a:srgbClr val="585E66"/>
                  </a:solidFill>
                  <a:latin typeface="+mn-lt"/>
                  <a:ea typeface="+mn-ea"/>
                  <a:cs typeface="+mn-cs"/>
                </a:rPr>
                <a:t>Kingdom of Saudi Arabia. Pesqui Bras Odontopediatria Clin Integr. 20:e5178.</a:t>
              </a:r>
            </a:p>
          </p:txBody>
        </p:sp>
        <p:sp>
          <p:nvSpPr>
            <p:cNvPr id="24" name="TextBox 24"/>
            <p:cNvSpPr txBox="1"/>
            <p:nvPr/>
          </p:nvSpPr>
          <p:spPr>
            <a:xfrm>
              <a:off x="604838" y="4616450"/>
              <a:ext cx="115848"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06</a:t>
              </a:r>
            </a:p>
          </p:txBody>
        </p:sp>
        <p:sp>
          <p:nvSpPr>
            <p:cNvPr id="25" name="TextBox 25"/>
            <p:cNvSpPr txBox="1"/>
            <p:nvPr/>
          </p:nvSpPr>
          <p:spPr>
            <a:xfrm>
              <a:off x="909638" y="4603750"/>
              <a:ext cx="1395625"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Parry J, Shepherd J. (2018)</a:t>
              </a:r>
            </a:p>
          </p:txBody>
        </p:sp>
        <p:sp>
          <p:nvSpPr>
            <p:cNvPr id="26" name="TextBox 26"/>
            <p:cNvSpPr txBox="1"/>
            <p:nvPr/>
          </p:nvSpPr>
          <p:spPr>
            <a:xfrm>
              <a:off x="909638" y="4737100"/>
              <a:ext cx="2775049" cy="258128"/>
            </a:xfrm>
            <a:prstGeom prst="rect">
              <a:avLst/>
            </a:prstGeom>
            <a:noFill/>
            <a:ln>
              <a:noFill/>
            </a:ln>
          </p:spPr>
          <p:txBody>
            <a:bodyPr wrap="none" lIns="0" tIns="0" rIns="0" bIns="0" anchor="t" anchorCtr="0">
              <a:spAutoFit/>
            </a:bodyPr>
            <a:lstStyle/>
            <a:p>
              <a:pPr algn="l">
                <a:lnSpc>
                  <a:spcPts val="975"/>
                </a:lnSpc>
              </a:pPr>
              <a:r>
                <a:rPr lang="id" sz="680" dirty="0">
                  <a:solidFill>
                    <a:srgbClr val="585E66"/>
                  </a:solidFill>
                  <a:latin typeface="+mn-lt"/>
                  <a:ea typeface="+mn-ea"/>
                  <a:cs typeface="+mn-cs"/>
                </a:rPr>
                <a:t>Understanding oral health challenges for children and young people with</a:t>
              </a:r>
              <a:br>
                <a:rPr lang="id" sz="680" dirty="0">
                  <a:solidFill>
                    <a:srgbClr val="585E66"/>
                  </a:solidFill>
                  <a:latin typeface="+mn-lt"/>
                  <a:ea typeface="+mn-ea"/>
                  <a:cs typeface="+mn-cs"/>
                </a:rPr>
              </a:br>
              <a:r>
                <a:rPr lang="id" sz="680" dirty="0">
                  <a:solidFill>
                    <a:srgbClr val="585E66"/>
                  </a:solidFill>
                  <a:latin typeface="+mn-lt"/>
                  <a:ea typeface="+mn-ea"/>
                  <a:cs typeface="+mn-cs"/>
                </a:rPr>
                <a:t>autism. Int J Paediatr Dent. 28(2):226–238.</a:t>
              </a:r>
            </a:p>
          </p:txBody>
        </p:sp>
        <p:sp>
          <p:nvSpPr>
            <p:cNvPr id="27" name="TextBox 27"/>
            <p:cNvSpPr txBox="1"/>
            <p:nvPr/>
          </p:nvSpPr>
          <p:spPr>
            <a:xfrm>
              <a:off x="604838" y="5149850"/>
              <a:ext cx="115848" cy="140494"/>
            </a:xfrm>
            <a:prstGeom prst="rect">
              <a:avLst/>
            </a:prstGeom>
            <a:noFill/>
            <a:ln>
              <a:noFill/>
            </a:ln>
          </p:spPr>
          <p:txBody>
            <a:bodyPr wrap="none" lIns="0" tIns="0" rIns="0" bIns="0" anchor="t" anchorCtr="0">
              <a:spAutoFit/>
            </a:bodyPr>
            <a:lstStyle/>
            <a:p>
              <a:pPr algn="l"/>
              <a:r>
                <a:rPr lang="id" sz="710" b="1" dirty="0">
                  <a:solidFill>
                    <a:srgbClr val="E8000D"/>
                  </a:solidFill>
                  <a:latin typeface="+mn-lt"/>
                  <a:ea typeface="+mn-ea"/>
                  <a:cs typeface="+mn-cs"/>
                </a:rPr>
                <a:t>07</a:t>
              </a:r>
            </a:p>
          </p:txBody>
        </p:sp>
        <p:sp>
          <p:nvSpPr>
            <p:cNvPr id="28" name="TextBox 28"/>
            <p:cNvSpPr txBox="1"/>
            <p:nvPr/>
          </p:nvSpPr>
          <p:spPr>
            <a:xfrm>
              <a:off x="909638" y="5137150"/>
              <a:ext cx="1426903" cy="155258"/>
            </a:xfrm>
            <a:prstGeom prst="rect">
              <a:avLst/>
            </a:prstGeom>
            <a:noFill/>
            <a:ln>
              <a:noFill/>
            </a:ln>
          </p:spPr>
          <p:txBody>
            <a:bodyPr wrap="none" lIns="0" tIns="0" rIns="0" bIns="0" anchor="t" anchorCtr="0">
              <a:spAutoFit/>
            </a:bodyPr>
            <a:lstStyle/>
            <a:p>
              <a:pPr algn="l"/>
              <a:r>
                <a:rPr lang="id" sz="790" b="1" dirty="0">
                  <a:solidFill>
                    <a:srgbClr val="111318"/>
                  </a:solidFill>
                  <a:latin typeface="+mn-lt"/>
                  <a:ea typeface="+mn-ea"/>
                  <a:cs typeface="+mn-cs"/>
                </a:rPr>
                <a:t>Thomas J, Harden A. (2008)</a:t>
              </a:r>
            </a:p>
          </p:txBody>
        </p:sp>
        <p:sp>
          <p:nvSpPr>
            <p:cNvPr id="29" name="TextBox 29"/>
            <p:cNvSpPr txBox="1"/>
            <p:nvPr/>
          </p:nvSpPr>
          <p:spPr>
            <a:xfrm>
              <a:off x="909638" y="5270500"/>
              <a:ext cx="2735962" cy="258128"/>
            </a:xfrm>
            <a:prstGeom prst="rect">
              <a:avLst/>
            </a:prstGeom>
            <a:noFill/>
            <a:ln>
              <a:noFill/>
            </a:ln>
          </p:spPr>
          <p:txBody>
            <a:bodyPr wrap="none" lIns="0" tIns="0" rIns="0" bIns="0" anchor="t" anchorCtr="0">
              <a:spAutoFit/>
            </a:bodyPr>
            <a:lstStyle/>
            <a:p>
              <a:pPr algn="l">
                <a:lnSpc>
                  <a:spcPts val="975"/>
                </a:lnSpc>
              </a:pPr>
              <a:r>
                <a:rPr lang="id" sz="680" dirty="0">
                  <a:solidFill>
                    <a:srgbClr val="585E66"/>
                  </a:solidFill>
                  <a:latin typeface="+mn-lt"/>
                  <a:ea typeface="+mn-ea"/>
                  <a:cs typeface="+mn-cs"/>
                </a:rPr>
                <a:t>Methods for the thematic synthesis of qualitative research in systematic</a:t>
              </a:r>
              <a:br>
                <a:rPr lang="id" sz="680" dirty="0">
                  <a:solidFill>
                    <a:srgbClr val="585E66"/>
                  </a:solidFill>
                  <a:latin typeface="+mn-lt"/>
                  <a:ea typeface="+mn-ea"/>
                  <a:cs typeface="+mn-cs"/>
                </a:rPr>
              </a:br>
              <a:r>
                <a:rPr lang="id" sz="680" dirty="0">
                  <a:solidFill>
                    <a:srgbClr val="585E66"/>
                  </a:solidFill>
                  <a:latin typeface="+mn-lt"/>
                  <a:ea typeface="+mn-ea"/>
                  <a:cs typeface="+mn-cs"/>
                </a:rPr>
                <a:t>reviews. BMC Med Res Methodol. 8:45.</a:t>
              </a:r>
            </a:p>
          </p:txBody>
        </p:sp>
        <p:sp>
          <p:nvSpPr>
            <p:cNvPr id="30" name="Line 30"/>
            <p:cNvSpPr/>
            <p:nvPr/>
          </p:nvSpPr>
          <p:spPr>
            <a:xfrm>
              <a:off x="609600" y="5810250"/>
              <a:ext cx="6438900" cy="9525"/>
            </a:xfrm>
            <a:custGeom>
              <a:avLst/>
              <a:gdLst/>
              <a:ahLst/>
              <a:cxnLst/>
              <a:rect l="l" t="t" r="r" b="b"/>
              <a:pathLst>
                <a:path w="6438900" h="9525">
                  <a:moveTo>
                    <a:pt x="0" y="0"/>
                  </a:moveTo>
                  <a:lnTo>
                    <a:pt x="6438900" y="0"/>
                  </a:lnTo>
                </a:path>
              </a:pathLst>
            </a:custGeom>
            <a:noFill/>
            <a:ln w="9525">
              <a:solidFill>
                <a:srgbClr val="D6D9DE"/>
              </a:solidFill>
            </a:ln>
          </p:spPr>
        </p:sp>
        <p:sp>
          <p:nvSpPr>
            <p:cNvPr id="31" name="TextBox 31"/>
            <p:cNvSpPr txBox="1"/>
            <p:nvPr/>
          </p:nvSpPr>
          <p:spPr>
            <a:xfrm>
              <a:off x="604838" y="5949950"/>
              <a:ext cx="2325746" cy="134302"/>
            </a:xfrm>
            <a:prstGeom prst="rect">
              <a:avLst/>
            </a:prstGeom>
            <a:noFill/>
            <a:ln>
              <a:noFill/>
            </a:ln>
          </p:spPr>
          <p:txBody>
            <a:bodyPr wrap="none" lIns="0" tIns="0" rIns="0" bIns="0" anchor="t" anchorCtr="0">
              <a:spAutoFit/>
            </a:bodyPr>
            <a:lstStyle/>
            <a:p>
              <a:pPr algn="l"/>
              <a:r>
                <a:rPr lang="id" sz="680" dirty="0">
                  <a:solidFill>
                    <a:srgbClr val="8B9198"/>
                  </a:solidFill>
                  <a:latin typeface="+mn-lt"/>
                  <a:ea typeface="+mn-ea"/>
                  <a:cs typeface="+mn-cs"/>
                </a:rPr>
                <a:t>Kutipan lengkap 59 studi: Appendix 3 Erwin et al. (2022).</a:t>
              </a:r>
            </a:p>
          </p:txBody>
        </p:sp>
      </p:grpSp>
      <p:grpSp>
        <p:nvGrpSpPr>
          <p:cNvPr id="45" name="discussion"/>
          <p:cNvGrpSpPr/>
          <p:nvPr/>
        </p:nvGrpSpPr>
        <p:grpSpPr>
          <a:xfrm>
            <a:off x="7505700" y="1581150"/>
            <a:ext cx="4076700" cy="4438650"/>
            <a:chOff x="7505700" y="1581150"/>
            <a:chExt cx="4076700" cy="4438650"/>
          </a:xfrm>
        </p:grpSpPr>
        <p:sp>
          <p:nvSpPr>
            <p:cNvPr id="33" name="Rectangle 33"/>
            <p:cNvSpPr/>
            <p:nvPr/>
          </p:nvSpPr>
          <p:spPr>
            <a:xfrm>
              <a:off x="7505700" y="1581150"/>
              <a:ext cx="4076700" cy="4438650"/>
            </a:xfrm>
            <a:prstGeom prst="rect">
              <a:avLst/>
            </a:prstGeom>
            <a:solidFill>
              <a:srgbClr val="F3F3F1"/>
            </a:solidFill>
            <a:ln>
              <a:noFill/>
            </a:ln>
          </p:spPr>
        </p:sp>
        <p:sp>
          <p:nvSpPr>
            <p:cNvPr id="34" name="TextBox 34"/>
            <p:cNvSpPr txBox="1"/>
            <p:nvPr/>
          </p:nvSpPr>
          <p:spPr>
            <a:xfrm>
              <a:off x="7615238" y="1854200"/>
              <a:ext cx="1557598" cy="140494"/>
            </a:xfrm>
            <a:prstGeom prst="rect">
              <a:avLst/>
            </a:prstGeom>
            <a:noFill/>
            <a:ln>
              <a:noFill/>
            </a:ln>
          </p:spPr>
          <p:txBody>
            <a:bodyPr wrap="none" lIns="0" tIns="0" rIns="0" bIns="0" anchor="t" anchorCtr="0">
              <a:spAutoFit/>
            </a:bodyPr>
            <a:lstStyle/>
            <a:p>
              <a:pPr algn="l"/>
              <a:r>
                <a:rPr lang="id" sz="710" b="1" spc="165" dirty="0">
                  <a:solidFill>
                    <a:srgbClr val="E8000D"/>
                  </a:solidFill>
                  <a:latin typeface="+mn-lt"/>
                  <a:ea typeface="+mn-ea"/>
                  <a:cs typeface="+mn-cs"/>
                </a:rPr>
                <a:t>CATATAN PEMBACAAN</a:t>
              </a:r>
            </a:p>
          </p:txBody>
        </p:sp>
        <p:sp>
          <p:nvSpPr>
            <p:cNvPr id="35" name="TextBox 35"/>
            <p:cNvSpPr txBox="1"/>
            <p:nvPr/>
          </p:nvSpPr>
          <p:spPr>
            <a:xfrm>
              <a:off x="7614285" y="2133600"/>
              <a:ext cx="1687188" cy="420052"/>
            </a:xfrm>
            <a:prstGeom prst="rect">
              <a:avLst/>
            </a:prstGeom>
            <a:noFill/>
            <a:ln>
              <a:noFill/>
            </a:ln>
          </p:spPr>
          <p:txBody>
            <a:bodyPr wrap="none" lIns="0" tIns="0" rIns="0" bIns="0" anchor="t" anchorCtr="0">
              <a:spAutoFit/>
            </a:bodyPr>
            <a:lstStyle/>
            <a:p>
              <a:pPr algn="l">
                <a:lnSpc>
                  <a:spcPts val="1575"/>
                </a:lnSpc>
              </a:pPr>
              <a:r>
                <a:rPr lang="id" sz="1120" b="1" dirty="0">
                  <a:solidFill>
                    <a:srgbClr val="111318"/>
                  </a:solidFill>
                  <a:latin typeface="+mn-lt"/>
                  <a:ea typeface="+mn-ea"/>
                  <a:cs typeface="+mn-cs"/>
                </a:rPr>
                <a:t>Tiga pertanyaan untuk</a:t>
              </a:r>
              <a:br>
                <a:rPr lang="id" sz="1120" b="1" dirty="0">
                  <a:solidFill>
                    <a:srgbClr val="111318"/>
                  </a:solidFill>
                  <a:latin typeface="+mn-lt"/>
                  <a:ea typeface="+mn-ea"/>
                  <a:cs typeface="+mn-cs"/>
                </a:rPr>
              </a:br>
              <a:r>
                <a:rPr lang="id" sz="1120" b="1" dirty="0">
                  <a:solidFill>
                    <a:srgbClr val="111318"/>
                  </a:solidFill>
                  <a:latin typeface="+mn-lt"/>
                  <a:ea typeface="+mn-ea"/>
                  <a:cs typeface="+mn-cs"/>
                </a:rPr>
                <a:t>diskusi jurnal berikutnya</a:t>
              </a:r>
            </a:p>
          </p:txBody>
        </p:sp>
        <p:sp>
          <p:nvSpPr>
            <p:cNvPr id="36" name="TextBox 36"/>
            <p:cNvSpPr txBox="1"/>
            <p:nvPr/>
          </p:nvSpPr>
          <p:spPr>
            <a:xfrm>
              <a:off x="7615238" y="29210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01</a:t>
              </a:r>
            </a:p>
          </p:txBody>
        </p:sp>
        <p:sp>
          <p:nvSpPr>
            <p:cNvPr id="37" name="TextBox 37"/>
            <p:cNvSpPr txBox="1"/>
            <p:nvPr/>
          </p:nvSpPr>
          <p:spPr>
            <a:xfrm>
              <a:off x="7615238" y="3086100"/>
              <a:ext cx="2257479" cy="3076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Dapatkah ‘faktor’ dan ‘penghalang’ dipisahkan dari</a:t>
              </a:r>
              <a:br>
                <a:rPr lang="id" sz="790" dirty="0">
                  <a:solidFill>
                    <a:srgbClr val="585E66"/>
                  </a:solidFill>
                  <a:latin typeface="+mn-lt"/>
                  <a:ea typeface="+mn-ea"/>
                  <a:cs typeface="+mn-cs"/>
                </a:rPr>
              </a:br>
              <a:r>
                <a:rPr lang="id" sz="790" dirty="0">
                  <a:solidFill>
                    <a:srgbClr val="585E66"/>
                  </a:solidFill>
                  <a:latin typeface="+mn-lt"/>
                  <a:ea typeface="+mn-ea"/>
                  <a:cs typeface="+mn-cs"/>
                </a:rPr>
                <a:t>konteks pembiayaan layanan tiap negara?</a:t>
              </a:r>
            </a:p>
          </p:txBody>
        </p:sp>
        <p:sp>
          <p:nvSpPr>
            <p:cNvPr id="38" name="TextBox 38"/>
            <p:cNvSpPr txBox="1"/>
            <p:nvPr/>
          </p:nvSpPr>
          <p:spPr>
            <a:xfrm>
              <a:off x="7615238" y="366395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02</a:t>
              </a:r>
            </a:p>
          </p:txBody>
        </p:sp>
        <p:sp>
          <p:nvSpPr>
            <p:cNvPr id="39" name="TextBox 39"/>
            <p:cNvSpPr txBox="1"/>
            <p:nvPr/>
          </p:nvSpPr>
          <p:spPr>
            <a:xfrm>
              <a:off x="7615238" y="3829050"/>
              <a:ext cx="2285050" cy="3076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Bila hanya 1 dari 59 studi mendengar anak, sejauh</a:t>
              </a:r>
              <a:br>
                <a:rPr lang="id" sz="790" dirty="0">
                  <a:solidFill>
                    <a:srgbClr val="585E66"/>
                  </a:solidFill>
                  <a:latin typeface="+mn-lt"/>
                  <a:ea typeface="+mn-ea"/>
                  <a:cs typeface="+mn-cs"/>
                </a:rPr>
              </a:br>
              <a:r>
                <a:rPr lang="id" sz="790" dirty="0">
                  <a:solidFill>
                    <a:srgbClr val="585E66"/>
                  </a:solidFill>
                  <a:latin typeface="+mn-lt"/>
                  <a:ea typeface="+mn-ea"/>
                  <a:cs typeface="+mn-cs"/>
                </a:rPr>
                <a:t>mana rekomendasi ini mewakili pengalaman anak?</a:t>
              </a:r>
            </a:p>
          </p:txBody>
        </p:sp>
        <p:sp>
          <p:nvSpPr>
            <p:cNvPr id="40" name="TextBox 40"/>
            <p:cNvSpPr txBox="1"/>
            <p:nvPr/>
          </p:nvSpPr>
          <p:spPr>
            <a:xfrm>
              <a:off x="7615238" y="4406900"/>
              <a:ext cx="121838" cy="147638"/>
            </a:xfrm>
            <a:prstGeom prst="rect">
              <a:avLst/>
            </a:prstGeom>
            <a:noFill/>
            <a:ln>
              <a:noFill/>
            </a:ln>
          </p:spPr>
          <p:txBody>
            <a:bodyPr wrap="none" lIns="0" tIns="0" rIns="0" bIns="0" anchor="t" anchorCtr="0">
              <a:spAutoFit/>
            </a:bodyPr>
            <a:lstStyle/>
            <a:p>
              <a:pPr algn="l"/>
              <a:r>
                <a:rPr lang="id" sz="750" b="1" dirty="0">
                  <a:solidFill>
                    <a:srgbClr val="E8000D"/>
                  </a:solidFill>
                  <a:latin typeface="+mn-lt"/>
                  <a:ea typeface="+mn-ea"/>
                  <a:cs typeface="+mn-cs"/>
                </a:rPr>
                <a:t>03</a:t>
              </a:r>
            </a:p>
          </p:txBody>
        </p:sp>
        <p:sp>
          <p:nvSpPr>
            <p:cNvPr id="41" name="TextBox 41"/>
            <p:cNvSpPr txBox="1"/>
            <p:nvPr/>
          </p:nvSpPr>
          <p:spPr>
            <a:xfrm>
              <a:off x="7615238" y="4572000"/>
              <a:ext cx="2285230" cy="307658"/>
            </a:xfrm>
            <a:prstGeom prst="rect">
              <a:avLst/>
            </a:prstGeom>
            <a:noFill/>
            <a:ln>
              <a:noFill/>
            </a:ln>
          </p:spPr>
          <p:txBody>
            <a:bodyPr wrap="none" lIns="0" tIns="0" rIns="0" bIns="0" anchor="t" anchorCtr="0">
              <a:spAutoFit/>
            </a:bodyPr>
            <a:lstStyle/>
            <a:p>
              <a:pPr algn="l">
                <a:lnSpc>
                  <a:spcPts val="1200"/>
                </a:lnSpc>
              </a:pPr>
              <a:r>
                <a:rPr lang="id" sz="790" dirty="0">
                  <a:solidFill>
                    <a:srgbClr val="585E66"/>
                  </a:solidFill>
                  <a:latin typeface="+mn-lt"/>
                  <a:ea typeface="+mn-ea"/>
                  <a:cs typeface="+mn-cs"/>
                </a:rPr>
                <a:t>Intervensi mana yang paling layak diadaptasi untuk</a:t>
              </a:r>
              <a:br>
                <a:rPr lang="id" sz="790" dirty="0">
                  <a:solidFill>
                    <a:srgbClr val="585E66"/>
                  </a:solidFill>
                  <a:latin typeface="+mn-lt"/>
                  <a:ea typeface="+mn-ea"/>
                  <a:cs typeface="+mn-cs"/>
                </a:rPr>
              </a:br>
              <a:r>
                <a:rPr lang="id" sz="790" dirty="0">
                  <a:solidFill>
                    <a:srgbClr val="585E66"/>
                  </a:solidFill>
                  <a:latin typeface="+mn-lt"/>
                  <a:ea typeface="+mn-ea"/>
                  <a:cs typeface="+mn-cs"/>
                </a:rPr>
                <a:t>layanan gigi primer di Indonesia?</a:t>
              </a:r>
            </a:p>
          </p:txBody>
        </p:sp>
        <p:sp>
          <p:nvSpPr>
            <p:cNvPr id="42" name="Line 42"/>
            <p:cNvSpPr/>
            <p:nvPr/>
          </p:nvSpPr>
          <p:spPr>
            <a:xfrm>
              <a:off x="7620000" y="5391150"/>
              <a:ext cx="3657600" cy="9525"/>
            </a:xfrm>
            <a:custGeom>
              <a:avLst/>
              <a:gdLst/>
              <a:ahLst/>
              <a:cxnLst/>
              <a:rect l="l" t="t" r="r" b="b"/>
              <a:pathLst>
                <a:path w="3657600" h="9525">
                  <a:moveTo>
                    <a:pt x="0" y="0"/>
                  </a:moveTo>
                  <a:lnTo>
                    <a:pt x="3657600" y="0"/>
                  </a:lnTo>
                </a:path>
              </a:pathLst>
            </a:custGeom>
            <a:noFill/>
            <a:ln w="9525">
              <a:solidFill>
                <a:srgbClr val="D6D9DE"/>
              </a:solidFill>
            </a:ln>
          </p:spPr>
        </p:sp>
        <p:sp>
          <p:nvSpPr>
            <p:cNvPr id="43" name="TextBox 43"/>
            <p:cNvSpPr txBox="1"/>
            <p:nvPr/>
          </p:nvSpPr>
          <p:spPr>
            <a:xfrm>
              <a:off x="7615238" y="5543550"/>
              <a:ext cx="1279462" cy="176212"/>
            </a:xfrm>
            <a:prstGeom prst="rect">
              <a:avLst/>
            </a:prstGeom>
            <a:noFill/>
            <a:ln>
              <a:noFill/>
            </a:ln>
          </p:spPr>
          <p:txBody>
            <a:bodyPr wrap="none" lIns="0" tIns="0" rIns="0" bIns="0" anchor="t" anchorCtr="0">
              <a:spAutoFit/>
            </a:bodyPr>
            <a:lstStyle/>
            <a:p>
              <a:pPr algn="l"/>
              <a:r>
                <a:rPr lang="id" sz="900" b="1" dirty="0">
                  <a:solidFill>
                    <a:srgbClr val="111318"/>
                  </a:solidFill>
                  <a:latin typeface="+mn-lt"/>
                  <a:ea typeface="+mn-ea"/>
                  <a:cs typeface="+mn-cs"/>
                </a:rPr>
                <a:t>Terima kasih · diskusi</a:t>
              </a:r>
            </a:p>
          </p:txBody>
        </p:sp>
        <p:sp>
          <p:nvSpPr>
            <p:cNvPr id="44" name="TextBox 44"/>
            <p:cNvSpPr txBox="1"/>
            <p:nvPr/>
          </p:nvSpPr>
          <p:spPr>
            <a:xfrm>
              <a:off x="7615238" y="5778500"/>
              <a:ext cx="1658241" cy="134302"/>
            </a:xfrm>
            <a:prstGeom prst="rect">
              <a:avLst/>
            </a:prstGeom>
            <a:noFill/>
            <a:ln>
              <a:noFill/>
            </a:ln>
          </p:spPr>
          <p:txBody>
            <a:bodyPr wrap="none" lIns="0" tIns="0" rIns="0" bIns="0" anchor="t" anchorCtr="0">
              <a:spAutoFit/>
            </a:bodyPr>
            <a:lstStyle/>
            <a:p>
              <a:pPr algn="l"/>
              <a:r>
                <a:rPr lang="id" sz="680" dirty="0">
                  <a:solidFill>
                    <a:srgbClr val="8B9198"/>
                  </a:solidFill>
                  <a:latin typeface="+mn-lt"/>
                  <a:ea typeface="+mn-ea"/>
                  <a:cs typeface="+mn-cs"/>
                </a:rPr>
                <a:t>Erwin et al. (2022) · Health Expectations</a:t>
              </a:r>
            </a:p>
          </p:txBody>
        </p:sp>
      </p:grpSp>
      <p:grpSp>
        <p:nvGrpSpPr>
          <p:cNvPr id="49" name="footer"/>
          <p:cNvGrpSpPr/>
          <p:nvPr/>
        </p:nvGrpSpPr>
        <p:grpSpPr>
          <a:xfrm>
            <a:off x="604838" y="6324600"/>
            <a:ext cx="10982325" cy="268288"/>
            <a:chOff x="604838" y="6324600"/>
            <a:chExt cx="10982325" cy="268288"/>
          </a:xfrm>
        </p:grpSpPr>
        <p:sp>
          <p:nvSpPr>
            <p:cNvPr id="46" name="Line 46"/>
            <p:cNvSpPr/>
            <p:nvPr/>
          </p:nvSpPr>
          <p:spPr>
            <a:xfrm>
              <a:off x="609600" y="6324600"/>
              <a:ext cx="10972800" cy="9525"/>
            </a:xfrm>
            <a:custGeom>
              <a:avLst/>
              <a:gdLst/>
              <a:ahLst/>
              <a:cxnLst/>
              <a:rect l="l" t="t" r="r" b="b"/>
              <a:pathLst>
                <a:path w="10972800" h="9525">
                  <a:moveTo>
                    <a:pt x="0" y="0"/>
                  </a:moveTo>
                  <a:lnTo>
                    <a:pt x="10972800" y="0"/>
                  </a:lnTo>
                </a:path>
              </a:pathLst>
            </a:custGeom>
            <a:noFill/>
            <a:ln w="9525">
              <a:solidFill>
                <a:srgbClr val="D6D9DE"/>
              </a:solidFill>
            </a:ln>
          </p:spPr>
        </p:sp>
        <p:sp>
          <p:nvSpPr>
            <p:cNvPr id="47" name="TextBox 47"/>
            <p:cNvSpPr txBox="1"/>
            <p:nvPr/>
          </p:nvSpPr>
          <p:spPr>
            <a:xfrm>
              <a:off x="604838" y="6445250"/>
              <a:ext cx="3689833" cy="147638"/>
            </a:xfrm>
            <a:prstGeom prst="rect">
              <a:avLst/>
            </a:prstGeom>
            <a:noFill/>
            <a:ln>
              <a:noFill/>
            </a:ln>
          </p:spPr>
          <p:txBody>
            <a:bodyPr wrap="none" lIns="0" tIns="0" rIns="0" bIns="0" anchor="t" anchorCtr="0">
              <a:spAutoFit/>
            </a:bodyPr>
            <a:lstStyle/>
            <a:p>
              <a:pPr algn="l"/>
              <a:r>
                <a:rPr lang="id" sz="750" dirty="0">
                  <a:solidFill>
                    <a:srgbClr val="8B9198"/>
                  </a:solidFill>
                  <a:latin typeface="+mn-lt"/>
                  <a:ea typeface="+mn-ea"/>
                  <a:cs typeface="+mn-cs"/>
                </a:rPr>
                <a:t>Erwin et al. (2022) · Health Expectations 25:1269–1318 · DOI 10.1111/hex.13544</a:t>
              </a:r>
            </a:p>
          </p:txBody>
        </p:sp>
        <p:sp>
          <p:nvSpPr>
            <p:cNvPr id="48" name="TextBox 48"/>
            <p:cNvSpPr txBox="1"/>
            <p:nvPr/>
          </p:nvSpPr>
          <p:spPr>
            <a:xfrm>
              <a:off x="9431963" y="6445250"/>
              <a:ext cx="2155200" cy="147638"/>
            </a:xfrm>
            <a:prstGeom prst="rect">
              <a:avLst/>
            </a:prstGeom>
            <a:noFill/>
            <a:ln>
              <a:noFill/>
            </a:ln>
          </p:spPr>
          <p:txBody>
            <a:bodyPr wrap="none" lIns="0" tIns="0" rIns="0" bIns="0" anchor="t" anchorCtr="0">
              <a:spAutoFit/>
            </a:bodyPr>
            <a:lstStyle/>
            <a:p>
              <a:pPr algn="r"/>
              <a:r>
                <a:rPr lang="id" sz="750" dirty="0">
                  <a:solidFill>
                    <a:srgbClr val="8B9198"/>
                  </a:solidFill>
                  <a:latin typeface="+mn-lt"/>
                  <a:ea typeface="+mn-ea"/>
                  <a:cs typeface="+mn-cs"/>
                </a:rPr>
                <a:t>Journal Reading · Kesehatan Gigi Anak Autistik</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erwin_2022_deck">
  <a:themeElements>
    <a:clrScheme name="erwin_2022_deck">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rwin_2022_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rwin_2022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rwin_2022_deck">
  <a:themeElements>
    <a:clrScheme name="erwin_2022_deck">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rwin_2022_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rwin_2022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id</dc:language>
  <cp:lastModifiedBy/>
  <cp:revision>1</cp:revision>
  <dcterms:created xsi:type="dcterms:W3CDTF">2026-10-23T17:40:59Z</dcterms:created>
  <dcterms:modified xsi:type="dcterms:W3CDTF">2026-10-23T17:40:59Z</dcterms:modified>
  <cp:category/>
  <cp:contentStatus/>
</cp:coreProperties>
</file>