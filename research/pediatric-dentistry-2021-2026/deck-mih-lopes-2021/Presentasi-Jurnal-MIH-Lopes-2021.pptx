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Buka dengan satu kalimat: ini presentasi jurnal dari artikel meta-analisis Lopes dkk. (Scientific Reports, 2021) tentang seberapa sering MIH terjadi pada anak. Sebutkan identitas naskah dan bahwa artikelnya open access (CC BY 4.0). Sumber: S1, halaman judul.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Ringkas angka kunci 1 menit: 116 studi, 113.089 peserta, prevalensi 13,5% (95% CI 12,0-15,1), kasus sedang-berat 36,3%, kepastian bukti SORT A. Ingatkan bahwa ini bukan angka presisi untuk satu negara, melainkan besaran beban global. Sumber: S1 Abstract dan Tabel 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Jelaskan definisi MIH dengan bahasa klinis: email berbercak putih-kuning-cokelat berbatas tegas, lebih lunak, mudah pecah setelah erupsi. Tunjukkan kenapa hal ini penting: hipersensitivitas, risiko karies, restorasi berulang, dampak estetik. Sumber: S1 Introduction.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Sampaikan masalahnya: rentang laporan 2,8%-40,2% membuat perencanaan sulit, dan dua SR sebelumnya (13,1% dan 14,2%) pencariannya berhenti pada 2017. Di sini kita bisa memancing diskusi: apakah rentang lebar itu karena definisi, atau karena perbedaan populasi? Sumber: S1 Introduction.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Bacakan pertanyaan PECO sekali saja, lalu fokus ke empat luaran. Poin yang ingin saya tekankan: artikel ini tidak hanya menghitung prevalensi, tetapi juga keparahan, jumlah molar terkena, dan HSPM. Sumber: S1 Methods bagian focused question.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Tunjukkan bahwa protokol terdaftar lebih dulu di PROSPERO (mengurangi risiko cherry-picking). Sebutkan tujuh basis data dan batas pencarian Juli 2021. Catatan jujur: penyebutan PubMed dan MEDLINE sebagai dua entri terpisah, serta EMBASE yang hanya muncul di strategi, perlu ditelusuri bila kita ingin mereplikasi pencariannya. Sumber: S1 Methods.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Tiga hal yang membuat hasil ini layak dipercaya: kriteria ketat, seleksi independen oleh dua peneliti (kappa 0,885), dan analisis random-effects. Jelaskan singkat kenapa random-effects dipilih: karena populasi dan metode antar studi sangat beragam. Sumber: S1 Methods.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Mulai dari alur seleksi. Tekankan bahwa 48 dari 116 studi mendapat skor NOS maksimum 9/9, dan hanya satu studi berkualitas sedang. Ini menjawab pertanyaan yang biasanya muncul lebih dulu di diskusi jurnal: seberapa bagus kualitas studinya? Sumber: S1 Results dan Tabel 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Slide inti. Bacakan 13,5% dengan interval kepercayaan dan n-nya, lalu jelaskan I-squared 98% dengan analogi sederhana: rata-rata ini menggambarkan beban populasi, bukan angka presisi untuk satu kota atau satu sekolah. Sebutkan juga uji Egger dan leave-one-out sebagai pemeriksaan kestabilan. Sumber: S1 Tabel 2.</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Fokus pesan klinis: sepertiga lebih kasus tergolong sedang-berat, sehingga banyak anak butuh perawatan nyata. Untuk distribusi molar, tunjukkan bahwa polanya hampir merata (18-27%), artinya berat ringannya beban per anak sangat bervariasi. Sebut singkat perbedaan angka insisivus antara abstrak (36,6%) dan Tabel 2 (38,7%) sebagai contoh pentingnya cek tabel. Sumber: S1 Tabel 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Jelaskan dua temuan: peringkat benua (Amerika 15,3%; Asia 10,7%) tidak menghasilkan perbedaan bermakna, dan pemakaian klasifikasi non-EAPD 2003 menghasilkan estimasi yang berbeda bermakna (p = 0,0061). Implikasinya: standardisasi kriteria diagnostik bukan sekadar soal akademik, tetapi memengaruhi angka yang kita laporkan. Sumber: S1 Results dan Discussion.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Empat kartu ini adalah penjelasan penulis. Tekankan bahwa heterogenitas lebih menjelaskan variasi wilayah daripada faktor metodologis yang diuji, dan bahwa data keparahan serta HSPM masih langka sehingga penulis menyerukan pelaporan yang lebih lengkap. Sumber: S1 Discussion.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Ini bagian penilaian kritis - penting untuk diskusi jurnal. Sebut kekuatan secara adil, lalu keterbatasan tanpa melemahkan artikelnya: heterogenitas tinggi, representativitas sampel yang sering gagal, sebagian data dikeluarkan dari analisis utama, dan tidak ada penilaian GRADE. Sebutkan juga dua ketidakkonsistenan kecil yang saya temukan sendiri: angka insisivus berbeda antara abstrak dan tabel, serta penyebutan basis data yang tidak seragam. Sumber: S1 Strengths and limitations.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Tutup bagian klinis dengan empat langkah praktis. Paling penting dua hal: periksa molar pertama permanen segera setelah erupsi (sekitar usia 6-8 tahun), dan dokumentasikan keparahan dengan kriteria EAPD supaya data kita bisa dibandingkan dengan literatur. Sumber: S1 Discussion dan Conclusion.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Ulangi tiga angka kunci, tunjukkan rujukan utama, lalu tutup dengan take-home: MIH bukan kelainan langka, dan pencatatan yang rapi membuat data klinik kita sebanding dengan literatur internasional. Siapkan dua pertanyaan pemicu diskusi: (1) apakah prevalensi di Indonesia mungkin berbeda? (2) bagaimana kriteria EAPD diterapkan di klinik kita sehari-hari?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1965960"/>
            <a:ext cx="11091672" cy="1965960"/>
          </a:xfrm>
          <a:prstGeom prst="roundRect">
            <a:avLst>
              <a:gd name="adj" fmla="val 3720"/>
            </a:avLst>
          </a:prstGeom>
          <a:solidFill>
            <a:srgbClr val="F0FDFA"/>
          </a:solidFill>
          <a:ln w="15875">
            <a:solidFill>
              <a:srgbClr val="99F6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4" name="Connector 3"/>
          <p:cNvCxnSpPr/>
          <p:nvPr/>
        </p:nvCxnSpPr>
        <p:spPr>
          <a:xfrm>
            <a:off x="548640" y="1371600"/>
            <a:ext cx="11091672" cy="914"/>
          </a:xfrm>
          <a:prstGeom prst="line">
            <a:avLst/>
          </a:prstGeom>
          <a:ln w="19050">
            <a:solidFill>
              <a:srgbClr val="0E749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4800600"/>
            <a:ext cx="11091672" cy="914400"/>
          </a:xfrm>
          <a:prstGeom prst="rect">
            <a:avLst/>
          </a:prstGeom>
          <a:noFill/>
        </p:spPr>
        <p:txBody>
          <a:bodyPr wrap="square" lIns="0" rIns="0" tIns="18288" bIns="18288" anchor="t">
            <a:noAutofit/>
          </a:bodyPr>
          <a:lstStyle/>
          <a:p>
            <a:pPr algn="l">
              <a:spcBef>
                <a:spcPts val="0"/>
              </a:spcBef>
              <a:spcAft>
                <a:spcPts val="0"/>
              </a:spcAft>
            </a:pPr>
            <a:r>
              <a:rPr sz="1600" b="1" i="0" lang="id-ID">
                <a:solidFill>
                  <a:srgbClr val="155E75"/>
                </a:solidFill>
                <a:latin typeface="Calibri"/>
              </a:rPr>
              <a:t>“MIH bukan kelainan langka: sekitar 1 dari 7–8 anak mengalaminya, dan lebih dari sepertiga kasusnya tergolong sedang–berat.”</a:t>
            </a:r>
          </a:p>
        </p:txBody>
      </p:sp>
      <p:sp>
        <p:nvSpPr>
          <p:cNvPr id="6" name="TextBox 5"/>
          <p:cNvSpPr txBox="1"/>
          <p:nvPr/>
        </p:nvSpPr>
        <p:spPr>
          <a:xfrm>
            <a:off x="548640" y="274320"/>
            <a:ext cx="8229600" cy="237744"/>
          </a:xfrm>
          <a:prstGeom prst="rect">
            <a:avLst/>
          </a:prstGeom>
          <a:noFill/>
        </p:spPr>
        <p:txBody>
          <a:bodyPr wrap="square" lIns="0" rIns="0" tIns="18288" bIns="18288" anchor="t">
            <a:noAutofit/>
          </a:bodyPr>
          <a:lstStyle/>
          <a:p>
            <a:pPr algn="l">
              <a:spcBef>
                <a:spcPts val="0"/>
              </a:spcBef>
              <a:spcAft>
                <a:spcPts val="0"/>
              </a:spcAft>
            </a:pPr>
            <a:r>
              <a:rPr sz="1000" b="1" i="0" lang="id-ID">
                <a:solidFill>
                  <a:srgbClr val="0E7490"/>
                </a:solidFill>
                <a:latin typeface="Calibri"/>
              </a:rPr>
              <a:t>PRESENTASI JURNAL · KEDOKTERAN GIGI ANAK</a:t>
            </a:r>
          </a:p>
        </p:txBody>
      </p:sp>
      <p:sp>
        <p:nvSpPr>
          <p:cNvPr id="7" name="TextBox 6"/>
          <p:cNvSpPr txBox="1"/>
          <p:nvPr/>
        </p:nvSpPr>
        <p:spPr>
          <a:xfrm>
            <a:off x="822959" y="2148840"/>
            <a:ext cx="10543032" cy="1600200"/>
          </a:xfrm>
          <a:prstGeom prst="rect">
            <a:avLst/>
          </a:prstGeom>
          <a:noFill/>
        </p:spPr>
        <p:txBody>
          <a:bodyPr wrap="square" lIns="0" rIns="0" tIns="18288" bIns="18288" anchor="t">
            <a:noAutofit/>
          </a:bodyPr>
          <a:lstStyle/>
          <a:p>
            <a:pPr algn="l">
              <a:lnSpc>
                <a:spcPct val="105000"/>
              </a:lnSpc>
              <a:spcBef>
                <a:spcPts val="0"/>
              </a:spcBef>
              <a:spcAft>
                <a:spcPts val="0"/>
              </a:spcAft>
            </a:pPr>
            <a:r>
              <a:rPr sz="1300" b="0" i="0" lang="id-ID">
                <a:solidFill>
                  <a:srgbClr val="334155"/>
                </a:solidFill>
                <a:latin typeface="Calibri"/>
              </a:rPr>
              <a:t>Naskah asli: Lopes LB, Machado V, Mascarenhas P, Mendes JJ, Botelho J — Egas Moniz, Portugal</a:t>
            </a:r>
          </a:p>
          <a:p>
            <a:pPr algn="l">
              <a:lnSpc>
                <a:spcPct val="105000"/>
              </a:lnSpc>
              <a:spcBef>
                <a:spcPts val="0"/>
              </a:spcBef>
              <a:spcAft>
                <a:spcPts val="0"/>
              </a:spcAft>
            </a:pPr>
            <a:r>
              <a:rPr sz="1300" b="0" i="0" lang="id-ID">
                <a:solidFill>
                  <a:srgbClr val="334155"/>
                </a:solidFill>
                <a:latin typeface="Calibri"/>
              </a:rPr>
              <a:t>Jurnal: Scientific Reports (Nature Portfolio), 2021;11:22405 · Open access CC BY 4.0</a:t>
            </a:r>
          </a:p>
          <a:p>
            <a:pPr algn="l">
              <a:lnSpc>
                <a:spcPct val="105000"/>
              </a:lnSpc>
              <a:spcBef>
                <a:spcPts val="0"/>
              </a:spcBef>
              <a:spcAft>
                <a:spcPts val="0"/>
              </a:spcAft>
            </a:pPr>
            <a:r>
              <a:rPr sz="1300" b="0" i="0" lang="id-ID">
                <a:solidFill>
                  <a:srgbClr val="334155"/>
                </a:solidFill>
                <a:latin typeface="Calibri"/>
              </a:rPr>
              <a:t>DOI: 10.1038/s41598-021-01541-7 · PMID 34789780 · PMC8599453</a:t>
            </a:r>
          </a:p>
          <a:p>
            <a:pPr algn="l">
              <a:lnSpc>
                <a:spcPct val="105000"/>
              </a:lnSpc>
              <a:spcBef>
                <a:spcPts val="0"/>
              </a:spcBef>
              <a:spcAft>
                <a:spcPts val="0"/>
              </a:spcAft>
            </a:pPr>
            <a:r>
              <a:rPr sz="1300" b="0" i="0" lang="id-ID">
                <a:solidFill>
                  <a:srgbClr val="334155"/>
                </a:solidFill>
                <a:latin typeface="Calibri"/>
              </a:rPr>
              <a:t>Desain: systematic review &amp; meta-analisis (PRISMA) · Registrasi PROSPERO CRD42021229435</a:t>
            </a:r>
          </a:p>
        </p:txBody>
      </p:sp>
      <p:sp>
        <p:nvSpPr>
          <p:cNvPr id="8" name="TextBox 7"/>
          <p:cNvSpPr txBox="1"/>
          <p:nvPr/>
        </p:nvSpPr>
        <p:spPr>
          <a:xfrm>
            <a:off x="548640" y="4206240"/>
            <a:ext cx="11091672" cy="365760"/>
          </a:xfrm>
          <a:prstGeom prst="rect">
            <a:avLst/>
          </a:prstGeom>
          <a:noFill/>
        </p:spPr>
        <p:txBody>
          <a:bodyPr wrap="square" lIns="0" rIns="0" tIns="18288" bIns="18288" anchor="t">
            <a:noAutofit/>
          </a:bodyPr>
          <a:lstStyle/>
          <a:p>
            <a:pPr algn="l">
              <a:spcBef>
                <a:spcPts val="0"/>
              </a:spcBef>
              <a:spcAft>
                <a:spcPts val="0"/>
              </a:spcAft>
            </a:pPr>
            <a:r>
              <a:rPr sz="1200" b="0" i="0" lang="id-ID">
                <a:solidFill>
                  <a:srgbClr val="0F172A"/>
                </a:solidFill>
                <a:latin typeface="Calibri"/>
              </a:rPr>
              <a:t>Pemateri: ______________________   ·   Tanggal: ______________________   ·   Program Studi Kedokteran Gigi</a:t>
            </a:r>
          </a:p>
        </p:txBody>
      </p:sp>
      <p:sp>
        <p:nvSpPr>
          <p:cNvPr id="9" name="TextBox 8"/>
          <p:cNvSpPr txBox="1"/>
          <p:nvPr/>
        </p:nvSpPr>
        <p:spPr>
          <a:xfrm>
            <a:off x="548640" y="1371600"/>
            <a:ext cx="11091672" cy="457200"/>
          </a:xfrm>
          <a:prstGeom prst="rect">
            <a:avLst/>
          </a:prstGeom>
          <a:noFill/>
        </p:spPr>
        <p:txBody>
          <a:bodyPr wrap="square" lIns="0" rIns="0" tIns="18288" bIns="18288" anchor="t">
            <a:noAutofit/>
          </a:bodyPr>
          <a:lstStyle/>
          <a:p>
            <a:pPr algn="l">
              <a:spcBef>
                <a:spcPts val="0"/>
              </a:spcBef>
              <a:spcAft>
                <a:spcPts val="0"/>
              </a:spcAft>
            </a:pPr>
            <a:r>
              <a:rPr sz="1500" b="0" i="1" lang="id-ID">
                <a:solidFill>
                  <a:srgbClr val="64748B"/>
                </a:solidFill>
                <a:latin typeface="Calibri"/>
              </a:rPr>
              <a:t>The prevalence of molar-incisor hypomineralization: a systematic review and meta-analysis</a:t>
            </a:r>
          </a:p>
        </p:txBody>
      </p:sp>
      <p:sp>
        <p:nvSpPr>
          <p:cNvPr id="10" name="TextBox 9"/>
          <p:cNvSpPr txBox="1"/>
          <p:nvPr/>
        </p:nvSpPr>
        <p:spPr>
          <a:xfrm>
            <a:off x="548640" y="530352"/>
            <a:ext cx="11091672" cy="786384"/>
          </a:xfrm>
          <a:prstGeom prst="rect">
            <a:avLst/>
          </a:prstGeom>
          <a:noFill/>
        </p:spPr>
        <p:txBody>
          <a:bodyPr wrap="square" lIns="0" rIns="0" tIns="18288" bIns="18288" anchor="t">
            <a:noAutofit/>
          </a:bodyPr>
          <a:lstStyle/>
          <a:p>
            <a:pPr algn="l">
              <a:lnSpc>
                <a:spcPct val="95000"/>
              </a:lnSpc>
              <a:spcBef>
                <a:spcPts val="0"/>
              </a:spcBef>
              <a:spcAft>
                <a:spcPts val="0"/>
              </a:spcAft>
            </a:pPr>
            <a:r>
              <a:rPr sz="2500" b="1" i="0" lang="id-ID">
                <a:solidFill>
                  <a:srgbClr val="0F172A"/>
                </a:solidFill>
                <a:latin typeface="Calibri"/>
              </a:rPr>
              <a:t>Prevalensi Molar-Incisor Hypomineralization (MIH) pada Anak dan Remaja</a:t>
            </a:r>
          </a:p>
        </p:txBody>
      </p:sp>
      <p:sp>
        <p:nvSpPr>
          <p:cNvPr id="11" name="TextBox 10"/>
          <p:cNvSpPr txBox="1"/>
          <p:nvPr/>
        </p:nvSpPr>
        <p:spPr>
          <a:xfrm>
            <a:off x="548640" y="6291072"/>
            <a:ext cx="9692640" cy="274320"/>
          </a:xfrm>
          <a:prstGeom prst="rect">
            <a:avLst/>
          </a:prstGeom>
          <a:noFill/>
        </p:spPr>
        <p:txBody>
          <a:bodyPr wrap="square" lIns="0" rIns="0" tIns="18288" bIns="18288" anchor="t">
            <a:noAutofit/>
          </a:bodyPr>
          <a:lstStyle/>
          <a:p>
            <a:pPr algn="l">
              <a:spcBef>
                <a:spcPts val="0"/>
              </a:spcBef>
              <a:spcAft>
                <a:spcPts val="0"/>
              </a:spcAft>
            </a:pPr>
            <a:r>
              <a:rPr sz="900" b="0" i="0" lang="id-ID">
                <a:solidFill>
                  <a:srgbClr val="64748B"/>
                </a:solidFill>
                <a:latin typeface="Calibri"/>
              </a:rPr>
              <a:t>Sumber utama: Lopes LB, Machado V, Mascarenhas P, Mendes JJ, Botelho J. Sci Rep 2021;11:22405 (CC BY 4.0)</a:t>
            </a:r>
          </a:p>
        </p:txBody>
      </p:sp>
      <p:sp>
        <p:nvSpPr>
          <p:cNvPr id="12" name="TextBox 11"/>
          <p:cNvSpPr txBox="1"/>
          <p:nvPr/>
        </p:nvSpPr>
        <p:spPr>
          <a:xfrm>
            <a:off x="10698480" y="6291072"/>
            <a:ext cx="941832" cy="274320"/>
          </a:xfrm>
          <a:prstGeom prst="rect">
            <a:avLst/>
          </a:prstGeom>
          <a:noFill/>
        </p:spPr>
        <p:txBody>
          <a:bodyPr wrap="square" lIns="0" rIns="0" tIns="18288" bIns="18288" anchor="t">
            <a:noAutofit/>
          </a:bodyPr>
          <a:lstStyle/>
          <a:p>
            <a:pPr algn="r">
              <a:spcBef>
                <a:spcPts val="0"/>
              </a:spcBef>
              <a:spcAft>
                <a:spcPts val="0"/>
              </a:spcAft>
            </a:pPr>
            <a:r>
              <a:rPr sz="900" b="0" i="0" lang="id-ID">
                <a:solidFill>
                  <a:srgbClr val="64748B"/>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1572768"/>
            <a:ext cx="3538728" cy="1335024"/>
          </a:xfrm>
          <a:prstGeom prst="roundRect">
            <a:avLst>
              <a:gd name="adj" fmla="val 4109"/>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4233672" y="1572768"/>
            <a:ext cx="3538728" cy="1335024"/>
          </a:xfrm>
          <a:prstGeom prst="roundRect">
            <a:avLst>
              <a:gd name="adj" fmla="val 4109"/>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7918704" y="1572768"/>
            <a:ext cx="3538728" cy="1335024"/>
          </a:xfrm>
          <a:prstGeom prst="roundRect">
            <a:avLst>
              <a:gd name="adj" fmla="val 4109"/>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548640" y="3054096"/>
            <a:ext cx="3538728" cy="1335024"/>
          </a:xfrm>
          <a:prstGeom prst="roundRect">
            <a:avLst>
              <a:gd name="adj" fmla="val 4109"/>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4233672" y="3054096"/>
            <a:ext cx="3538728" cy="1335024"/>
          </a:xfrm>
          <a:prstGeom prst="roundRect">
            <a:avLst>
              <a:gd name="adj" fmla="val 4109"/>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7918704" y="3054096"/>
            <a:ext cx="3538728" cy="1335024"/>
          </a:xfrm>
          <a:prstGeom prst="roundRect">
            <a:avLst>
              <a:gd name="adj" fmla="val 4109"/>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9" name="Connector 8"/>
          <p:cNvCxnSpPr/>
          <p:nvPr/>
        </p:nvCxnSpPr>
        <p:spPr>
          <a:xfrm>
            <a:off x="548640" y="1371600"/>
            <a:ext cx="11091672" cy="914"/>
          </a:xfrm>
          <a:prstGeom prst="line">
            <a:avLst/>
          </a:prstGeom>
          <a:ln w="19050">
            <a:solidFill>
              <a:srgbClr val="0E749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49808" y="1719072"/>
            <a:ext cx="3136392" cy="219456"/>
          </a:xfrm>
          <a:prstGeom prst="rect">
            <a:avLst/>
          </a:prstGeom>
          <a:noFill/>
        </p:spPr>
        <p:txBody>
          <a:bodyPr wrap="square" lIns="0" rIns="0" tIns="18288" bIns="18288" anchor="t">
            <a:noAutofit/>
          </a:bodyPr>
          <a:lstStyle/>
          <a:p>
            <a:pPr algn="l">
              <a:spcBef>
                <a:spcPts val="0"/>
              </a:spcBef>
              <a:spcAft>
                <a:spcPts val="0"/>
              </a:spcAft>
            </a:pPr>
            <a:r>
              <a:rPr sz="1000" b="1" i="0" lang="id-ID">
                <a:solidFill>
                  <a:srgbClr val="0E7490"/>
                </a:solidFill>
                <a:latin typeface="Calibri"/>
              </a:rPr>
              <a:t>DESAIN</a:t>
            </a:r>
          </a:p>
        </p:txBody>
      </p:sp>
      <p:sp>
        <p:nvSpPr>
          <p:cNvPr id="11" name="TextBox 10"/>
          <p:cNvSpPr txBox="1"/>
          <p:nvPr/>
        </p:nvSpPr>
        <p:spPr>
          <a:xfrm>
            <a:off x="749808" y="2377440"/>
            <a:ext cx="3136392" cy="402336"/>
          </a:xfrm>
          <a:prstGeom prst="rect">
            <a:avLst/>
          </a:prstGeom>
          <a:noFill/>
        </p:spPr>
        <p:txBody>
          <a:bodyPr wrap="square" lIns="0" rIns="0" tIns="18288" bIns="18288" anchor="t">
            <a:noAutofit/>
          </a:bodyPr>
          <a:lstStyle/>
          <a:p>
            <a:pPr algn="l">
              <a:lnSpc>
                <a:spcPct val="95000"/>
              </a:lnSpc>
              <a:spcBef>
                <a:spcPts val="0"/>
              </a:spcBef>
              <a:spcAft>
                <a:spcPts val="0"/>
              </a:spcAft>
            </a:pPr>
            <a:r>
              <a:rPr sz="1050" b="0" i="0" lang="id-ID">
                <a:solidFill>
                  <a:srgbClr val="64748B"/>
                </a:solidFill>
                <a:latin typeface="Calibri"/>
              </a:rPr>
              <a:t>PRISMA; protokol PROSPERO CRD42021229435</a:t>
            </a:r>
          </a:p>
        </p:txBody>
      </p:sp>
      <p:sp>
        <p:nvSpPr>
          <p:cNvPr id="12" name="TextBox 11"/>
          <p:cNvSpPr txBox="1"/>
          <p:nvPr/>
        </p:nvSpPr>
        <p:spPr>
          <a:xfrm>
            <a:off x="749808" y="1975104"/>
            <a:ext cx="3136392" cy="384048"/>
          </a:xfrm>
          <a:prstGeom prst="rect">
            <a:avLst/>
          </a:prstGeom>
          <a:noFill/>
        </p:spPr>
        <p:txBody>
          <a:bodyPr wrap="square" lIns="0" rIns="0" tIns="18288" bIns="18288" anchor="t">
            <a:noAutofit/>
          </a:bodyPr>
          <a:lstStyle/>
          <a:p>
            <a:pPr algn="l">
              <a:spcBef>
                <a:spcPts val="0"/>
              </a:spcBef>
              <a:spcAft>
                <a:spcPts val="0"/>
              </a:spcAft>
            </a:pPr>
            <a:r>
              <a:rPr sz="1500" b="1" i="0" lang="id-ID">
                <a:solidFill>
                  <a:srgbClr val="0F172A"/>
                </a:solidFill>
                <a:latin typeface="Calibri"/>
              </a:rPr>
              <a:t>SR + meta-analisis</a:t>
            </a:r>
          </a:p>
        </p:txBody>
      </p:sp>
      <p:sp>
        <p:nvSpPr>
          <p:cNvPr id="13" name="TextBox 12"/>
          <p:cNvSpPr txBox="1"/>
          <p:nvPr/>
        </p:nvSpPr>
        <p:spPr>
          <a:xfrm>
            <a:off x="4434840" y="1719072"/>
            <a:ext cx="3136392" cy="219456"/>
          </a:xfrm>
          <a:prstGeom prst="rect">
            <a:avLst/>
          </a:prstGeom>
          <a:noFill/>
        </p:spPr>
        <p:txBody>
          <a:bodyPr wrap="square" lIns="0" rIns="0" tIns="18288" bIns="18288" anchor="t">
            <a:noAutofit/>
          </a:bodyPr>
          <a:lstStyle/>
          <a:p>
            <a:pPr algn="l">
              <a:spcBef>
                <a:spcPts val="0"/>
              </a:spcBef>
              <a:spcAft>
                <a:spcPts val="0"/>
              </a:spcAft>
            </a:pPr>
            <a:r>
              <a:rPr sz="1000" b="1" i="0" lang="id-ID">
                <a:solidFill>
                  <a:srgbClr val="0E7490"/>
                </a:solidFill>
                <a:latin typeface="Calibri"/>
              </a:rPr>
              <a:t>STUDI</a:t>
            </a:r>
          </a:p>
        </p:txBody>
      </p:sp>
      <p:sp>
        <p:nvSpPr>
          <p:cNvPr id="14" name="TextBox 13"/>
          <p:cNvSpPr txBox="1"/>
          <p:nvPr/>
        </p:nvSpPr>
        <p:spPr>
          <a:xfrm>
            <a:off x="4434840" y="2377440"/>
            <a:ext cx="3136392" cy="402336"/>
          </a:xfrm>
          <a:prstGeom prst="rect">
            <a:avLst/>
          </a:prstGeom>
          <a:noFill/>
        </p:spPr>
        <p:txBody>
          <a:bodyPr wrap="square" lIns="0" rIns="0" tIns="18288" bIns="18288" anchor="t">
            <a:noAutofit/>
          </a:bodyPr>
          <a:lstStyle/>
          <a:p>
            <a:pPr algn="l">
              <a:lnSpc>
                <a:spcPct val="95000"/>
              </a:lnSpc>
              <a:spcBef>
                <a:spcPts val="0"/>
              </a:spcBef>
              <a:spcAft>
                <a:spcPts val="0"/>
              </a:spcAft>
            </a:pPr>
            <a:r>
              <a:rPr sz="1050" b="0" i="0" lang="id-ID">
                <a:solidFill>
                  <a:srgbClr val="64748B"/>
                </a:solidFill>
                <a:latin typeface="Calibri"/>
              </a:rPr>
              <a:t>98 studi masuk analisis utama (kriteria EAPD 2003)</a:t>
            </a:r>
          </a:p>
        </p:txBody>
      </p:sp>
      <p:sp>
        <p:nvSpPr>
          <p:cNvPr id="15" name="TextBox 14"/>
          <p:cNvSpPr txBox="1"/>
          <p:nvPr/>
        </p:nvSpPr>
        <p:spPr>
          <a:xfrm>
            <a:off x="4434840" y="1975104"/>
            <a:ext cx="3136392" cy="384048"/>
          </a:xfrm>
          <a:prstGeom prst="rect">
            <a:avLst/>
          </a:prstGeom>
          <a:noFill/>
        </p:spPr>
        <p:txBody>
          <a:bodyPr wrap="square" lIns="0" rIns="0" tIns="18288" bIns="18288" anchor="t">
            <a:noAutofit/>
          </a:bodyPr>
          <a:lstStyle/>
          <a:p>
            <a:pPr algn="l">
              <a:spcBef>
                <a:spcPts val="0"/>
              </a:spcBef>
              <a:spcAft>
                <a:spcPts val="0"/>
              </a:spcAft>
            </a:pPr>
            <a:r>
              <a:rPr sz="1500" b="1" i="0" lang="id-ID">
                <a:solidFill>
                  <a:srgbClr val="0F172A"/>
                </a:solidFill>
                <a:latin typeface="Calibri"/>
              </a:rPr>
              <a:t>116 studi observasional</a:t>
            </a:r>
          </a:p>
        </p:txBody>
      </p:sp>
      <p:sp>
        <p:nvSpPr>
          <p:cNvPr id="16" name="TextBox 15"/>
          <p:cNvSpPr txBox="1"/>
          <p:nvPr/>
        </p:nvSpPr>
        <p:spPr>
          <a:xfrm>
            <a:off x="8119872" y="1719072"/>
            <a:ext cx="3136392" cy="219456"/>
          </a:xfrm>
          <a:prstGeom prst="rect">
            <a:avLst/>
          </a:prstGeom>
          <a:noFill/>
        </p:spPr>
        <p:txBody>
          <a:bodyPr wrap="square" lIns="0" rIns="0" tIns="18288" bIns="18288" anchor="t">
            <a:noAutofit/>
          </a:bodyPr>
          <a:lstStyle/>
          <a:p>
            <a:pPr algn="l">
              <a:spcBef>
                <a:spcPts val="0"/>
              </a:spcBef>
              <a:spcAft>
                <a:spcPts val="0"/>
              </a:spcAft>
            </a:pPr>
            <a:r>
              <a:rPr sz="1000" b="1" i="0" lang="id-ID">
                <a:solidFill>
                  <a:srgbClr val="0E7490"/>
                </a:solidFill>
                <a:latin typeface="Calibri"/>
              </a:rPr>
              <a:t>PESERTA</a:t>
            </a:r>
          </a:p>
        </p:txBody>
      </p:sp>
      <p:sp>
        <p:nvSpPr>
          <p:cNvPr id="17" name="TextBox 16"/>
          <p:cNvSpPr txBox="1"/>
          <p:nvPr/>
        </p:nvSpPr>
        <p:spPr>
          <a:xfrm>
            <a:off x="8119872" y="2377440"/>
            <a:ext cx="3136392" cy="402336"/>
          </a:xfrm>
          <a:prstGeom prst="rect">
            <a:avLst/>
          </a:prstGeom>
          <a:noFill/>
        </p:spPr>
        <p:txBody>
          <a:bodyPr wrap="square" lIns="0" rIns="0" tIns="18288" bIns="18288" anchor="t">
            <a:noAutofit/>
          </a:bodyPr>
          <a:lstStyle/>
          <a:p>
            <a:pPr algn="l">
              <a:lnSpc>
                <a:spcPct val="95000"/>
              </a:lnSpc>
              <a:spcBef>
                <a:spcPts val="0"/>
              </a:spcBef>
              <a:spcAft>
                <a:spcPts val="0"/>
              </a:spcAft>
            </a:pPr>
            <a:r>
              <a:rPr sz="1050" b="0" i="0" lang="id-ID">
                <a:solidFill>
                  <a:srgbClr val="64748B"/>
                </a:solidFill>
                <a:latin typeface="Calibri"/>
              </a:rPr>
              <a:t>133.734 peserta pada analisis awal semua klasifikasi</a:t>
            </a:r>
          </a:p>
        </p:txBody>
      </p:sp>
      <p:sp>
        <p:nvSpPr>
          <p:cNvPr id="18" name="TextBox 17"/>
          <p:cNvSpPr txBox="1"/>
          <p:nvPr/>
        </p:nvSpPr>
        <p:spPr>
          <a:xfrm>
            <a:off x="8119872" y="1975104"/>
            <a:ext cx="3136392" cy="384048"/>
          </a:xfrm>
          <a:prstGeom prst="rect">
            <a:avLst/>
          </a:prstGeom>
          <a:noFill/>
        </p:spPr>
        <p:txBody>
          <a:bodyPr wrap="square" lIns="0" rIns="0" tIns="18288" bIns="18288" anchor="t">
            <a:noAutofit/>
          </a:bodyPr>
          <a:lstStyle/>
          <a:p>
            <a:pPr algn="l">
              <a:spcBef>
                <a:spcPts val="0"/>
              </a:spcBef>
              <a:spcAft>
                <a:spcPts val="0"/>
              </a:spcAft>
            </a:pPr>
            <a:r>
              <a:rPr sz="1500" b="1" i="0" lang="id-ID">
                <a:solidFill>
                  <a:srgbClr val="0F172A"/>
                </a:solidFill>
                <a:latin typeface="Calibri"/>
              </a:rPr>
              <a:t>113.089 anak &amp; remaja</a:t>
            </a:r>
          </a:p>
        </p:txBody>
      </p:sp>
      <p:sp>
        <p:nvSpPr>
          <p:cNvPr id="19" name="TextBox 18"/>
          <p:cNvSpPr txBox="1"/>
          <p:nvPr/>
        </p:nvSpPr>
        <p:spPr>
          <a:xfrm>
            <a:off x="749808" y="3200400"/>
            <a:ext cx="3136392" cy="219456"/>
          </a:xfrm>
          <a:prstGeom prst="rect">
            <a:avLst/>
          </a:prstGeom>
          <a:noFill/>
        </p:spPr>
        <p:txBody>
          <a:bodyPr wrap="square" lIns="0" rIns="0" tIns="18288" bIns="18288" anchor="t">
            <a:noAutofit/>
          </a:bodyPr>
          <a:lstStyle/>
          <a:p>
            <a:pPr algn="l">
              <a:spcBef>
                <a:spcPts val="0"/>
              </a:spcBef>
              <a:spcAft>
                <a:spcPts val="0"/>
              </a:spcAft>
            </a:pPr>
            <a:r>
              <a:rPr sz="1000" b="1" i="0" lang="id-ID">
                <a:solidFill>
                  <a:srgbClr val="0E7490"/>
                </a:solidFill>
                <a:latin typeface="Calibri"/>
              </a:rPr>
              <a:t>TEMUAN UTAMA</a:t>
            </a:r>
          </a:p>
        </p:txBody>
      </p:sp>
      <p:sp>
        <p:nvSpPr>
          <p:cNvPr id="20" name="TextBox 19"/>
          <p:cNvSpPr txBox="1"/>
          <p:nvPr/>
        </p:nvSpPr>
        <p:spPr>
          <a:xfrm>
            <a:off x="749808" y="3858768"/>
            <a:ext cx="3136392" cy="402336"/>
          </a:xfrm>
          <a:prstGeom prst="rect">
            <a:avLst/>
          </a:prstGeom>
          <a:noFill/>
        </p:spPr>
        <p:txBody>
          <a:bodyPr wrap="square" lIns="0" rIns="0" tIns="18288" bIns="18288" anchor="t">
            <a:noAutofit/>
          </a:bodyPr>
          <a:lstStyle/>
          <a:p>
            <a:pPr algn="l">
              <a:lnSpc>
                <a:spcPct val="95000"/>
              </a:lnSpc>
              <a:spcBef>
                <a:spcPts val="0"/>
              </a:spcBef>
              <a:spcAft>
                <a:spcPts val="0"/>
              </a:spcAft>
            </a:pPr>
            <a:r>
              <a:rPr sz="1050" b="0" i="0" lang="id-ID">
                <a:solidFill>
                  <a:srgbClr val="64748B"/>
                </a:solidFill>
                <a:latin typeface="Calibri"/>
              </a:rPr>
              <a:t>I² = 98,0% → heterogenitas tinggi</a:t>
            </a:r>
          </a:p>
        </p:txBody>
      </p:sp>
      <p:sp>
        <p:nvSpPr>
          <p:cNvPr id="21" name="TextBox 20"/>
          <p:cNvSpPr txBox="1"/>
          <p:nvPr/>
        </p:nvSpPr>
        <p:spPr>
          <a:xfrm>
            <a:off x="749808" y="3456432"/>
            <a:ext cx="3136392" cy="384048"/>
          </a:xfrm>
          <a:prstGeom prst="rect">
            <a:avLst/>
          </a:prstGeom>
          <a:noFill/>
        </p:spPr>
        <p:txBody>
          <a:bodyPr wrap="square" lIns="0" rIns="0" tIns="18288" bIns="18288" anchor="t">
            <a:noAutofit/>
          </a:bodyPr>
          <a:lstStyle/>
          <a:p>
            <a:pPr algn="l">
              <a:spcBef>
                <a:spcPts val="0"/>
              </a:spcBef>
              <a:spcAft>
                <a:spcPts val="0"/>
              </a:spcAft>
            </a:pPr>
            <a:r>
              <a:rPr sz="1500" b="1" i="0" lang="id-ID">
                <a:solidFill>
                  <a:srgbClr val="0F172A"/>
                </a:solidFill>
                <a:latin typeface="Calibri"/>
              </a:rPr>
              <a:t>13,5% (95% CI 12,0–15,1)</a:t>
            </a:r>
          </a:p>
        </p:txBody>
      </p:sp>
      <p:sp>
        <p:nvSpPr>
          <p:cNvPr id="22" name="TextBox 21"/>
          <p:cNvSpPr txBox="1"/>
          <p:nvPr/>
        </p:nvSpPr>
        <p:spPr>
          <a:xfrm>
            <a:off x="4434840" y="3200400"/>
            <a:ext cx="3136392" cy="219456"/>
          </a:xfrm>
          <a:prstGeom prst="rect">
            <a:avLst/>
          </a:prstGeom>
          <a:noFill/>
        </p:spPr>
        <p:txBody>
          <a:bodyPr wrap="square" lIns="0" rIns="0" tIns="18288" bIns="18288" anchor="t">
            <a:noAutofit/>
          </a:bodyPr>
          <a:lstStyle/>
          <a:p>
            <a:pPr algn="l">
              <a:spcBef>
                <a:spcPts val="0"/>
              </a:spcBef>
              <a:spcAft>
                <a:spcPts val="0"/>
              </a:spcAft>
            </a:pPr>
            <a:r>
              <a:rPr sz="1000" b="1" i="0" lang="id-ID">
                <a:solidFill>
                  <a:srgbClr val="0E7490"/>
                </a:solidFill>
                <a:latin typeface="Calibri"/>
              </a:rPr>
              <a:t>KUALITAS BUKTI</a:t>
            </a:r>
          </a:p>
        </p:txBody>
      </p:sp>
      <p:sp>
        <p:nvSpPr>
          <p:cNvPr id="23" name="TextBox 22"/>
          <p:cNvSpPr txBox="1"/>
          <p:nvPr/>
        </p:nvSpPr>
        <p:spPr>
          <a:xfrm>
            <a:off x="4434840" y="3858768"/>
            <a:ext cx="3136392" cy="402336"/>
          </a:xfrm>
          <a:prstGeom prst="rect">
            <a:avLst/>
          </a:prstGeom>
          <a:noFill/>
        </p:spPr>
        <p:txBody>
          <a:bodyPr wrap="square" lIns="0" rIns="0" tIns="18288" bIns="18288" anchor="t">
            <a:noAutofit/>
          </a:bodyPr>
          <a:lstStyle/>
          <a:p>
            <a:pPr algn="l">
              <a:lnSpc>
                <a:spcPct val="95000"/>
              </a:lnSpc>
              <a:spcBef>
                <a:spcPts val="0"/>
              </a:spcBef>
              <a:spcAft>
                <a:spcPts val="0"/>
              </a:spcAft>
            </a:pPr>
            <a:r>
              <a:rPr sz="1050" b="0" i="0" lang="id-ID">
                <a:solidFill>
                  <a:srgbClr val="64748B"/>
                </a:solidFill>
                <a:latin typeface="Calibri"/>
              </a:rPr>
              <a:t>48 studi skor NOS 9/9; hanya 1 studi kualitas sedang</a:t>
            </a:r>
          </a:p>
        </p:txBody>
      </p:sp>
      <p:sp>
        <p:nvSpPr>
          <p:cNvPr id="24" name="TextBox 23"/>
          <p:cNvSpPr txBox="1"/>
          <p:nvPr/>
        </p:nvSpPr>
        <p:spPr>
          <a:xfrm>
            <a:off x="4434840" y="3456432"/>
            <a:ext cx="3136392" cy="384048"/>
          </a:xfrm>
          <a:prstGeom prst="rect">
            <a:avLst/>
          </a:prstGeom>
          <a:noFill/>
        </p:spPr>
        <p:txBody>
          <a:bodyPr wrap="square" lIns="0" rIns="0" tIns="18288" bIns="18288" anchor="t">
            <a:noAutofit/>
          </a:bodyPr>
          <a:lstStyle/>
          <a:p>
            <a:pPr algn="l">
              <a:spcBef>
                <a:spcPts val="0"/>
              </a:spcBef>
              <a:spcAft>
                <a:spcPts val="0"/>
              </a:spcAft>
            </a:pPr>
            <a:r>
              <a:rPr sz="1500" b="1" i="0" lang="id-ID">
                <a:solidFill>
                  <a:srgbClr val="0F172A"/>
                </a:solidFill>
                <a:latin typeface="Calibri"/>
              </a:rPr>
              <a:t>SORT A</a:t>
            </a:r>
          </a:p>
        </p:txBody>
      </p:sp>
      <p:sp>
        <p:nvSpPr>
          <p:cNvPr id="25" name="TextBox 24"/>
          <p:cNvSpPr txBox="1"/>
          <p:nvPr/>
        </p:nvSpPr>
        <p:spPr>
          <a:xfrm>
            <a:off x="8119872" y="3200400"/>
            <a:ext cx="3136392" cy="219456"/>
          </a:xfrm>
          <a:prstGeom prst="rect">
            <a:avLst/>
          </a:prstGeom>
          <a:noFill/>
        </p:spPr>
        <p:txBody>
          <a:bodyPr wrap="square" lIns="0" rIns="0" tIns="18288" bIns="18288" anchor="t">
            <a:noAutofit/>
          </a:bodyPr>
          <a:lstStyle/>
          <a:p>
            <a:pPr algn="l">
              <a:spcBef>
                <a:spcPts val="0"/>
              </a:spcBef>
              <a:spcAft>
                <a:spcPts val="0"/>
              </a:spcAft>
            </a:pPr>
            <a:r>
              <a:rPr sz="1000" b="1" i="0" lang="id-ID">
                <a:solidFill>
                  <a:srgbClr val="0E7490"/>
                </a:solidFill>
                <a:latin typeface="Calibri"/>
              </a:rPr>
              <a:t>REGISTRASI</a:t>
            </a:r>
          </a:p>
        </p:txBody>
      </p:sp>
      <p:sp>
        <p:nvSpPr>
          <p:cNvPr id="26" name="TextBox 25"/>
          <p:cNvSpPr txBox="1"/>
          <p:nvPr/>
        </p:nvSpPr>
        <p:spPr>
          <a:xfrm>
            <a:off x="8119872" y="3858768"/>
            <a:ext cx="3136392" cy="402336"/>
          </a:xfrm>
          <a:prstGeom prst="rect">
            <a:avLst/>
          </a:prstGeom>
          <a:noFill/>
        </p:spPr>
        <p:txBody>
          <a:bodyPr wrap="square" lIns="0" rIns="0" tIns="18288" bIns="18288" anchor="t">
            <a:noAutofit/>
          </a:bodyPr>
          <a:lstStyle/>
          <a:p>
            <a:pPr algn="l">
              <a:lnSpc>
                <a:spcPct val="95000"/>
              </a:lnSpc>
              <a:spcBef>
                <a:spcPts val="0"/>
              </a:spcBef>
              <a:spcAft>
                <a:spcPts val="0"/>
              </a:spcAft>
            </a:pPr>
            <a:r>
              <a:rPr sz="1050" b="0" i="0" lang="id-ID">
                <a:solidFill>
                  <a:srgbClr val="64748B"/>
                </a:solidFill>
                <a:latin typeface="Calibri"/>
              </a:rPr>
              <a:t>CRD42021229435 · Sci Rep 2021;11:22405</a:t>
            </a:r>
          </a:p>
        </p:txBody>
      </p:sp>
      <p:sp>
        <p:nvSpPr>
          <p:cNvPr id="27" name="TextBox 26"/>
          <p:cNvSpPr txBox="1"/>
          <p:nvPr/>
        </p:nvSpPr>
        <p:spPr>
          <a:xfrm>
            <a:off x="8119872" y="3456432"/>
            <a:ext cx="3136392" cy="384048"/>
          </a:xfrm>
          <a:prstGeom prst="rect">
            <a:avLst/>
          </a:prstGeom>
          <a:noFill/>
        </p:spPr>
        <p:txBody>
          <a:bodyPr wrap="square" lIns="0" rIns="0" tIns="18288" bIns="18288" anchor="t">
            <a:noAutofit/>
          </a:bodyPr>
          <a:lstStyle/>
          <a:p>
            <a:pPr algn="l">
              <a:spcBef>
                <a:spcPts val="0"/>
              </a:spcBef>
              <a:spcAft>
                <a:spcPts val="0"/>
              </a:spcAft>
            </a:pPr>
            <a:r>
              <a:rPr sz="1500" b="1" i="0" lang="id-ID">
                <a:solidFill>
                  <a:srgbClr val="0F172A"/>
                </a:solidFill>
                <a:latin typeface="Calibri"/>
              </a:rPr>
              <a:t>PROSPERO</a:t>
            </a:r>
          </a:p>
        </p:txBody>
      </p:sp>
      <p:sp>
        <p:nvSpPr>
          <p:cNvPr id="28" name="TextBox 27"/>
          <p:cNvSpPr txBox="1"/>
          <p:nvPr/>
        </p:nvSpPr>
        <p:spPr>
          <a:xfrm>
            <a:off x="548640" y="274320"/>
            <a:ext cx="8229600" cy="237744"/>
          </a:xfrm>
          <a:prstGeom prst="rect">
            <a:avLst/>
          </a:prstGeom>
          <a:noFill/>
        </p:spPr>
        <p:txBody>
          <a:bodyPr wrap="square" lIns="0" rIns="0" tIns="18288" bIns="18288" anchor="t">
            <a:noAutofit/>
          </a:bodyPr>
          <a:lstStyle/>
          <a:p>
            <a:pPr algn="l">
              <a:spcBef>
                <a:spcPts val="0"/>
              </a:spcBef>
              <a:spcAft>
                <a:spcPts val="0"/>
              </a:spcAft>
            </a:pPr>
            <a:r>
              <a:rPr sz="1000" b="1" i="0" lang="id-ID">
                <a:solidFill>
                  <a:srgbClr val="0E7490"/>
                </a:solidFill>
                <a:latin typeface="Calibri"/>
              </a:rPr>
              <a:t>RINGKASAN CEPAT</a:t>
            </a:r>
          </a:p>
        </p:txBody>
      </p:sp>
      <p:sp>
        <p:nvSpPr>
          <p:cNvPr id="29" name="TextBox 28"/>
          <p:cNvSpPr txBox="1"/>
          <p:nvPr/>
        </p:nvSpPr>
        <p:spPr>
          <a:xfrm>
            <a:off x="548640" y="4617720"/>
            <a:ext cx="11091672" cy="1188720"/>
          </a:xfrm>
          <a:prstGeom prst="rect">
            <a:avLst/>
          </a:prstGeom>
          <a:noFill/>
        </p:spPr>
        <p:txBody>
          <a:bodyPr wrap="square" lIns="0" rIns="0" tIns="18288" bIns="18288" anchor="t">
            <a:noAutofit/>
          </a:bodyPr>
          <a:lstStyle/>
          <a:p>
            <a:pPr algn="l">
              <a:lnSpc>
                <a:spcPct val="98000"/>
              </a:lnSpc>
              <a:spcBef>
                <a:spcPts val="0"/>
              </a:spcBef>
              <a:spcAft>
                <a:spcPts val="0"/>
              </a:spcAft>
            </a:pPr>
            <a:r>
              <a:rPr sz="1300" b="0" i="0" lang="id-ID">
                <a:solidFill>
                  <a:srgbClr val="334155"/>
                </a:solidFill>
                <a:latin typeface="Calibri"/>
              </a:rPr>
              <a:t>Kesimpulan penulis: prevalensi MIH 13,5%; kasus sedang–berat 36,3%; insisivus terkena pada ±36% kasus; hipomineralisasi molar kedua sulung (HSPM) 3,6% — seluruh hasil diberi rekomendasi SORT A.</a:t>
            </a:r>
          </a:p>
        </p:txBody>
      </p:sp>
      <p:sp>
        <p:nvSpPr>
          <p:cNvPr id="30" name="TextBox 29"/>
          <p:cNvSpPr txBox="1"/>
          <p:nvPr/>
        </p:nvSpPr>
        <p:spPr>
          <a:xfrm>
            <a:off x="548640" y="530352"/>
            <a:ext cx="11091672" cy="786384"/>
          </a:xfrm>
          <a:prstGeom prst="rect">
            <a:avLst/>
          </a:prstGeom>
          <a:noFill/>
        </p:spPr>
        <p:txBody>
          <a:bodyPr wrap="square" lIns="0" rIns="0" tIns="18288" bIns="18288" anchor="t">
            <a:noAutofit/>
          </a:bodyPr>
          <a:lstStyle/>
          <a:p>
            <a:pPr algn="l">
              <a:lnSpc>
                <a:spcPct val="95000"/>
              </a:lnSpc>
              <a:spcBef>
                <a:spcPts val="0"/>
              </a:spcBef>
              <a:spcAft>
                <a:spcPts val="0"/>
              </a:spcAft>
            </a:pPr>
            <a:r>
              <a:rPr sz="2500" b="1" i="0" lang="id-ID">
                <a:solidFill>
                  <a:srgbClr val="0F172A"/>
                </a:solidFill>
                <a:latin typeface="Calibri"/>
              </a:rPr>
              <a:t>Satu meta-analisis, 116 studi, 113.089 peserta — prevalensi global 13,5%</a:t>
            </a:r>
          </a:p>
        </p:txBody>
      </p:sp>
      <p:sp>
        <p:nvSpPr>
          <p:cNvPr id="31" name="TextBox 30"/>
          <p:cNvSpPr txBox="1"/>
          <p:nvPr/>
        </p:nvSpPr>
        <p:spPr>
          <a:xfrm>
            <a:off x="548640" y="6291072"/>
            <a:ext cx="9692640" cy="274320"/>
          </a:xfrm>
          <a:prstGeom prst="rect">
            <a:avLst/>
          </a:prstGeom>
          <a:noFill/>
        </p:spPr>
        <p:txBody>
          <a:bodyPr wrap="square" lIns="0" rIns="0" tIns="18288" bIns="18288" anchor="t">
            <a:noAutofit/>
          </a:bodyPr>
          <a:lstStyle/>
          <a:p>
            <a:pPr algn="l">
              <a:spcBef>
                <a:spcPts val="0"/>
              </a:spcBef>
              <a:spcAft>
                <a:spcPts val="0"/>
              </a:spcAft>
            </a:pPr>
            <a:r>
              <a:rPr sz="900" b="0" i="0" lang="id-ID">
                <a:solidFill>
                  <a:srgbClr val="64748B"/>
                </a:solidFill>
                <a:latin typeface="Calibri"/>
              </a:rPr>
              <a:t>Sumber utama: Lopes LB, Machado V, Mascarenhas P, Mendes JJ, Botelho J. Sci Rep 2021;11:22405 (CC BY 4.0)</a:t>
            </a:r>
          </a:p>
        </p:txBody>
      </p:sp>
      <p:sp>
        <p:nvSpPr>
          <p:cNvPr id="32" name="TextBox 31"/>
          <p:cNvSpPr txBox="1"/>
          <p:nvPr/>
        </p:nvSpPr>
        <p:spPr>
          <a:xfrm>
            <a:off x="10698480" y="6291072"/>
            <a:ext cx="941832" cy="274320"/>
          </a:xfrm>
          <a:prstGeom prst="rect">
            <a:avLst/>
          </a:prstGeom>
          <a:noFill/>
        </p:spPr>
        <p:txBody>
          <a:bodyPr wrap="square" lIns="0" rIns="0" tIns="18288" bIns="18288" anchor="t">
            <a:noAutofit/>
          </a:bodyPr>
          <a:lstStyle/>
          <a:p>
            <a:pPr algn="r">
              <a:spcBef>
                <a:spcPts val="0"/>
              </a:spcBef>
              <a:spcAft>
                <a:spcPts val="0"/>
              </a:spcAft>
            </a:pPr>
            <a:r>
              <a:rPr sz="900" b="0" i="0" lang="id-ID">
                <a:solidFill>
                  <a:srgbClr val="64748B"/>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1572768"/>
            <a:ext cx="3538728" cy="2103120"/>
          </a:xfrm>
          <a:prstGeom prst="roundRect">
            <a:avLst>
              <a:gd name="adj" fmla="val 2608"/>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4233672" y="1572768"/>
            <a:ext cx="3538728" cy="2103120"/>
          </a:xfrm>
          <a:prstGeom prst="roundRect">
            <a:avLst>
              <a:gd name="adj" fmla="val 2608"/>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7918704" y="1572768"/>
            <a:ext cx="3721608" cy="2103120"/>
          </a:xfrm>
          <a:prstGeom prst="roundRect">
            <a:avLst>
              <a:gd name="adj" fmla="val 2608"/>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548640" y="3840480"/>
            <a:ext cx="11091672" cy="1463040"/>
          </a:xfrm>
          <a:prstGeom prst="roundRect">
            <a:avLst>
              <a:gd name="adj" fmla="val 5000"/>
            </a:avLst>
          </a:prstGeom>
          <a:solidFill>
            <a:srgbClr val="F0FDFA"/>
          </a:solidFill>
          <a:ln w="15875">
            <a:solidFill>
              <a:srgbClr val="99F6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7" name="Connector 6"/>
          <p:cNvCxnSpPr/>
          <p:nvPr/>
        </p:nvCxnSpPr>
        <p:spPr>
          <a:xfrm>
            <a:off x="548640" y="1371600"/>
            <a:ext cx="11091672" cy="914"/>
          </a:xfrm>
          <a:prstGeom prst="line">
            <a:avLst/>
          </a:prstGeom>
          <a:ln w="19050">
            <a:solidFill>
              <a:srgbClr val="0E749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749808" y="1737360"/>
            <a:ext cx="3136392" cy="1783080"/>
          </a:xfrm>
          <a:prstGeom prst="rect">
            <a:avLst/>
          </a:prstGeom>
          <a:noFill/>
        </p:spPr>
        <p:txBody>
          <a:bodyPr wrap="square" lIns="0" rIns="0" tIns="18288" bIns="18288" anchor="t">
            <a:noAutofit/>
          </a:bodyPr>
          <a:lstStyle/>
          <a:p>
            <a:pPr algn="l">
              <a:lnSpc>
                <a:spcPct val="100000"/>
              </a:lnSpc>
              <a:spcBef>
                <a:spcPts val="0"/>
              </a:spcBef>
              <a:spcAft>
                <a:spcPts val="0"/>
              </a:spcAft>
            </a:pPr>
            <a:r>
              <a:rPr sz="1200" b="0" i="0" lang="id-ID">
                <a:solidFill>
                  <a:srgbClr val="334155"/>
                </a:solidFill>
                <a:latin typeface="Calibri"/>
              </a:rPr>
              <a:t>APA ITU MIH</a:t>
            </a:r>
          </a:p>
          <a:p>
            <a:pPr algn="l">
              <a:lnSpc>
                <a:spcPct val="100000"/>
              </a:lnSpc>
              <a:spcBef>
                <a:spcPts val="0"/>
              </a:spcBef>
              <a:spcAft>
                <a:spcPts val="0"/>
              </a:spcAft>
            </a:pPr>
            <a:r>
              <a:rPr sz="1200" b="0" i="0" lang="id-ID">
                <a:solidFill>
                  <a:srgbClr val="334155"/>
                </a:solidFill>
                <a:latin typeface="Calibri"/>
              </a:rPr>
              <a:t>Defek kualitatif (hipomineralisasi) email dengan etiologi yang belum diketahui. Menyerang satu atau lebih molar pertama permanen, dapat disertai insisivus permanen. Nomenklatur EAPD sejak 2003.</a:t>
            </a:r>
          </a:p>
        </p:txBody>
      </p:sp>
      <p:sp>
        <p:nvSpPr>
          <p:cNvPr id="9" name="TextBox 8"/>
          <p:cNvSpPr txBox="1"/>
          <p:nvPr/>
        </p:nvSpPr>
        <p:spPr>
          <a:xfrm>
            <a:off x="4434840" y="1737360"/>
            <a:ext cx="3136392" cy="1783080"/>
          </a:xfrm>
          <a:prstGeom prst="rect">
            <a:avLst/>
          </a:prstGeom>
          <a:noFill/>
        </p:spPr>
        <p:txBody>
          <a:bodyPr wrap="square" lIns="0" rIns="0" tIns="18288" bIns="18288" anchor="t">
            <a:noAutofit/>
          </a:bodyPr>
          <a:lstStyle/>
          <a:p>
            <a:pPr algn="l">
              <a:lnSpc>
                <a:spcPct val="100000"/>
              </a:lnSpc>
              <a:spcBef>
                <a:spcPts val="0"/>
              </a:spcBef>
              <a:spcAft>
                <a:spcPts val="0"/>
              </a:spcAft>
            </a:pPr>
            <a:r>
              <a:rPr sz="1200" b="0" i="0" lang="id-ID">
                <a:solidFill>
                  <a:srgbClr val="334155"/>
                </a:solidFill>
                <a:latin typeface="Calibri"/>
              </a:rPr>
              <a:t>GAMBARAN KLINIS</a:t>
            </a:r>
          </a:p>
          <a:p>
            <a:pPr algn="l">
              <a:lnSpc>
                <a:spcPct val="100000"/>
              </a:lnSpc>
              <a:spcBef>
                <a:spcPts val="0"/>
              </a:spcBef>
              <a:spcAft>
                <a:spcPts val="0"/>
              </a:spcAft>
            </a:pPr>
            <a:r>
              <a:rPr sz="1200" b="0" i="0" lang="id-ID">
                <a:solidFill>
                  <a:srgbClr val="334155"/>
                </a:solidFill>
                <a:latin typeface="Calibri"/>
              </a:rPr>
              <a:t>Opasitas putih–kuning–cokelat berbatas tegas; email lebih lunak dan rapuh, sehingga mudah pecah setelah erupsi (post-eruptive breakdown).</a:t>
            </a:r>
          </a:p>
        </p:txBody>
      </p:sp>
      <p:sp>
        <p:nvSpPr>
          <p:cNvPr id="10" name="TextBox 9"/>
          <p:cNvSpPr txBox="1"/>
          <p:nvPr/>
        </p:nvSpPr>
        <p:spPr>
          <a:xfrm>
            <a:off x="8119871" y="1737360"/>
            <a:ext cx="3319272" cy="1783080"/>
          </a:xfrm>
          <a:prstGeom prst="rect">
            <a:avLst/>
          </a:prstGeom>
          <a:noFill/>
        </p:spPr>
        <p:txBody>
          <a:bodyPr wrap="square" lIns="0" rIns="0" tIns="18288" bIns="18288" anchor="t">
            <a:noAutofit/>
          </a:bodyPr>
          <a:lstStyle/>
          <a:p>
            <a:pPr algn="l">
              <a:lnSpc>
                <a:spcPct val="100000"/>
              </a:lnSpc>
              <a:spcBef>
                <a:spcPts val="0"/>
              </a:spcBef>
              <a:spcAft>
                <a:spcPts val="0"/>
              </a:spcAft>
            </a:pPr>
            <a:r>
              <a:rPr sz="1200" b="0" i="0" lang="id-ID">
                <a:solidFill>
                  <a:srgbClr val="334155"/>
                </a:solidFill>
                <a:latin typeface="Calibri"/>
              </a:rPr>
              <a:t>DAMPAK PADA ANAK</a:t>
            </a:r>
          </a:p>
          <a:p>
            <a:pPr algn="l">
              <a:lnSpc>
                <a:spcPct val="100000"/>
              </a:lnSpc>
              <a:spcBef>
                <a:spcPts val="0"/>
              </a:spcBef>
              <a:spcAft>
                <a:spcPts val="0"/>
              </a:spcAft>
            </a:pPr>
            <a:r>
              <a:rPr sz="1200" b="0" i="0" lang="id-ID">
                <a:solidFill>
                  <a:srgbClr val="334155"/>
                </a:solidFill>
                <a:latin typeface="Calibri"/>
              </a:rPr>
              <a:t>Hipersensitivitas, risiko karies tinggi, restorasi berulang dan kompleks, serta beban estetik dan psikososial.</a:t>
            </a:r>
          </a:p>
        </p:txBody>
      </p:sp>
      <p:sp>
        <p:nvSpPr>
          <p:cNvPr id="11" name="TextBox 10"/>
          <p:cNvSpPr txBox="1"/>
          <p:nvPr/>
        </p:nvSpPr>
        <p:spPr>
          <a:xfrm>
            <a:off x="822959" y="4023360"/>
            <a:ext cx="10543032" cy="1097280"/>
          </a:xfrm>
          <a:prstGeom prst="rect">
            <a:avLst/>
          </a:prstGeom>
          <a:noFill/>
        </p:spPr>
        <p:txBody>
          <a:bodyPr wrap="square" lIns="0" rIns="0" tIns="18288" bIns="18288" anchor="t">
            <a:noAutofit/>
          </a:bodyPr>
          <a:lstStyle/>
          <a:p>
            <a:pPr algn="l">
              <a:lnSpc>
                <a:spcPct val="100000"/>
              </a:lnSpc>
              <a:spcBef>
                <a:spcPts val="0"/>
              </a:spcBef>
              <a:spcAft>
                <a:spcPts val="0"/>
              </a:spcAft>
            </a:pPr>
            <a:r>
              <a:rPr sz="1250" b="0" i="0" lang="id-ID">
                <a:solidFill>
                  <a:srgbClr val="0F172A"/>
                </a:solidFill>
                <a:latin typeface="Calibri"/>
              </a:rPr>
              <a:t>Mengapa prevalensi penting bagi klinisi dan program kesehatan?</a:t>
            </a:r>
          </a:p>
          <a:p>
            <a:pPr algn="l">
              <a:lnSpc>
                <a:spcPct val="100000"/>
              </a:lnSpc>
              <a:spcBef>
                <a:spcPts val="0"/>
              </a:spcBef>
              <a:spcAft>
                <a:spcPts val="0"/>
              </a:spcAft>
            </a:pPr>
            <a:r>
              <a:rPr sz="1250" b="0" i="0" lang="id-ID">
                <a:solidFill>
                  <a:srgbClr val="0F172A"/>
                </a:solidFill>
                <a:latin typeface="Calibri"/>
              </a:rPr>
              <a:t>•  Angka prevalensi menentukan besar beban penyakit → dasar perencanaan skrining, alokasi tenaga, dan edukasi orang tua.</a:t>
            </a:r>
          </a:p>
          <a:p>
            <a:pPr algn="l">
              <a:lnSpc>
                <a:spcPct val="100000"/>
              </a:lnSpc>
              <a:spcBef>
                <a:spcPts val="0"/>
              </a:spcBef>
              <a:spcAft>
                <a:spcPts val="0"/>
              </a:spcAft>
            </a:pPr>
            <a:r>
              <a:rPr sz="1250" b="0" i="0" lang="id-ID">
                <a:solidFill>
                  <a:srgbClr val="0F172A"/>
                </a:solidFill>
                <a:latin typeface="Calibri"/>
              </a:rPr>
              <a:t>•  Rentang laporan yang lebar (2,8%–40,2%) membuat perencanaan sulit — diperlukan estimasi global yang terstandar.</a:t>
            </a:r>
          </a:p>
        </p:txBody>
      </p:sp>
      <p:sp>
        <p:nvSpPr>
          <p:cNvPr id="12" name="TextBox 11"/>
          <p:cNvSpPr txBox="1"/>
          <p:nvPr/>
        </p:nvSpPr>
        <p:spPr>
          <a:xfrm>
            <a:off x="548640" y="274320"/>
            <a:ext cx="8229600" cy="237744"/>
          </a:xfrm>
          <a:prstGeom prst="rect">
            <a:avLst/>
          </a:prstGeom>
          <a:noFill/>
        </p:spPr>
        <p:txBody>
          <a:bodyPr wrap="square" lIns="0" rIns="0" tIns="18288" bIns="18288" anchor="t">
            <a:noAutofit/>
          </a:bodyPr>
          <a:lstStyle/>
          <a:p>
            <a:pPr algn="l">
              <a:spcBef>
                <a:spcPts val="0"/>
              </a:spcBef>
              <a:spcAft>
                <a:spcPts val="0"/>
              </a:spcAft>
            </a:pPr>
            <a:r>
              <a:rPr sz="1000" b="1" i="0" lang="id-ID">
                <a:solidFill>
                  <a:srgbClr val="0E7490"/>
                </a:solidFill>
                <a:latin typeface="Calibri"/>
              </a:rPr>
              <a:t>LATAR BELAKANG (1/2)</a:t>
            </a:r>
          </a:p>
        </p:txBody>
      </p:sp>
      <p:sp>
        <p:nvSpPr>
          <p:cNvPr id="13" name="TextBox 12"/>
          <p:cNvSpPr txBox="1"/>
          <p:nvPr/>
        </p:nvSpPr>
        <p:spPr>
          <a:xfrm>
            <a:off x="548640" y="530352"/>
            <a:ext cx="11091672" cy="786384"/>
          </a:xfrm>
          <a:prstGeom prst="rect">
            <a:avLst/>
          </a:prstGeom>
          <a:noFill/>
        </p:spPr>
        <p:txBody>
          <a:bodyPr wrap="square" lIns="0" rIns="0" tIns="18288" bIns="18288" anchor="t">
            <a:noAutofit/>
          </a:bodyPr>
          <a:lstStyle/>
          <a:p>
            <a:pPr algn="l">
              <a:lnSpc>
                <a:spcPct val="95000"/>
              </a:lnSpc>
              <a:spcBef>
                <a:spcPts val="0"/>
              </a:spcBef>
              <a:spcAft>
                <a:spcPts val="0"/>
              </a:spcAft>
            </a:pPr>
            <a:r>
              <a:rPr sz="2500" b="1" i="0" lang="id-ID">
                <a:solidFill>
                  <a:srgbClr val="0F172A"/>
                </a:solidFill>
                <a:latin typeface="Calibri"/>
              </a:rPr>
              <a:t>MIH: defek kualitatif email pada gigi permanen muda, etiologi belum diketahui</a:t>
            </a:r>
          </a:p>
        </p:txBody>
      </p:sp>
      <p:sp>
        <p:nvSpPr>
          <p:cNvPr id="14" name="TextBox 13"/>
          <p:cNvSpPr txBox="1"/>
          <p:nvPr/>
        </p:nvSpPr>
        <p:spPr>
          <a:xfrm>
            <a:off x="548640" y="6291072"/>
            <a:ext cx="9692640" cy="274320"/>
          </a:xfrm>
          <a:prstGeom prst="rect">
            <a:avLst/>
          </a:prstGeom>
          <a:noFill/>
        </p:spPr>
        <p:txBody>
          <a:bodyPr wrap="square" lIns="0" rIns="0" tIns="18288" bIns="18288" anchor="t">
            <a:noAutofit/>
          </a:bodyPr>
          <a:lstStyle/>
          <a:p>
            <a:pPr algn="l">
              <a:spcBef>
                <a:spcPts val="0"/>
              </a:spcBef>
              <a:spcAft>
                <a:spcPts val="0"/>
              </a:spcAft>
            </a:pPr>
            <a:r>
              <a:rPr sz="900" b="0" i="0" lang="id-ID">
                <a:solidFill>
                  <a:srgbClr val="64748B"/>
                </a:solidFill>
                <a:latin typeface="Calibri"/>
              </a:rPr>
              <a:t>Sumber utama: Lopes LB, Machado V, Mascarenhas P, Mendes JJ, Botelho J. Sci Rep 2021;11:22405 (CC BY 4.0)</a:t>
            </a:r>
          </a:p>
        </p:txBody>
      </p:sp>
      <p:sp>
        <p:nvSpPr>
          <p:cNvPr id="15" name="TextBox 14"/>
          <p:cNvSpPr txBox="1"/>
          <p:nvPr/>
        </p:nvSpPr>
        <p:spPr>
          <a:xfrm>
            <a:off x="10698480" y="6291072"/>
            <a:ext cx="941832" cy="274320"/>
          </a:xfrm>
          <a:prstGeom prst="rect">
            <a:avLst/>
          </a:prstGeom>
          <a:noFill/>
        </p:spPr>
        <p:txBody>
          <a:bodyPr wrap="square" lIns="0" rIns="0" tIns="18288" bIns="18288" anchor="t">
            <a:noAutofit/>
          </a:bodyPr>
          <a:lstStyle/>
          <a:p>
            <a:pPr algn="r">
              <a:spcBef>
                <a:spcPts val="0"/>
              </a:spcBef>
              <a:spcAft>
                <a:spcPts val="0"/>
              </a:spcAft>
            </a:pPr>
            <a:r>
              <a:rPr sz="900" b="0" i="0" lang="id-ID">
                <a:solidFill>
                  <a:srgbClr val="64748B"/>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1572768"/>
            <a:ext cx="5404104" cy="1060704"/>
          </a:xfrm>
          <a:prstGeom prst="roundRect">
            <a:avLst>
              <a:gd name="adj" fmla="val 5172"/>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6236207" y="1572768"/>
            <a:ext cx="5404104" cy="1060704"/>
          </a:xfrm>
          <a:prstGeom prst="roundRect">
            <a:avLst>
              <a:gd name="adj" fmla="val 5172"/>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548640" y="2743200"/>
            <a:ext cx="5404104" cy="1060704"/>
          </a:xfrm>
          <a:prstGeom prst="roundRect">
            <a:avLst>
              <a:gd name="adj" fmla="val 5172"/>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6236207" y="2743200"/>
            <a:ext cx="5404104" cy="1060704"/>
          </a:xfrm>
          <a:prstGeom prst="roundRect">
            <a:avLst>
              <a:gd name="adj" fmla="val 5172"/>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48640" y="3931920"/>
            <a:ext cx="11091672" cy="1371600"/>
          </a:xfrm>
          <a:prstGeom prst="roundRect">
            <a:avLst>
              <a:gd name="adj" fmla="val 5333"/>
            </a:avLst>
          </a:prstGeom>
          <a:solidFill>
            <a:srgbClr val="F0FDFA"/>
          </a:solidFill>
          <a:ln w="15875">
            <a:solidFill>
              <a:srgbClr val="99F6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8" name="Connector 7"/>
          <p:cNvCxnSpPr/>
          <p:nvPr/>
        </p:nvCxnSpPr>
        <p:spPr>
          <a:xfrm>
            <a:off x="548640" y="1371600"/>
            <a:ext cx="11091672" cy="914"/>
          </a:xfrm>
          <a:prstGeom prst="line">
            <a:avLst/>
          </a:prstGeom>
          <a:ln w="19050">
            <a:solidFill>
              <a:srgbClr val="0E749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68096" y="1700784"/>
            <a:ext cx="4965192" cy="219456"/>
          </a:xfrm>
          <a:prstGeom prst="rect">
            <a:avLst/>
          </a:prstGeom>
          <a:noFill/>
        </p:spPr>
        <p:txBody>
          <a:bodyPr wrap="square" lIns="0" rIns="0" tIns="18288" bIns="18288" anchor="t">
            <a:noAutofit/>
          </a:bodyPr>
          <a:lstStyle/>
          <a:p>
            <a:pPr algn="l">
              <a:spcBef>
                <a:spcPts val="0"/>
              </a:spcBef>
              <a:spcAft>
                <a:spcPts val="0"/>
              </a:spcAft>
            </a:pPr>
            <a:r>
              <a:rPr sz="1000" b="1" i="0" lang="id-ID">
                <a:solidFill>
                  <a:srgbClr val="0E7490"/>
                </a:solidFill>
                <a:latin typeface="Calibri"/>
              </a:rPr>
              <a:t>RENTANG LAPORAN PREVALENSI</a:t>
            </a:r>
          </a:p>
        </p:txBody>
      </p:sp>
      <p:sp>
        <p:nvSpPr>
          <p:cNvPr id="10" name="TextBox 9"/>
          <p:cNvSpPr txBox="1"/>
          <p:nvPr/>
        </p:nvSpPr>
        <p:spPr>
          <a:xfrm>
            <a:off x="768096" y="2249424"/>
            <a:ext cx="4965192" cy="256032"/>
          </a:xfrm>
          <a:prstGeom prst="rect">
            <a:avLst/>
          </a:prstGeom>
          <a:noFill/>
        </p:spPr>
        <p:txBody>
          <a:bodyPr wrap="square" lIns="0" rIns="0" tIns="18288" bIns="18288" anchor="t">
            <a:noAutofit/>
          </a:bodyPr>
          <a:lstStyle/>
          <a:p>
            <a:pPr algn="l">
              <a:spcBef>
                <a:spcPts val="0"/>
              </a:spcBef>
              <a:spcAft>
                <a:spcPts val="0"/>
              </a:spcAft>
            </a:pPr>
            <a:r>
              <a:rPr sz="1100" b="0" i="0" lang="id-ID">
                <a:solidFill>
                  <a:srgbClr val="64748B"/>
                </a:solidFill>
                <a:latin typeface="Calibri"/>
              </a:rPr>
              <a:t>Selisih &gt;14 kali antar studi sulit ditafsirkan</a:t>
            </a:r>
          </a:p>
        </p:txBody>
      </p:sp>
      <p:sp>
        <p:nvSpPr>
          <p:cNvPr id="11" name="TextBox 10"/>
          <p:cNvSpPr txBox="1"/>
          <p:nvPr/>
        </p:nvSpPr>
        <p:spPr>
          <a:xfrm>
            <a:off x="768096" y="1938528"/>
            <a:ext cx="4965192" cy="310896"/>
          </a:xfrm>
          <a:prstGeom prst="rect">
            <a:avLst/>
          </a:prstGeom>
          <a:noFill/>
        </p:spPr>
        <p:txBody>
          <a:bodyPr wrap="square" lIns="0" rIns="0" tIns="18288" bIns="18288" anchor="t">
            <a:noAutofit/>
          </a:bodyPr>
          <a:lstStyle/>
          <a:p>
            <a:pPr algn="l">
              <a:spcBef>
                <a:spcPts val="0"/>
              </a:spcBef>
              <a:spcAft>
                <a:spcPts val="0"/>
              </a:spcAft>
            </a:pPr>
            <a:r>
              <a:rPr sz="1500" b="1" i="0" lang="id-ID">
                <a:solidFill>
                  <a:srgbClr val="0F172A"/>
                </a:solidFill>
                <a:latin typeface="Calibri"/>
              </a:rPr>
              <a:t>2,8% – 40,2%</a:t>
            </a:r>
          </a:p>
        </p:txBody>
      </p:sp>
      <p:sp>
        <p:nvSpPr>
          <p:cNvPr id="12" name="TextBox 11"/>
          <p:cNvSpPr txBox="1"/>
          <p:nvPr/>
        </p:nvSpPr>
        <p:spPr>
          <a:xfrm>
            <a:off x="6455664" y="1700784"/>
            <a:ext cx="4965192" cy="219456"/>
          </a:xfrm>
          <a:prstGeom prst="rect">
            <a:avLst/>
          </a:prstGeom>
          <a:noFill/>
        </p:spPr>
        <p:txBody>
          <a:bodyPr wrap="square" lIns="0" rIns="0" tIns="18288" bIns="18288" anchor="t">
            <a:noAutofit/>
          </a:bodyPr>
          <a:lstStyle/>
          <a:p>
            <a:pPr algn="l">
              <a:spcBef>
                <a:spcPts val="0"/>
              </a:spcBef>
              <a:spcAft>
                <a:spcPts val="0"/>
              </a:spcAft>
            </a:pPr>
            <a:r>
              <a:rPr sz="1000" b="1" i="0" lang="id-ID">
                <a:solidFill>
                  <a:srgbClr val="0E7490"/>
                </a:solidFill>
                <a:latin typeface="Calibri"/>
              </a:rPr>
              <a:t>AKAR MASALAH</a:t>
            </a:r>
          </a:p>
        </p:txBody>
      </p:sp>
      <p:sp>
        <p:nvSpPr>
          <p:cNvPr id="13" name="TextBox 12"/>
          <p:cNvSpPr txBox="1"/>
          <p:nvPr/>
        </p:nvSpPr>
        <p:spPr>
          <a:xfrm>
            <a:off x="6455664" y="2249424"/>
            <a:ext cx="4965192" cy="256032"/>
          </a:xfrm>
          <a:prstGeom prst="rect">
            <a:avLst/>
          </a:prstGeom>
          <a:noFill/>
        </p:spPr>
        <p:txBody>
          <a:bodyPr wrap="square" lIns="0" rIns="0" tIns="18288" bIns="18288" anchor="t">
            <a:noAutofit/>
          </a:bodyPr>
          <a:lstStyle/>
          <a:p>
            <a:pPr algn="l">
              <a:spcBef>
                <a:spcPts val="0"/>
              </a:spcBef>
              <a:spcAft>
                <a:spcPts val="0"/>
              </a:spcAft>
            </a:pPr>
            <a:r>
              <a:rPr sz="1100" b="0" i="0" lang="id-ID">
                <a:solidFill>
                  <a:srgbClr val="64748B"/>
                </a:solidFill>
                <a:latin typeface="Calibri"/>
              </a:rPr>
              <a:t>Perbedaan definisi antar peneliti/klinisi</a:t>
            </a:r>
          </a:p>
        </p:txBody>
      </p:sp>
      <p:sp>
        <p:nvSpPr>
          <p:cNvPr id="14" name="TextBox 13"/>
          <p:cNvSpPr txBox="1"/>
          <p:nvPr/>
        </p:nvSpPr>
        <p:spPr>
          <a:xfrm>
            <a:off x="6455664" y="1938528"/>
            <a:ext cx="4965192" cy="310896"/>
          </a:xfrm>
          <a:prstGeom prst="rect">
            <a:avLst/>
          </a:prstGeom>
          <a:noFill/>
        </p:spPr>
        <p:txBody>
          <a:bodyPr wrap="square" lIns="0" rIns="0" tIns="18288" bIns="18288" anchor="t">
            <a:noAutofit/>
          </a:bodyPr>
          <a:lstStyle/>
          <a:p>
            <a:pPr algn="l">
              <a:spcBef>
                <a:spcPts val="0"/>
              </a:spcBef>
              <a:spcAft>
                <a:spcPts val="0"/>
              </a:spcAft>
            </a:pPr>
            <a:r>
              <a:rPr sz="1500" b="1" i="0" lang="id-ID">
                <a:solidFill>
                  <a:srgbClr val="0F172A"/>
                </a:solidFill>
                <a:latin typeface="Calibri"/>
              </a:rPr>
              <a:t>Kriteria diagnostik belum seragam</a:t>
            </a:r>
          </a:p>
        </p:txBody>
      </p:sp>
      <p:sp>
        <p:nvSpPr>
          <p:cNvPr id="15" name="TextBox 14"/>
          <p:cNvSpPr txBox="1"/>
          <p:nvPr/>
        </p:nvSpPr>
        <p:spPr>
          <a:xfrm>
            <a:off x="768096" y="2871216"/>
            <a:ext cx="4965192" cy="219456"/>
          </a:xfrm>
          <a:prstGeom prst="rect">
            <a:avLst/>
          </a:prstGeom>
          <a:noFill/>
        </p:spPr>
        <p:txBody>
          <a:bodyPr wrap="square" lIns="0" rIns="0" tIns="18288" bIns="18288" anchor="t">
            <a:noAutofit/>
          </a:bodyPr>
          <a:lstStyle/>
          <a:p>
            <a:pPr algn="l">
              <a:spcBef>
                <a:spcPts val="0"/>
              </a:spcBef>
              <a:spcAft>
                <a:spcPts val="0"/>
              </a:spcAft>
            </a:pPr>
            <a:r>
              <a:rPr sz="1000" b="1" i="0" lang="id-ID">
                <a:solidFill>
                  <a:srgbClr val="0E7490"/>
                </a:solidFill>
                <a:latin typeface="Calibri"/>
              </a:rPr>
              <a:t>BUKTI SEBELUMNYA</a:t>
            </a:r>
          </a:p>
        </p:txBody>
      </p:sp>
      <p:sp>
        <p:nvSpPr>
          <p:cNvPr id="16" name="TextBox 15"/>
          <p:cNvSpPr txBox="1"/>
          <p:nvPr/>
        </p:nvSpPr>
        <p:spPr>
          <a:xfrm>
            <a:off x="768096" y="3419856"/>
            <a:ext cx="4965192" cy="256032"/>
          </a:xfrm>
          <a:prstGeom prst="rect">
            <a:avLst/>
          </a:prstGeom>
          <a:noFill/>
        </p:spPr>
        <p:txBody>
          <a:bodyPr wrap="square" lIns="0" rIns="0" tIns="18288" bIns="18288" anchor="t">
            <a:noAutofit/>
          </a:bodyPr>
          <a:lstStyle/>
          <a:p>
            <a:pPr algn="l">
              <a:spcBef>
                <a:spcPts val="0"/>
              </a:spcBef>
              <a:spcAft>
                <a:spcPts val="0"/>
              </a:spcAft>
            </a:pPr>
            <a:r>
              <a:rPr sz="1100" b="0" i="0" lang="id-ID">
                <a:solidFill>
                  <a:srgbClr val="64748B"/>
                </a:solidFill>
                <a:latin typeface="Calibri"/>
              </a:rPr>
              <a:t>Pencarian hanya sampai pertengahan 2017</a:t>
            </a:r>
          </a:p>
        </p:txBody>
      </p:sp>
      <p:sp>
        <p:nvSpPr>
          <p:cNvPr id="17" name="TextBox 16"/>
          <p:cNvSpPr txBox="1"/>
          <p:nvPr/>
        </p:nvSpPr>
        <p:spPr>
          <a:xfrm>
            <a:off x="768096" y="3108960"/>
            <a:ext cx="4965192" cy="310896"/>
          </a:xfrm>
          <a:prstGeom prst="rect">
            <a:avLst/>
          </a:prstGeom>
          <a:noFill/>
        </p:spPr>
        <p:txBody>
          <a:bodyPr wrap="square" lIns="0" rIns="0" tIns="18288" bIns="18288" anchor="t">
            <a:noAutofit/>
          </a:bodyPr>
          <a:lstStyle/>
          <a:p>
            <a:pPr algn="l">
              <a:spcBef>
                <a:spcPts val="0"/>
              </a:spcBef>
              <a:spcAft>
                <a:spcPts val="0"/>
              </a:spcAft>
            </a:pPr>
            <a:r>
              <a:rPr sz="1500" b="1" i="0" lang="id-ID">
                <a:solidFill>
                  <a:srgbClr val="0F172A"/>
                </a:solidFill>
                <a:latin typeface="Calibri"/>
              </a:rPr>
              <a:t>SR 2018: 13,1% dan 14,2%</a:t>
            </a:r>
          </a:p>
        </p:txBody>
      </p:sp>
      <p:sp>
        <p:nvSpPr>
          <p:cNvPr id="18" name="TextBox 17"/>
          <p:cNvSpPr txBox="1"/>
          <p:nvPr/>
        </p:nvSpPr>
        <p:spPr>
          <a:xfrm>
            <a:off x="6455664" y="2871216"/>
            <a:ext cx="4965192" cy="219456"/>
          </a:xfrm>
          <a:prstGeom prst="rect">
            <a:avLst/>
          </a:prstGeom>
          <a:noFill/>
        </p:spPr>
        <p:txBody>
          <a:bodyPr wrap="square" lIns="0" rIns="0" tIns="18288" bIns="18288" anchor="t">
            <a:noAutofit/>
          </a:bodyPr>
          <a:lstStyle/>
          <a:p>
            <a:pPr algn="l">
              <a:spcBef>
                <a:spcPts val="0"/>
              </a:spcBef>
              <a:spcAft>
                <a:spcPts val="0"/>
              </a:spcAft>
            </a:pPr>
            <a:r>
              <a:rPr sz="1000" b="1" i="0" lang="id-ID">
                <a:solidFill>
                  <a:srgbClr val="0E7490"/>
                </a:solidFill>
                <a:latin typeface="Calibri"/>
              </a:rPr>
              <a:t>BELUM TERGALI</a:t>
            </a:r>
          </a:p>
        </p:txBody>
      </p:sp>
      <p:sp>
        <p:nvSpPr>
          <p:cNvPr id="19" name="TextBox 18"/>
          <p:cNvSpPr txBox="1"/>
          <p:nvPr/>
        </p:nvSpPr>
        <p:spPr>
          <a:xfrm>
            <a:off x="6455664" y="3419856"/>
            <a:ext cx="4965192" cy="256032"/>
          </a:xfrm>
          <a:prstGeom prst="rect">
            <a:avLst/>
          </a:prstGeom>
          <a:noFill/>
        </p:spPr>
        <p:txBody>
          <a:bodyPr wrap="square" lIns="0" rIns="0" tIns="18288" bIns="18288" anchor="t">
            <a:noAutofit/>
          </a:bodyPr>
          <a:lstStyle/>
          <a:p>
            <a:pPr algn="l">
              <a:spcBef>
                <a:spcPts val="0"/>
              </a:spcBef>
              <a:spcAft>
                <a:spcPts val="0"/>
              </a:spcAft>
            </a:pPr>
            <a:r>
              <a:rPr sz="1100" b="0" i="0" lang="id-ID">
                <a:solidFill>
                  <a:srgbClr val="64748B"/>
                </a:solidFill>
                <a:latin typeface="Calibri"/>
              </a:rPr>
              <a:t>Data karakteristik klinis masih sangat sedikit</a:t>
            </a:r>
          </a:p>
        </p:txBody>
      </p:sp>
      <p:sp>
        <p:nvSpPr>
          <p:cNvPr id="20" name="TextBox 19"/>
          <p:cNvSpPr txBox="1"/>
          <p:nvPr/>
        </p:nvSpPr>
        <p:spPr>
          <a:xfrm>
            <a:off x="6455664" y="3108960"/>
            <a:ext cx="4965192" cy="310896"/>
          </a:xfrm>
          <a:prstGeom prst="rect">
            <a:avLst/>
          </a:prstGeom>
          <a:noFill/>
        </p:spPr>
        <p:txBody>
          <a:bodyPr wrap="square" lIns="0" rIns="0" tIns="18288" bIns="18288" anchor="t">
            <a:noAutofit/>
          </a:bodyPr>
          <a:lstStyle/>
          <a:p>
            <a:pPr algn="l">
              <a:spcBef>
                <a:spcPts val="0"/>
              </a:spcBef>
              <a:spcAft>
                <a:spcPts val="0"/>
              </a:spcAft>
            </a:pPr>
            <a:r>
              <a:rPr sz="1500" b="1" i="0" lang="id-ID">
                <a:solidFill>
                  <a:srgbClr val="0F172A"/>
                </a:solidFill>
                <a:latin typeface="Calibri"/>
              </a:rPr>
              <a:t>Keparahan, gigi terkena, HSPM</a:t>
            </a:r>
          </a:p>
        </p:txBody>
      </p:sp>
      <p:sp>
        <p:nvSpPr>
          <p:cNvPr id="21" name="TextBox 20"/>
          <p:cNvSpPr txBox="1"/>
          <p:nvPr/>
        </p:nvSpPr>
        <p:spPr>
          <a:xfrm>
            <a:off x="822959" y="4114800"/>
            <a:ext cx="10543032" cy="1005840"/>
          </a:xfrm>
          <a:prstGeom prst="rect">
            <a:avLst/>
          </a:prstGeom>
          <a:noFill/>
        </p:spPr>
        <p:txBody>
          <a:bodyPr wrap="square" lIns="0" rIns="0" tIns="18288" bIns="18288" anchor="t">
            <a:noAutofit/>
          </a:bodyPr>
          <a:lstStyle/>
          <a:p>
            <a:pPr algn="l">
              <a:lnSpc>
                <a:spcPct val="100000"/>
              </a:lnSpc>
              <a:spcBef>
                <a:spcPts val="0"/>
              </a:spcBef>
              <a:spcAft>
                <a:spcPts val="0"/>
              </a:spcAft>
            </a:pPr>
            <a:r>
              <a:rPr sz="1250" b="0" i="0" lang="id-ID">
                <a:solidFill>
                  <a:srgbClr val="0F172A"/>
                </a:solidFill>
                <a:latin typeface="Calibri"/>
              </a:rPr>
              <a:t>Celah penelitian yang diisi artikel ini</a:t>
            </a:r>
          </a:p>
          <a:p>
            <a:pPr algn="l">
              <a:lnSpc>
                <a:spcPct val="100000"/>
              </a:lnSpc>
              <a:spcBef>
                <a:spcPts val="0"/>
              </a:spcBef>
              <a:spcAft>
                <a:spcPts val="0"/>
              </a:spcAft>
            </a:pPr>
            <a:r>
              <a:rPr sz="1250" b="0" i="0" lang="id-ID">
                <a:solidFill>
                  <a:srgbClr val="0F172A"/>
                </a:solidFill>
                <a:latin typeface="Calibri"/>
              </a:rPr>
              <a:t>Belum ada estimasi global terbaru yang (a) memakai kriteria EAPD 2003 secara konsisten, dan (b) sekaligus menjawab pertanyaan klinis turunan: berapa proporsi kasus sedang–berat, berapa banyak molar/insisivus yang terkena, dan seberapa sering HSPM menyertai MIH.</a:t>
            </a:r>
          </a:p>
        </p:txBody>
      </p:sp>
      <p:sp>
        <p:nvSpPr>
          <p:cNvPr id="22" name="TextBox 21"/>
          <p:cNvSpPr txBox="1"/>
          <p:nvPr/>
        </p:nvSpPr>
        <p:spPr>
          <a:xfrm>
            <a:off x="548640" y="274320"/>
            <a:ext cx="8229600" cy="237744"/>
          </a:xfrm>
          <a:prstGeom prst="rect">
            <a:avLst/>
          </a:prstGeom>
          <a:noFill/>
        </p:spPr>
        <p:txBody>
          <a:bodyPr wrap="square" lIns="0" rIns="0" tIns="18288" bIns="18288" anchor="t">
            <a:noAutofit/>
          </a:bodyPr>
          <a:lstStyle/>
          <a:p>
            <a:pPr algn="l">
              <a:spcBef>
                <a:spcPts val="0"/>
              </a:spcBef>
              <a:spcAft>
                <a:spcPts val="0"/>
              </a:spcAft>
            </a:pPr>
            <a:r>
              <a:rPr sz="1000" b="1" i="0" lang="id-ID">
                <a:solidFill>
                  <a:srgbClr val="0E7490"/>
                </a:solidFill>
                <a:latin typeface="Calibri"/>
              </a:rPr>
              <a:t>LATAR BELAKANG (2/2)</a:t>
            </a:r>
          </a:p>
        </p:txBody>
      </p:sp>
      <p:sp>
        <p:nvSpPr>
          <p:cNvPr id="23" name="TextBox 22"/>
          <p:cNvSpPr txBox="1"/>
          <p:nvPr/>
        </p:nvSpPr>
        <p:spPr>
          <a:xfrm>
            <a:off x="548640" y="530352"/>
            <a:ext cx="11091672" cy="786384"/>
          </a:xfrm>
          <a:prstGeom prst="rect">
            <a:avLst/>
          </a:prstGeom>
          <a:noFill/>
        </p:spPr>
        <p:txBody>
          <a:bodyPr wrap="square" lIns="0" rIns="0" tIns="18288" bIns="18288" anchor="t">
            <a:noAutofit/>
          </a:bodyPr>
          <a:lstStyle/>
          <a:p>
            <a:pPr algn="l">
              <a:lnSpc>
                <a:spcPct val="95000"/>
              </a:lnSpc>
              <a:spcBef>
                <a:spcPts val="0"/>
              </a:spcBef>
              <a:spcAft>
                <a:spcPts val="0"/>
              </a:spcAft>
            </a:pPr>
            <a:r>
              <a:rPr sz="2500" b="1" i="0" lang="id-ID">
                <a:solidFill>
                  <a:srgbClr val="0F172A"/>
                </a:solidFill>
                <a:latin typeface="Calibri"/>
              </a:rPr>
              <a:t>Rentang 2,8%–40,2% menunjukkan masalah standardisasi, bukan sekadar variasi nyata</a:t>
            </a:r>
          </a:p>
        </p:txBody>
      </p:sp>
      <p:sp>
        <p:nvSpPr>
          <p:cNvPr id="24" name="TextBox 23"/>
          <p:cNvSpPr txBox="1"/>
          <p:nvPr/>
        </p:nvSpPr>
        <p:spPr>
          <a:xfrm>
            <a:off x="548640" y="6291072"/>
            <a:ext cx="9692640" cy="274320"/>
          </a:xfrm>
          <a:prstGeom prst="rect">
            <a:avLst/>
          </a:prstGeom>
          <a:noFill/>
        </p:spPr>
        <p:txBody>
          <a:bodyPr wrap="square" lIns="0" rIns="0" tIns="18288" bIns="18288" anchor="t">
            <a:noAutofit/>
          </a:bodyPr>
          <a:lstStyle/>
          <a:p>
            <a:pPr algn="l">
              <a:spcBef>
                <a:spcPts val="0"/>
              </a:spcBef>
              <a:spcAft>
                <a:spcPts val="0"/>
              </a:spcAft>
            </a:pPr>
            <a:r>
              <a:rPr sz="900" b="0" i="0" lang="id-ID">
                <a:solidFill>
                  <a:srgbClr val="64748B"/>
                </a:solidFill>
                <a:latin typeface="Calibri"/>
              </a:rPr>
              <a:t>Sumber utama: Lopes LB, Machado V, Mascarenhas P, Mendes JJ, Botelho J. Sci Rep 2021;11:22405 (CC BY 4.0)</a:t>
            </a:r>
          </a:p>
        </p:txBody>
      </p:sp>
      <p:sp>
        <p:nvSpPr>
          <p:cNvPr id="25" name="TextBox 24"/>
          <p:cNvSpPr txBox="1"/>
          <p:nvPr/>
        </p:nvSpPr>
        <p:spPr>
          <a:xfrm>
            <a:off x="10698480" y="6291072"/>
            <a:ext cx="941832" cy="274320"/>
          </a:xfrm>
          <a:prstGeom prst="rect">
            <a:avLst/>
          </a:prstGeom>
          <a:noFill/>
        </p:spPr>
        <p:txBody>
          <a:bodyPr wrap="square" lIns="0" rIns="0" tIns="18288" bIns="18288" anchor="t">
            <a:noAutofit/>
          </a:bodyPr>
          <a:lstStyle/>
          <a:p>
            <a:pPr algn="r">
              <a:spcBef>
                <a:spcPts val="0"/>
              </a:spcBef>
              <a:spcAft>
                <a:spcPts val="0"/>
              </a:spcAft>
            </a:pPr>
            <a:r>
              <a:rPr sz="900" b="0" i="0" lang="id-ID">
                <a:solidFill>
                  <a:srgbClr val="64748B"/>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200400"/>
            <a:ext cx="11091672" cy="566928"/>
          </a:xfrm>
          <a:prstGeom prst="roundRect">
            <a:avLst>
              <a:gd name="adj" fmla="val 9677"/>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548640" y="3291840"/>
            <a:ext cx="64008" cy="384048"/>
          </a:xfrm>
          <a:prstGeom prst="roundRect">
            <a:avLst>
              <a:gd name="adj" fmla="val 50000"/>
            </a:avLst>
          </a:prstGeom>
          <a:solidFill>
            <a:srgbClr val="0E7490"/>
          </a:solidFill>
          <a:ln w="635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548640" y="3858768"/>
            <a:ext cx="11091672" cy="566928"/>
          </a:xfrm>
          <a:prstGeom prst="roundRect">
            <a:avLst>
              <a:gd name="adj" fmla="val 9677"/>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548640" y="3950207"/>
            <a:ext cx="64008" cy="384048"/>
          </a:xfrm>
          <a:prstGeom prst="roundRect">
            <a:avLst>
              <a:gd name="adj" fmla="val 50000"/>
            </a:avLst>
          </a:prstGeom>
          <a:solidFill>
            <a:srgbClr val="99F6E4"/>
          </a:solidFill>
          <a:ln w="6350">
            <a:solidFill>
              <a:srgbClr val="99F6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48640" y="4517136"/>
            <a:ext cx="11091672" cy="566928"/>
          </a:xfrm>
          <a:prstGeom prst="roundRect">
            <a:avLst>
              <a:gd name="adj" fmla="val 9677"/>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548640" y="4608575"/>
            <a:ext cx="64008" cy="384048"/>
          </a:xfrm>
          <a:prstGeom prst="roundRect">
            <a:avLst>
              <a:gd name="adj" fmla="val 50000"/>
            </a:avLst>
          </a:prstGeom>
          <a:solidFill>
            <a:srgbClr val="99F6E4"/>
          </a:solidFill>
          <a:ln w="6350">
            <a:solidFill>
              <a:srgbClr val="99F6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48640" y="5175504"/>
            <a:ext cx="11091672" cy="566928"/>
          </a:xfrm>
          <a:prstGeom prst="roundRect">
            <a:avLst>
              <a:gd name="adj" fmla="val 9677"/>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548640" y="5266944"/>
            <a:ext cx="64008" cy="384048"/>
          </a:xfrm>
          <a:prstGeom prst="roundRect">
            <a:avLst>
              <a:gd name="adj" fmla="val 50000"/>
            </a:avLst>
          </a:prstGeom>
          <a:solidFill>
            <a:srgbClr val="99F6E4"/>
          </a:solidFill>
          <a:ln w="6350">
            <a:solidFill>
              <a:srgbClr val="99F6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548640" y="1572768"/>
            <a:ext cx="11091672" cy="1417320"/>
          </a:xfrm>
          <a:prstGeom prst="roundRect">
            <a:avLst>
              <a:gd name="adj" fmla="val 5161"/>
            </a:avLst>
          </a:prstGeom>
          <a:solidFill>
            <a:srgbClr val="F0FDFA"/>
          </a:solidFill>
          <a:ln w="15875">
            <a:solidFill>
              <a:srgbClr val="99F6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2" name="Connector 11"/>
          <p:cNvCxnSpPr/>
          <p:nvPr/>
        </p:nvCxnSpPr>
        <p:spPr>
          <a:xfrm>
            <a:off x="548640" y="1371600"/>
            <a:ext cx="11091672" cy="914"/>
          </a:xfrm>
          <a:prstGeom prst="line">
            <a:avLst/>
          </a:prstGeom>
          <a:ln w="19050">
            <a:solidFill>
              <a:srgbClr val="0E749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48640" y="274320"/>
            <a:ext cx="8229600" cy="237744"/>
          </a:xfrm>
          <a:prstGeom prst="rect">
            <a:avLst/>
          </a:prstGeom>
          <a:noFill/>
        </p:spPr>
        <p:txBody>
          <a:bodyPr wrap="square" lIns="0" rIns="0" tIns="18288" bIns="18288" anchor="t">
            <a:noAutofit/>
          </a:bodyPr>
          <a:lstStyle/>
          <a:p>
            <a:pPr algn="l">
              <a:spcBef>
                <a:spcPts val="0"/>
              </a:spcBef>
              <a:spcAft>
                <a:spcPts val="0"/>
              </a:spcAft>
            </a:pPr>
            <a:r>
              <a:rPr sz="1000" b="1" i="0" lang="id-ID">
                <a:solidFill>
                  <a:srgbClr val="0E7490"/>
                </a:solidFill>
                <a:latin typeface="Calibri"/>
              </a:rPr>
              <a:t>TUJUAN</a:t>
            </a:r>
          </a:p>
        </p:txBody>
      </p:sp>
      <p:sp>
        <p:nvSpPr>
          <p:cNvPr id="14" name="TextBox 13"/>
          <p:cNvSpPr txBox="1"/>
          <p:nvPr/>
        </p:nvSpPr>
        <p:spPr>
          <a:xfrm>
            <a:off x="3246120" y="3310128"/>
            <a:ext cx="8138160" cy="329184"/>
          </a:xfrm>
          <a:prstGeom prst="rect">
            <a:avLst/>
          </a:prstGeom>
          <a:noFill/>
        </p:spPr>
        <p:txBody>
          <a:bodyPr wrap="square" lIns="0" rIns="0" tIns="18288" bIns="18288" anchor="t">
            <a:noAutofit/>
          </a:bodyPr>
          <a:lstStyle/>
          <a:p>
            <a:pPr algn="l">
              <a:spcBef>
                <a:spcPts val="0"/>
              </a:spcBef>
              <a:spcAft>
                <a:spcPts val="0"/>
              </a:spcAft>
            </a:pPr>
            <a:r>
              <a:rPr sz="1300" b="0" i="0" lang="id-ID">
                <a:solidFill>
                  <a:srgbClr val="334155"/>
                </a:solidFill>
                <a:latin typeface="Calibri"/>
              </a:rPr>
              <a:t>Prevalensi global MIH</a:t>
            </a:r>
          </a:p>
        </p:txBody>
      </p:sp>
      <p:sp>
        <p:nvSpPr>
          <p:cNvPr id="15" name="TextBox 14"/>
          <p:cNvSpPr txBox="1"/>
          <p:nvPr/>
        </p:nvSpPr>
        <p:spPr>
          <a:xfrm>
            <a:off x="804672" y="3328416"/>
            <a:ext cx="2377440" cy="310896"/>
          </a:xfrm>
          <a:prstGeom prst="rect">
            <a:avLst/>
          </a:prstGeom>
          <a:noFill/>
        </p:spPr>
        <p:txBody>
          <a:bodyPr wrap="square" lIns="0" rIns="0" tIns="18288" bIns="18288" anchor="t">
            <a:noAutofit/>
          </a:bodyPr>
          <a:lstStyle/>
          <a:p>
            <a:pPr algn="l">
              <a:spcBef>
                <a:spcPts val="0"/>
              </a:spcBef>
              <a:spcAft>
                <a:spcPts val="0"/>
              </a:spcAft>
            </a:pPr>
            <a:r>
              <a:rPr sz="1100" b="1" i="0" lang="id-ID">
                <a:solidFill>
                  <a:srgbClr val="0E7490"/>
                </a:solidFill>
                <a:latin typeface="Calibri"/>
              </a:rPr>
              <a:t>LUARAN PRIMER</a:t>
            </a:r>
          </a:p>
        </p:txBody>
      </p:sp>
      <p:sp>
        <p:nvSpPr>
          <p:cNvPr id="16" name="TextBox 15"/>
          <p:cNvSpPr txBox="1"/>
          <p:nvPr/>
        </p:nvSpPr>
        <p:spPr>
          <a:xfrm>
            <a:off x="3246120" y="3968496"/>
            <a:ext cx="8138160" cy="329184"/>
          </a:xfrm>
          <a:prstGeom prst="rect">
            <a:avLst/>
          </a:prstGeom>
          <a:noFill/>
        </p:spPr>
        <p:txBody>
          <a:bodyPr wrap="square" lIns="0" rIns="0" tIns="18288" bIns="18288" anchor="t">
            <a:noAutofit/>
          </a:bodyPr>
          <a:lstStyle/>
          <a:p>
            <a:pPr algn="l">
              <a:spcBef>
                <a:spcPts val="0"/>
              </a:spcBef>
              <a:spcAft>
                <a:spcPts val="0"/>
              </a:spcAft>
            </a:pPr>
            <a:r>
              <a:rPr sz="1300" b="0" i="0" lang="id-ID">
                <a:solidFill>
                  <a:srgbClr val="334155"/>
                </a:solidFill>
                <a:latin typeface="Calibri"/>
              </a:rPr>
              <a:t>Prevalensi kasus MIH sedang–berat</a:t>
            </a:r>
          </a:p>
        </p:txBody>
      </p:sp>
      <p:sp>
        <p:nvSpPr>
          <p:cNvPr id="17" name="TextBox 16"/>
          <p:cNvSpPr txBox="1"/>
          <p:nvPr/>
        </p:nvSpPr>
        <p:spPr>
          <a:xfrm>
            <a:off x="804672" y="3986783"/>
            <a:ext cx="2377440" cy="310896"/>
          </a:xfrm>
          <a:prstGeom prst="rect">
            <a:avLst/>
          </a:prstGeom>
          <a:noFill/>
        </p:spPr>
        <p:txBody>
          <a:bodyPr wrap="square" lIns="0" rIns="0" tIns="18288" bIns="18288" anchor="t">
            <a:noAutofit/>
          </a:bodyPr>
          <a:lstStyle/>
          <a:p>
            <a:pPr algn="l">
              <a:spcBef>
                <a:spcPts val="0"/>
              </a:spcBef>
              <a:spcAft>
                <a:spcPts val="0"/>
              </a:spcAft>
            </a:pPr>
            <a:r>
              <a:rPr sz="1100" b="1" i="0" lang="id-ID">
                <a:solidFill>
                  <a:srgbClr val="0E7490"/>
                </a:solidFill>
                <a:latin typeface="Calibri"/>
              </a:rPr>
              <a:t>SEKUNDER 1</a:t>
            </a:r>
          </a:p>
        </p:txBody>
      </p:sp>
      <p:sp>
        <p:nvSpPr>
          <p:cNvPr id="18" name="TextBox 17"/>
          <p:cNvSpPr txBox="1"/>
          <p:nvPr/>
        </p:nvSpPr>
        <p:spPr>
          <a:xfrm>
            <a:off x="3246120" y="4626864"/>
            <a:ext cx="8138160" cy="329184"/>
          </a:xfrm>
          <a:prstGeom prst="rect">
            <a:avLst/>
          </a:prstGeom>
          <a:noFill/>
        </p:spPr>
        <p:txBody>
          <a:bodyPr wrap="square" lIns="0" rIns="0" tIns="18288" bIns="18288" anchor="t">
            <a:noAutofit/>
          </a:bodyPr>
          <a:lstStyle/>
          <a:p>
            <a:pPr algn="l">
              <a:spcBef>
                <a:spcPts val="0"/>
              </a:spcBef>
              <a:spcAft>
                <a:spcPts val="0"/>
              </a:spcAft>
            </a:pPr>
            <a:r>
              <a:rPr sz="1300" b="0" i="0" lang="id-ID">
                <a:solidFill>
                  <a:srgbClr val="334155"/>
                </a:solidFill>
                <a:latin typeface="Calibri"/>
              </a:rPr>
              <a:t>Jumlah molar pertama permanen yang terkena (1–4 gigi)</a:t>
            </a:r>
          </a:p>
        </p:txBody>
      </p:sp>
      <p:sp>
        <p:nvSpPr>
          <p:cNvPr id="19" name="TextBox 18"/>
          <p:cNvSpPr txBox="1"/>
          <p:nvPr/>
        </p:nvSpPr>
        <p:spPr>
          <a:xfrm>
            <a:off x="804672" y="4645151"/>
            <a:ext cx="2377440" cy="310896"/>
          </a:xfrm>
          <a:prstGeom prst="rect">
            <a:avLst/>
          </a:prstGeom>
          <a:noFill/>
        </p:spPr>
        <p:txBody>
          <a:bodyPr wrap="square" lIns="0" rIns="0" tIns="18288" bIns="18288" anchor="t">
            <a:noAutofit/>
          </a:bodyPr>
          <a:lstStyle/>
          <a:p>
            <a:pPr algn="l">
              <a:spcBef>
                <a:spcPts val="0"/>
              </a:spcBef>
              <a:spcAft>
                <a:spcPts val="0"/>
              </a:spcAft>
            </a:pPr>
            <a:r>
              <a:rPr sz="1100" b="1" i="0" lang="id-ID">
                <a:solidFill>
                  <a:srgbClr val="0E7490"/>
                </a:solidFill>
                <a:latin typeface="Calibri"/>
              </a:rPr>
              <a:t>SEKUNDER 2</a:t>
            </a:r>
          </a:p>
        </p:txBody>
      </p:sp>
      <p:sp>
        <p:nvSpPr>
          <p:cNvPr id="20" name="TextBox 19"/>
          <p:cNvSpPr txBox="1"/>
          <p:nvPr/>
        </p:nvSpPr>
        <p:spPr>
          <a:xfrm>
            <a:off x="3246120" y="5285232"/>
            <a:ext cx="8138160" cy="329184"/>
          </a:xfrm>
          <a:prstGeom prst="rect">
            <a:avLst/>
          </a:prstGeom>
          <a:noFill/>
        </p:spPr>
        <p:txBody>
          <a:bodyPr wrap="square" lIns="0" rIns="0" tIns="18288" bIns="18288" anchor="t">
            <a:noAutofit/>
          </a:bodyPr>
          <a:lstStyle/>
          <a:p>
            <a:pPr algn="l">
              <a:spcBef>
                <a:spcPts val="0"/>
              </a:spcBef>
              <a:spcAft>
                <a:spcPts val="0"/>
              </a:spcAft>
            </a:pPr>
            <a:r>
              <a:rPr sz="1300" b="0" i="0" lang="id-ID">
                <a:solidFill>
                  <a:srgbClr val="334155"/>
                </a:solidFill>
                <a:latin typeface="Calibri"/>
              </a:rPr>
              <a:t>Kasus dengan insisivus terkena; prevalensi HSPM (molar kedua sulung)</a:t>
            </a:r>
          </a:p>
        </p:txBody>
      </p:sp>
      <p:sp>
        <p:nvSpPr>
          <p:cNvPr id="21" name="TextBox 20"/>
          <p:cNvSpPr txBox="1"/>
          <p:nvPr/>
        </p:nvSpPr>
        <p:spPr>
          <a:xfrm>
            <a:off x="804672" y="5303520"/>
            <a:ext cx="2377440" cy="310896"/>
          </a:xfrm>
          <a:prstGeom prst="rect">
            <a:avLst/>
          </a:prstGeom>
          <a:noFill/>
        </p:spPr>
        <p:txBody>
          <a:bodyPr wrap="square" lIns="0" rIns="0" tIns="18288" bIns="18288" anchor="t">
            <a:noAutofit/>
          </a:bodyPr>
          <a:lstStyle/>
          <a:p>
            <a:pPr algn="l">
              <a:spcBef>
                <a:spcPts val="0"/>
              </a:spcBef>
              <a:spcAft>
                <a:spcPts val="0"/>
              </a:spcAft>
            </a:pPr>
            <a:r>
              <a:rPr sz="1100" b="1" i="0" lang="id-ID">
                <a:solidFill>
                  <a:srgbClr val="0E7490"/>
                </a:solidFill>
                <a:latin typeface="Calibri"/>
              </a:rPr>
              <a:t>SEKUNDER 3 &amp; 4</a:t>
            </a:r>
          </a:p>
        </p:txBody>
      </p:sp>
      <p:sp>
        <p:nvSpPr>
          <p:cNvPr id="22" name="TextBox 21"/>
          <p:cNvSpPr txBox="1"/>
          <p:nvPr/>
        </p:nvSpPr>
        <p:spPr>
          <a:xfrm>
            <a:off x="822959" y="1737360"/>
            <a:ext cx="10543032" cy="1097280"/>
          </a:xfrm>
          <a:prstGeom prst="rect">
            <a:avLst/>
          </a:prstGeom>
          <a:noFill/>
        </p:spPr>
        <p:txBody>
          <a:bodyPr wrap="square" lIns="0" rIns="0" tIns="18288" bIns="18288" anchor="t">
            <a:noAutofit/>
          </a:bodyPr>
          <a:lstStyle/>
          <a:p>
            <a:pPr algn="l">
              <a:lnSpc>
                <a:spcPct val="105000"/>
              </a:lnSpc>
              <a:spcBef>
                <a:spcPts val="0"/>
              </a:spcBef>
              <a:spcAft>
                <a:spcPts val="0"/>
              </a:spcAft>
            </a:pPr>
            <a:r>
              <a:rPr sz="1300" b="0" i="0" lang="id-ID">
                <a:solidFill>
                  <a:srgbClr val="0F172A"/>
                </a:solidFill>
                <a:latin typeface="Calibri"/>
              </a:rPr>
              <a:t>PERTANYAAN PENELITIAN (PECO)  “Berapa prevalensi global MIH?”</a:t>
            </a:r>
          </a:p>
          <a:p>
            <a:pPr algn="l">
              <a:lnSpc>
                <a:spcPct val="105000"/>
              </a:lnSpc>
              <a:spcBef>
                <a:spcPts val="0"/>
              </a:spcBef>
              <a:spcAft>
                <a:spcPts val="0"/>
              </a:spcAft>
            </a:pPr>
            <a:r>
              <a:rPr sz="1300" b="0" i="0" lang="id-ID">
                <a:solidFill>
                  <a:srgbClr val="0F172A"/>
                </a:solidFill>
                <a:latin typeface="Calibri"/>
              </a:rPr>
              <a:t>P (Population): studi klinis/epidemiologis pada manusia   ·   E (Exposure): diagnosis MIH   ·   C (Comparison): tanpa MIH   ·   O (Outcome): prevalensi MIH</a:t>
            </a:r>
          </a:p>
        </p:txBody>
      </p:sp>
      <p:sp>
        <p:nvSpPr>
          <p:cNvPr id="23" name="TextBox 22"/>
          <p:cNvSpPr txBox="1"/>
          <p:nvPr/>
        </p:nvSpPr>
        <p:spPr>
          <a:xfrm>
            <a:off x="548640" y="530352"/>
            <a:ext cx="11091672" cy="786384"/>
          </a:xfrm>
          <a:prstGeom prst="rect">
            <a:avLst/>
          </a:prstGeom>
          <a:noFill/>
        </p:spPr>
        <p:txBody>
          <a:bodyPr wrap="square" lIns="0" rIns="0" tIns="18288" bIns="18288" anchor="t">
            <a:noAutofit/>
          </a:bodyPr>
          <a:lstStyle/>
          <a:p>
            <a:pPr algn="l">
              <a:lnSpc>
                <a:spcPct val="95000"/>
              </a:lnSpc>
              <a:spcBef>
                <a:spcPts val="0"/>
              </a:spcBef>
              <a:spcAft>
                <a:spcPts val="0"/>
              </a:spcAft>
            </a:pPr>
            <a:r>
              <a:rPr sz="2500" b="1" i="0" lang="id-ID">
                <a:solidFill>
                  <a:srgbClr val="0F172A"/>
                </a:solidFill>
                <a:latin typeface="Calibri"/>
              </a:rPr>
              <a:t>Satu pertanyaan primer (PECO) dan empat luaran sekunder yang diukur serentak</a:t>
            </a:r>
          </a:p>
        </p:txBody>
      </p:sp>
      <p:sp>
        <p:nvSpPr>
          <p:cNvPr id="24" name="TextBox 23"/>
          <p:cNvSpPr txBox="1"/>
          <p:nvPr/>
        </p:nvSpPr>
        <p:spPr>
          <a:xfrm>
            <a:off x="548640" y="6291072"/>
            <a:ext cx="9692640" cy="274320"/>
          </a:xfrm>
          <a:prstGeom prst="rect">
            <a:avLst/>
          </a:prstGeom>
          <a:noFill/>
        </p:spPr>
        <p:txBody>
          <a:bodyPr wrap="square" lIns="0" rIns="0" tIns="18288" bIns="18288" anchor="t">
            <a:noAutofit/>
          </a:bodyPr>
          <a:lstStyle/>
          <a:p>
            <a:pPr algn="l">
              <a:spcBef>
                <a:spcPts val="0"/>
              </a:spcBef>
              <a:spcAft>
                <a:spcPts val="0"/>
              </a:spcAft>
            </a:pPr>
            <a:r>
              <a:rPr sz="900" b="0" i="0" lang="id-ID">
                <a:solidFill>
                  <a:srgbClr val="64748B"/>
                </a:solidFill>
                <a:latin typeface="Calibri"/>
              </a:rPr>
              <a:t>Sumber utama: Lopes LB, Machado V, Mascarenhas P, Mendes JJ, Botelho J. Sci Rep 2021;11:22405 (CC BY 4.0)</a:t>
            </a:r>
          </a:p>
        </p:txBody>
      </p:sp>
      <p:sp>
        <p:nvSpPr>
          <p:cNvPr id="25" name="TextBox 24"/>
          <p:cNvSpPr txBox="1"/>
          <p:nvPr/>
        </p:nvSpPr>
        <p:spPr>
          <a:xfrm>
            <a:off x="10698480" y="6291072"/>
            <a:ext cx="941832" cy="274320"/>
          </a:xfrm>
          <a:prstGeom prst="rect">
            <a:avLst/>
          </a:prstGeom>
          <a:noFill/>
        </p:spPr>
        <p:txBody>
          <a:bodyPr wrap="square" lIns="0" rIns="0" tIns="18288" bIns="18288" anchor="t">
            <a:noAutofit/>
          </a:bodyPr>
          <a:lstStyle/>
          <a:p>
            <a:pPr algn="r">
              <a:spcBef>
                <a:spcPts val="0"/>
              </a:spcBef>
              <a:spcAft>
                <a:spcPts val="0"/>
              </a:spcAft>
            </a:pPr>
            <a:r>
              <a:rPr sz="900" b="0" i="0" lang="id-ID">
                <a:solidFill>
                  <a:srgbClr val="64748B"/>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1572768"/>
            <a:ext cx="3538728" cy="2377440"/>
          </a:xfrm>
          <a:prstGeom prst="roundRect">
            <a:avLst>
              <a:gd name="adj" fmla="val 2307"/>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4233672" y="1572768"/>
            <a:ext cx="3538728" cy="2377440"/>
          </a:xfrm>
          <a:prstGeom prst="roundRect">
            <a:avLst>
              <a:gd name="adj" fmla="val 2307"/>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7918704" y="1572768"/>
            <a:ext cx="3721608" cy="2377440"/>
          </a:xfrm>
          <a:prstGeom prst="roundRect">
            <a:avLst>
              <a:gd name="adj" fmla="val 2307"/>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48640" y="1371600"/>
            <a:ext cx="11091672" cy="914"/>
          </a:xfrm>
          <a:prstGeom prst="line">
            <a:avLst/>
          </a:prstGeom>
          <a:ln w="19050">
            <a:solidFill>
              <a:srgbClr val="0E749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274320"/>
            <a:ext cx="8229600" cy="237744"/>
          </a:xfrm>
          <a:prstGeom prst="rect">
            <a:avLst/>
          </a:prstGeom>
          <a:noFill/>
        </p:spPr>
        <p:txBody>
          <a:bodyPr wrap="square" lIns="0" rIns="0" tIns="18288" bIns="18288" anchor="t">
            <a:noAutofit/>
          </a:bodyPr>
          <a:lstStyle/>
          <a:p>
            <a:pPr algn="l">
              <a:spcBef>
                <a:spcPts val="0"/>
              </a:spcBef>
              <a:spcAft>
                <a:spcPts val="0"/>
              </a:spcAft>
            </a:pPr>
            <a:r>
              <a:rPr sz="1000" b="1" i="0" lang="id-ID">
                <a:solidFill>
                  <a:srgbClr val="0E7490"/>
                </a:solidFill>
                <a:latin typeface="Calibri"/>
              </a:rPr>
              <a:t>METODE (1/2)</a:t>
            </a:r>
          </a:p>
        </p:txBody>
      </p:sp>
      <p:sp>
        <p:nvSpPr>
          <p:cNvPr id="8" name="TextBox 7"/>
          <p:cNvSpPr txBox="1"/>
          <p:nvPr/>
        </p:nvSpPr>
        <p:spPr>
          <a:xfrm>
            <a:off x="768096" y="1737360"/>
            <a:ext cx="3099816" cy="2057400"/>
          </a:xfrm>
          <a:prstGeom prst="rect">
            <a:avLst/>
          </a:prstGeom>
          <a:noFill/>
        </p:spPr>
        <p:txBody>
          <a:bodyPr wrap="square" lIns="0" rIns="0" tIns="18288" bIns="18288" anchor="t">
            <a:noAutofit/>
          </a:bodyPr>
          <a:lstStyle/>
          <a:p>
            <a:pPr algn="l">
              <a:lnSpc>
                <a:spcPct val="100000"/>
              </a:lnSpc>
              <a:spcBef>
                <a:spcPts val="0"/>
              </a:spcBef>
              <a:spcAft>
                <a:spcPts val="0"/>
              </a:spcAft>
            </a:pPr>
            <a:r>
              <a:rPr sz="1200" b="0" i="0" lang="id-ID">
                <a:solidFill>
                  <a:srgbClr val="334155"/>
                </a:solidFill>
                <a:latin typeface="Calibri"/>
              </a:rPr>
              <a:t>DESAIN &amp; REGISTRASI</a:t>
            </a:r>
          </a:p>
          <a:p>
            <a:pPr algn="l">
              <a:lnSpc>
                <a:spcPct val="100000"/>
              </a:lnSpc>
              <a:spcBef>
                <a:spcPts val="0"/>
              </a:spcBef>
              <a:spcAft>
                <a:spcPts val="0"/>
              </a:spcAft>
            </a:pPr>
            <a:r>
              <a:rPr sz="1200" b="0" i="0" lang="id-ID">
                <a:solidFill>
                  <a:srgbClr val="334155"/>
                </a:solidFill>
                <a:latin typeface="Calibri"/>
              </a:rPr>
              <a:t>•  Systematic review + meta-analisis</a:t>
            </a:r>
          </a:p>
          <a:p>
            <a:pPr algn="l">
              <a:lnSpc>
                <a:spcPct val="100000"/>
              </a:lnSpc>
              <a:spcBef>
                <a:spcPts val="0"/>
              </a:spcBef>
              <a:spcAft>
                <a:spcPts val="0"/>
              </a:spcAft>
            </a:pPr>
            <a:r>
              <a:rPr sz="1200" b="0" i="0" lang="id-ID">
                <a:solidFill>
                  <a:srgbClr val="334155"/>
                </a:solidFill>
                <a:latin typeface="Calibri"/>
              </a:rPr>
              <a:t>•  Dilaporkan mengikuti pedoman PRISMA</a:t>
            </a:r>
          </a:p>
          <a:p>
            <a:pPr algn="l">
              <a:lnSpc>
                <a:spcPct val="100000"/>
              </a:lnSpc>
              <a:spcBef>
                <a:spcPts val="0"/>
              </a:spcBef>
              <a:spcAft>
                <a:spcPts val="0"/>
              </a:spcAft>
            </a:pPr>
            <a:r>
              <a:rPr sz="1200" b="0" i="0" lang="id-ID">
                <a:solidFill>
                  <a:srgbClr val="334155"/>
                </a:solidFill>
                <a:latin typeface="Calibri"/>
              </a:rPr>
              <a:t>•  Protokol terdaftar di PROSPERO: CRD42021229435</a:t>
            </a:r>
          </a:p>
        </p:txBody>
      </p:sp>
      <p:sp>
        <p:nvSpPr>
          <p:cNvPr id="9" name="TextBox 8"/>
          <p:cNvSpPr txBox="1"/>
          <p:nvPr/>
        </p:nvSpPr>
        <p:spPr>
          <a:xfrm>
            <a:off x="4453127" y="1737360"/>
            <a:ext cx="3099816" cy="2057400"/>
          </a:xfrm>
          <a:prstGeom prst="rect">
            <a:avLst/>
          </a:prstGeom>
          <a:noFill/>
        </p:spPr>
        <p:txBody>
          <a:bodyPr wrap="square" lIns="0" rIns="0" tIns="18288" bIns="18288" anchor="t">
            <a:noAutofit/>
          </a:bodyPr>
          <a:lstStyle/>
          <a:p>
            <a:pPr algn="l">
              <a:lnSpc>
                <a:spcPct val="100000"/>
              </a:lnSpc>
              <a:spcBef>
                <a:spcPts val="0"/>
              </a:spcBef>
              <a:spcAft>
                <a:spcPts val="0"/>
              </a:spcAft>
            </a:pPr>
            <a:r>
              <a:rPr sz="1200" b="0" i="0" lang="id-ID">
                <a:solidFill>
                  <a:srgbClr val="334155"/>
                </a:solidFill>
                <a:latin typeface="Calibri"/>
              </a:rPr>
              <a:t>BASIS DATA &amp; TANGGAL</a:t>
            </a:r>
          </a:p>
          <a:p>
            <a:pPr algn="l">
              <a:lnSpc>
                <a:spcPct val="100000"/>
              </a:lnSpc>
              <a:spcBef>
                <a:spcPts val="0"/>
              </a:spcBef>
              <a:spcAft>
                <a:spcPts val="0"/>
              </a:spcAft>
            </a:pPr>
            <a:r>
              <a:rPr sz="1200" b="0" i="0" lang="id-ID">
                <a:solidFill>
                  <a:srgbClr val="334155"/>
                </a:solidFill>
                <a:latin typeface="Calibri"/>
              </a:rPr>
              <a:t>•  PubMed, MEDLINE, CENTRAL, Web of Science, SciELO, LILACS, TRIP</a:t>
            </a:r>
          </a:p>
          <a:p>
            <a:pPr algn="l">
              <a:lnSpc>
                <a:spcPct val="100000"/>
              </a:lnSpc>
              <a:spcBef>
                <a:spcPts val="0"/>
              </a:spcBef>
              <a:spcAft>
                <a:spcPts val="0"/>
              </a:spcAft>
            </a:pPr>
            <a:r>
              <a:rPr sz="1200" b="0" i="0" lang="id-ID">
                <a:solidFill>
                  <a:srgbClr val="334155"/>
                </a:solidFill>
                <a:latin typeface="Calibri"/>
              </a:rPr>
              <a:t>•  EMBASE ikut pada strategi pencarian</a:t>
            </a:r>
          </a:p>
          <a:p>
            <a:pPr algn="l">
              <a:lnSpc>
                <a:spcPct val="100000"/>
              </a:lnSpc>
              <a:spcBef>
                <a:spcPts val="0"/>
              </a:spcBef>
              <a:spcAft>
                <a:spcPts val="0"/>
              </a:spcAft>
            </a:pPr>
            <a:r>
              <a:rPr sz="1200" b="0" i="0" lang="id-ID">
                <a:solidFill>
                  <a:srgbClr val="334155"/>
                </a:solidFill>
                <a:latin typeface="Calibri"/>
              </a:rPr>
              <a:t>•  Pencarian sampai Juli 2021</a:t>
            </a:r>
          </a:p>
        </p:txBody>
      </p:sp>
      <p:sp>
        <p:nvSpPr>
          <p:cNvPr id="10" name="TextBox 9"/>
          <p:cNvSpPr txBox="1"/>
          <p:nvPr/>
        </p:nvSpPr>
        <p:spPr>
          <a:xfrm>
            <a:off x="8138160" y="1737360"/>
            <a:ext cx="3282696" cy="2057400"/>
          </a:xfrm>
          <a:prstGeom prst="rect">
            <a:avLst/>
          </a:prstGeom>
          <a:noFill/>
        </p:spPr>
        <p:txBody>
          <a:bodyPr wrap="square" lIns="0" rIns="0" tIns="18288" bIns="18288" anchor="t">
            <a:noAutofit/>
          </a:bodyPr>
          <a:lstStyle/>
          <a:p>
            <a:pPr algn="l">
              <a:lnSpc>
                <a:spcPct val="96000"/>
              </a:lnSpc>
              <a:spcBef>
                <a:spcPts val="0"/>
              </a:spcBef>
              <a:spcAft>
                <a:spcPts val="0"/>
              </a:spcAft>
            </a:pPr>
            <a:r>
              <a:rPr sz="1150" b="0" i="0" lang="id-ID">
                <a:solidFill>
                  <a:srgbClr val="334155"/>
                </a:solidFill>
                <a:latin typeface="Calibri"/>
              </a:rPr>
              <a:t>ALGORITMA PENCARIAN</a:t>
            </a:r>
          </a:p>
          <a:p>
            <a:pPr algn="l">
              <a:lnSpc>
                <a:spcPct val="96000"/>
              </a:lnSpc>
              <a:spcBef>
                <a:spcPts val="0"/>
              </a:spcBef>
              <a:spcAft>
                <a:spcPts val="0"/>
              </a:spcAft>
            </a:pPr>
            <a:r>
              <a:rPr sz="1150" b="0" i="0" lang="id-ID">
                <a:solidFill>
                  <a:srgbClr val="334155"/>
                </a:solidFill>
                <a:latin typeface="Calibri"/>
              </a:rPr>
              <a:t>(hypomineralization OR hypomineralisation OR hypomineralized OR hypoplasia OR demarcated OR opacities OR MIH OR cheese molars) AND (survey OR cross-sectional OR prevalence OR …) AND (molar OR molars OR incisors)</a:t>
            </a:r>
          </a:p>
        </p:txBody>
      </p:sp>
      <p:sp>
        <p:nvSpPr>
          <p:cNvPr id="11" name="TextBox 10"/>
          <p:cNvSpPr txBox="1"/>
          <p:nvPr/>
        </p:nvSpPr>
        <p:spPr>
          <a:xfrm>
            <a:off x="548640" y="4114800"/>
            <a:ext cx="11091672" cy="1097280"/>
          </a:xfrm>
          <a:prstGeom prst="rect">
            <a:avLst/>
          </a:prstGeom>
          <a:noFill/>
        </p:spPr>
        <p:txBody>
          <a:bodyPr wrap="square" lIns="0" rIns="0" tIns="18288" bIns="18288" anchor="t">
            <a:noAutofit/>
          </a:bodyPr>
          <a:lstStyle/>
          <a:p>
            <a:pPr algn="l">
              <a:lnSpc>
                <a:spcPct val="100000"/>
              </a:lnSpc>
              <a:spcBef>
                <a:spcPts val="0"/>
              </a:spcBef>
              <a:spcAft>
                <a:spcPts val="0"/>
              </a:spcAft>
            </a:pPr>
            <a:r>
              <a:rPr sz="1150" b="0" i="1" lang="id-ID">
                <a:solidFill>
                  <a:srgbClr val="64748B"/>
                </a:solidFill>
                <a:latin typeface="Calibri"/>
              </a:rPr>
              <a:t>Catatan pembacaan kritis: artikel menyebut PubMed dan MEDLINE sebagai dua entri terpisah, dan EMBASE hanya muncul pada bagian strategi pencarian — keduanya wajar dalam praktik SR, namun jumlah basis data efektif perlu ditelusuri pada lampiran bila ingin direplikasi.</a:t>
            </a:r>
          </a:p>
        </p:txBody>
      </p:sp>
      <p:sp>
        <p:nvSpPr>
          <p:cNvPr id="12" name="TextBox 11"/>
          <p:cNvSpPr txBox="1"/>
          <p:nvPr/>
        </p:nvSpPr>
        <p:spPr>
          <a:xfrm>
            <a:off x="548640" y="530352"/>
            <a:ext cx="11091672" cy="786384"/>
          </a:xfrm>
          <a:prstGeom prst="rect">
            <a:avLst/>
          </a:prstGeom>
          <a:noFill/>
        </p:spPr>
        <p:txBody>
          <a:bodyPr wrap="square" lIns="0" rIns="0" tIns="18288" bIns="18288" anchor="t">
            <a:noAutofit/>
          </a:bodyPr>
          <a:lstStyle/>
          <a:p>
            <a:pPr algn="l">
              <a:lnSpc>
                <a:spcPct val="95000"/>
              </a:lnSpc>
              <a:spcBef>
                <a:spcPts val="0"/>
              </a:spcBef>
              <a:spcAft>
                <a:spcPts val="0"/>
              </a:spcAft>
            </a:pPr>
            <a:r>
              <a:rPr sz="2500" b="1" i="0" lang="id-ID">
                <a:solidFill>
                  <a:srgbClr val="0F172A"/>
                </a:solidFill>
                <a:latin typeface="Calibri"/>
              </a:rPr>
              <a:t>Protokol PRISMA terdaftar, tujuh basis data, pencarian sampai Juli 2021</a:t>
            </a:r>
          </a:p>
        </p:txBody>
      </p:sp>
      <p:sp>
        <p:nvSpPr>
          <p:cNvPr id="13" name="TextBox 12"/>
          <p:cNvSpPr txBox="1"/>
          <p:nvPr/>
        </p:nvSpPr>
        <p:spPr>
          <a:xfrm>
            <a:off x="548640" y="6291072"/>
            <a:ext cx="9692640" cy="274320"/>
          </a:xfrm>
          <a:prstGeom prst="rect">
            <a:avLst/>
          </a:prstGeom>
          <a:noFill/>
        </p:spPr>
        <p:txBody>
          <a:bodyPr wrap="square" lIns="0" rIns="0" tIns="18288" bIns="18288" anchor="t">
            <a:noAutofit/>
          </a:bodyPr>
          <a:lstStyle/>
          <a:p>
            <a:pPr algn="l">
              <a:spcBef>
                <a:spcPts val="0"/>
              </a:spcBef>
              <a:spcAft>
                <a:spcPts val="0"/>
              </a:spcAft>
            </a:pPr>
            <a:r>
              <a:rPr sz="900" b="0" i="0" lang="id-ID">
                <a:solidFill>
                  <a:srgbClr val="64748B"/>
                </a:solidFill>
                <a:latin typeface="Calibri"/>
              </a:rPr>
              <a:t>Sumber utama: Lopes LB, Machado V, Mascarenhas P, Mendes JJ, Botelho J. Sci Rep 2021;11:22405 (CC BY 4.0)</a:t>
            </a:r>
          </a:p>
        </p:txBody>
      </p:sp>
      <p:sp>
        <p:nvSpPr>
          <p:cNvPr id="14" name="TextBox 13"/>
          <p:cNvSpPr txBox="1"/>
          <p:nvPr/>
        </p:nvSpPr>
        <p:spPr>
          <a:xfrm>
            <a:off x="10698480" y="6291072"/>
            <a:ext cx="941832" cy="274320"/>
          </a:xfrm>
          <a:prstGeom prst="rect">
            <a:avLst/>
          </a:prstGeom>
          <a:noFill/>
        </p:spPr>
        <p:txBody>
          <a:bodyPr wrap="square" lIns="0" rIns="0" tIns="18288" bIns="18288" anchor="t">
            <a:noAutofit/>
          </a:bodyPr>
          <a:lstStyle/>
          <a:p>
            <a:pPr algn="r">
              <a:spcBef>
                <a:spcPts val="0"/>
              </a:spcBef>
              <a:spcAft>
                <a:spcPts val="0"/>
              </a:spcAft>
            </a:pPr>
            <a:r>
              <a:rPr sz="900" b="0" i="0" lang="id-ID">
                <a:solidFill>
                  <a:srgbClr val="64748B"/>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1572768"/>
            <a:ext cx="5404104" cy="2011680"/>
          </a:xfrm>
          <a:prstGeom prst="roundRect">
            <a:avLst>
              <a:gd name="adj" fmla="val 2727"/>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6236207" y="1572768"/>
            <a:ext cx="5404104" cy="2011680"/>
          </a:xfrm>
          <a:prstGeom prst="roundRect">
            <a:avLst>
              <a:gd name="adj" fmla="val 2727"/>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548640" y="3749039"/>
            <a:ext cx="5404104" cy="1600200"/>
          </a:xfrm>
          <a:prstGeom prst="roundRect">
            <a:avLst>
              <a:gd name="adj" fmla="val 3428"/>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48640" y="1371600"/>
            <a:ext cx="11091672" cy="914"/>
          </a:xfrm>
          <a:prstGeom prst="line">
            <a:avLst/>
          </a:prstGeom>
          <a:ln w="19050">
            <a:solidFill>
              <a:srgbClr val="0E7490"/>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6236207" y="3749039"/>
            <a:ext cx="5404104" cy="1600200"/>
          </a:xfrm>
          <a:prstGeom prst="roundRect">
            <a:avLst>
              <a:gd name="adj" fmla="val 3428"/>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68096" y="1737360"/>
            <a:ext cx="4965192" cy="1691640"/>
          </a:xfrm>
          <a:prstGeom prst="rect">
            <a:avLst/>
          </a:prstGeom>
          <a:noFill/>
        </p:spPr>
        <p:txBody>
          <a:bodyPr wrap="square" lIns="0" rIns="0" tIns="18288" bIns="18288" anchor="t">
            <a:noAutofit/>
          </a:bodyPr>
          <a:lstStyle/>
          <a:p>
            <a:pPr algn="l">
              <a:lnSpc>
                <a:spcPct val="100000"/>
              </a:lnSpc>
              <a:spcBef>
                <a:spcPts val="0"/>
              </a:spcBef>
              <a:spcAft>
                <a:spcPts val="0"/>
              </a:spcAft>
            </a:pPr>
            <a:r>
              <a:rPr sz="1200" b="0" i="0" lang="id-ID">
                <a:solidFill>
                  <a:srgbClr val="334155"/>
                </a:solidFill>
                <a:latin typeface="Calibri"/>
              </a:rPr>
              <a:t>KRITERIA INKLUSI</a:t>
            </a:r>
          </a:p>
          <a:p>
            <a:pPr algn="l">
              <a:lnSpc>
                <a:spcPct val="100000"/>
              </a:lnSpc>
              <a:spcBef>
                <a:spcPts val="0"/>
              </a:spcBef>
              <a:spcAft>
                <a:spcPts val="0"/>
              </a:spcAft>
            </a:pPr>
            <a:r>
              <a:rPr sz="1200" b="0" i="0" lang="id-ID">
                <a:solidFill>
                  <a:srgbClr val="334155"/>
                </a:solidFill>
                <a:latin typeface="Calibri"/>
              </a:rPr>
              <a:t>•  Studi observasional yang melaporkan prevalensi MIH</a:t>
            </a:r>
          </a:p>
          <a:p>
            <a:pPr algn="l">
              <a:lnSpc>
                <a:spcPct val="100000"/>
              </a:lnSpc>
              <a:spcBef>
                <a:spcPts val="0"/>
              </a:spcBef>
              <a:spcAft>
                <a:spcPts val="0"/>
              </a:spcAft>
            </a:pPr>
            <a:r>
              <a:rPr sz="1200" b="0" i="0" lang="id-ID">
                <a:solidFill>
                  <a:srgbClr val="334155"/>
                </a:solidFill>
                <a:latin typeface="Calibri"/>
              </a:rPr>
              <a:t>•  Definisi MIH dilaporkan dengan jelas</a:t>
            </a:r>
          </a:p>
          <a:p>
            <a:pPr algn="l">
              <a:lnSpc>
                <a:spcPct val="100000"/>
              </a:lnSpc>
              <a:spcBef>
                <a:spcPts val="0"/>
              </a:spcBef>
              <a:spcAft>
                <a:spcPts val="0"/>
              </a:spcAft>
            </a:pPr>
            <a:r>
              <a:rPr sz="1200" b="0" i="0" lang="id-ID">
                <a:solidFill>
                  <a:srgbClr val="334155"/>
                </a:solidFill>
                <a:latin typeface="Calibri"/>
              </a:rPr>
              <a:t>•  Subjek tanpa kelainan sistemik; kedua jenis kelamin</a:t>
            </a:r>
          </a:p>
        </p:txBody>
      </p:sp>
      <p:sp>
        <p:nvSpPr>
          <p:cNvPr id="9" name="TextBox 8"/>
          <p:cNvSpPr txBox="1"/>
          <p:nvPr/>
        </p:nvSpPr>
        <p:spPr>
          <a:xfrm>
            <a:off x="6455664" y="1737360"/>
            <a:ext cx="4965192" cy="1691640"/>
          </a:xfrm>
          <a:prstGeom prst="rect">
            <a:avLst/>
          </a:prstGeom>
          <a:noFill/>
        </p:spPr>
        <p:txBody>
          <a:bodyPr wrap="square" lIns="0" rIns="0" tIns="18288" bIns="18288" anchor="t">
            <a:noAutofit/>
          </a:bodyPr>
          <a:lstStyle/>
          <a:p>
            <a:pPr algn="l">
              <a:lnSpc>
                <a:spcPct val="100000"/>
              </a:lnSpc>
              <a:spcBef>
                <a:spcPts val="0"/>
              </a:spcBef>
              <a:spcAft>
                <a:spcPts val="0"/>
              </a:spcAft>
            </a:pPr>
            <a:r>
              <a:rPr sz="1200" b="0" i="0" lang="id-ID">
                <a:solidFill>
                  <a:srgbClr val="334155"/>
                </a:solidFill>
                <a:latin typeface="Calibri"/>
              </a:rPr>
              <a:t>KRITERIA EKSKLUSI</a:t>
            </a:r>
          </a:p>
          <a:p>
            <a:pPr algn="l">
              <a:lnSpc>
                <a:spcPct val="100000"/>
              </a:lnSpc>
              <a:spcBef>
                <a:spcPts val="0"/>
              </a:spcBef>
              <a:spcAft>
                <a:spcPts val="0"/>
              </a:spcAft>
            </a:pPr>
            <a:r>
              <a:rPr sz="1200" b="0" i="0" lang="id-ID">
                <a:solidFill>
                  <a:srgbClr val="334155"/>
                </a:solidFill>
                <a:latin typeface="Calibri"/>
              </a:rPr>
              <a:t>•  Populasi khusus (mis. anak lahir prematur)</a:t>
            </a:r>
          </a:p>
          <a:p>
            <a:pPr algn="l">
              <a:lnSpc>
                <a:spcPct val="100000"/>
              </a:lnSpc>
              <a:spcBef>
                <a:spcPts val="0"/>
              </a:spcBef>
              <a:spcAft>
                <a:spcPts val="0"/>
              </a:spcAft>
            </a:pPr>
            <a:r>
              <a:rPr sz="1200" b="0" i="0" lang="id-ID">
                <a:solidFill>
                  <a:srgbClr val="334155"/>
                </a:solidFill>
                <a:latin typeface="Calibri"/>
              </a:rPr>
              <a:t>•  Studi yang hanya melaporkan molar sulung</a:t>
            </a:r>
          </a:p>
          <a:p>
            <a:pPr algn="l">
              <a:lnSpc>
                <a:spcPct val="100000"/>
              </a:lnSpc>
              <a:spcBef>
                <a:spcPts val="0"/>
              </a:spcBef>
              <a:spcAft>
                <a:spcPts val="0"/>
              </a:spcAft>
            </a:pPr>
            <a:r>
              <a:rPr sz="1200" b="0" i="0" lang="id-ID">
                <a:solidFill>
                  <a:srgbClr val="334155"/>
                </a:solidFill>
                <a:latin typeface="Calibri"/>
              </a:rPr>
              <a:t>•  Sampel non-representatif (institusi, profesi tertentu, karies tinggi)</a:t>
            </a:r>
          </a:p>
        </p:txBody>
      </p:sp>
      <p:sp>
        <p:nvSpPr>
          <p:cNvPr id="10" name="TextBox 9"/>
          <p:cNvSpPr txBox="1"/>
          <p:nvPr/>
        </p:nvSpPr>
        <p:spPr>
          <a:xfrm>
            <a:off x="548640" y="274320"/>
            <a:ext cx="8229600" cy="237744"/>
          </a:xfrm>
          <a:prstGeom prst="rect">
            <a:avLst/>
          </a:prstGeom>
          <a:noFill/>
        </p:spPr>
        <p:txBody>
          <a:bodyPr wrap="square" lIns="0" rIns="0" tIns="18288" bIns="18288" anchor="t">
            <a:noAutofit/>
          </a:bodyPr>
          <a:lstStyle/>
          <a:p>
            <a:pPr algn="l">
              <a:spcBef>
                <a:spcPts val="0"/>
              </a:spcBef>
              <a:spcAft>
                <a:spcPts val="0"/>
              </a:spcAft>
            </a:pPr>
            <a:r>
              <a:rPr sz="1000" b="1" i="0" lang="id-ID">
                <a:solidFill>
                  <a:srgbClr val="0E7490"/>
                </a:solidFill>
                <a:latin typeface="Calibri"/>
              </a:rPr>
              <a:t>METODE (2/2)</a:t>
            </a:r>
          </a:p>
        </p:txBody>
      </p:sp>
      <p:sp>
        <p:nvSpPr>
          <p:cNvPr id="11" name="TextBox 10"/>
          <p:cNvSpPr txBox="1"/>
          <p:nvPr/>
        </p:nvSpPr>
        <p:spPr>
          <a:xfrm>
            <a:off x="768096" y="3913632"/>
            <a:ext cx="4965192" cy="1280160"/>
          </a:xfrm>
          <a:prstGeom prst="rect">
            <a:avLst/>
          </a:prstGeom>
          <a:noFill/>
        </p:spPr>
        <p:txBody>
          <a:bodyPr wrap="square" lIns="0" rIns="0" tIns="18288" bIns="18288" anchor="t">
            <a:noAutofit/>
          </a:bodyPr>
          <a:lstStyle/>
          <a:p>
            <a:pPr algn="l">
              <a:lnSpc>
                <a:spcPct val="100000"/>
              </a:lnSpc>
              <a:spcBef>
                <a:spcPts val="0"/>
              </a:spcBef>
              <a:spcAft>
                <a:spcPts val="0"/>
              </a:spcAft>
            </a:pPr>
            <a:r>
              <a:rPr sz="1200" b="0" i="0" lang="id-ID">
                <a:solidFill>
                  <a:srgbClr val="334155"/>
                </a:solidFill>
                <a:latin typeface="Calibri"/>
              </a:rPr>
              <a:t>SELEKSI &amp; RISIKO BIAS</a:t>
            </a:r>
          </a:p>
          <a:p>
            <a:pPr algn="l">
              <a:lnSpc>
                <a:spcPct val="100000"/>
              </a:lnSpc>
              <a:spcBef>
                <a:spcPts val="0"/>
              </a:spcBef>
              <a:spcAft>
                <a:spcPts val="0"/>
              </a:spcAft>
            </a:pPr>
            <a:r>
              <a:rPr sz="1200" b="0" i="0" lang="id-ID">
                <a:solidFill>
                  <a:srgbClr val="334155"/>
                </a:solidFill>
                <a:latin typeface="Calibri"/>
              </a:rPr>
              <a:t>•  Seleksi oleh dua peneliti independen</a:t>
            </a:r>
          </a:p>
          <a:p>
            <a:pPr algn="l">
              <a:lnSpc>
                <a:spcPct val="100000"/>
              </a:lnSpc>
              <a:spcBef>
                <a:spcPts val="0"/>
              </a:spcBef>
              <a:spcAft>
                <a:spcPts val="0"/>
              </a:spcAft>
            </a:pPr>
            <a:r>
              <a:rPr sz="1200" b="0" i="0" lang="id-ID">
                <a:solidFill>
                  <a:srgbClr val="334155"/>
                </a:solidFill>
                <a:latin typeface="Calibri"/>
              </a:rPr>
              <a:t>•  Kesepakatan antar-penilai κ = 0,885</a:t>
            </a:r>
          </a:p>
          <a:p>
            <a:pPr algn="l">
              <a:lnSpc>
                <a:spcPct val="100000"/>
              </a:lnSpc>
              <a:spcBef>
                <a:spcPts val="0"/>
              </a:spcBef>
              <a:spcAft>
                <a:spcPts val="0"/>
              </a:spcAft>
            </a:pPr>
            <a:r>
              <a:rPr sz="1200" b="0" i="0" lang="id-ID">
                <a:solidFill>
                  <a:srgbClr val="334155"/>
                </a:solidFill>
                <a:latin typeface="Calibri"/>
              </a:rPr>
              <a:t>•  Kualitas dinilai dengan Newcastle–Ottawa Scale (NOS)</a:t>
            </a:r>
          </a:p>
        </p:txBody>
      </p:sp>
      <p:sp>
        <p:nvSpPr>
          <p:cNvPr id="12" name="TextBox 11"/>
          <p:cNvSpPr txBox="1"/>
          <p:nvPr/>
        </p:nvSpPr>
        <p:spPr>
          <a:xfrm>
            <a:off x="6455664" y="3913632"/>
            <a:ext cx="4965192" cy="1280160"/>
          </a:xfrm>
          <a:prstGeom prst="rect">
            <a:avLst/>
          </a:prstGeom>
          <a:noFill/>
        </p:spPr>
        <p:txBody>
          <a:bodyPr wrap="square" lIns="0" rIns="0" tIns="18288" bIns="18288" anchor="t">
            <a:noAutofit/>
          </a:bodyPr>
          <a:lstStyle/>
          <a:p>
            <a:pPr algn="l">
              <a:lnSpc>
                <a:spcPct val="100000"/>
              </a:lnSpc>
              <a:spcBef>
                <a:spcPts val="0"/>
              </a:spcBef>
              <a:spcAft>
                <a:spcPts val="0"/>
              </a:spcAft>
            </a:pPr>
            <a:r>
              <a:rPr sz="1200" b="0" i="0" lang="id-ID">
                <a:solidFill>
                  <a:srgbClr val="334155"/>
                </a:solidFill>
                <a:latin typeface="Calibri"/>
              </a:rPr>
              <a:t>ANALISIS</a:t>
            </a:r>
          </a:p>
          <a:p>
            <a:pPr algn="l">
              <a:lnSpc>
                <a:spcPct val="100000"/>
              </a:lnSpc>
              <a:spcBef>
                <a:spcPts val="0"/>
              </a:spcBef>
              <a:spcAft>
                <a:spcPts val="0"/>
              </a:spcAft>
            </a:pPr>
            <a:r>
              <a:rPr sz="1200" b="0" i="0" lang="id-ID">
                <a:solidFill>
                  <a:srgbClr val="334155"/>
                </a:solidFill>
                <a:latin typeface="Calibri"/>
              </a:rPr>
              <a:t>•  Meta-analisis prevalensi model random-effects</a:t>
            </a:r>
          </a:p>
          <a:p>
            <a:pPr algn="l">
              <a:lnSpc>
                <a:spcPct val="100000"/>
              </a:lnSpc>
              <a:spcBef>
                <a:spcPts val="0"/>
              </a:spcBef>
              <a:spcAft>
                <a:spcPts val="0"/>
              </a:spcAft>
            </a:pPr>
            <a:r>
              <a:rPr sz="1200" b="0" i="0" lang="id-ID">
                <a:solidFill>
                  <a:srgbClr val="334155"/>
                </a:solidFill>
                <a:latin typeface="Calibri"/>
              </a:rPr>
              <a:t>•  Heterogenitas uji I² · bias publikasi uji Egger</a:t>
            </a:r>
          </a:p>
          <a:p>
            <a:pPr algn="l">
              <a:lnSpc>
                <a:spcPct val="100000"/>
              </a:lnSpc>
              <a:spcBef>
                <a:spcPts val="0"/>
              </a:spcBef>
              <a:spcAft>
                <a:spcPts val="0"/>
              </a:spcAft>
            </a:pPr>
            <a:r>
              <a:rPr sz="1200" b="0" i="0" lang="id-ID">
                <a:solidFill>
                  <a:srgbClr val="334155"/>
                </a:solidFill>
                <a:latin typeface="Calibri"/>
              </a:rPr>
              <a:t>•  Kepastian bukti dinilai dengan SORT</a:t>
            </a:r>
          </a:p>
        </p:txBody>
      </p:sp>
      <p:sp>
        <p:nvSpPr>
          <p:cNvPr id="13" name="TextBox 12"/>
          <p:cNvSpPr txBox="1"/>
          <p:nvPr/>
        </p:nvSpPr>
        <p:spPr>
          <a:xfrm>
            <a:off x="548640" y="530352"/>
            <a:ext cx="11091672" cy="786384"/>
          </a:xfrm>
          <a:prstGeom prst="rect">
            <a:avLst/>
          </a:prstGeom>
          <a:noFill/>
        </p:spPr>
        <p:txBody>
          <a:bodyPr wrap="square" lIns="0" rIns="0" tIns="18288" bIns="18288" anchor="t">
            <a:noAutofit/>
          </a:bodyPr>
          <a:lstStyle/>
          <a:p>
            <a:pPr algn="l">
              <a:lnSpc>
                <a:spcPct val="95000"/>
              </a:lnSpc>
              <a:spcBef>
                <a:spcPts val="0"/>
              </a:spcBef>
              <a:spcAft>
                <a:spcPts val="0"/>
              </a:spcAft>
            </a:pPr>
            <a:r>
              <a:rPr sz="2500" b="1" i="0" lang="id-ID">
                <a:solidFill>
                  <a:srgbClr val="0F172A"/>
                </a:solidFill>
                <a:latin typeface="Calibri"/>
              </a:rPr>
              <a:t>Kriteria ketat, penilaian risiko bias oleh dua peneliti, analisis random-effects</a:t>
            </a:r>
          </a:p>
        </p:txBody>
      </p:sp>
      <p:sp>
        <p:nvSpPr>
          <p:cNvPr id="14" name="TextBox 13"/>
          <p:cNvSpPr txBox="1"/>
          <p:nvPr/>
        </p:nvSpPr>
        <p:spPr>
          <a:xfrm>
            <a:off x="548640" y="6291072"/>
            <a:ext cx="9692640" cy="274320"/>
          </a:xfrm>
          <a:prstGeom prst="rect">
            <a:avLst/>
          </a:prstGeom>
          <a:noFill/>
        </p:spPr>
        <p:txBody>
          <a:bodyPr wrap="square" lIns="0" rIns="0" tIns="18288" bIns="18288" anchor="t">
            <a:noAutofit/>
          </a:bodyPr>
          <a:lstStyle/>
          <a:p>
            <a:pPr algn="l">
              <a:spcBef>
                <a:spcPts val="0"/>
              </a:spcBef>
              <a:spcAft>
                <a:spcPts val="0"/>
              </a:spcAft>
            </a:pPr>
            <a:r>
              <a:rPr sz="900" b="0" i="0" lang="id-ID">
                <a:solidFill>
                  <a:srgbClr val="64748B"/>
                </a:solidFill>
                <a:latin typeface="Calibri"/>
              </a:rPr>
              <a:t>Sumber utama: Lopes LB, Machado V, Mascarenhas P, Mendes JJ, Botelho J. Sci Rep 2021;11:22405 (CC BY 4.0)</a:t>
            </a:r>
          </a:p>
        </p:txBody>
      </p:sp>
      <p:sp>
        <p:nvSpPr>
          <p:cNvPr id="15" name="TextBox 14"/>
          <p:cNvSpPr txBox="1"/>
          <p:nvPr/>
        </p:nvSpPr>
        <p:spPr>
          <a:xfrm>
            <a:off x="10698480" y="6291072"/>
            <a:ext cx="941832" cy="274320"/>
          </a:xfrm>
          <a:prstGeom prst="rect">
            <a:avLst/>
          </a:prstGeom>
          <a:noFill/>
        </p:spPr>
        <p:txBody>
          <a:bodyPr wrap="square" lIns="0" rIns="0" tIns="18288" bIns="18288" anchor="t">
            <a:noAutofit/>
          </a:bodyPr>
          <a:lstStyle/>
          <a:p>
            <a:pPr algn="r">
              <a:spcBef>
                <a:spcPts val="0"/>
              </a:spcBef>
              <a:spcAft>
                <a:spcPts val="0"/>
              </a:spcAft>
            </a:pPr>
            <a:r>
              <a:rPr sz="900" b="0" i="0" lang="id-ID">
                <a:solidFill>
                  <a:srgbClr val="64748B"/>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1572768"/>
            <a:ext cx="3538728" cy="1371600"/>
          </a:xfrm>
          <a:prstGeom prst="roundRect">
            <a:avLst>
              <a:gd name="adj" fmla="val 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4233672" y="1572768"/>
            <a:ext cx="3538728" cy="1371600"/>
          </a:xfrm>
          <a:prstGeom prst="roundRect">
            <a:avLst>
              <a:gd name="adj" fmla="val 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7918704" y="1572768"/>
            <a:ext cx="3538728" cy="1371600"/>
          </a:xfrm>
          <a:prstGeom prst="roundRect">
            <a:avLst>
              <a:gd name="adj" fmla="val 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6400800" y="3108960"/>
            <a:ext cx="5239512" cy="1965960"/>
          </a:xfrm>
          <a:prstGeom prst="roundRect">
            <a:avLst>
              <a:gd name="adj" fmla="val 279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7" name="Connector 6"/>
          <p:cNvCxnSpPr/>
          <p:nvPr/>
        </p:nvCxnSpPr>
        <p:spPr>
          <a:xfrm>
            <a:off x="548640" y="1371600"/>
            <a:ext cx="11091672" cy="914"/>
          </a:xfrm>
          <a:prstGeom prst="line">
            <a:avLst/>
          </a:prstGeom>
          <a:ln w="19050">
            <a:solidFill>
              <a:srgbClr val="0E749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768096" y="1700784"/>
            <a:ext cx="3099816" cy="219456"/>
          </a:xfrm>
          <a:prstGeom prst="rect">
            <a:avLst/>
          </a:prstGeom>
          <a:noFill/>
        </p:spPr>
        <p:txBody>
          <a:bodyPr wrap="square" lIns="0" rIns="0" tIns="18288" bIns="18288" anchor="t">
            <a:noAutofit/>
          </a:bodyPr>
          <a:lstStyle/>
          <a:p>
            <a:pPr algn="l">
              <a:spcBef>
                <a:spcPts val="0"/>
              </a:spcBef>
              <a:spcAft>
                <a:spcPts val="0"/>
              </a:spcAft>
            </a:pPr>
            <a:r>
              <a:rPr sz="1000" b="1" i="0" lang="id-ID">
                <a:solidFill>
                  <a:srgbClr val="0E7490"/>
                </a:solidFill>
                <a:latin typeface="Calibri"/>
              </a:rPr>
              <a:t>STUDI DIMASUKKAN</a:t>
            </a:r>
          </a:p>
        </p:txBody>
      </p:sp>
      <p:sp>
        <p:nvSpPr>
          <p:cNvPr id="9" name="TextBox 8"/>
          <p:cNvSpPr txBox="1"/>
          <p:nvPr/>
        </p:nvSpPr>
        <p:spPr>
          <a:xfrm>
            <a:off x="768096" y="2450592"/>
            <a:ext cx="3099816" cy="365760"/>
          </a:xfrm>
          <a:prstGeom prst="rect">
            <a:avLst/>
          </a:prstGeom>
          <a:noFill/>
        </p:spPr>
        <p:txBody>
          <a:bodyPr wrap="square" lIns="0" rIns="0" tIns="18288" bIns="18288" anchor="t">
            <a:noAutofit/>
          </a:bodyPr>
          <a:lstStyle/>
          <a:p>
            <a:pPr algn="l">
              <a:lnSpc>
                <a:spcPct val="95000"/>
              </a:lnSpc>
              <a:spcBef>
                <a:spcPts val="0"/>
              </a:spcBef>
              <a:spcAft>
                <a:spcPts val="0"/>
              </a:spcAft>
            </a:pPr>
            <a:r>
              <a:rPr sz="1050" b="0" i="0" lang="id-ID">
                <a:solidFill>
                  <a:srgbClr val="64748B"/>
                </a:solidFill>
                <a:latin typeface="Calibri"/>
              </a:rPr>
              <a:t>studi observasional memenuhi kriteria</a:t>
            </a:r>
          </a:p>
        </p:txBody>
      </p:sp>
      <p:sp>
        <p:nvSpPr>
          <p:cNvPr id="10" name="TextBox 9"/>
          <p:cNvSpPr txBox="1"/>
          <p:nvPr/>
        </p:nvSpPr>
        <p:spPr>
          <a:xfrm>
            <a:off x="768096" y="1920240"/>
            <a:ext cx="3099816" cy="502920"/>
          </a:xfrm>
          <a:prstGeom prst="rect">
            <a:avLst/>
          </a:prstGeom>
          <a:noFill/>
        </p:spPr>
        <p:txBody>
          <a:bodyPr wrap="square" lIns="0" rIns="0" tIns="18288" bIns="18288" anchor="t">
            <a:noAutofit/>
          </a:bodyPr>
          <a:lstStyle/>
          <a:p>
            <a:pPr algn="l">
              <a:spcBef>
                <a:spcPts val="0"/>
              </a:spcBef>
              <a:spcAft>
                <a:spcPts val="0"/>
              </a:spcAft>
            </a:pPr>
            <a:r>
              <a:rPr sz="3000" b="1" i="0" lang="id-ID">
                <a:solidFill>
                  <a:srgbClr val="155E75"/>
                </a:solidFill>
                <a:latin typeface="Calibri"/>
              </a:rPr>
              <a:t>116</a:t>
            </a:r>
          </a:p>
        </p:txBody>
      </p:sp>
      <p:sp>
        <p:nvSpPr>
          <p:cNvPr id="11" name="TextBox 10"/>
          <p:cNvSpPr txBox="1"/>
          <p:nvPr/>
        </p:nvSpPr>
        <p:spPr>
          <a:xfrm>
            <a:off x="4453128" y="1700784"/>
            <a:ext cx="3099816" cy="219456"/>
          </a:xfrm>
          <a:prstGeom prst="rect">
            <a:avLst/>
          </a:prstGeom>
          <a:noFill/>
        </p:spPr>
        <p:txBody>
          <a:bodyPr wrap="square" lIns="0" rIns="0" tIns="18288" bIns="18288" anchor="t">
            <a:noAutofit/>
          </a:bodyPr>
          <a:lstStyle/>
          <a:p>
            <a:pPr algn="l">
              <a:spcBef>
                <a:spcPts val="0"/>
              </a:spcBef>
              <a:spcAft>
                <a:spcPts val="0"/>
              </a:spcAft>
            </a:pPr>
            <a:r>
              <a:rPr sz="1000" b="1" i="0" lang="id-ID">
                <a:solidFill>
                  <a:srgbClr val="0E7490"/>
                </a:solidFill>
                <a:latin typeface="Calibri"/>
              </a:rPr>
              <a:t>ANALISIS AWAL</a:t>
            </a:r>
          </a:p>
        </p:txBody>
      </p:sp>
      <p:sp>
        <p:nvSpPr>
          <p:cNvPr id="12" name="TextBox 11"/>
          <p:cNvSpPr txBox="1"/>
          <p:nvPr/>
        </p:nvSpPr>
        <p:spPr>
          <a:xfrm>
            <a:off x="4453128" y="2450592"/>
            <a:ext cx="3099816" cy="365760"/>
          </a:xfrm>
          <a:prstGeom prst="rect">
            <a:avLst/>
          </a:prstGeom>
          <a:noFill/>
        </p:spPr>
        <p:txBody>
          <a:bodyPr wrap="square" lIns="0" rIns="0" tIns="18288" bIns="18288" anchor="t">
            <a:noAutofit/>
          </a:bodyPr>
          <a:lstStyle/>
          <a:p>
            <a:pPr algn="l">
              <a:lnSpc>
                <a:spcPct val="95000"/>
              </a:lnSpc>
              <a:spcBef>
                <a:spcPts val="0"/>
              </a:spcBef>
              <a:spcAft>
                <a:spcPts val="0"/>
              </a:spcAft>
            </a:pPr>
            <a:r>
              <a:rPr sz="1050" b="0" i="0" lang="id-ID">
                <a:solidFill>
                  <a:srgbClr val="64748B"/>
                </a:solidFill>
                <a:latin typeface="Calibri"/>
              </a:rPr>
              <a:t>peserta (semua jenis klasifikasi diagnostik)</a:t>
            </a:r>
          </a:p>
        </p:txBody>
      </p:sp>
      <p:sp>
        <p:nvSpPr>
          <p:cNvPr id="13" name="TextBox 12"/>
          <p:cNvSpPr txBox="1"/>
          <p:nvPr/>
        </p:nvSpPr>
        <p:spPr>
          <a:xfrm>
            <a:off x="4453128" y="1920240"/>
            <a:ext cx="3099816" cy="502920"/>
          </a:xfrm>
          <a:prstGeom prst="rect">
            <a:avLst/>
          </a:prstGeom>
          <a:noFill/>
        </p:spPr>
        <p:txBody>
          <a:bodyPr wrap="square" lIns="0" rIns="0" tIns="18288" bIns="18288" anchor="t">
            <a:noAutofit/>
          </a:bodyPr>
          <a:lstStyle/>
          <a:p>
            <a:pPr algn="l">
              <a:spcBef>
                <a:spcPts val="0"/>
              </a:spcBef>
              <a:spcAft>
                <a:spcPts val="0"/>
              </a:spcAft>
            </a:pPr>
            <a:r>
              <a:rPr sz="3000" b="1" i="0" lang="id-ID">
                <a:solidFill>
                  <a:srgbClr val="155E75"/>
                </a:solidFill>
                <a:latin typeface="Calibri"/>
              </a:rPr>
              <a:t>133.734</a:t>
            </a:r>
          </a:p>
        </p:txBody>
      </p:sp>
      <p:sp>
        <p:nvSpPr>
          <p:cNvPr id="14" name="TextBox 13"/>
          <p:cNvSpPr txBox="1"/>
          <p:nvPr/>
        </p:nvSpPr>
        <p:spPr>
          <a:xfrm>
            <a:off x="8138160" y="1700784"/>
            <a:ext cx="3099816" cy="219456"/>
          </a:xfrm>
          <a:prstGeom prst="rect">
            <a:avLst/>
          </a:prstGeom>
          <a:noFill/>
        </p:spPr>
        <p:txBody>
          <a:bodyPr wrap="square" lIns="0" rIns="0" tIns="18288" bIns="18288" anchor="t">
            <a:noAutofit/>
          </a:bodyPr>
          <a:lstStyle/>
          <a:p>
            <a:pPr algn="l">
              <a:spcBef>
                <a:spcPts val="0"/>
              </a:spcBef>
              <a:spcAft>
                <a:spcPts val="0"/>
              </a:spcAft>
            </a:pPr>
            <a:r>
              <a:rPr sz="1000" b="1" i="0" lang="id-ID">
                <a:solidFill>
                  <a:srgbClr val="0E7490"/>
                </a:solidFill>
                <a:latin typeface="Calibri"/>
              </a:rPr>
              <a:t>ANALISIS UTAMA</a:t>
            </a:r>
          </a:p>
        </p:txBody>
      </p:sp>
      <p:sp>
        <p:nvSpPr>
          <p:cNvPr id="15" name="TextBox 14"/>
          <p:cNvSpPr txBox="1"/>
          <p:nvPr/>
        </p:nvSpPr>
        <p:spPr>
          <a:xfrm>
            <a:off x="8138160" y="2450592"/>
            <a:ext cx="3099816" cy="365760"/>
          </a:xfrm>
          <a:prstGeom prst="rect">
            <a:avLst/>
          </a:prstGeom>
          <a:noFill/>
        </p:spPr>
        <p:txBody>
          <a:bodyPr wrap="square" lIns="0" rIns="0" tIns="18288" bIns="18288" anchor="t">
            <a:noAutofit/>
          </a:bodyPr>
          <a:lstStyle/>
          <a:p>
            <a:pPr algn="l">
              <a:lnSpc>
                <a:spcPct val="95000"/>
              </a:lnSpc>
              <a:spcBef>
                <a:spcPts val="0"/>
              </a:spcBef>
              <a:spcAft>
                <a:spcPts val="0"/>
              </a:spcAft>
            </a:pPr>
            <a:r>
              <a:rPr sz="1050" b="0" i="0" lang="id-ID">
                <a:solidFill>
                  <a:srgbClr val="64748B"/>
                </a:solidFill>
                <a:latin typeface="Calibri"/>
              </a:rPr>
              <a:t>peserta dari 98 studi (kriteria EAPD 2003)</a:t>
            </a:r>
          </a:p>
        </p:txBody>
      </p:sp>
      <p:sp>
        <p:nvSpPr>
          <p:cNvPr id="16" name="TextBox 15"/>
          <p:cNvSpPr txBox="1"/>
          <p:nvPr/>
        </p:nvSpPr>
        <p:spPr>
          <a:xfrm>
            <a:off x="8138160" y="1920240"/>
            <a:ext cx="3099816" cy="502920"/>
          </a:xfrm>
          <a:prstGeom prst="rect">
            <a:avLst/>
          </a:prstGeom>
          <a:noFill/>
        </p:spPr>
        <p:txBody>
          <a:bodyPr wrap="square" lIns="0" rIns="0" tIns="18288" bIns="18288" anchor="t">
            <a:noAutofit/>
          </a:bodyPr>
          <a:lstStyle/>
          <a:p>
            <a:pPr algn="l">
              <a:spcBef>
                <a:spcPts val="0"/>
              </a:spcBef>
              <a:spcAft>
                <a:spcPts val="0"/>
              </a:spcAft>
            </a:pPr>
            <a:r>
              <a:rPr sz="3000" b="1" i="0" lang="id-ID">
                <a:solidFill>
                  <a:srgbClr val="155E75"/>
                </a:solidFill>
                <a:latin typeface="Calibri"/>
              </a:rPr>
              <a:t>113.089</a:t>
            </a:r>
          </a:p>
        </p:txBody>
      </p:sp>
      <p:sp>
        <p:nvSpPr>
          <p:cNvPr id="17" name="TextBox 16"/>
          <p:cNvSpPr txBox="1"/>
          <p:nvPr/>
        </p:nvSpPr>
        <p:spPr>
          <a:xfrm>
            <a:off x="548640" y="274320"/>
            <a:ext cx="8229600" cy="237744"/>
          </a:xfrm>
          <a:prstGeom prst="rect">
            <a:avLst/>
          </a:prstGeom>
          <a:noFill/>
        </p:spPr>
        <p:txBody>
          <a:bodyPr wrap="square" lIns="0" rIns="0" tIns="18288" bIns="18288" anchor="t">
            <a:noAutofit/>
          </a:bodyPr>
          <a:lstStyle/>
          <a:p>
            <a:pPr algn="l">
              <a:spcBef>
                <a:spcPts val="0"/>
              </a:spcBef>
              <a:spcAft>
                <a:spcPts val="0"/>
              </a:spcAft>
            </a:pPr>
            <a:r>
              <a:rPr sz="1000" b="1" i="0" lang="id-ID">
                <a:solidFill>
                  <a:srgbClr val="0E7490"/>
                </a:solidFill>
                <a:latin typeface="Calibri"/>
              </a:rPr>
              <a:t>HASIL (1/3)</a:t>
            </a:r>
          </a:p>
        </p:txBody>
      </p:sp>
      <p:sp>
        <p:nvSpPr>
          <p:cNvPr id="18" name="TextBox 17"/>
          <p:cNvSpPr txBox="1"/>
          <p:nvPr/>
        </p:nvSpPr>
        <p:spPr>
          <a:xfrm>
            <a:off x="548640" y="3520440"/>
            <a:ext cx="5486400" cy="914400"/>
          </a:xfrm>
          <a:prstGeom prst="rect">
            <a:avLst/>
          </a:prstGeom>
          <a:noFill/>
        </p:spPr>
        <p:txBody>
          <a:bodyPr wrap="square" lIns="0" rIns="0" tIns="18288" bIns="18288" anchor="t">
            <a:noAutofit/>
          </a:bodyPr>
          <a:lstStyle/>
          <a:p>
            <a:pPr algn="l">
              <a:lnSpc>
                <a:spcPct val="100000"/>
              </a:lnSpc>
              <a:spcBef>
                <a:spcPts val="0"/>
              </a:spcBef>
              <a:spcAft>
                <a:spcPts val="0"/>
              </a:spcAft>
            </a:pPr>
            <a:r>
              <a:rPr sz="1150" b="0" i="0" lang="id-ID">
                <a:solidFill>
                  <a:srgbClr val="334155"/>
                </a:solidFill>
                <a:latin typeface="Calibri"/>
              </a:rPr>
              <a:t>•  Sumber inkonsistensi utama: representativitas sampel — 48,7% studi tidak memenuhi kriteria ini.</a:t>
            </a:r>
          </a:p>
          <a:p>
            <a:pPr algn="l">
              <a:lnSpc>
                <a:spcPct val="100000"/>
              </a:lnSpc>
              <a:spcBef>
                <a:spcPts val="0"/>
              </a:spcBef>
              <a:spcAft>
                <a:spcPts val="0"/>
              </a:spcAft>
            </a:pPr>
            <a:r>
              <a:rPr sz="1150" b="0" i="0" lang="id-ID">
                <a:solidFill>
                  <a:srgbClr val="334155"/>
                </a:solidFill>
                <a:latin typeface="Calibri"/>
              </a:rPr>
              <a:t>•  Semua studi lain dinilai memadai pada definisi kasus, pemilihan kontrol, dan penilaian luaran.</a:t>
            </a:r>
          </a:p>
        </p:txBody>
      </p:sp>
      <p:sp>
        <p:nvSpPr>
          <p:cNvPr id="19" name="TextBox 18"/>
          <p:cNvSpPr txBox="1"/>
          <p:nvPr/>
        </p:nvSpPr>
        <p:spPr>
          <a:xfrm>
            <a:off x="548640" y="3154680"/>
            <a:ext cx="5486400" cy="310896"/>
          </a:xfrm>
          <a:prstGeom prst="rect">
            <a:avLst/>
          </a:prstGeom>
          <a:noFill/>
        </p:spPr>
        <p:txBody>
          <a:bodyPr wrap="square" lIns="0" rIns="0" tIns="18288" bIns="18288" anchor="t">
            <a:noAutofit/>
          </a:bodyPr>
          <a:lstStyle/>
          <a:p>
            <a:pPr algn="l">
              <a:spcBef>
                <a:spcPts val="0"/>
              </a:spcBef>
              <a:spcAft>
                <a:spcPts val="0"/>
              </a:spcAft>
            </a:pPr>
            <a:r>
              <a:rPr sz="1300" b="1" i="0" lang="id-ID">
                <a:solidFill>
                  <a:srgbClr val="0F172A"/>
                </a:solidFill>
                <a:latin typeface="Calibri"/>
              </a:rPr>
              <a:t>Distribusi skor Newcastle–Ottawa Scale</a:t>
            </a:r>
          </a:p>
        </p:txBody>
      </p:sp>
      <p:sp>
        <p:nvSpPr>
          <p:cNvPr id="20" name="TextBox 19"/>
          <p:cNvSpPr txBox="1"/>
          <p:nvPr/>
        </p:nvSpPr>
        <p:spPr>
          <a:xfrm>
            <a:off x="548640" y="530352"/>
            <a:ext cx="11091672" cy="786384"/>
          </a:xfrm>
          <a:prstGeom prst="rect">
            <a:avLst/>
          </a:prstGeom>
          <a:noFill/>
        </p:spPr>
        <p:txBody>
          <a:bodyPr wrap="square" lIns="0" rIns="0" tIns="18288" bIns="18288" anchor="t">
            <a:noAutofit/>
          </a:bodyPr>
          <a:lstStyle/>
          <a:p>
            <a:pPr algn="l">
              <a:lnSpc>
                <a:spcPct val="95000"/>
              </a:lnSpc>
              <a:spcBef>
                <a:spcPts val="0"/>
              </a:spcBef>
              <a:spcAft>
                <a:spcPts val="0"/>
              </a:spcAft>
            </a:pPr>
            <a:r>
              <a:rPr sz="2500" b="1" i="0" lang="id-ID">
                <a:solidFill>
                  <a:srgbClr val="0F172A"/>
                </a:solidFill>
                <a:latin typeface="Calibri"/>
              </a:rPr>
              <a:t>116 studi lolos seleksi; mutu metodologis hampir seluruhnya tinggi</a:t>
            </a:r>
          </a:p>
        </p:txBody>
      </p:sp>
      <p:sp>
        <p:nvSpPr>
          <p:cNvPr id="21" name="TextBox 20"/>
          <p:cNvSpPr txBox="1"/>
          <p:nvPr/>
        </p:nvSpPr>
        <p:spPr>
          <a:xfrm>
            <a:off x="548640" y="6291072"/>
            <a:ext cx="9692640" cy="274320"/>
          </a:xfrm>
          <a:prstGeom prst="rect">
            <a:avLst/>
          </a:prstGeom>
          <a:noFill/>
        </p:spPr>
        <p:txBody>
          <a:bodyPr wrap="square" lIns="0" rIns="0" tIns="18288" bIns="18288" anchor="t">
            <a:noAutofit/>
          </a:bodyPr>
          <a:lstStyle/>
          <a:p>
            <a:pPr algn="l">
              <a:spcBef>
                <a:spcPts val="0"/>
              </a:spcBef>
              <a:spcAft>
                <a:spcPts val="0"/>
              </a:spcAft>
            </a:pPr>
            <a:r>
              <a:rPr sz="900" b="0" i="0" lang="id-ID">
                <a:solidFill>
                  <a:srgbClr val="64748B"/>
                </a:solidFill>
                <a:latin typeface="Calibri"/>
              </a:rPr>
              <a:t>Sumber utama: Lopes LB, Machado V, Mascarenhas P, Mendes JJ, Botelho J. Sci Rep 2021;11:22405 (CC BY 4.0)</a:t>
            </a:r>
          </a:p>
        </p:txBody>
      </p:sp>
      <p:sp>
        <p:nvSpPr>
          <p:cNvPr id="22" name="TextBox 21"/>
          <p:cNvSpPr txBox="1"/>
          <p:nvPr/>
        </p:nvSpPr>
        <p:spPr>
          <a:xfrm>
            <a:off x="6601968" y="3255264"/>
            <a:ext cx="4837176" cy="274320"/>
          </a:xfrm>
          <a:prstGeom prst="rect">
            <a:avLst/>
          </a:prstGeom>
          <a:noFill/>
        </p:spPr>
        <p:txBody>
          <a:bodyPr wrap="square" lIns="0" rIns="0" tIns="18288" bIns="18288" anchor="t">
            <a:noAutofit/>
          </a:bodyPr>
          <a:lstStyle/>
          <a:p>
            <a:pPr algn="l">
              <a:spcBef>
                <a:spcPts val="0"/>
              </a:spcBef>
              <a:spcAft>
                <a:spcPts val="0"/>
              </a:spcAft>
            </a:pPr>
            <a:r>
              <a:rPr sz="1200" b="1" i="0" lang="id-ID">
                <a:solidFill>
                  <a:srgbClr val="0F172A"/>
                </a:solidFill>
                <a:latin typeface="Calibri"/>
              </a:rPr>
              <a:t>Kualitas metodologis (NOS)</a:t>
            </a:r>
          </a:p>
        </p:txBody>
      </p:sp>
      <p:graphicFrame>
        <p:nvGraphicFramePr>
          <p:cNvPr id="23" name="Table 22"/>
          <p:cNvGraphicFramePr>
            <a:graphicFrameLocks noGrp="1"/>
          </p:cNvGraphicFramePr>
          <p:nvPr/>
        </p:nvGraphicFramePr>
        <p:xfrm>
          <a:off x="6601968" y="3566160"/>
          <a:ext cx="4846320" cy="1371600"/>
        </p:xfrm>
        <a:graphic>
          <a:graphicData uri="http://schemas.openxmlformats.org/drawingml/2006/table">
            <a:tbl>
              <a:tblPr firstRow="1" bandRow="0">
                <a:tableStyleId>{5C22544A-7EE6-4342-B048-85BDC9FD1C3A}</a:tableStyleId>
              </a:tblPr>
              <a:tblGrid>
                <a:gridCol w="960120"/>
                <a:gridCol w="1051560"/>
                <a:gridCol w="2834640"/>
              </a:tblGrid>
              <a:tr h="274320">
                <a:tc>
                  <a:txBody>
                    <a:bodyPr wrap="square"/>
                    <a:lstStyle/>
                    <a:p>
                      <a:pPr algn="l"/>
                      <a:r>
                        <a:rPr sz="1100" b="1" lang="id-ID">
                          <a:solidFill>
                            <a:srgbClr val="FFFFFF"/>
                          </a:solidFill>
                          <a:latin typeface="Calibri"/>
                        </a:rPr>
                        <a:t>Skor NOS</a:t>
                      </a:r>
                    </a:p>
                  </a:txBody>
                  <a:tcPr marL="73152" marR="54864" marT="18288" marB="18288" anchor="ctr">
                    <a:solidFill>
                      <a:srgbClr val="0E7490"/>
                    </a:solidFill>
                  </a:tcPr>
                </a:tc>
                <a:tc>
                  <a:txBody>
                    <a:bodyPr wrap="square"/>
                    <a:lstStyle/>
                    <a:p>
                      <a:pPr algn="l"/>
                      <a:r>
                        <a:rPr sz="1100" b="1" lang="id-ID">
                          <a:solidFill>
                            <a:srgbClr val="FFFFFF"/>
                          </a:solidFill>
                          <a:latin typeface="Calibri"/>
                        </a:rPr>
                        <a:t>Jumlah studi</a:t>
                      </a:r>
                    </a:p>
                  </a:txBody>
                  <a:tcPr marL="73152" marR="54864" marT="18288" marB="18288" anchor="ctr">
                    <a:solidFill>
                      <a:srgbClr val="0E7490"/>
                    </a:solidFill>
                  </a:tcPr>
                </a:tc>
                <a:tc>
                  <a:txBody>
                    <a:bodyPr wrap="square"/>
                    <a:lstStyle/>
                    <a:p>
                      <a:pPr algn="l"/>
                      <a:r>
                        <a:rPr sz="1100" b="1" lang="id-ID">
                          <a:solidFill>
                            <a:srgbClr val="FFFFFF"/>
                          </a:solidFill>
                          <a:latin typeface="Calibri"/>
                        </a:rPr>
                        <a:t>Interpretasi</a:t>
                      </a:r>
                    </a:p>
                  </a:txBody>
                  <a:tcPr marL="73152" marR="54864" marT="18288" marB="18288" anchor="ctr">
                    <a:solidFill>
                      <a:srgbClr val="0E7490"/>
                    </a:solidFill>
                  </a:tcPr>
                </a:tc>
              </a:tr>
              <a:tr h="274320">
                <a:tc>
                  <a:txBody>
                    <a:bodyPr wrap="square"/>
                    <a:lstStyle/>
                    <a:p>
                      <a:pPr algn="l"/>
                      <a:r>
                        <a:rPr sz="1100" b="0" lang="id-ID">
                          <a:solidFill>
                            <a:srgbClr val="334155"/>
                          </a:solidFill>
                          <a:latin typeface="Calibri"/>
                        </a:rPr>
                        <a:t>9/9</a:t>
                      </a:r>
                    </a:p>
                  </a:txBody>
                  <a:tcPr marL="73152" marR="54864" marT="18288" marB="18288" anchor="ctr">
                    <a:solidFill>
                      <a:srgbClr val="FFFFFF"/>
                    </a:solidFill>
                  </a:tcPr>
                </a:tc>
                <a:tc>
                  <a:txBody>
                    <a:bodyPr wrap="square"/>
                    <a:lstStyle/>
                    <a:p>
                      <a:pPr algn="l"/>
                      <a:r>
                        <a:rPr sz="1100" b="0" lang="id-ID">
                          <a:solidFill>
                            <a:srgbClr val="334155"/>
                          </a:solidFill>
                          <a:latin typeface="Calibri"/>
                        </a:rPr>
                        <a:t>48</a:t>
                      </a:r>
                    </a:p>
                  </a:txBody>
                  <a:tcPr marL="73152" marR="54864" marT="18288" marB="18288" anchor="ctr">
                    <a:solidFill>
                      <a:srgbClr val="FFFFFF"/>
                    </a:solidFill>
                  </a:tcPr>
                </a:tc>
                <a:tc>
                  <a:txBody>
                    <a:bodyPr wrap="square"/>
                    <a:lstStyle/>
                    <a:p>
                      <a:pPr algn="l"/>
                      <a:r>
                        <a:rPr sz="1100" b="0" lang="id-ID">
                          <a:solidFill>
                            <a:srgbClr val="334155"/>
                          </a:solidFill>
                          <a:latin typeface="Calibri"/>
                        </a:rPr>
                        <a:t>Kualitas tinggi (skor maksimum)</a:t>
                      </a:r>
                    </a:p>
                  </a:txBody>
                  <a:tcPr marL="73152" marR="54864" marT="18288" marB="18288" anchor="ctr">
                    <a:solidFill>
                      <a:srgbClr val="FFFFFF"/>
                    </a:solidFill>
                  </a:tcPr>
                </a:tc>
              </a:tr>
              <a:tr h="274320">
                <a:tc>
                  <a:txBody>
                    <a:bodyPr wrap="square"/>
                    <a:lstStyle/>
                    <a:p>
                      <a:pPr algn="l"/>
                      <a:r>
                        <a:rPr sz="1100" b="0" lang="id-ID">
                          <a:solidFill>
                            <a:srgbClr val="334155"/>
                          </a:solidFill>
                          <a:latin typeface="Calibri"/>
                        </a:rPr>
                        <a:t>8/9</a:t>
                      </a:r>
                    </a:p>
                  </a:txBody>
                  <a:tcPr marL="73152" marR="54864" marT="18288" marB="18288" anchor="ctr">
                    <a:solidFill>
                      <a:srgbClr val="F1F5F9"/>
                    </a:solidFill>
                  </a:tcPr>
                </a:tc>
                <a:tc>
                  <a:txBody>
                    <a:bodyPr wrap="square"/>
                    <a:lstStyle/>
                    <a:p>
                      <a:pPr algn="l"/>
                      <a:r>
                        <a:rPr sz="1100" b="0" lang="id-ID">
                          <a:solidFill>
                            <a:srgbClr val="334155"/>
                          </a:solidFill>
                          <a:latin typeface="Calibri"/>
                        </a:rPr>
                        <a:t>53</a:t>
                      </a:r>
                    </a:p>
                  </a:txBody>
                  <a:tcPr marL="73152" marR="54864" marT="18288" marB="18288" anchor="ctr">
                    <a:solidFill>
                      <a:srgbClr val="F1F5F9"/>
                    </a:solidFill>
                  </a:tcPr>
                </a:tc>
                <a:tc>
                  <a:txBody>
                    <a:bodyPr wrap="square"/>
                    <a:lstStyle/>
                    <a:p>
                      <a:pPr algn="l"/>
                      <a:r>
                        <a:rPr sz="1100" b="0" lang="id-ID">
                          <a:solidFill>
                            <a:srgbClr val="334155"/>
                          </a:solidFill>
                          <a:latin typeface="Calibri"/>
                        </a:rPr>
                        <a:t>Kualitas tinggi</a:t>
                      </a:r>
                    </a:p>
                  </a:txBody>
                  <a:tcPr marL="73152" marR="54864" marT="18288" marB="18288" anchor="ctr">
                    <a:solidFill>
                      <a:srgbClr val="F1F5F9"/>
                    </a:solidFill>
                  </a:tcPr>
                </a:tc>
              </a:tr>
              <a:tr h="274320">
                <a:tc>
                  <a:txBody>
                    <a:bodyPr wrap="square"/>
                    <a:lstStyle/>
                    <a:p>
                      <a:pPr algn="l"/>
                      <a:r>
                        <a:rPr sz="1100" b="0" lang="id-ID">
                          <a:solidFill>
                            <a:srgbClr val="334155"/>
                          </a:solidFill>
                          <a:latin typeface="Calibri"/>
                        </a:rPr>
                        <a:t>7/9</a:t>
                      </a:r>
                    </a:p>
                  </a:txBody>
                  <a:tcPr marL="73152" marR="54864" marT="18288" marB="18288" anchor="ctr">
                    <a:solidFill>
                      <a:srgbClr val="FFFFFF"/>
                    </a:solidFill>
                  </a:tcPr>
                </a:tc>
                <a:tc>
                  <a:txBody>
                    <a:bodyPr wrap="square"/>
                    <a:lstStyle/>
                    <a:p>
                      <a:pPr algn="l"/>
                      <a:r>
                        <a:rPr sz="1100" b="0" lang="id-ID">
                          <a:solidFill>
                            <a:srgbClr val="334155"/>
                          </a:solidFill>
                          <a:latin typeface="Calibri"/>
                        </a:rPr>
                        <a:t>6</a:t>
                      </a:r>
                    </a:p>
                  </a:txBody>
                  <a:tcPr marL="73152" marR="54864" marT="18288" marB="18288" anchor="ctr">
                    <a:solidFill>
                      <a:srgbClr val="FFFFFF"/>
                    </a:solidFill>
                  </a:tcPr>
                </a:tc>
                <a:tc>
                  <a:txBody>
                    <a:bodyPr wrap="square"/>
                    <a:lstStyle/>
                    <a:p>
                      <a:pPr algn="l"/>
                      <a:r>
                        <a:rPr sz="1100" b="0" lang="id-ID">
                          <a:solidFill>
                            <a:srgbClr val="334155"/>
                          </a:solidFill>
                          <a:latin typeface="Calibri"/>
                        </a:rPr>
                        <a:t>Kualitas tinggi</a:t>
                      </a:r>
                    </a:p>
                  </a:txBody>
                  <a:tcPr marL="73152" marR="54864" marT="18288" marB="18288" anchor="ctr">
                    <a:solidFill>
                      <a:srgbClr val="FFFFFF"/>
                    </a:solidFill>
                  </a:tcPr>
                </a:tc>
              </a:tr>
              <a:tr h="274320">
                <a:tc>
                  <a:txBody>
                    <a:bodyPr wrap="square"/>
                    <a:lstStyle/>
                    <a:p>
                      <a:pPr algn="l"/>
                      <a:r>
                        <a:rPr sz="1100" b="0" lang="id-ID">
                          <a:solidFill>
                            <a:srgbClr val="334155"/>
                          </a:solidFill>
                          <a:latin typeface="Calibri"/>
                        </a:rPr>
                        <a:t>6/9</a:t>
                      </a:r>
                    </a:p>
                  </a:txBody>
                  <a:tcPr marL="73152" marR="54864" marT="18288" marB="18288" anchor="ctr">
                    <a:solidFill>
                      <a:srgbClr val="F1F5F9"/>
                    </a:solidFill>
                  </a:tcPr>
                </a:tc>
                <a:tc>
                  <a:txBody>
                    <a:bodyPr wrap="square"/>
                    <a:lstStyle/>
                    <a:p>
                      <a:pPr algn="l"/>
                      <a:r>
                        <a:rPr sz="1100" b="0" lang="id-ID">
                          <a:solidFill>
                            <a:srgbClr val="334155"/>
                          </a:solidFill>
                          <a:latin typeface="Calibri"/>
                        </a:rPr>
                        <a:t>1</a:t>
                      </a:r>
                    </a:p>
                  </a:txBody>
                  <a:tcPr marL="73152" marR="54864" marT="18288" marB="18288" anchor="ctr">
                    <a:solidFill>
                      <a:srgbClr val="F1F5F9"/>
                    </a:solidFill>
                  </a:tcPr>
                </a:tc>
                <a:tc>
                  <a:txBody>
                    <a:bodyPr wrap="square"/>
                    <a:lstStyle/>
                    <a:p>
                      <a:pPr algn="l"/>
                      <a:r>
                        <a:rPr sz="1100" b="0" lang="id-ID">
                          <a:solidFill>
                            <a:srgbClr val="334155"/>
                          </a:solidFill>
                          <a:latin typeface="Calibri"/>
                        </a:rPr>
                        <a:t>Kualitas sedang</a:t>
                      </a:r>
                    </a:p>
                  </a:txBody>
                  <a:tcPr marL="73152" marR="54864" marT="18288" marB="18288" anchor="ctr">
                    <a:solidFill>
                      <a:srgbClr val="F1F5F9"/>
                    </a:solidFill>
                  </a:tcPr>
                </a:tc>
              </a:tr>
            </a:tbl>
          </a:graphicData>
        </a:graphic>
      </p:graphicFrame>
      <p:sp>
        <p:nvSpPr>
          <p:cNvPr id="24" name="TextBox 23"/>
          <p:cNvSpPr txBox="1"/>
          <p:nvPr/>
        </p:nvSpPr>
        <p:spPr>
          <a:xfrm>
            <a:off x="10698480" y="6291072"/>
            <a:ext cx="941832" cy="274320"/>
          </a:xfrm>
          <a:prstGeom prst="rect">
            <a:avLst/>
          </a:prstGeom>
          <a:noFill/>
        </p:spPr>
        <p:txBody>
          <a:bodyPr wrap="square" lIns="0" rIns="0" tIns="18288" bIns="18288" anchor="t">
            <a:noAutofit/>
          </a:bodyPr>
          <a:lstStyle/>
          <a:p>
            <a:pPr algn="r">
              <a:spcBef>
                <a:spcPts val="0"/>
              </a:spcBef>
              <a:spcAft>
                <a:spcPts val="0"/>
              </a:spcAft>
            </a:pPr>
            <a:r>
              <a:rPr sz="900" b="0" i="0" lang="id-ID">
                <a:solidFill>
                  <a:srgbClr val="64748B"/>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1572768"/>
            <a:ext cx="5029200" cy="2743200"/>
          </a:xfrm>
          <a:prstGeom prst="roundRect">
            <a:avLst>
              <a:gd name="adj" fmla="val 2666"/>
            </a:avLst>
          </a:prstGeom>
          <a:solidFill>
            <a:srgbClr val="F0FDFA"/>
          </a:solidFill>
          <a:ln w="15875">
            <a:solidFill>
              <a:srgbClr val="99F6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5943600" y="1572768"/>
            <a:ext cx="5696712" cy="841248"/>
          </a:xfrm>
          <a:prstGeom prst="roundRect">
            <a:avLst>
              <a:gd name="adj" fmla="val 6521"/>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5943600" y="2542032"/>
            <a:ext cx="5696712" cy="841248"/>
          </a:xfrm>
          <a:prstGeom prst="roundRect">
            <a:avLst>
              <a:gd name="adj" fmla="val 6521"/>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5943600" y="3511296"/>
            <a:ext cx="5696712" cy="804672"/>
          </a:xfrm>
          <a:prstGeom prst="roundRect">
            <a:avLst>
              <a:gd name="adj" fmla="val 6818"/>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7" name="Connector 6"/>
          <p:cNvCxnSpPr/>
          <p:nvPr/>
        </p:nvCxnSpPr>
        <p:spPr>
          <a:xfrm>
            <a:off x="548640" y="1371600"/>
            <a:ext cx="11091672" cy="914"/>
          </a:xfrm>
          <a:prstGeom prst="line">
            <a:avLst/>
          </a:prstGeom>
          <a:ln w="19050">
            <a:solidFill>
              <a:srgbClr val="0E749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59" y="3154680"/>
            <a:ext cx="4480560" cy="1005840"/>
          </a:xfrm>
          <a:prstGeom prst="rect">
            <a:avLst/>
          </a:prstGeom>
          <a:noFill/>
        </p:spPr>
        <p:txBody>
          <a:bodyPr wrap="square" lIns="0" rIns="0" tIns="18288" bIns="18288" anchor="t">
            <a:noAutofit/>
          </a:bodyPr>
          <a:lstStyle/>
          <a:p>
            <a:pPr algn="ctr">
              <a:lnSpc>
                <a:spcPct val="105000"/>
              </a:lnSpc>
              <a:spcBef>
                <a:spcPts val="0"/>
              </a:spcBef>
              <a:spcAft>
                <a:spcPts val="0"/>
              </a:spcAft>
            </a:pPr>
            <a:r>
              <a:rPr sz="1300" b="0" i="0" lang="id-ID">
                <a:solidFill>
                  <a:srgbClr val="0F172A"/>
                </a:solidFill>
                <a:latin typeface="Calibri"/>
              </a:rPr>
              <a:t>prevalensi MIH global</a:t>
            </a:r>
          </a:p>
          <a:p>
            <a:pPr algn="ctr">
              <a:lnSpc>
                <a:spcPct val="105000"/>
              </a:lnSpc>
              <a:spcBef>
                <a:spcPts val="0"/>
              </a:spcBef>
              <a:spcAft>
                <a:spcPts val="0"/>
              </a:spcAft>
            </a:pPr>
            <a:r>
              <a:rPr sz="1300" b="0" i="0" lang="id-ID">
                <a:solidFill>
                  <a:srgbClr val="0F172A"/>
                </a:solidFill>
                <a:latin typeface="Calibri"/>
              </a:rPr>
              <a:t>95% CI 12,0–15,1   ·   p &lt; 0,001   ·   n = 113.089</a:t>
            </a:r>
          </a:p>
        </p:txBody>
      </p:sp>
      <p:sp>
        <p:nvSpPr>
          <p:cNvPr id="9" name="TextBox 8"/>
          <p:cNvSpPr txBox="1"/>
          <p:nvPr/>
        </p:nvSpPr>
        <p:spPr>
          <a:xfrm>
            <a:off x="822959" y="1874519"/>
            <a:ext cx="4480560" cy="1234440"/>
          </a:xfrm>
          <a:prstGeom prst="rect">
            <a:avLst/>
          </a:prstGeom>
          <a:noFill/>
        </p:spPr>
        <p:txBody>
          <a:bodyPr wrap="square" lIns="0" rIns="0" tIns="18288" bIns="18288" anchor="t">
            <a:noAutofit/>
          </a:bodyPr>
          <a:lstStyle/>
          <a:p>
            <a:pPr algn="ctr">
              <a:spcBef>
                <a:spcPts val="0"/>
              </a:spcBef>
              <a:spcAft>
                <a:spcPts val="0"/>
              </a:spcAft>
            </a:pPr>
            <a:r>
              <a:rPr sz="6600" b="1" i="0" lang="id-ID">
                <a:solidFill>
                  <a:srgbClr val="155E75"/>
                </a:solidFill>
                <a:latin typeface="Calibri"/>
              </a:rPr>
              <a:t>13,5%</a:t>
            </a:r>
          </a:p>
        </p:txBody>
      </p:sp>
      <p:sp>
        <p:nvSpPr>
          <p:cNvPr id="10" name="TextBox 9"/>
          <p:cNvSpPr txBox="1"/>
          <p:nvPr/>
        </p:nvSpPr>
        <p:spPr>
          <a:xfrm>
            <a:off x="548640" y="274320"/>
            <a:ext cx="8229600" cy="237744"/>
          </a:xfrm>
          <a:prstGeom prst="rect">
            <a:avLst/>
          </a:prstGeom>
          <a:noFill/>
        </p:spPr>
        <p:txBody>
          <a:bodyPr wrap="square" lIns="0" rIns="0" tIns="18288" bIns="18288" anchor="t">
            <a:noAutofit/>
          </a:bodyPr>
          <a:lstStyle/>
          <a:p>
            <a:pPr algn="l">
              <a:spcBef>
                <a:spcPts val="0"/>
              </a:spcBef>
              <a:spcAft>
                <a:spcPts val="0"/>
              </a:spcAft>
            </a:pPr>
            <a:r>
              <a:rPr sz="1000" b="1" i="0" lang="id-ID">
                <a:solidFill>
                  <a:srgbClr val="0E7490"/>
                </a:solidFill>
                <a:latin typeface="Calibri"/>
              </a:rPr>
              <a:t>HASIL (2/3)</a:t>
            </a:r>
          </a:p>
        </p:txBody>
      </p:sp>
      <p:sp>
        <p:nvSpPr>
          <p:cNvPr id="11" name="TextBox 10"/>
          <p:cNvSpPr txBox="1"/>
          <p:nvPr/>
        </p:nvSpPr>
        <p:spPr>
          <a:xfrm>
            <a:off x="548640" y="4526280"/>
            <a:ext cx="11091672" cy="1280160"/>
          </a:xfrm>
          <a:prstGeom prst="rect">
            <a:avLst/>
          </a:prstGeom>
          <a:noFill/>
        </p:spPr>
        <p:txBody>
          <a:bodyPr wrap="square" lIns="0" rIns="0" tIns="18288" bIns="18288" anchor="t">
            <a:noAutofit/>
          </a:bodyPr>
          <a:lstStyle/>
          <a:p>
            <a:pPr algn="l">
              <a:lnSpc>
                <a:spcPct val="100000"/>
              </a:lnSpc>
              <a:spcBef>
                <a:spcPts val="0"/>
              </a:spcBef>
              <a:spcAft>
                <a:spcPts val="0"/>
              </a:spcAft>
            </a:pPr>
            <a:r>
              <a:rPr sz="1200" b="0" i="1" lang="id-ID">
                <a:solidFill>
                  <a:srgbClr val="64748B"/>
                </a:solidFill>
                <a:latin typeface="Calibri"/>
              </a:rPr>
              <a:t>Cara membaca angkanya: 13,5% adalah rata-rata tertimbang dari 98 studi yang memakai kriteria EAPD 2003. Karena heterogenitas 98%, angka ini paling tepat dibaca sebagai “besaran beban populasi”, bukan angka presisi untuk satu negara tertentu.</a:t>
            </a:r>
          </a:p>
        </p:txBody>
      </p:sp>
      <p:sp>
        <p:nvSpPr>
          <p:cNvPr id="12" name="TextBox 11"/>
          <p:cNvSpPr txBox="1"/>
          <p:nvPr/>
        </p:nvSpPr>
        <p:spPr>
          <a:xfrm>
            <a:off x="548640" y="530352"/>
            <a:ext cx="11091672" cy="786384"/>
          </a:xfrm>
          <a:prstGeom prst="rect">
            <a:avLst/>
          </a:prstGeom>
          <a:noFill/>
        </p:spPr>
        <p:txBody>
          <a:bodyPr wrap="square" lIns="0" rIns="0" tIns="18288" bIns="18288" anchor="t">
            <a:noAutofit/>
          </a:bodyPr>
          <a:lstStyle/>
          <a:p>
            <a:pPr algn="l">
              <a:lnSpc>
                <a:spcPct val="95000"/>
              </a:lnSpc>
              <a:spcBef>
                <a:spcPts val="0"/>
              </a:spcBef>
              <a:spcAft>
                <a:spcPts val="0"/>
              </a:spcAft>
            </a:pPr>
            <a:r>
              <a:rPr sz="2500" b="1" i="0" lang="id-ID">
                <a:solidFill>
                  <a:srgbClr val="0F172A"/>
                </a:solidFill>
                <a:latin typeface="Calibri"/>
              </a:rPr>
              <a:t>Prevalensi global MIH 13,5% — setara sekitar 1 dari 7–8 anak</a:t>
            </a:r>
          </a:p>
        </p:txBody>
      </p:sp>
      <p:sp>
        <p:nvSpPr>
          <p:cNvPr id="13" name="TextBox 12"/>
          <p:cNvSpPr txBox="1"/>
          <p:nvPr/>
        </p:nvSpPr>
        <p:spPr>
          <a:xfrm>
            <a:off x="548640" y="6291072"/>
            <a:ext cx="9692640" cy="274320"/>
          </a:xfrm>
          <a:prstGeom prst="rect">
            <a:avLst/>
          </a:prstGeom>
          <a:noFill/>
        </p:spPr>
        <p:txBody>
          <a:bodyPr wrap="square" lIns="0" rIns="0" tIns="18288" bIns="18288" anchor="t">
            <a:noAutofit/>
          </a:bodyPr>
          <a:lstStyle/>
          <a:p>
            <a:pPr algn="l">
              <a:spcBef>
                <a:spcPts val="0"/>
              </a:spcBef>
              <a:spcAft>
                <a:spcPts val="0"/>
              </a:spcAft>
            </a:pPr>
            <a:r>
              <a:rPr sz="900" b="0" i="0" lang="id-ID">
                <a:solidFill>
                  <a:srgbClr val="64748B"/>
                </a:solidFill>
                <a:latin typeface="Calibri"/>
              </a:rPr>
              <a:t>Sumber utama: Lopes LB, Machado V, Mascarenhas P, Mendes JJ, Botelho J. Sci Rep 2021;11:22405 (CC BY 4.0)</a:t>
            </a:r>
          </a:p>
        </p:txBody>
      </p:sp>
      <p:sp>
        <p:nvSpPr>
          <p:cNvPr id="14" name="TextBox 13"/>
          <p:cNvSpPr txBox="1"/>
          <p:nvPr/>
        </p:nvSpPr>
        <p:spPr>
          <a:xfrm>
            <a:off x="10698480" y="6291072"/>
            <a:ext cx="941832" cy="274320"/>
          </a:xfrm>
          <a:prstGeom prst="rect">
            <a:avLst/>
          </a:prstGeom>
          <a:noFill/>
        </p:spPr>
        <p:txBody>
          <a:bodyPr wrap="square" lIns="0" rIns="0" tIns="18288" bIns="18288" anchor="t">
            <a:noAutofit/>
          </a:bodyPr>
          <a:lstStyle/>
          <a:p>
            <a:pPr algn="r">
              <a:spcBef>
                <a:spcPts val="0"/>
              </a:spcBef>
              <a:spcAft>
                <a:spcPts val="0"/>
              </a:spcAft>
            </a:pPr>
            <a:r>
              <a:rPr sz="900" b="0" i="0" lang="id-ID">
                <a:solidFill>
                  <a:srgbClr val="64748B"/>
                </a:solidFill>
                <a:latin typeface="Calibri"/>
              </a:rPr>
              <a:t>9</a:t>
            </a:r>
          </a:p>
        </p:txBody>
      </p:sp>
      <p:sp>
        <p:nvSpPr>
          <p:cNvPr id="15" name="TextBox 14"/>
          <p:cNvSpPr txBox="1"/>
          <p:nvPr/>
        </p:nvSpPr>
        <p:spPr>
          <a:xfrm>
            <a:off x="6163055" y="1700784"/>
            <a:ext cx="5257800" cy="603504"/>
          </a:xfrm>
          <a:prstGeom prst="rect">
            <a:avLst/>
          </a:prstGeom>
          <a:noFill/>
        </p:spPr>
        <p:txBody>
          <a:bodyPr wrap="square" lIns="0" rIns="0" tIns="18288" bIns="18288" anchor="t">
            <a:noAutofit/>
          </a:bodyPr>
          <a:lstStyle/>
          <a:p>
            <a:pPr algn="l">
              <a:lnSpc>
                <a:spcPct val="98000"/>
              </a:lnSpc>
              <a:spcBef>
                <a:spcPts val="0"/>
              </a:spcBef>
              <a:spcAft>
                <a:spcPts val="0"/>
              </a:spcAft>
            </a:pPr>
            <a:r>
              <a:rPr sz="1250" b="0" i="0" lang="id-ID">
                <a:solidFill>
                  <a:srgbClr val="334155"/>
                </a:solidFill>
                <a:latin typeface="Calibri"/>
              </a:rPr>
              <a:t>I² = 98,0% — heterogenitas sangat tinggi antar studi (variasi nyata, bukan acak).</a:t>
            </a:r>
          </a:p>
        </p:txBody>
      </p:sp>
      <p:sp>
        <p:nvSpPr>
          <p:cNvPr id="16" name="TextBox 15"/>
          <p:cNvSpPr txBox="1"/>
          <p:nvPr/>
        </p:nvSpPr>
        <p:spPr>
          <a:xfrm>
            <a:off x="6163055" y="2670048"/>
            <a:ext cx="5257800" cy="603504"/>
          </a:xfrm>
          <a:prstGeom prst="rect">
            <a:avLst/>
          </a:prstGeom>
          <a:noFill/>
        </p:spPr>
        <p:txBody>
          <a:bodyPr wrap="square" lIns="0" rIns="0" tIns="18288" bIns="18288" anchor="t">
            <a:noAutofit/>
          </a:bodyPr>
          <a:lstStyle/>
          <a:p>
            <a:pPr algn="l">
              <a:lnSpc>
                <a:spcPct val="98000"/>
              </a:lnSpc>
              <a:spcBef>
                <a:spcPts val="0"/>
              </a:spcBef>
              <a:spcAft>
                <a:spcPts val="0"/>
              </a:spcAft>
            </a:pPr>
            <a:r>
              <a:rPr sz="1250" b="0" i="0" lang="id-ID">
                <a:solidFill>
                  <a:srgbClr val="334155"/>
                </a:solidFill>
                <a:latin typeface="Calibri"/>
              </a:rPr>
              <a:t>Uji Egger p = 0,179 — tidak ada indikasi bias publikasi yang bermakna.</a:t>
            </a:r>
          </a:p>
        </p:txBody>
      </p:sp>
      <p:sp>
        <p:nvSpPr>
          <p:cNvPr id="17" name="TextBox 16"/>
          <p:cNvSpPr txBox="1"/>
          <p:nvPr/>
        </p:nvSpPr>
        <p:spPr>
          <a:xfrm>
            <a:off x="6163055" y="3639312"/>
            <a:ext cx="5257800" cy="566928"/>
          </a:xfrm>
          <a:prstGeom prst="rect">
            <a:avLst/>
          </a:prstGeom>
          <a:noFill/>
        </p:spPr>
        <p:txBody>
          <a:bodyPr wrap="square" lIns="0" rIns="0" tIns="18288" bIns="18288" anchor="t">
            <a:noAutofit/>
          </a:bodyPr>
          <a:lstStyle/>
          <a:p>
            <a:pPr algn="l">
              <a:lnSpc>
                <a:spcPct val="98000"/>
              </a:lnSpc>
              <a:spcBef>
                <a:spcPts val="0"/>
              </a:spcBef>
              <a:spcAft>
                <a:spcPts val="0"/>
              </a:spcAft>
            </a:pPr>
            <a:r>
              <a:rPr sz="1250" b="0" i="0" lang="id-ID">
                <a:solidFill>
                  <a:srgbClr val="334155"/>
                </a:solidFill>
                <a:latin typeface="Calibri"/>
              </a:rPr>
              <a:t>Cumulative &amp; leave-one-out meta-analisis: estimasi stabil, tidak didorong satu studi.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9052560" y="3401568"/>
            <a:ext cx="2587752" cy="2377440"/>
          </a:xfrm>
          <a:prstGeom prst="roundRect">
            <a:avLst>
              <a:gd name="adj" fmla="val 3076"/>
            </a:avLst>
          </a:prstGeom>
          <a:solidFill>
            <a:srgbClr val="F0FDFA"/>
          </a:solidFill>
          <a:ln w="15875">
            <a:solidFill>
              <a:srgbClr val="99F6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1737360" y="3483863"/>
            <a:ext cx="3931920" cy="329184"/>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737360" y="3483863"/>
            <a:ext cx="3184855" cy="329184"/>
          </a:xfrm>
          <a:prstGeom prst="roundRect">
            <a:avLst>
              <a:gd name="adj" fmla="val 50000"/>
            </a:avLst>
          </a:prstGeom>
          <a:solidFill>
            <a:srgbClr val="0E7490"/>
          </a:solidFill>
          <a:ln w="635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737360" y="4050791"/>
            <a:ext cx="3931920" cy="329184"/>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1737360" y="4050791"/>
            <a:ext cx="3499408" cy="329184"/>
          </a:xfrm>
          <a:prstGeom prst="roundRect">
            <a:avLst>
              <a:gd name="adj" fmla="val 50000"/>
            </a:avLst>
          </a:prstGeom>
          <a:solidFill>
            <a:srgbClr val="0E7490"/>
          </a:solidFill>
          <a:ln w="635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1737360" y="4617720"/>
            <a:ext cx="3931920" cy="329184"/>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1737360" y="4617720"/>
            <a:ext cx="2371953" cy="329184"/>
          </a:xfrm>
          <a:prstGeom prst="roundRect">
            <a:avLst>
              <a:gd name="adj" fmla="val 50000"/>
            </a:avLst>
          </a:prstGeom>
          <a:solidFill>
            <a:srgbClr val="0E7490"/>
          </a:solidFill>
          <a:ln w="635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1737360" y="5184648"/>
            <a:ext cx="3931920" cy="329184"/>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1737360" y="5184648"/>
            <a:ext cx="3590848" cy="329184"/>
          </a:xfrm>
          <a:prstGeom prst="roundRect">
            <a:avLst>
              <a:gd name="adj" fmla="val 50000"/>
            </a:avLst>
          </a:prstGeom>
          <a:solidFill>
            <a:srgbClr val="0E7490"/>
          </a:solidFill>
          <a:ln w="6350">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2" name="Connector 11"/>
          <p:cNvCxnSpPr/>
          <p:nvPr/>
        </p:nvCxnSpPr>
        <p:spPr>
          <a:xfrm>
            <a:off x="548640" y="1371600"/>
            <a:ext cx="11091672" cy="914"/>
          </a:xfrm>
          <a:prstGeom prst="line">
            <a:avLst/>
          </a:prstGeom>
          <a:ln w="19050">
            <a:solidFill>
              <a:srgbClr val="0E7490"/>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48640" y="1572768"/>
            <a:ext cx="3538728" cy="1298448"/>
          </a:xfrm>
          <a:prstGeom prst="roundRect">
            <a:avLst>
              <a:gd name="adj" fmla="val 4225"/>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4233672" y="1572768"/>
            <a:ext cx="3538728" cy="1298448"/>
          </a:xfrm>
          <a:prstGeom prst="roundRect">
            <a:avLst>
              <a:gd name="adj" fmla="val 4225"/>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7918704" y="1572768"/>
            <a:ext cx="3538728" cy="1298448"/>
          </a:xfrm>
          <a:prstGeom prst="roundRect">
            <a:avLst>
              <a:gd name="adj" fmla="val 4225"/>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48640" y="3063240"/>
            <a:ext cx="6858000" cy="292608"/>
          </a:xfrm>
          <a:prstGeom prst="rect">
            <a:avLst/>
          </a:prstGeom>
          <a:noFill/>
        </p:spPr>
        <p:txBody>
          <a:bodyPr wrap="square" lIns="0" rIns="0" tIns="18288" bIns="18288" anchor="t">
            <a:noAutofit/>
          </a:bodyPr>
          <a:lstStyle/>
          <a:p>
            <a:pPr algn="l">
              <a:spcBef>
                <a:spcPts val="0"/>
              </a:spcBef>
              <a:spcAft>
                <a:spcPts val="0"/>
              </a:spcAft>
            </a:pPr>
            <a:r>
              <a:rPr sz="1300" b="1" i="0" lang="id-ID">
                <a:solidFill>
                  <a:srgbClr val="0F172A"/>
                </a:solidFill>
                <a:latin typeface="Calibri"/>
              </a:rPr>
              <a:t>Distribusi jumlah molar pertama permanen yang terkena (% kasus)</a:t>
            </a:r>
          </a:p>
        </p:txBody>
      </p:sp>
      <p:sp>
        <p:nvSpPr>
          <p:cNvPr id="17" name="TextBox 16"/>
          <p:cNvSpPr txBox="1"/>
          <p:nvPr/>
        </p:nvSpPr>
        <p:spPr>
          <a:xfrm>
            <a:off x="9253728" y="3566160"/>
            <a:ext cx="2185416" cy="2048256"/>
          </a:xfrm>
          <a:prstGeom prst="rect">
            <a:avLst/>
          </a:prstGeom>
          <a:noFill/>
        </p:spPr>
        <p:txBody>
          <a:bodyPr wrap="square" lIns="0" rIns="0" tIns="18288" bIns="18288" anchor="t">
            <a:noAutofit/>
          </a:bodyPr>
          <a:lstStyle/>
          <a:p>
            <a:pPr algn="l">
              <a:lnSpc>
                <a:spcPct val="100000"/>
              </a:lnSpc>
              <a:spcBef>
                <a:spcPts val="0"/>
              </a:spcBef>
              <a:spcAft>
                <a:spcPts val="0"/>
              </a:spcAft>
            </a:pPr>
            <a:r>
              <a:rPr sz="1100" b="0" i="0" lang="id-ID">
                <a:solidFill>
                  <a:srgbClr val="334155"/>
                </a:solidFill>
                <a:latin typeface="Calibri"/>
              </a:rPr>
              <a:t>BACALAH BEGINI</a:t>
            </a:r>
          </a:p>
          <a:p>
            <a:pPr algn="l">
              <a:lnSpc>
                <a:spcPct val="100000"/>
              </a:lnSpc>
              <a:spcBef>
                <a:spcPts val="0"/>
              </a:spcBef>
              <a:spcAft>
                <a:spcPts val="0"/>
              </a:spcAft>
            </a:pPr>
            <a:r>
              <a:rPr sz="1100" b="0" i="0" lang="id-ID">
                <a:solidFill>
                  <a:srgbClr val="334155"/>
                </a:solidFill>
                <a:latin typeface="Calibri"/>
              </a:rPr>
              <a:t>Empat pola hampir merata (18–27%) — tidak ada satu pola dominan jumlah molar yang terkena.</a:t>
            </a:r>
          </a:p>
          <a:p>
            <a:pPr algn="l">
              <a:lnSpc>
                <a:spcPct val="100000"/>
              </a:lnSpc>
              <a:spcBef>
                <a:spcPts val="0"/>
              </a:spcBef>
              <a:spcAft>
                <a:spcPts val="0"/>
              </a:spcAft>
            </a:pPr>
            <a:r>
              <a:rPr sz="1100" b="0" i="0" lang="id-ID">
                <a:solidFill>
                  <a:srgbClr val="334155"/>
                </a:solidFill>
                <a:latin typeface="Calibri"/>
              </a:rPr>
              <a:t/>
            </a:r>
          </a:p>
          <a:p>
            <a:pPr algn="l">
              <a:lnSpc>
                <a:spcPct val="100000"/>
              </a:lnSpc>
              <a:spcBef>
                <a:spcPts val="0"/>
              </a:spcBef>
              <a:spcAft>
                <a:spcPts val="0"/>
              </a:spcAft>
            </a:pPr>
            <a:r>
              <a:rPr sz="1100" b="0" i="0" lang="id-ID">
                <a:solidFill>
                  <a:srgbClr val="334155"/>
                </a:solidFill>
                <a:latin typeface="Calibri"/>
              </a:rPr>
              <a:t>Ini menyulitkan prediksi klinis: berat ringannya beban per anak sangat bervariasi.</a:t>
            </a:r>
          </a:p>
        </p:txBody>
      </p:sp>
      <p:sp>
        <p:nvSpPr>
          <p:cNvPr id="18" name="TextBox 17"/>
          <p:cNvSpPr txBox="1"/>
          <p:nvPr/>
        </p:nvSpPr>
        <p:spPr>
          <a:xfrm>
            <a:off x="548640" y="274320"/>
            <a:ext cx="8229600" cy="237744"/>
          </a:xfrm>
          <a:prstGeom prst="rect">
            <a:avLst/>
          </a:prstGeom>
          <a:noFill/>
        </p:spPr>
        <p:txBody>
          <a:bodyPr wrap="square" lIns="0" rIns="0" tIns="18288" bIns="18288" anchor="t">
            <a:noAutofit/>
          </a:bodyPr>
          <a:lstStyle/>
          <a:p>
            <a:pPr algn="l">
              <a:spcBef>
                <a:spcPts val="0"/>
              </a:spcBef>
              <a:spcAft>
                <a:spcPts val="0"/>
              </a:spcAft>
            </a:pPr>
            <a:r>
              <a:rPr sz="1000" b="1" i="0" lang="id-ID">
                <a:solidFill>
                  <a:srgbClr val="0E7490"/>
                </a:solidFill>
                <a:latin typeface="Calibri"/>
              </a:rPr>
              <a:t>HASIL (3/3)</a:t>
            </a:r>
          </a:p>
        </p:txBody>
      </p:sp>
      <p:sp>
        <p:nvSpPr>
          <p:cNvPr id="19" name="TextBox 18"/>
          <p:cNvSpPr txBox="1"/>
          <p:nvPr/>
        </p:nvSpPr>
        <p:spPr>
          <a:xfrm>
            <a:off x="548640" y="3493008"/>
            <a:ext cx="1143000" cy="310896"/>
          </a:xfrm>
          <a:prstGeom prst="rect">
            <a:avLst/>
          </a:prstGeom>
          <a:noFill/>
        </p:spPr>
        <p:txBody>
          <a:bodyPr wrap="square" lIns="0" rIns="0" tIns="18288" bIns="18288" anchor="t">
            <a:noAutofit/>
          </a:bodyPr>
          <a:lstStyle/>
          <a:p>
            <a:pPr algn="l">
              <a:spcBef>
                <a:spcPts val="0"/>
              </a:spcBef>
              <a:spcAft>
                <a:spcPts val="0"/>
              </a:spcAft>
            </a:pPr>
            <a:r>
              <a:rPr sz="1200" b="0" i="0" lang="id-ID">
                <a:solidFill>
                  <a:srgbClr val="334155"/>
                </a:solidFill>
                <a:latin typeface="Calibri"/>
              </a:rPr>
              <a:t>1 molar</a:t>
            </a:r>
          </a:p>
        </p:txBody>
      </p:sp>
      <p:sp>
        <p:nvSpPr>
          <p:cNvPr id="20" name="TextBox 19"/>
          <p:cNvSpPr txBox="1"/>
          <p:nvPr/>
        </p:nvSpPr>
        <p:spPr>
          <a:xfrm>
            <a:off x="6629400" y="3511296"/>
            <a:ext cx="2194560" cy="274320"/>
          </a:xfrm>
          <a:prstGeom prst="rect">
            <a:avLst/>
          </a:prstGeom>
          <a:noFill/>
        </p:spPr>
        <p:txBody>
          <a:bodyPr wrap="square" lIns="0" rIns="0" tIns="18288" bIns="18288" anchor="t">
            <a:noAutofit/>
          </a:bodyPr>
          <a:lstStyle/>
          <a:p>
            <a:pPr algn="l">
              <a:spcBef>
                <a:spcPts val="0"/>
              </a:spcBef>
              <a:spcAft>
                <a:spcPts val="0"/>
              </a:spcAft>
            </a:pPr>
            <a:r>
              <a:rPr sz="1000" b="0" i="0" lang="id-ID">
                <a:solidFill>
                  <a:srgbClr val="64748B"/>
                </a:solidFill>
                <a:latin typeface="Calibri"/>
              </a:rPr>
              <a:t>CI 18,9–30,7</a:t>
            </a:r>
          </a:p>
        </p:txBody>
      </p:sp>
      <p:sp>
        <p:nvSpPr>
          <p:cNvPr id="21" name="TextBox 20"/>
          <p:cNvSpPr txBox="1"/>
          <p:nvPr/>
        </p:nvSpPr>
        <p:spPr>
          <a:xfrm>
            <a:off x="5779007" y="3483863"/>
            <a:ext cx="768096" cy="310896"/>
          </a:xfrm>
          <a:prstGeom prst="rect">
            <a:avLst/>
          </a:prstGeom>
          <a:noFill/>
        </p:spPr>
        <p:txBody>
          <a:bodyPr wrap="square" lIns="0" rIns="0" tIns="18288" bIns="18288" anchor="t">
            <a:noAutofit/>
          </a:bodyPr>
          <a:lstStyle/>
          <a:p>
            <a:pPr algn="l">
              <a:spcBef>
                <a:spcPts val="0"/>
              </a:spcBef>
              <a:spcAft>
                <a:spcPts val="0"/>
              </a:spcAft>
            </a:pPr>
            <a:r>
              <a:rPr sz="1200" b="1" i="0" lang="id-ID">
                <a:solidFill>
                  <a:srgbClr val="0F172A"/>
                </a:solidFill>
                <a:latin typeface="Calibri"/>
              </a:rPr>
              <a:t>24,3%</a:t>
            </a:r>
          </a:p>
        </p:txBody>
      </p:sp>
      <p:sp>
        <p:nvSpPr>
          <p:cNvPr id="22" name="TextBox 21"/>
          <p:cNvSpPr txBox="1"/>
          <p:nvPr/>
        </p:nvSpPr>
        <p:spPr>
          <a:xfrm>
            <a:off x="548640" y="4059935"/>
            <a:ext cx="1143000" cy="310896"/>
          </a:xfrm>
          <a:prstGeom prst="rect">
            <a:avLst/>
          </a:prstGeom>
          <a:noFill/>
        </p:spPr>
        <p:txBody>
          <a:bodyPr wrap="square" lIns="0" rIns="0" tIns="18288" bIns="18288" anchor="t">
            <a:noAutofit/>
          </a:bodyPr>
          <a:lstStyle/>
          <a:p>
            <a:pPr algn="l">
              <a:spcBef>
                <a:spcPts val="0"/>
              </a:spcBef>
              <a:spcAft>
                <a:spcPts val="0"/>
              </a:spcAft>
            </a:pPr>
            <a:r>
              <a:rPr sz="1200" b="0" i="0" lang="id-ID">
                <a:solidFill>
                  <a:srgbClr val="334155"/>
                </a:solidFill>
                <a:latin typeface="Calibri"/>
              </a:rPr>
              <a:t>2 molar</a:t>
            </a:r>
          </a:p>
        </p:txBody>
      </p:sp>
      <p:sp>
        <p:nvSpPr>
          <p:cNvPr id="23" name="TextBox 22"/>
          <p:cNvSpPr txBox="1"/>
          <p:nvPr/>
        </p:nvSpPr>
        <p:spPr>
          <a:xfrm>
            <a:off x="6629400" y="4078223"/>
            <a:ext cx="2194560" cy="274320"/>
          </a:xfrm>
          <a:prstGeom prst="rect">
            <a:avLst/>
          </a:prstGeom>
          <a:noFill/>
        </p:spPr>
        <p:txBody>
          <a:bodyPr wrap="square" lIns="0" rIns="0" tIns="18288" bIns="18288" anchor="t">
            <a:noAutofit/>
          </a:bodyPr>
          <a:lstStyle/>
          <a:p>
            <a:pPr algn="l">
              <a:spcBef>
                <a:spcPts val="0"/>
              </a:spcBef>
              <a:spcAft>
                <a:spcPts val="0"/>
              </a:spcAft>
            </a:pPr>
            <a:r>
              <a:rPr sz="1000" b="0" i="0" lang="id-ID">
                <a:solidFill>
                  <a:srgbClr val="64748B"/>
                </a:solidFill>
                <a:latin typeface="Calibri"/>
              </a:rPr>
              <a:t>CI 23,9–29,7</a:t>
            </a:r>
          </a:p>
        </p:txBody>
      </p:sp>
      <p:sp>
        <p:nvSpPr>
          <p:cNvPr id="24" name="TextBox 23"/>
          <p:cNvSpPr txBox="1"/>
          <p:nvPr/>
        </p:nvSpPr>
        <p:spPr>
          <a:xfrm>
            <a:off x="5779007" y="4050791"/>
            <a:ext cx="768096" cy="310896"/>
          </a:xfrm>
          <a:prstGeom prst="rect">
            <a:avLst/>
          </a:prstGeom>
          <a:noFill/>
        </p:spPr>
        <p:txBody>
          <a:bodyPr wrap="square" lIns="0" rIns="0" tIns="18288" bIns="18288" anchor="t">
            <a:noAutofit/>
          </a:bodyPr>
          <a:lstStyle/>
          <a:p>
            <a:pPr algn="l">
              <a:spcBef>
                <a:spcPts val="0"/>
              </a:spcBef>
              <a:spcAft>
                <a:spcPts val="0"/>
              </a:spcAft>
            </a:pPr>
            <a:r>
              <a:rPr sz="1200" b="1" i="0" lang="id-ID">
                <a:solidFill>
                  <a:srgbClr val="0F172A"/>
                </a:solidFill>
                <a:latin typeface="Calibri"/>
              </a:rPr>
              <a:t>26,7%</a:t>
            </a:r>
          </a:p>
        </p:txBody>
      </p:sp>
      <p:sp>
        <p:nvSpPr>
          <p:cNvPr id="25" name="TextBox 24"/>
          <p:cNvSpPr txBox="1"/>
          <p:nvPr/>
        </p:nvSpPr>
        <p:spPr>
          <a:xfrm>
            <a:off x="548640" y="4626864"/>
            <a:ext cx="1143000" cy="310896"/>
          </a:xfrm>
          <a:prstGeom prst="rect">
            <a:avLst/>
          </a:prstGeom>
          <a:noFill/>
        </p:spPr>
        <p:txBody>
          <a:bodyPr wrap="square" lIns="0" rIns="0" tIns="18288" bIns="18288" anchor="t">
            <a:noAutofit/>
          </a:bodyPr>
          <a:lstStyle/>
          <a:p>
            <a:pPr algn="l">
              <a:spcBef>
                <a:spcPts val="0"/>
              </a:spcBef>
              <a:spcAft>
                <a:spcPts val="0"/>
              </a:spcAft>
            </a:pPr>
            <a:r>
              <a:rPr sz="1200" b="0" i="0" lang="id-ID">
                <a:solidFill>
                  <a:srgbClr val="334155"/>
                </a:solidFill>
                <a:latin typeface="Calibri"/>
              </a:rPr>
              <a:t>3 molar</a:t>
            </a:r>
          </a:p>
        </p:txBody>
      </p:sp>
      <p:sp>
        <p:nvSpPr>
          <p:cNvPr id="26" name="TextBox 25"/>
          <p:cNvSpPr txBox="1"/>
          <p:nvPr/>
        </p:nvSpPr>
        <p:spPr>
          <a:xfrm>
            <a:off x="6629400" y="4645151"/>
            <a:ext cx="2194560" cy="274320"/>
          </a:xfrm>
          <a:prstGeom prst="rect">
            <a:avLst/>
          </a:prstGeom>
          <a:noFill/>
        </p:spPr>
        <p:txBody>
          <a:bodyPr wrap="square" lIns="0" rIns="0" tIns="18288" bIns="18288" anchor="t">
            <a:noAutofit/>
          </a:bodyPr>
          <a:lstStyle/>
          <a:p>
            <a:pPr algn="l">
              <a:spcBef>
                <a:spcPts val="0"/>
              </a:spcBef>
              <a:spcAft>
                <a:spcPts val="0"/>
              </a:spcAft>
            </a:pPr>
            <a:r>
              <a:rPr sz="1000" b="0" i="0" lang="id-ID">
                <a:solidFill>
                  <a:srgbClr val="64748B"/>
                </a:solidFill>
                <a:latin typeface="Calibri"/>
              </a:rPr>
              <a:t>CI 13,8–23,3</a:t>
            </a:r>
          </a:p>
        </p:txBody>
      </p:sp>
      <p:sp>
        <p:nvSpPr>
          <p:cNvPr id="27" name="TextBox 26"/>
          <p:cNvSpPr txBox="1"/>
          <p:nvPr/>
        </p:nvSpPr>
        <p:spPr>
          <a:xfrm>
            <a:off x="5779007" y="4617720"/>
            <a:ext cx="768096" cy="310896"/>
          </a:xfrm>
          <a:prstGeom prst="rect">
            <a:avLst/>
          </a:prstGeom>
          <a:noFill/>
        </p:spPr>
        <p:txBody>
          <a:bodyPr wrap="square" lIns="0" rIns="0" tIns="18288" bIns="18288" anchor="t">
            <a:noAutofit/>
          </a:bodyPr>
          <a:lstStyle/>
          <a:p>
            <a:pPr algn="l">
              <a:spcBef>
                <a:spcPts val="0"/>
              </a:spcBef>
              <a:spcAft>
                <a:spcPts val="0"/>
              </a:spcAft>
            </a:pPr>
            <a:r>
              <a:rPr sz="1200" b="1" i="0" lang="id-ID">
                <a:solidFill>
                  <a:srgbClr val="0F172A"/>
                </a:solidFill>
                <a:latin typeface="Calibri"/>
              </a:rPr>
              <a:t>18,1%</a:t>
            </a:r>
          </a:p>
        </p:txBody>
      </p:sp>
      <p:sp>
        <p:nvSpPr>
          <p:cNvPr id="28" name="TextBox 27"/>
          <p:cNvSpPr txBox="1"/>
          <p:nvPr/>
        </p:nvSpPr>
        <p:spPr>
          <a:xfrm>
            <a:off x="548640" y="5193792"/>
            <a:ext cx="1143000" cy="310896"/>
          </a:xfrm>
          <a:prstGeom prst="rect">
            <a:avLst/>
          </a:prstGeom>
          <a:noFill/>
        </p:spPr>
        <p:txBody>
          <a:bodyPr wrap="square" lIns="0" rIns="0" tIns="18288" bIns="18288" anchor="t">
            <a:noAutofit/>
          </a:bodyPr>
          <a:lstStyle/>
          <a:p>
            <a:pPr algn="l">
              <a:spcBef>
                <a:spcPts val="0"/>
              </a:spcBef>
              <a:spcAft>
                <a:spcPts val="0"/>
              </a:spcAft>
            </a:pPr>
            <a:r>
              <a:rPr sz="1200" b="0" i="0" lang="id-ID">
                <a:solidFill>
                  <a:srgbClr val="334155"/>
                </a:solidFill>
                <a:latin typeface="Calibri"/>
              </a:rPr>
              <a:t>4 molar</a:t>
            </a:r>
          </a:p>
        </p:txBody>
      </p:sp>
      <p:sp>
        <p:nvSpPr>
          <p:cNvPr id="29" name="TextBox 28"/>
          <p:cNvSpPr txBox="1"/>
          <p:nvPr/>
        </p:nvSpPr>
        <p:spPr>
          <a:xfrm>
            <a:off x="6629400" y="5212079"/>
            <a:ext cx="2194560" cy="274320"/>
          </a:xfrm>
          <a:prstGeom prst="rect">
            <a:avLst/>
          </a:prstGeom>
          <a:noFill/>
        </p:spPr>
        <p:txBody>
          <a:bodyPr wrap="square" lIns="0" rIns="0" tIns="18288" bIns="18288" anchor="t">
            <a:noAutofit/>
          </a:bodyPr>
          <a:lstStyle/>
          <a:p>
            <a:pPr algn="l">
              <a:spcBef>
                <a:spcPts val="0"/>
              </a:spcBef>
              <a:spcAft>
                <a:spcPts val="0"/>
              </a:spcAft>
            </a:pPr>
            <a:r>
              <a:rPr sz="1000" b="0" i="0" lang="id-ID">
                <a:solidFill>
                  <a:srgbClr val="64748B"/>
                </a:solidFill>
                <a:latin typeface="Calibri"/>
              </a:rPr>
              <a:t>CI 21,1–34,7</a:t>
            </a:r>
          </a:p>
        </p:txBody>
      </p:sp>
      <p:sp>
        <p:nvSpPr>
          <p:cNvPr id="30" name="TextBox 29"/>
          <p:cNvSpPr txBox="1"/>
          <p:nvPr/>
        </p:nvSpPr>
        <p:spPr>
          <a:xfrm>
            <a:off x="5779007" y="5184648"/>
            <a:ext cx="768096" cy="310896"/>
          </a:xfrm>
          <a:prstGeom prst="rect">
            <a:avLst/>
          </a:prstGeom>
          <a:noFill/>
        </p:spPr>
        <p:txBody>
          <a:bodyPr wrap="square" lIns="0" rIns="0" tIns="18288" bIns="18288" anchor="t">
            <a:noAutofit/>
          </a:bodyPr>
          <a:lstStyle/>
          <a:p>
            <a:pPr algn="l">
              <a:spcBef>
                <a:spcPts val="0"/>
              </a:spcBef>
              <a:spcAft>
                <a:spcPts val="0"/>
              </a:spcAft>
            </a:pPr>
            <a:r>
              <a:rPr sz="1200" b="1" i="0" lang="id-ID">
                <a:solidFill>
                  <a:srgbClr val="0F172A"/>
                </a:solidFill>
                <a:latin typeface="Calibri"/>
              </a:rPr>
              <a:t>27,4%</a:t>
            </a:r>
          </a:p>
        </p:txBody>
      </p:sp>
      <p:sp>
        <p:nvSpPr>
          <p:cNvPr id="31" name="TextBox 30"/>
          <p:cNvSpPr txBox="1"/>
          <p:nvPr/>
        </p:nvSpPr>
        <p:spPr>
          <a:xfrm>
            <a:off x="548640" y="530352"/>
            <a:ext cx="11091672" cy="786384"/>
          </a:xfrm>
          <a:prstGeom prst="rect">
            <a:avLst/>
          </a:prstGeom>
          <a:noFill/>
        </p:spPr>
        <p:txBody>
          <a:bodyPr wrap="square" lIns="0" rIns="0" tIns="18288" bIns="18288" anchor="t">
            <a:noAutofit/>
          </a:bodyPr>
          <a:lstStyle/>
          <a:p>
            <a:pPr algn="l">
              <a:lnSpc>
                <a:spcPct val="95000"/>
              </a:lnSpc>
              <a:spcBef>
                <a:spcPts val="0"/>
              </a:spcBef>
              <a:spcAft>
                <a:spcPts val="0"/>
              </a:spcAft>
            </a:pPr>
            <a:r>
              <a:rPr sz="2500" b="1" i="0" lang="id-ID">
                <a:solidFill>
                  <a:srgbClr val="0F172A"/>
                </a:solidFill>
                <a:latin typeface="Calibri"/>
              </a:rPr>
              <a:t>Lebih dari sepertiga kasus tergolong sedang–berat; pola molar bervariasi</a:t>
            </a:r>
          </a:p>
        </p:txBody>
      </p:sp>
      <p:sp>
        <p:nvSpPr>
          <p:cNvPr id="32" name="TextBox 31"/>
          <p:cNvSpPr txBox="1"/>
          <p:nvPr/>
        </p:nvSpPr>
        <p:spPr>
          <a:xfrm>
            <a:off x="749808" y="2377440"/>
            <a:ext cx="3136392" cy="365760"/>
          </a:xfrm>
          <a:prstGeom prst="rect">
            <a:avLst/>
          </a:prstGeom>
          <a:noFill/>
        </p:spPr>
        <p:txBody>
          <a:bodyPr wrap="square" lIns="0" rIns="0" tIns="18288" bIns="18288" anchor="t">
            <a:noAutofit/>
          </a:bodyPr>
          <a:lstStyle/>
          <a:p>
            <a:pPr algn="l">
              <a:lnSpc>
                <a:spcPct val="95000"/>
              </a:lnSpc>
              <a:spcBef>
                <a:spcPts val="0"/>
              </a:spcBef>
              <a:spcAft>
                <a:spcPts val="0"/>
              </a:spcAft>
            </a:pPr>
            <a:r>
              <a:rPr sz="1000" b="0" i="0" lang="id-ID">
                <a:solidFill>
                  <a:srgbClr val="64748B"/>
                </a:solidFill>
                <a:latin typeface="Calibri"/>
              </a:rPr>
              <a:t>95% CI 29,9–43,2  ·  33 studi  ·  I² = 95,2%</a:t>
            </a:r>
          </a:p>
        </p:txBody>
      </p:sp>
      <p:sp>
        <p:nvSpPr>
          <p:cNvPr id="33" name="TextBox 32"/>
          <p:cNvSpPr txBox="1"/>
          <p:nvPr/>
        </p:nvSpPr>
        <p:spPr>
          <a:xfrm>
            <a:off x="749808" y="1700784"/>
            <a:ext cx="3136392" cy="219456"/>
          </a:xfrm>
          <a:prstGeom prst="rect">
            <a:avLst/>
          </a:prstGeom>
          <a:noFill/>
        </p:spPr>
        <p:txBody>
          <a:bodyPr wrap="square" lIns="0" rIns="0" tIns="18288" bIns="18288" anchor="t">
            <a:noAutofit/>
          </a:bodyPr>
          <a:lstStyle/>
          <a:p>
            <a:pPr algn="l">
              <a:spcBef>
                <a:spcPts val="0"/>
              </a:spcBef>
              <a:spcAft>
                <a:spcPts val="0"/>
              </a:spcAft>
            </a:pPr>
            <a:r>
              <a:rPr sz="1000" b="1" i="0" lang="id-ID">
                <a:solidFill>
                  <a:srgbClr val="0E7490"/>
                </a:solidFill>
                <a:latin typeface="Calibri"/>
              </a:rPr>
              <a:t>KASUS SEDANG–BERAT</a:t>
            </a:r>
          </a:p>
        </p:txBody>
      </p:sp>
      <p:sp>
        <p:nvSpPr>
          <p:cNvPr id="34" name="TextBox 33"/>
          <p:cNvSpPr txBox="1"/>
          <p:nvPr/>
        </p:nvSpPr>
        <p:spPr>
          <a:xfrm>
            <a:off x="749808" y="1920240"/>
            <a:ext cx="3136392" cy="457200"/>
          </a:xfrm>
          <a:prstGeom prst="rect">
            <a:avLst/>
          </a:prstGeom>
          <a:noFill/>
        </p:spPr>
        <p:txBody>
          <a:bodyPr wrap="square" lIns="0" rIns="0" tIns="18288" bIns="18288" anchor="t">
            <a:noAutofit/>
          </a:bodyPr>
          <a:lstStyle/>
          <a:p>
            <a:pPr algn="l">
              <a:spcBef>
                <a:spcPts val="0"/>
              </a:spcBef>
              <a:spcAft>
                <a:spcPts val="0"/>
              </a:spcAft>
            </a:pPr>
            <a:r>
              <a:rPr sz="2600" b="1" i="0" lang="id-ID">
                <a:solidFill>
                  <a:srgbClr val="155E75"/>
                </a:solidFill>
                <a:latin typeface="Calibri"/>
              </a:rPr>
              <a:t>36,3%</a:t>
            </a:r>
          </a:p>
        </p:txBody>
      </p:sp>
      <p:sp>
        <p:nvSpPr>
          <p:cNvPr id="35" name="TextBox 34"/>
          <p:cNvSpPr txBox="1"/>
          <p:nvPr/>
        </p:nvSpPr>
        <p:spPr>
          <a:xfrm>
            <a:off x="4434840" y="2377440"/>
            <a:ext cx="3136392" cy="365760"/>
          </a:xfrm>
          <a:prstGeom prst="rect">
            <a:avLst/>
          </a:prstGeom>
          <a:noFill/>
        </p:spPr>
        <p:txBody>
          <a:bodyPr wrap="square" lIns="0" rIns="0" tIns="18288" bIns="18288" anchor="t">
            <a:noAutofit/>
          </a:bodyPr>
          <a:lstStyle/>
          <a:p>
            <a:pPr algn="l">
              <a:lnSpc>
                <a:spcPct val="95000"/>
              </a:lnSpc>
              <a:spcBef>
                <a:spcPts val="0"/>
              </a:spcBef>
              <a:spcAft>
                <a:spcPts val="0"/>
              </a:spcAft>
            </a:pPr>
            <a:r>
              <a:rPr sz="1000" b="0" i="0" lang="id-ID">
                <a:solidFill>
                  <a:srgbClr val="64748B"/>
                </a:solidFill>
                <a:latin typeface="Calibri"/>
              </a:rPr>
              <a:t>Tabel 2: 38,7% (32,1–45,8); abstrak: 36,6%</a:t>
            </a:r>
          </a:p>
        </p:txBody>
      </p:sp>
      <p:sp>
        <p:nvSpPr>
          <p:cNvPr id="36" name="TextBox 35"/>
          <p:cNvSpPr txBox="1"/>
          <p:nvPr/>
        </p:nvSpPr>
        <p:spPr>
          <a:xfrm>
            <a:off x="4434840" y="1700784"/>
            <a:ext cx="3136392" cy="219456"/>
          </a:xfrm>
          <a:prstGeom prst="rect">
            <a:avLst/>
          </a:prstGeom>
          <a:noFill/>
        </p:spPr>
        <p:txBody>
          <a:bodyPr wrap="square" lIns="0" rIns="0" tIns="18288" bIns="18288" anchor="t">
            <a:noAutofit/>
          </a:bodyPr>
          <a:lstStyle/>
          <a:p>
            <a:pPr algn="l">
              <a:spcBef>
                <a:spcPts val="0"/>
              </a:spcBef>
              <a:spcAft>
                <a:spcPts val="0"/>
              </a:spcAft>
            </a:pPr>
            <a:r>
              <a:rPr sz="1000" b="1" i="0" lang="id-ID">
                <a:solidFill>
                  <a:srgbClr val="0E7490"/>
                </a:solidFill>
                <a:latin typeface="Calibri"/>
              </a:rPr>
              <a:t>INSISIVUS TERKENA</a:t>
            </a:r>
          </a:p>
        </p:txBody>
      </p:sp>
      <p:sp>
        <p:nvSpPr>
          <p:cNvPr id="37" name="TextBox 36"/>
          <p:cNvSpPr txBox="1"/>
          <p:nvPr/>
        </p:nvSpPr>
        <p:spPr>
          <a:xfrm>
            <a:off x="4434840" y="1920240"/>
            <a:ext cx="3136392" cy="457200"/>
          </a:xfrm>
          <a:prstGeom prst="rect">
            <a:avLst/>
          </a:prstGeom>
          <a:noFill/>
        </p:spPr>
        <p:txBody>
          <a:bodyPr wrap="square" lIns="0" rIns="0" tIns="18288" bIns="18288" anchor="t">
            <a:noAutofit/>
          </a:bodyPr>
          <a:lstStyle/>
          <a:p>
            <a:pPr algn="l">
              <a:spcBef>
                <a:spcPts val="0"/>
              </a:spcBef>
              <a:spcAft>
                <a:spcPts val="0"/>
              </a:spcAft>
            </a:pPr>
            <a:r>
              <a:rPr sz="2600" b="1" i="0" lang="id-ID">
                <a:solidFill>
                  <a:srgbClr val="155E75"/>
                </a:solidFill>
                <a:latin typeface="Calibri"/>
              </a:rPr>
              <a:t>±36–39%</a:t>
            </a:r>
          </a:p>
        </p:txBody>
      </p:sp>
      <p:sp>
        <p:nvSpPr>
          <p:cNvPr id="38" name="TextBox 37"/>
          <p:cNvSpPr txBox="1"/>
          <p:nvPr/>
        </p:nvSpPr>
        <p:spPr>
          <a:xfrm>
            <a:off x="8119872" y="2377440"/>
            <a:ext cx="3136392" cy="365760"/>
          </a:xfrm>
          <a:prstGeom prst="rect">
            <a:avLst/>
          </a:prstGeom>
          <a:noFill/>
        </p:spPr>
        <p:txBody>
          <a:bodyPr wrap="square" lIns="0" rIns="0" tIns="18288" bIns="18288" anchor="t">
            <a:noAutofit/>
          </a:bodyPr>
          <a:lstStyle/>
          <a:p>
            <a:pPr algn="l">
              <a:lnSpc>
                <a:spcPct val="95000"/>
              </a:lnSpc>
              <a:spcBef>
                <a:spcPts val="0"/>
              </a:spcBef>
              <a:spcAft>
                <a:spcPts val="0"/>
              </a:spcAft>
            </a:pPr>
            <a:r>
              <a:rPr sz="1000" b="0" i="0" lang="id-ID">
                <a:solidFill>
                  <a:srgbClr val="64748B"/>
                </a:solidFill>
                <a:latin typeface="Calibri"/>
              </a:rPr>
              <a:t>95% CI 1,9–6,8  ·  hanya 7 studi  ·  I² = 95,9%</a:t>
            </a:r>
          </a:p>
        </p:txBody>
      </p:sp>
      <p:sp>
        <p:nvSpPr>
          <p:cNvPr id="39" name="TextBox 38"/>
          <p:cNvSpPr txBox="1"/>
          <p:nvPr/>
        </p:nvSpPr>
        <p:spPr>
          <a:xfrm>
            <a:off x="8119872" y="1700784"/>
            <a:ext cx="3136392" cy="219456"/>
          </a:xfrm>
          <a:prstGeom prst="rect">
            <a:avLst/>
          </a:prstGeom>
          <a:noFill/>
        </p:spPr>
        <p:txBody>
          <a:bodyPr wrap="square" lIns="0" rIns="0" tIns="18288" bIns="18288" anchor="t">
            <a:noAutofit/>
          </a:bodyPr>
          <a:lstStyle/>
          <a:p>
            <a:pPr algn="l">
              <a:spcBef>
                <a:spcPts val="0"/>
              </a:spcBef>
              <a:spcAft>
                <a:spcPts val="0"/>
              </a:spcAft>
            </a:pPr>
            <a:r>
              <a:rPr sz="1000" b="1" i="0" lang="id-ID">
                <a:solidFill>
                  <a:srgbClr val="0E7490"/>
                </a:solidFill>
                <a:latin typeface="Calibri"/>
              </a:rPr>
              <a:t>HSPM MENYERTAI MIH</a:t>
            </a:r>
          </a:p>
        </p:txBody>
      </p:sp>
      <p:sp>
        <p:nvSpPr>
          <p:cNvPr id="40" name="TextBox 39"/>
          <p:cNvSpPr txBox="1"/>
          <p:nvPr/>
        </p:nvSpPr>
        <p:spPr>
          <a:xfrm>
            <a:off x="8119872" y="1920240"/>
            <a:ext cx="3136392" cy="457200"/>
          </a:xfrm>
          <a:prstGeom prst="rect">
            <a:avLst/>
          </a:prstGeom>
          <a:noFill/>
        </p:spPr>
        <p:txBody>
          <a:bodyPr wrap="square" lIns="0" rIns="0" tIns="18288" bIns="18288" anchor="t">
            <a:noAutofit/>
          </a:bodyPr>
          <a:lstStyle/>
          <a:p>
            <a:pPr algn="l">
              <a:spcBef>
                <a:spcPts val="0"/>
              </a:spcBef>
              <a:spcAft>
                <a:spcPts val="0"/>
              </a:spcAft>
            </a:pPr>
            <a:r>
              <a:rPr sz="2600" b="1" i="0" lang="id-ID">
                <a:solidFill>
                  <a:srgbClr val="155E75"/>
                </a:solidFill>
                <a:latin typeface="Calibri"/>
              </a:rPr>
              <a:t>3,6%</a:t>
            </a:r>
          </a:p>
        </p:txBody>
      </p:sp>
      <p:sp>
        <p:nvSpPr>
          <p:cNvPr id="41" name="TextBox 40"/>
          <p:cNvSpPr txBox="1"/>
          <p:nvPr/>
        </p:nvSpPr>
        <p:spPr>
          <a:xfrm>
            <a:off x="548640" y="6291072"/>
            <a:ext cx="9692640" cy="274320"/>
          </a:xfrm>
          <a:prstGeom prst="rect">
            <a:avLst/>
          </a:prstGeom>
          <a:noFill/>
        </p:spPr>
        <p:txBody>
          <a:bodyPr wrap="square" lIns="0" rIns="0" tIns="18288" bIns="18288" anchor="t">
            <a:noAutofit/>
          </a:bodyPr>
          <a:lstStyle/>
          <a:p>
            <a:pPr algn="l">
              <a:spcBef>
                <a:spcPts val="0"/>
              </a:spcBef>
              <a:spcAft>
                <a:spcPts val="0"/>
              </a:spcAft>
            </a:pPr>
            <a:r>
              <a:rPr sz="900" b="0" i="0" lang="id-ID">
                <a:solidFill>
                  <a:srgbClr val="64748B"/>
                </a:solidFill>
                <a:latin typeface="Calibri"/>
              </a:rPr>
              <a:t>Sumber utama: Lopes LB, Machado V, Mascarenhas P, Mendes JJ, Botelho J. Sci Rep 2021;11:22405 (CC BY 4.0)</a:t>
            </a:r>
          </a:p>
        </p:txBody>
      </p:sp>
      <p:sp>
        <p:nvSpPr>
          <p:cNvPr id="42" name="TextBox 41"/>
          <p:cNvSpPr txBox="1"/>
          <p:nvPr/>
        </p:nvSpPr>
        <p:spPr>
          <a:xfrm>
            <a:off x="10698480" y="6291072"/>
            <a:ext cx="941832" cy="274320"/>
          </a:xfrm>
          <a:prstGeom prst="rect">
            <a:avLst/>
          </a:prstGeom>
          <a:noFill/>
        </p:spPr>
        <p:txBody>
          <a:bodyPr wrap="square" lIns="0" rIns="0" tIns="18288" bIns="18288" anchor="t">
            <a:noAutofit/>
          </a:bodyPr>
          <a:lstStyle/>
          <a:p>
            <a:pPr algn="r">
              <a:spcBef>
                <a:spcPts val="0"/>
              </a:spcBef>
              <a:spcAft>
                <a:spcPts val="0"/>
              </a:spcAft>
            </a:pPr>
            <a:r>
              <a:rPr sz="900" b="0" i="0" lang="id-ID">
                <a:solidFill>
                  <a:srgbClr val="64748B"/>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886200"/>
            <a:ext cx="11091672" cy="1417320"/>
          </a:xfrm>
          <a:prstGeom prst="roundRect">
            <a:avLst>
              <a:gd name="adj" fmla="val 5161"/>
            </a:avLst>
          </a:prstGeom>
          <a:solidFill>
            <a:srgbClr val="F0FDFA"/>
          </a:solidFill>
          <a:ln w="15875">
            <a:solidFill>
              <a:srgbClr val="99F6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548640" y="1572768"/>
            <a:ext cx="5486400" cy="1463040"/>
          </a:xfrm>
          <a:prstGeom prst="roundRect">
            <a:avLst>
              <a:gd name="adj" fmla="val 375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6153912" y="1572768"/>
            <a:ext cx="5486400" cy="1463040"/>
          </a:xfrm>
          <a:prstGeom prst="roundRect">
            <a:avLst>
              <a:gd name="adj" fmla="val 375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48640" y="1371600"/>
            <a:ext cx="11091672" cy="914"/>
          </a:xfrm>
          <a:prstGeom prst="line">
            <a:avLst/>
          </a:prstGeom>
          <a:ln w="19050">
            <a:solidFill>
              <a:srgbClr val="0E749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822959" y="4059936"/>
            <a:ext cx="10543032" cy="1097280"/>
          </a:xfrm>
          <a:prstGeom prst="rect">
            <a:avLst/>
          </a:prstGeom>
          <a:noFill/>
        </p:spPr>
        <p:txBody>
          <a:bodyPr wrap="square" lIns="0" rIns="0" tIns="18288" bIns="18288" anchor="t">
            <a:noAutofit/>
          </a:bodyPr>
          <a:lstStyle/>
          <a:p>
            <a:pPr algn="l">
              <a:lnSpc>
                <a:spcPct val="100000"/>
              </a:lnSpc>
              <a:spcBef>
                <a:spcPts val="0"/>
              </a:spcBef>
              <a:spcAft>
                <a:spcPts val="0"/>
              </a:spcAft>
            </a:pPr>
            <a:r>
              <a:rPr sz="1200" b="0" i="0" lang="id-ID">
                <a:solidFill>
                  <a:srgbClr val="0F172A"/>
                </a:solidFill>
                <a:latin typeface="Calibri"/>
              </a:rPr>
              <a:t>Faktor yang terbukti memengaruhi angka: kriteria diagnostik</a:t>
            </a:r>
          </a:p>
          <a:p>
            <a:pPr algn="l">
              <a:lnSpc>
                <a:spcPct val="100000"/>
              </a:lnSpc>
              <a:spcBef>
                <a:spcPts val="0"/>
              </a:spcBef>
              <a:spcAft>
                <a:spcPts val="0"/>
              </a:spcAft>
            </a:pPr>
            <a:r>
              <a:rPr sz="1200" b="0" i="0" lang="id-ID">
                <a:solidFill>
                  <a:srgbClr val="0F172A"/>
                </a:solidFill>
                <a:latin typeface="Calibri"/>
              </a:rPr>
              <a:t>•  Studi yang tidak memakai definisi kasus EAPD 2003 menghasilkan estimasi berbeda secara bermakna (p = 0,0061; sub-analisis 133.734 peserta) — umumnya lebih rendah.</a:t>
            </a:r>
          </a:p>
          <a:p>
            <a:pPr algn="l">
              <a:lnSpc>
                <a:spcPct val="100000"/>
              </a:lnSpc>
              <a:spcBef>
                <a:spcPts val="0"/>
              </a:spcBef>
              <a:spcAft>
                <a:spcPts val="0"/>
              </a:spcAft>
            </a:pPr>
            <a:r>
              <a:rPr sz="1200" b="0" i="0" lang="id-ID">
                <a:solidFill>
                  <a:srgbClr val="0F172A"/>
                </a:solidFill>
                <a:latin typeface="Calibri"/>
              </a:rPr>
              <a:t>•  Ukuran sampel dan tahun publikasi hanya penyumbang kecil heterogenitas.</a:t>
            </a:r>
          </a:p>
        </p:txBody>
      </p:sp>
      <p:sp>
        <p:nvSpPr>
          <p:cNvPr id="8" name="TextBox 7"/>
          <p:cNvSpPr txBox="1"/>
          <p:nvPr/>
        </p:nvSpPr>
        <p:spPr>
          <a:xfrm>
            <a:off x="804672" y="2304288"/>
            <a:ext cx="4974336" cy="603504"/>
          </a:xfrm>
          <a:prstGeom prst="rect">
            <a:avLst/>
          </a:prstGeom>
          <a:noFill/>
        </p:spPr>
        <p:txBody>
          <a:bodyPr wrap="square" lIns="0" rIns="0" tIns="18288" bIns="18288" anchor="t">
            <a:noAutofit/>
          </a:bodyPr>
          <a:lstStyle/>
          <a:p>
            <a:pPr algn="l">
              <a:spcBef>
                <a:spcPts val="0"/>
              </a:spcBef>
              <a:spcAft>
                <a:spcPts val="0"/>
              </a:spcAft>
            </a:pPr>
            <a:r>
              <a:rPr sz="1150" b="0" i="0" lang="id-ID">
                <a:solidFill>
                  <a:srgbClr val="334155"/>
                </a:solidFill>
                <a:latin typeface="Calibri"/>
              </a:rPr>
              <a:t>Amerika — tertinggi  ·  95% CI 12,8–18,3  ·  I² = 96,3%</a:t>
            </a:r>
          </a:p>
        </p:txBody>
      </p:sp>
      <p:sp>
        <p:nvSpPr>
          <p:cNvPr id="9" name="TextBox 8"/>
          <p:cNvSpPr txBox="1"/>
          <p:nvPr/>
        </p:nvSpPr>
        <p:spPr>
          <a:xfrm>
            <a:off x="804672" y="1700784"/>
            <a:ext cx="4974336" cy="548640"/>
          </a:xfrm>
          <a:prstGeom prst="rect">
            <a:avLst/>
          </a:prstGeom>
          <a:noFill/>
        </p:spPr>
        <p:txBody>
          <a:bodyPr wrap="square" lIns="0" rIns="0" tIns="18288" bIns="18288" anchor="t">
            <a:noAutofit/>
          </a:bodyPr>
          <a:lstStyle/>
          <a:p>
            <a:pPr algn="l">
              <a:spcBef>
                <a:spcPts val="0"/>
              </a:spcBef>
              <a:spcAft>
                <a:spcPts val="0"/>
              </a:spcAft>
            </a:pPr>
            <a:r>
              <a:rPr sz="3000" b="1" i="0" lang="id-ID">
                <a:solidFill>
                  <a:srgbClr val="155E75"/>
                </a:solidFill>
                <a:latin typeface="Calibri"/>
              </a:rPr>
              <a:t>15,3%</a:t>
            </a:r>
          </a:p>
        </p:txBody>
      </p:sp>
      <p:sp>
        <p:nvSpPr>
          <p:cNvPr id="10" name="TextBox 9"/>
          <p:cNvSpPr txBox="1"/>
          <p:nvPr/>
        </p:nvSpPr>
        <p:spPr>
          <a:xfrm>
            <a:off x="6409944" y="2304288"/>
            <a:ext cx="4974336" cy="603504"/>
          </a:xfrm>
          <a:prstGeom prst="rect">
            <a:avLst/>
          </a:prstGeom>
          <a:noFill/>
        </p:spPr>
        <p:txBody>
          <a:bodyPr wrap="square" lIns="0" rIns="0" tIns="18288" bIns="18288" anchor="t">
            <a:noAutofit/>
          </a:bodyPr>
          <a:lstStyle/>
          <a:p>
            <a:pPr algn="l">
              <a:spcBef>
                <a:spcPts val="0"/>
              </a:spcBef>
              <a:spcAft>
                <a:spcPts val="0"/>
              </a:spcAft>
            </a:pPr>
            <a:r>
              <a:rPr sz="1150" b="0" i="0" lang="id-ID">
                <a:solidFill>
                  <a:srgbClr val="334155"/>
                </a:solidFill>
                <a:latin typeface="Calibri"/>
              </a:rPr>
              <a:t>Asia — terendah  ·  95% CI 8,5–13,5  ·  I² = 98,7%</a:t>
            </a:r>
          </a:p>
        </p:txBody>
      </p:sp>
      <p:sp>
        <p:nvSpPr>
          <p:cNvPr id="11" name="TextBox 10"/>
          <p:cNvSpPr txBox="1"/>
          <p:nvPr/>
        </p:nvSpPr>
        <p:spPr>
          <a:xfrm>
            <a:off x="6409944" y="1700784"/>
            <a:ext cx="4974336" cy="548640"/>
          </a:xfrm>
          <a:prstGeom prst="rect">
            <a:avLst/>
          </a:prstGeom>
          <a:noFill/>
        </p:spPr>
        <p:txBody>
          <a:bodyPr wrap="square" lIns="0" rIns="0" tIns="18288" bIns="18288" anchor="t">
            <a:noAutofit/>
          </a:bodyPr>
          <a:lstStyle/>
          <a:p>
            <a:pPr algn="l">
              <a:spcBef>
                <a:spcPts val="0"/>
              </a:spcBef>
              <a:spcAft>
                <a:spcPts val="0"/>
              </a:spcAft>
            </a:pPr>
            <a:r>
              <a:rPr sz="3000" b="1" i="0" lang="id-ID">
                <a:solidFill>
                  <a:srgbClr val="155E75"/>
                </a:solidFill>
                <a:latin typeface="Calibri"/>
              </a:rPr>
              <a:t>10,7%</a:t>
            </a:r>
          </a:p>
        </p:txBody>
      </p:sp>
      <p:sp>
        <p:nvSpPr>
          <p:cNvPr id="12" name="TextBox 11"/>
          <p:cNvSpPr txBox="1"/>
          <p:nvPr/>
        </p:nvSpPr>
        <p:spPr>
          <a:xfrm>
            <a:off x="548640" y="3154680"/>
            <a:ext cx="11091672" cy="640080"/>
          </a:xfrm>
          <a:prstGeom prst="rect">
            <a:avLst/>
          </a:prstGeom>
          <a:noFill/>
        </p:spPr>
        <p:txBody>
          <a:bodyPr wrap="square" lIns="0" rIns="0" tIns="18288" bIns="18288" anchor="t">
            <a:noAutofit/>
          </a:bodyPr>
          <a:lstStyle/>
          <a:p>
            <a:pPr algn="l">
              <a:lnSpc>
                <a:spcPct val="100000"/>
              </a:lnSpc>
              <a:spcBef>
                <a:spcPts val="0"/>
              </a:spcBef>
              <a:spcAft>
                <a:spcPts val="0"/>
              </a:spcAft>
            </a:pPr>
            <a:r>
              <a:rPr sz="1250" b="0" i="0" lang="id-ID">
                <a:solidFill>
                  <a:srgbClr val="334155"/>
                </a:solidFill>
                <a:latin typeface="Calibri"/>
              </a:rPr>
              <a:t>Penulis menyimpulkan tidak ada perbedaan prevalensi antar benua yang bermakna. Peringkat benua juga bergeser dibanding tinjauan sebelumnya (dulu Afrika terendah).</a:t>
            </a:r>
          </a:p>
        </p:txBody>
      </p:sp>
      <p:sp>
        <p:nvSpPr>
          <p:cNvPr id="13" name="TextBox 12"/>
          <p:cNvSpPr txBox="1"/>
          <p:nvPr/>
        </p:nvSpPr>
        <p:spPr>
          <a:xfrm>
            <a:off x="548640" y="274320"/>
            <a:ext cx="8229600" cy="237744"/>
          </a:xfrm>
          <a:prstGeom prst="rect">
            <a:avLst/>
          </a:prstGeom>
          <a:noFill/>
        </p:spPr>
        <p:txBody>
          <a:bodyPr wrap="square" lIns="0" rIns="0" tIns="18288" bIns="18288" anchor="t">
            <a:noAutofit/>
          </a:bodyPr>
          <a:lstStyle/>
          <a:p>
            <a:pPr algn="l">
              <a:spcBef>
                <a:spcPts val="0"/>
              </a:spcBef>
              <a:spcAft>
                <a:spcPts val="0"/>
              </a:spcAft>
            </a:pPr>
            <a:r>
              <a:rPr sz="1000" b="1" i="0" lang="id-ID">
                <a:solidFill>
                  <a:srgbClr val="0E7490"/>
                </a:solidFill>
                <a:latin typeface="Calibri"/>
              </a:rPr>
              <a:t>SUB-ANALISIS</a:t>
            </a:r>
          </a:p>
        </p:txBody>
      </p:sp>
      <p:sp>
        <p:nvSpPr>
          <p:cNvPr id="14" name="TextBox 13"/>
          <p:cNvSpPr txBox="1"/>
          <p:nvPr/>
        </p:nvSpPr>
        <p:spPr>
          <a:xfrm>
            <a:off x="548640" y="530352"/>
            <a:ext cx="11091672" cy="786384"/>
          </a:xfrm>
          <a:prstGeom prst="rect">
            <a:avLst/>
          </a:prstGeom>
          <a:noFill/>
        </p:spPr>
        <p:txBody>
          <a:bodyPr wrap="square" lIns="0" rIns="0" tIns="18288" bIns="18288" anchor="t">
            <a:noAutofit/>
          </a:bodyPr>
          <a:lstStyle/>
          <a:p>
            <a:pPr algn="l">
              <a:lnSpc>
                <a:spcPct val="95000"/>
              </a:lnSpc>
              <a:spcBef>
                <a:spcPts val="0"/>
              </a:spcBef>
              <a:spcAft>
                <a:spcPts val="0"/>
              </a:spcAft>
            </a:pPr>
            <a:r>
              <a:rPr sz="2500" b="1" i="0" lang="id-ID">
                <a:solidFill>
                  <a:srgbClr val="0F172A"/>
                </a:solidFill>
                <a:latin typeface="Calibri"/>
              </a:rPr>
              <a:t>Amerika tertinggi (15,3%) dan Asia terendah (10,7%), namun bedanya tidak bermakna</a:t>
            </a:r>
          </a:p>
        </p:txBody>
      </p:sp>
      <p:sp>
        <p:nvSpPr>
          <p:cNvPr id="15" name="TextBox 14"/>
          <p:cNvSpPr txBox="1"/>
          <p:nvPr/>
        </p:nvSpPr>
        <p:spPr>
          <a:xfrm>
            <a:off x="548640" y="6291072"/>
            <a:ext cx="9692640" cy="274320"/>
          </a:xfrm>
          <a:prstGeom prst="rect">
            <a:avLst/>
          </a:prstGeom>
          <a:noFill/>
        </p:spPr>
        <p:txBody>
          <a:bodyPr wrap="square" lIns="0" rIns="0" tIns="18288" bIns="18288" anchor="t">
            <a:noAutofit/>
          </a:bodyPr>
          <a:lstStyle/>
          <a:p>
            <a:pPr algn="l">
              <a:spcBef>
                <a:spcPts val="0"/>
              </a:spcBef>
              <a:spcAft>
                <a:spcPts val="0"/>
              </a:spcAft>
            </a:pPr>
            <a:r>
              <a:rPr sz="900" b="0" i="0" lang="id-ID">
                <a:solidFill>
                  <a:srgbClr val="64748B"/>
                </a:solidFill>
                <a:latin typeface="Calibri"/>
              </a:rPr>
              <a:t>Sumber utama: Lopes LB, Machado V, Mascarenhas P, Mendes JJ, Botelho J. Sci Rep 2021;11:22405 (CC BY 4.0)</a:t>
            </a:r>
          </a:p>
        </p:txBody>
      </p:sp>
      <p:sp>
        <p:nvSpPr>
          <p:cNvPr id="16" name="TextBox 15"/>
          <p:cNvSpPr txBox="1"/>
          <p:nvPr/>
        </p:nvSpPr>
        <p:spPr>
          <a:xfrm>
            <a:off x="10698480" y="6291072"/>
            <a:ext cx="941832" cy="274320"/>
          </a:xfrm>
          <a:prstGeom prst="rect">
            <a:avLst/>
          </a:prstGeom>
          <a:noFill/>
        </p:spPr>
        <p:txBody>
          <a:bodyPr wrap="square" lIns="0" rIns="0" tIns="18288" bIns="18288" anchor="t">
            <a:noAutofit/>
          </a:bodyPr>
          <a:lstStyle/>
          <a:p>
            <a:pPr algn="r">
              <a:spcBef>
                <a:spcPts val="0"/>
              </a:spcBef>
              <a:spcAft>
                <a:spcPts val="0"/>
              </a:spcAft>
            </a:pPr>
            <a:r>
              <a:rPr sz="900" b="0" i="0" lang="id-ID">
                <a:solidFill>
                  <a:srgbClr val="64748B"/>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1572768"/>
            <a:ext cx="5404104" cy="1783080"/>
          </a:xfrm>
          <a:prstGeom prst="roundRect">
            <a:avLst>
              <a:gd name="adj" fmla="val 3076"/>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6236207" y="1572768"/>
            <a:ext cx="5404104" cy="1783080"/>
          </a:xfrm>
          <a:prstGeom prst="roundRect">
            <a:avLst>
              <a:gd name="adj" fmla="val 3076"/>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548640" y="3538728"/>
            <a:ext cx="5404104" cy="1783080"/>
          </a:xfrm>
          <a:prstGeom prst="roundRect">
            <a:avLst>
              <a:gd name="adj" fmla="val 3076"/>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6236207" y="3538728"/>
            <a:ext cx="5404104" cy="1783080"/>
          </a:xfrm>
          <a:prstGeom prst="roundRect">
            <a:avLst>
              <a:gd name="adj" fmla="val 3076"/>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7" name="Connector 6"/>
          <p:cNvCxnSpPr/>
          <p:nvPr/>
        </p:nvCxnSpPr>
        <p:spPr>
          <a:xfrm>
            <a:off x="548640" y="1371600"/>
            <a:ext cx="11091672" cy="914"/>
          </a:xfrm>
          <a:prstGeom prst="line">
            <a:avLst/>
          </a:prstGeom>
          <a:ln w="19050">
            <a:solidFill>
              <a:srgbClr val="0E749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48640" y="274320"/>
            <a:ext cx="8229600" cy="237744"/>
          </a:xfrm>
          <a:prstGeom prst="rect">
            <a:avLst/>
          </a:prstGeom>
          <a:noFill/>
        </p:spPr>
        <p:txBody>
          <a:bodyPr wrap="square" lIns="0" rIns="0" tIns="18288" bIns="18288" anchor="t">
            <a:noAutofit/>
          </a:bodyPr>
          <a:lstStyle/>
          <a:p>
            <a:pPr algn="l">
              <a:spcBef>
                <a:spcPts val="0"/>
              </a:spcBef>
              <a:spcAft>
                <a:spcPts val="0"/>
              </a:spcAft>
            </a:pPr>
            <a:r>
              <a:rPr sz="1000" b="1" i="0" lang="id-ID">
                <a:solidFill>
                  <a:srgbClr val="0E7490"/>
                </a:solidFill>
                <a:latin typeface="Calibri"/>
              </a:rPr>
              <a:t>DISKUSI</a:t>
            </a:r>
          </a:p>
        </p:txBody>
      </p:sp>
      <p:sp>
        <p:nvSpPr>
          <p:cNvPr id="9" name="TextBox 8"/>
          <p:cNvSpPr txBox="1"/>
          <p:nvPr/>
        </p:nvSpPr>
        <p:spPr>
          <a:xfrm>
            <a:off x="768096" y="2103120"/>
            <a:ext cx="4965192" cy="1143000"/>
          </a:xfrm>
          <a:prstGeom prst="rect">
            <a:avLst/>
          </a:prstGeom>
          <a:noFill/>
        </p:spPr>
        <p:txBody>
          <a:bodyPr wrap="square" lIns="0" rIns="0" tIns="18288" bIns="18288" anchor="t">
            <a:noAutofit/>
          </a:bodyPr>
          <a:lstStyle/>
          <a:p>
            <a:pPr algn="l">
              <a:lnSpc>
                <a:spcPct val="100000"/>
              </a:lnSpc>
              <a:spcBef>
                <a:spcPts val="0"/>
              </a:spcBef>
              <a:spcAft>
                <a:spcPts val="0"/>
              </a:spcAft>
            </a:pPr>
            <a:r>
              <a:rPr sz="1200" b="0" i="0" lang="id-ID">
                <a:solidFill>
                  <a:srgbClr val="334155"/>
                </a:solidFill>
                <a:latin typeface="Calibri"/>
              </a:rPr>
              <a:t>Analisis penulis: variasi antar wilayah lebih menjelaskan heterogenitas dibanding faktor metodologis yang diuji lewat meta-regresi.</a:t>
            </a:r>
          </a:p>
        </p:txBody>
      </p:sp>
      <p:sp>
        <p:nvSpPr>
          <p:cNvPr id="10" name="TextBox 9"/>
          <p:cNvSpPr txBox="1"/>
          <p:nvPr/>
        </p:nvSpPr>
        <p:spPr>
          <a:xfrm>
            <a:off x="768096" y="1755648"/>
            <a:ext cx="4965192" cy="310896"/>
          </a:xfrm>
          <a:prstGeom prst="rect">
            <a:avLst/>
          </a:prstGeom>
          <a:noFill/>
        </p:spPr>
        <p:txBody>
          <a:bodyPr wrap="square" lIns="0" rIns="0" tIns="18288" bIns="18288" anchor="t">
            <a:noAutofit/>
          </a:bodyPr>
          <a:lstStyle/>
          <a:p>
            <a:pPr algn="l">
              <a:spcBef>
                <a:spcPts val="0"/>
              </a:spcBef>
              <a:spcAft>
                <a:spcPts val="0"/>
              </a:spcAft>
            </a:pPr>
            <a:r>
              <a:rPr sz="1100" b="1" i="0" lang="id-ID">
                <a:solidFill>
                  <a:srgbClr val="0E7490"/>
                </a:solidFill>
                <a:latin typeface="Calibri"/>
              </a:rPr>
              <a:t>SUMBER HETEROGENITAS</a:t>
            </a:r>
          </a:p>
        </p:txBody>
      </p:sp>
      <p:sp>
        <p:nvSpPr>
          <p:cNvPr id="11" name="TextBox 10"/>
          <p:cNvSpPr txBox="1"/>
          <p:nvPr/>
        </p:nvSpPr>
        <p:spPr>
          <a:xfrm>
            <a:off x="6455664" y="2103120"/>
            <a:ext cx="4965192" cy="1143000"/>
          </a:xfrm>
          <a:prstGeom prst="rect">
            <a:avLst/>
          </a:prstGeom>
          <a:noFill/>
        </p:spPr>
        <p:txBody>
          <a:bodyPr wrap="square" lIns="0" rIns="0" tIns="18288" bIns="18288" anchor="t">
            <a:noAutofit/>
          </a:bodyPr>
          <a:lstStyle/>
          <a:p>
            <a:pPr algn="l">
              <a:lnSpc>
                <a:spcPct val="100000"/>
              </a:lnSpc>
              <a:spcBef>
                <a:spcPts val="0"/>
              </a:spcBef>
              <a:spcAft>
                <a:spcPts val="0"/>
              </a:spcAft>
            </a:pPr>
            <a:r>
              <a:rPr sz="1200" b="0" i="0" lang="id-ID">
                <a:solidFill>
                  <a:srgbClr val="334155"/>
                </a:solidFill>
                <a:latin typeface="Calibri"/>
              </a:rPr>
              <a:t>Pemakaian klasifikasi non-EAPD “menurunkan” estimasi prevalensi — alasan kuat untuk menyeragamkan kriteria diagnostik.</a:t>
            </a:r>
          </a:p>
        </p:txBody>
      </p:sp>
      <p:sp>
        <p:nvSpPr>
          <p:cNvPr id="12" name="TextBox 11"/>
          <p:cNvSpPr txBox="1"/>
          <p:nvPr/>
        </p:nvSpPr>
        <p:spPr>
          <a:xfrm>
            <a:off x="6455664" y="1755648"/>
            <a:ext cx="4965192" cy="310896"/>
          </a:xfrm>
          <a:prstGeom prst="rect">
            <a:avLst/>
          </a:prstGeom>
          <a:noFill/>
        </p:spPr>
        <p:txBody>
          <a:bodyPr wrap="square" lIns="0" rIns="0" tIns="18288" bIns="18288" anchor="t">
            <a:noAutofit/>
          </a:bodyPr>
          <a:lstStyle/>
          <a:p>
            <a:pPr algn="l">
              <a:spcBef>
                <a:spcPts val="0"/>
              </a:spcBef>
              <a:spcAft>
                <a:spcPts val="0"/>
              </a:spcAft>
            </a:pPr>
            <a:r>
              <a:rPr sz="1100" b="1" i="0" lang="id-ID">
                <a:solidFill>
                  <a:srgbClr val="0E7490"/>
                </a:solidFill>
                <a:latin typeface="Calibri"/>
              </a:rPr>
              <a:t>DEFINISI KASUS</a:t>
            </a:r>
          </a:p>
        </p:txBody>
      </p:sp>
      <p:sp>
        <p:nvSpPr>
          <p:cNvPr id="13" name="TextBox 12"/>
          <p:cNvSpPr txBox="1"/>
          <p:nvPr/>
        </p:nvSpPr>
        <p:spPr>
          <a:xfrm>
            <a:off x="768096" y="4069080"/>
            <a:ext cx="4965192" cy="1143000"/>
          </a:xfrm>
          <a:prstGeom prst="rect">
            <a:avLst/>
          </a:prstGeom>
          <a:noFill/>
        </p:spPr>
        <p:txBody>
          <a:bodyPr wrap="square" lIns="0" rIns="0" tIns="18288" bIns="18288" anchor="t">
            <a:noAutofit/>
          </a:bodyPr>
          <a:lstStyle/>
          <a:p>
            <a:pPr algn="l">
              <a:lnSpc>
                <a:spcPct val="100000"/>
              </a:lnSpc>
              <a:spcBef>
                <a:spcPts val="0"/>
              </a:spcBef>
              <a:spcAft>
                <a:spcPts val="0"/>
              </a:spcAft>
            </a:pPr>
            <a:r>
              <a:rPr sz="1200" b="0" i="0" lang="id-ID">
                <a:solidFill>
                  <a:srgbClr val="334155"/>
                </a:solidFill>
                <a:latin typeface="Calibri"/>
              </a:rPr>
              <a:t>36,3% kasus sedang–berat berarti sekitar sepertiga anak dengan MIH memerlukan perawatan restoratif nyata, bukan sekadar pemantauan.</a:t>
            </a:r>
          </a:p>
        </p:txBody>
      </p:sp>
      <p:sp>
        <p:nvSpPr>
          <p:cNvPr id="14" name="TextBox 13"/>
          <p:cNvSpPr txBox="1"/>
          <p:nvPr/>
        </p:nvSpPr>
        <p:spPr>
          <a:xfrm>
            <a:off x="768096" y="3721608"/>
            <a:ext cx="4965192" cy="310896"/>
          </a:xfrm>
          <a:prstGeom prst="rect">
            <a:avLst/>
          </a:prstGeom>
          <a:noFill/>
        </p:spPr>
        <p:txBody>
          <a:bodyPr wrap="square" lIns="0" rIns="0" tIns="18288" bIns="18288" anchor="t">
            <a:noAutofit/>
          </a:bodyPr>
          <a:lstStyle/>
          <a:p>
            <a:pPr algn="l">
              <a:spcBef>
                <a:spcPts val="0"/>
              </a:spcBef>
              <a:spcAft>
                <a:spcPts val="0"/>
              </a:spcAft>
            </a:pPr>
            <a:r>
              <a:rPr sz="1100" b="1" i="0" lang="id-ID">
                <a:solidFill>
                  <a:srgbClr val="0E7490"/>
                </a:solidFill>
                <a:latin typeface="Calibri"/>
              </a:rPr>
              <a:t>MAKNA KLINIS KEPARAHAN</a:t>
            </a:r>
          </a:p>
        </p:txBody>
      </p:sp>
      <p:sp>
        <p:nvSpPr>
          <p:cNvPr id="15" name="TextBox 14"/>
          <p:cNvSpPr txBox="1"/>
          <p:nvPr/>
        </p:nvSpPr>
        <p:spPr>
          <a:xfrm>
            <a:off x="6455664" y="4069080"/>
            <a:ext cx="4965192" cy="1143000"/>
          </a:xfrm>
          <a:prstGeom prst="rect">
            <a:avLst/>
          </a:prstGeom>
          <a:noFill/>
        </p:spPr>
        <p:txBody>
          <a:bodyPr wrap="square" lIns="0" rIns="0" tIns="18288" bIns="18288" anchor="t">
            <a:noAutofit/>
          </a:bodyPr>
          <a:lstStyle/>
          <a:p>
            <a:pPr algn="l">
              <a:lnSpc>
                <a:spcPct val="100000"/>
              </a:lnSpc>
              <a:spcBef>
                <a:spcPts val="0"/>
              </a:spcBef>
              <a:spcAft>
                <a:spcPts val="0"/>
              </a:spcAft>
            </a:pPr>
            <a:r>
              <a:rPr sz="1200" b="0" i="0" lang="id-ID">
                <a:solidFill>
                  <a:srgbClr val="334155"/>
                </a:solidFill>
                <a:latin typeface="Calibri"/>
              </a:rPr>
              <a:t>Hanya sebagian studi melaporkan keparahan, gigi terkena, dan HSPM; penulis menyerukan pelaporan yang lebih lengkap pada studi epidemiologi berikutnya.</a:t>
            </a:r>
          </a:p>
        </p:txBody>
      </p:sp>
      <p:sp>
        <p:nvSpPr>
          <p:cNvPr id="16" name="TextBox 15"/>
          <p:cNvSpPr txBox="1"/>
          <p:nvPr/>
        </p:nvSpPr>
        <p:spPr>
          <a:xfrm>
            <a:off x="6455664" y="3721608"/>
            <a:ext cx="4965192" cy="310896"/>
          </a:xfrm>
          <a:prstGeom prst="rect">
            <a:avLst/>
          </a:prstGeom>
          <a:noFill/>
        </p:spPr>
        <p:txBody>
          <a:bodyPr wrap="square" lIns="0" rIns="0" tIns="18288" bIns="18288" anchor="t">
            <a:noAutofit/>
          </a:bodyPr>
          <a:lstStyle/>
          <a:p>
            <a:pPr algn="l">
              <a:spcBef>
                <a:spcPts val="0"/>
              </a:spcBef>
              <a:spcAft>
                <a:spcPts val="0"/>
              </a:spcAft>
            </a:pPr>
            <a:r>
              <a:rPr sz="1100" b="1" i="0" lang="id-ID">
                <a:solidFill>
                  <a:srgbClr val="0E7490"/>
                </a:solidFill>
                <a:latin typeface="Calibri"/>
              </a:rPr>
              <a:t>KETERBATASAN DATA TURUNAN</a:t>
            </a:r>
          </a:p>
        </p:txBody>
      </p:sp>
      <p:sp>
        <p:nvSpPr>
          <p:cNvPr id="17" name="TextBox 16"/>
          <p:cNvSpPr txBox="1"/>
          <p:nvPr/>
        </p:nvSpPr>
        <p:spPr>
          <a:xfrm>
            <a:off x="548640" y="530352"/>
            <a:ext cx="11091672" cy="786384"/>
          </a:xfrm>
          <a:prstGeom prst="rect">
            <a:avLst/>
          </a:prstGeom>
          <a:noFill/>
        </p:spPr>
        <p:txBody>
          <a:bodyPr wrap="square" lIns="0" rIns="0" tIns="18288" bIns="18288" anchor="t">
            <a:noAutofit/>
          </a:bodyPr>
          <a:lstStyle/>
          <a:p>
            <a:pPr algn="l">
              <a:lnSpc>
                <a:spcPct val="95000"/>
              </a:lnSpc>
              <a:spcBef>
                <a:spcPts val="0"/>
              </a:spcBef>
              <a:spcAft>
                <a:spcPts val="0"/>
              </a:spcAft>
            </a:pPr>
            <a:r>
              <a:rPr sz="2500" b="1" i="0" lang="id-ID">
                <a:solidFill>
                  <a:srgbClr val="0F172A"/>
                </a:solidFill>
                <a:latin typeface="Calibri"/>
              </a:rPr>
              <a:t>Heterogenitas berasal dari variasi wilayah, bukan dari definisi keparahan saja</a:t>
            </a:r>
          </a:p>
        </p:txBody>
      </p:sp>
      <p:sp>
        <p:nvSpPr>
          <p:cNvPr id="18" name="TextBox 17"/>
          <p:cNvSpPr txBox="1"/>
          <p:nvPr/>
        </p:nvSpPr>
        <p:spPr>
          <a:xfrm>
            <a:off x="548640" y="6291072"/>
            <a:ext cx="9692640" cy="274320"/>
          </a:xfrm>
          <a:prstGeom prst="rect">
            <a:avLst/>
          </a:prstGeom>
          <a:noFill/>
        </p:spPr>
        <p:txBody>
          <a:bodyPr wrap="square" lIns="0" rIns="0" tIns="18288" bIns="18288" anchor="t">
            <a:noAutofit/>
          </a:bodyPr>
          <a:lstStyle/>
          <a:p>
            <a:pPr algn="l">
              <a:spcBef>
                <a:spcPts val="0"/>
              </a:spcBef>
              <a:spcAft>
                <a:spcPts val="0"/>
              </a:spcAft>
            </a:pPr>
            <a:r>
              <a:rPr sz="900" b="0" i="0" lang="id-ID">
                <a:solidFill>
                  <a:srgbClr val="64748B"/>
                </a:solidFill>
                <a:latin typeface="Calibri"/>
              </a:rPr>
              <a:t>Sumber utama: Lopes LB, Machado V, Mascarenhas P, Mendes JJ, Botelho J. Sci Rep 2021;11:22405 (CC BY 4.0)</a:t>
            </a:r>
          </a:p>
        </p:txBody>
      </p:sp>
      <p:sp>
        <p:nvSpPr>
          <p:cNvPr id="19" name="TextBox 18"/>
          <p:cNvSpPr txBox="1"/>
          <p:nvPr/>
        </p:nvSpPr>
        <p:spPr>
          <a:xfrm>
            <a:off x="10698480" y="6291072"/>
            <a:ext cx="941832" cy="274320"/>
          </a:xfrm>
          <a:prstGeom prst="rect">
            <a:avLst/>
          </a:prstGeom>
          <a:noFill/>
        </p:spPr>
        <p:txBody>
          <a:bodyPr wrap="square" lIns="0" rIns="0" tIns="18288" bIns="18288" anchor="t">
            <a:noAutofit/>
          </a:bodyPr>
          <a:lstStyle/>
          <a:p>
            <a:pPr algn="r">
              <a:spcBef>
                <a:spcPts val="0"/>
              </a:spcBef>
              <a:spcAft>
                <a:spcPts val="0"/>
              </a:spcAft>
            </a:pPr>
            <a:r>
              <a:rPr sz="900" b="0" i="0" lang="id-ID">
                <a:solidFill>
                  <a:srgbClr val="64748B"/>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3" name="Connector 2"/>
          <p:cNvCxnSpPr/>
          <p:nvPr/>
        </p:nvCxnSpPr>
        <p:spPr>
          <a:xfrm>
            <a:off x="548640" y="1371600"/>
            <a:ext cx="11091672" cy="914"/>
          </a:xfrm>
          <a:prstGeom prst="line">
            <a:avLst/>
          </a:prstGeom>
          <a:ln w="19050">
            <a:solidFill>
              <a:srgbClr val="0E7490"/>
            </a:solidFill>
          </a:ln>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548640" y="1572768"/>
            <a:ext cx="5404104" cy="4206240"/>
          </a:xfrm>
          <a:prstGeom prst="roundRect">
            <a:avLst>
              <a:gd name="adj" fmla="val 1304"/>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6236207" y="1572768"/>
            <a:ext cx="5404104" cy="4206240"/>
          </a:xfrm>
          <a:prstGeom prst="roundRect">
            <a:avLst>
              <a:gd name="adj" fmla="val 1304"/>
            </a:avLst>
          </a:prstGeom>
          <a:solidFill>
            <a:srgbClr val="FFFBEB"/>
          </a:solidFill>
          <a:ln w="12700">
            <a:solidFill>
              <a:srgbClr val="FCD34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274320"/>
            <a:ext cx="8229600" cy="237744"/>
          </a:xfrm>
          <a:prstGeom prst="rect">
            <a:avLst/>
          </a:prstGeom>
          <a:noFill/>
        </p:spPr>
        <p:txBody>
          <a:bodyPr wrap="square" lIns="0" rIns="0" tIns="18288" bIns="18288" anchor="t">
            <a:noAutofit/>
          </a:bodyPr>
          <a:lstStyle/>
          <a:p>
            <a:pPr algn="l">
              <a:spcBef>
                <a:spcPts val="0"/>
              </a:spcBef>
              <a:spcAft>
                <a:spcPts val="0"/>
              </a:spcAft>
            </a:pPr>
            <a:r>
              <a:rPr sz="1000" b="1" i="0" lang="id-ID">
                <a:solidFill>
                  <a:srgbClr val="0E7490"/>
                </a:solidFill>
                <a:latin typeface="Calibri"/>
              </a:rPr>
              <a:t>CRITICAL APPRAISAL</a:t>
            </a:r>
          </a:p>
        </p:txBody>
      </p:sp>
      <p:sp>
        <p:nvSpPr>
          <p:cNvPr id="7" name="TextBox 6"/>
          <p:cNvSpPr txBox="1"/>
          <p:nvPr/>
        </p:nvSpPr>
        <p:spPr>
          <a:xfrm>
            <a:off x="804672" y="1737360"/>
            <a:ext cx="4892040" cy="3886200"/>
          </a:xfrm>
          <a:prstGeom prst="rect">
            <a:avLst/>
          </a:prstGeom>
          <a:noFill/>
        </p:spPr>
        <p:txBody>
          <a:bodyPr wrap="square" lIns="0" rIns="0" tIns="18288" bIns="18288" anchor="t">
            <a:noAutofit/>
          </a:bodyPr>
          <a:lstStyle/>
          <a:p>
            <a:pPr algn="l">
              <a:lnSpc>
                <a:spcPct val="100000"/>
              </a:lnSpc>
              <a:spcBef>
                <a:spcPts val="0"/>
              </a:spcBef>
              <a:spcAft>
                <a:spcPts val="0"/>
              </a:spcAft>
            </a:pPr>
            <a:r>
              <a:rPr sz="1200" b="0" i="0" lang="id-ID">
                <a:solidFill>
                  <a:srgbClr val="334155"/>
                </a:solidFill>
                <a:latin typeface="Calibri"/>
              </a:rPr>
              <a:t>KEKUATAN</a:t>
            </a:r>
          </a:p>
          <a:p>
            <a:pPr algn="l">
              <a:lnSpc>
                <a:spcPct val="100000"/>
              </a:lnSpc>
              <a:spcBef>
                <a:spcPts val="0"/>
              </a:spcBef>
              <a:spcAft>
                <a:spcPts val="0"/>
              </a:spcAft>
            </a:pPr>
            <a:r>
              <a:rPr sz="1200" b="0" i="0" lang="id-ID">
                <a:solidFill>
                  <a:srgbClr val="334155"/>
                </a:solidFill>
                <a:latin typeface="Calibri"/>
              </a:rPr>
              <a:t>•  Dilaporkan mengikuti PRISMA dengan protokol yang terdaftar lebih dulu.</a:t>
            </a:r>
          </a:p>
          <a:p>
            <a:pPr algn="l">
              <a:lnSpc>
                <a:spcPct val="100000"/>
              </a:lnSpc>
              <a:spcBef>
                <a:spcPts val="0"/>
              </a:spcBef>
              <a:spcAft>
                <a:spcPts val="0"/>
              </a:spcAft>
            </a:pPr>
            <a:r>
              <a:rPr sz="1200" b="0" i="0" lang="id-ID">
                <a:solidFill>
                  <a:srgbClr val="334155"/>
                </a:solidFill>
                <a:latin typeface="Calibri"/>
              </a:rPr>
              <a:t>•  Pencarian tujuh basis data + rentang tahun luas.</a:t>
            </a:r>
          </a:p>
          <a:p>
            <a:pPr algn="l">
              <a:lnSpc>
                <a:spcPct val="100000"/>
              </a:lnSpc>
              <a:spcBef>
                <a:spcPts val="0"/>
              </a:spcBef>
              <a:spcAft>
                <a:spcPts val="0"/>
              </a:spcAft>
            </a:pPr>
            <a:r>
              <a:rPr sz="1200" b="0" i="0" lang="id-ID">
                <a:solidFill>
                  <a:srgbClr val="334155"/>
                </a:solidFill>
                <a:latin typeface="Calibri"/>
              </a:rPr>
              <a:t>•  Seleksi dan penilaian risiko bias oleh dua peneliti independen (κ = 0,885) — mengurangi bias seleksi.</a:t>
            </a:r>
          </a:p>
          <a:p>
            <a:pPr algn="l">
              <a:lnSpc>
                <a:spcPct val="100000"/>
              </a:lnSpc>
              <a:spcBef>
                <a:spcPts val="0"/>
              </a:spcBef>
              <a:spcAft>
                <a:spcPts val="0"/>
              </a:spcAft>
            </a:pPr>
            <a:r>
              <a:rPr sz="1200" b="0" i="0" lang="id-ID">
                <a:solidFill>
                  <a:srgbClr val="334155"/>
                </a:solidFill>
                <a:latin typeface="Calibri"/>
              </a:rPr>
              <a:t>•  Semua studi pada analisis utama berkualitas tinggi (NOS ≥ 7/9).</a:t>
            </a:r>
          </a:p>
          <a:p>
            <a:pPr algn="l">
              <a:lnSpc>
                <a:spcPct val="100000"/>
              </a:lnSpc>
              <a:spcBef>
                <a:spcPts val="0"/>
              </a:spcBef>
              <a:spcAft>
                <a:spcPts val="0"/>
              </a:spcAft>
            </a:pPr>
            <a:r>
              <a:rPr sz="1200" b="0" i="0" lang="id-ID">
                <a:solidFill>
                  <a:srgbClr val="334155"/>
                </a:solidFill>
                <a:latin typeface="Calibri"/>
              </a:rPr>
              <a:t>•  Membandingkan definisi kasus EAPD vs alternatif sebelum analisis utama.</a:t>
            </a:r>
          </a:p>
          <a:p>
            <a:pPr algn="l">
              <a:lnSpc>
                <a:spcPct val="100000"/>
              </a:lnSpc>
              <a:spcBef>
                <a:spcPts val="0"/>
              </a:spcBef>
              <a:spcAft>
                <a:spcPts val="0"/>
              </a:spcAft>
            </a:pPr>
            <a:r>
              <a:rPr sz="1200" b="0" i="0" lang="id-ID">
                <a:solidFill>
                  <a:srgbClr val="334155"/>
                </a:solidFill>
                <a:latin typeface="Calibri"/>
              </a:rPr>
              <a:t>•  Uji Egger, cumulative, dan leave-one-out untuk menguji kestabilan estimasi.</a:t>
            </a:r>
          </a:p>
          <a:p>
            <a:pPr algn="l">
              <a:lnSpc>
                <a:spcPct val="100000"/>
              </a:lnSpc>
              <a:spcBef>
                <a:spcPts val="0"/>
              </a:spcBef>
              <a:spcAft>
                <a:spcPts val="0"/>
              </a:spcAft>
            </a:pPr>
            <a:r>
              <a:rPr sz="1200" b="0" i="0" lang="id-ID">
                <a:solidFill>
                  <a:srgbClr val="334155"/>
                </a:solidFill>
                <a:latin typeface="Calibri"/>
              </a:rPr>
              <a:t>•  Jumlah peserta besar dan kepastian bukti dinilai SORT A.</a:t>
            </a:r>
          </a:p>
        </p:txBody>
      </p:sp>
      <p:sp>
        <p:nvSpPr>
          <p:cNvPr id="8" name="TextBox 7"/>
          <p:cNvSpPr txBox="1"/>
          <p:nvPr/>
        </p:nvSpPr>
        <p:spPr>
          <a:xfrm>
            <a:off x="548640" y="530352"/>
            <a:ext cx="11091672" cy="786384"/>
          </a:xfrm>
          <a:prstGeom prst="rect">
            <a:avLst/>
          </a:prstGeom>
          <a:noFill/>
        </p:spPr>
        <p:txBody>
          <a:bodyPr wrap="square" lIns="0" rIns="0" tIns="18288" bIns="18288" anchor="t">
            <a:noAutofit/>
          </a:bodyPr>
          <a:lstStyle/>
          <a:p>
            <a:pPr algn="l">
              <a:lnSpc>
                <a:spcPct val="95000"/>
              </a:lnSpc>
              <a:spcBef>
                <a:spcPts val="0"/>
              </a:spcBef>
              <a:spcAft>
                <a:spcPts val="0"/>
              </a:spcAft>
            </a:pPr>
            <a:r>
              <a:rPr sz="2500" b="1" i="0" lang="id-ID">
                <a:solidFill>
                  <a:srgbClr val="0F172A"/>
                </a:solidFill>
                <a:latin typeface="Calibri"/>
              </a:rPr>
              <a:t>Kekuatan pada desain dan mutu studi; kelemahan pada heterogenitas dan representativitas</a:t>
            </a:r>
          </a:p>
        </p:txBody>
      </p:sp>
      <p:sp>
        <p:nvSpPr>
          <p:cNvPr id="9" name="TextBox 8"/>
          <p:cNvSpPr txBox="1"/>
          <p:nvPr/>
        </p:nvSpPr>
        <p:spPr>
          <a:xfrm>
            <a:off x="6492240" y="1737360"/>
            <a:ext cx="4892040" cy="3886200"/>
          </a:xfrm>
          <a:prstGeom prst="rect">
            <a:avLst/>
          </a:prstGeom>
          <a:noFill/>
        </p:spPr>
        <p:txBody>
          <a:bodyPr wrap="square" lIns="0" rIns="0" tIns="18288" bIns="18288" anchor="t">
            <a:noAutofit/>
          </a:bodyPr>
          <a:lstStyle/>
          <a:p>
            <a:pPr algn="l">
              <a:lnSpc>
                <a:spcPct val="100000"/>
              </a:lnSpc>
              <a:spcBef>
                <a:spcPts val="0"/>
              </a:spcBef>
              <a:spcAft>
                <a:spcPts val="0"/>
              </a:spcAft>
            </a:pPr>
            <a:r>
              <a:rPr sz="1200" b="0" i="0" lang="id-ID">
                <a:solidFill>
                  <a:srgbClr val="334155"/>
                </a:solidFill>
                <a:latin typeface="Calibri"/>
              </a:rPr>
              <a:t>KETERBATASAN</a:t>
            </a:r>
          </a:p>
          <a:p>
            <a:pPr algn="l">
              <a:lnSpc>
                <a:spcPct val="100000"/>
              </a:lnSpc>
              <a:spcBef>
                <a:spcPts val="0"/>
              </a:spcBef>
              <a:spcAft>
                <a:spcPts val="0"/>
              </a:spcAft>
            </a:pPr>
            <a:r>
              <a:rPr sz="1200" b="0" i="0" lang="id-ID">
                <a:solidFill>
                  <a:srgbClr val="334155"/>
                </a:solidFill>
                <a:latin typeface="Calibri"/>
              </a:rPr>
              <a:t>•  Heterogenitas sangat tinggi (I² 93–98%) → angka tunggal harus dibaca hati-hati.</a:t>
            </a:r>
          </a:p>
          <a:p>
            <a:pPr algn="l">
              <a:lnSpc>
                <a:spcPct val="100000"/>
              </a:lnSpc>
              <a:spcBef>
                <a:spcPts val="0"/>
              </a:spcBef>
              <a:spcAft>
                <a:spcPts val="0"/>
              </a:spcAft>
            </a:pPr>
            <a:r>
              <a:rPr sz="1200" b="0" i="0" lang="id-ID">
                <a:solidFill>
                  <a:srgbClr val="334155"/>
                </a:solidFill>
                <a:latin typeface="Calibri"/>
              </a:rPr>
              <a:t>•  Hampir separuh studi (48,7%) gagal memenuhi representativitas sampel.</a:t>
            </a:r>
          </a:p>
          <a:p>
            <a:pPr algn="l">
              <a:lnSpc>
                <a:spcPct val="100000"/>
              </a:lnSpc>
              <a:spcBef>
                <a:spcPts val="0"/>
              </a:spcBef>
              <a:spcAft>
                <a:spcPts val="0"/>
              </a:spcAft>
            </a:pPr>
            <a:r>
              <a:rPr sz="1200" b="0" i="0" lang="id-ID">
                <a:solidFill>
                  <a:srgbClr val="334155"/>
                </a:solidFill>
                <a:latin typeface="Calibri"/>
              </a:rPr>
              <a:t>•  Studi tanpa definisi EAPD 2003 dikeluarkan dari analisis utama → sebagian data hilang, dan masih ada 116 vs 98 studi yang tidak seluruhnya terpakai.</a:t>
            </a:r>
          </a:p>
          <a:p>
            <a:pPr algn="l">
              <a:lnSpc>
                <a:spcPct val="100000"/>
              </a:lnSpc>
              <a:spcBef>
                <a:spcPts val="0"/>
              </a:spcBef>
              <a:spcAft>
                <a:spcPts val="0"/>
              </a:spcAft>
            </a:pPr>
            <a:r>
              <a:rPr sz="1200" b="0" i="0" lang="id-ID">
                <a:solidFill>
                  <a:srgbClr val="334155"/>
                </a:solidFill>
                <a:latin typeface="Calibri"/>
              </a:rPr>
              <a:t>•  Data keparahan, gigi terkena, dan HSPM langka → estimasi sekunder kurang stabil (beberapa hanya dari 7 studi).</a:t>
            </a:r>
          </a:p>
          <a:p>
            <a:pPr algn="l">
              <a:lnSpc>
                <a:spcPct val="100000"/>
              </a:lnSpc>
              <a:spcBef>
                <a:spcPts val="0"/>
              </a:spcBef>
              <a:spcAft>
                <a:spcPts val="0"/>
              </a:spcAft>
            </a:pPr>
            <a:r>
              <a:rPr sz="1200" b="0" i="0" lang="id-ID">
                <a:solidFill>
                  <a:srgbClr val="334155"/>
                </a:solidFill>
                <a:latin typeface="Calibri"/>
              </a:rPr>
              <a:t>•  Faktor medis, sosiodemografis, dan lingkungan tidak dapat dianalisis karena pelaporan studi yang tidak seragam.</a:t>
            </a:r>
          </a:p>
          <a:p>
            <a:pPr algn="l">
              <a:lnSpc>
                <a:spcPct val="100000"/>
              </a:lnSpc>
              <a:spcBef>
                <a:spcPts val="0"/>
              </a:spcBef>
              <a:spcAft>
                <a:spcPts val="0"/>
              </a:spcAft>
            </a:pPr>
            <a:r>
              <a:rPr sz="1200" b="0" i="0" lang="id-ID">
                <a:solidFill>
                  <a:srgbClr val="334155"/>
                </a:solidFill>
                <a:latin typeface="Calibri"/>
              </a:rPr>
              <a:t>•  Tidak ada penilaian GRADE; kepastian bukti memakai SORT. Selain itu, angka insisivus berbeda antara abstrak (36,6%) dan Tabel 2 (38,7%).</a:t>
            </a:r>
          </a:p>
        </p:txBody>
      </p:sp>
      <p:sp>
        <p:nvSpPr>
          <p:cNvPr id="10" name="TextBox 9"/>
          <p:cNvSpPr txBox="1"/>
          <p:nvPr/>
        </p:nvSpPr>
        <p:spPr>
          <a:xfrm>
            <a:off x="548640" y="6291072"/>
            <a:ext cx="9692640" cy="274320"/>
          </a:xfrm>
          <a:prstGeom prst="rect">
            <a:avLst/>
          </a:prstGeom>
          <a:noFill/>
        </p:spPr>
        <p:txBody>
          <a:bodyPr wrap="square" lIns="0" rIns="0" tIns="18288" bIns="18288" anchor="t">
            <a:noAutofit/>
          </a:bodyPr>
          <a:lstStyle/>
          <a:p>
            <a:pPr algn="l">
              <a:spcBef>
                <a:spcPts val="0"/>
              </a:spcBef>
              <a:spcAft>
                <a:spcPts val="0"/>
              </a:spcAft>
            </a:pPr>
            <a:r>
              <a:rPr sz="900" b="0" i="0" lang="id-ID">
                <a:solidFill>
                  <a:srgbClr val="64748B"/>
                </a:solidFill>
                <a:latin typeface="Calibri"/>
              </a:rPr>
              <a:t>Sumber utama: Lopes LB, Machado V, Mascarenhas P, Mendes JJ, Botelho J. Sci Rep 2021;11:22405 (CC BY 4.0)</a:t>
            </a:r>
          </a:p>
        </p:txBody>
      </p:sp>
      <p:sp>
        <p:nvSpPr>
          <p:cNvPr id="11" name="TextBox 10"/>
          <p:cNvSpPr txBox="1"/>
          <p:nvPr/>
        </p:nvSpPr>
        <p:spPr>
          <a:xfrm>
            <a:off x="10698480" y="6291072"/>
            <a:ext cx="941832" cy="274320"/>
          </a:xfrm>
          <a:prstGeom prst="rect">
            <a:avLst/>
          </a:prstGeom>
          <a:noFill/>
        </p:spPr>
        <p:txBody>
          <a:bodyPr wrap="square" lIns="0" rIns="0" tIns="18288" bIns="18288" anchor="t">
            <a:noAutofit/>
          </a:bodyPr>
          <a:lstStyle/>
          <a:p>
            <a:pPr algn="r">
              <a:spcBef>
                <a:spcPts val="0"/>
              </a:spcBef>
              <a:spcAft>
                <a:spcPts val="0"/>
              </a:spcAft>
            </a:pPr>
            <a:r>
              <a:rPr sz="900" b="0" i="0" lang="id-ID">
                <a:solidFill>
                  <a:srgbClr val="64748B"/>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1572768"/>
            <a:ext cx="5404104" cy="1444752"/>
          </a:xfrm>
          <a:prstGeom prst="roundRect">
            <a:avLst>
              <a:gd name="adj" fmla="val 3797"/>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6236207" y="1572768"/>
            <a:ext cx="5404104" cy="1444752"/>
          </a:xfrm>
          <a:prstGeom prst="roundRect">
            <a:avLst>
              <a:gd name="adj" fmla="val 3797"/>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548640" y="3172968"/>
            <a:ext cx="5404104" cy="1444752"/>
          </a:xfrm>
          <a:prstGeom prst="roundRect">
            <a:avLst>
              <a:gd name="adj" fmla="val 3797"/>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6236207" y="3172968"/>
            <a:ext cx="5404104" cy="1444752"/>
          </a:xfrm>
          <a:prstGeom prst="roundRect">
            <a:avLst>
              <a:gd name="adj" fmla="val 3797"/>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48640" y="4892040"/>
            <a:ext cx="11091672" cy="868680"/>
          </a:xfrm>
          <a:prstGeom prst="roundRect">
            <a:avLst>
              <a:gd name="adj" fmla="val 8421"/>
            </a:avLst>
          </a:prstGeom>
          <a:solidFill>
            <a:srgbClr val="F0FDFA"/>
          </a:solidFill>
          <a:ln w="15875">
            <a:solidFill>
              <a:srgbClr val="99F6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8" name="Connector 7"/>
          <p:cNvCxnSpPr/>
          <p:nvPr/>
        </p:nvCxnSpPr>
        <p:spPr>
          <a:xfrm>
            <a:off x="548640" y="1371600"/>
            <a:ext cx="11091672" cy="914"/>
          </a:xfrm>
          <a:prstGeom prst="line">
            <a:avLst/>
          </a:prstGeom>
          <a:ln w="19050">
            <a:solidFill>
              <a:srgbClr val="0E749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68096" y="2029967"/>
            <a:ext cx="4965192" cy="859536"/>
          </a:xfrm>
          <a:prstGeom prst="rect">
            <a:avLst/>
          </a:prstGeom>
          <a:noFill/>
        </p:spPr>
        <p:txBody>
          <a:bodyPr wrap="square" lIns="0" rIns="0" tIns="18288" bIns="18288" anchor="t">
            <a:noAutofit/>
          </a:bodyPr>
          <a:lstStyle/>
          <a:p>
            <a:pPr algn="l">
              <a:lnSpc>
                <a:spcPct val="100000"/>
              </a:lnSpc>
              <a:spcBef>
                <a:spcPts val="0"/>
              </a:spcBef>
              <a:spcAft>
                <a:spcPts val="0"/>
              </a:spcAft>
            </a:pPr>
            <a:r>
              <a:rPr sz="1150" b="0" i="0" lang="id-ID">
                <a:solidFill>
                  <a:srgbClr val="334155"/>
                </a:solidFill>
                <a:latin typeface="Calibri"/>
              </a:rPr>
              <a:t>Periksa molar pertama permanen segera setelah erupsi (sekitar usia 6–8 tahun). Cari opasitas berbatas tegas; catat gigi yang terkena.</a:t>
            </a:r>
          </a:p>
        </p:txBody>
      </p:sp>
      <p:sp>
        <p:nvSpPr>
          <p:cNvPr id="10" name="TextBox 9"/>
          <p:cNvSpPr txBox="1"/>
          <p:nvPr/>
        </p:nvSpPr>
        <p:spPr>
          <a:xfrm>
            <a:off x="768096" y="1719072"/>
            <a:ext cx="4965192" cy="274320"/>
          </a:xfrm>
          <a:prstGeom prst="rect">
            <a:avLst/>
          </a:prstGeom>
          <a:noFill/>
        </p:spPr>
        <p:txBody>
          <a:bodyPr wrap="square" lIns="0" rIns="0" tIns="18288" bIns="18288" anchor="t">
            <a:noAutofit/>
          </a:bodyPr>
          <a:lstStyle/>
          <a:p>
            <a:pPr algn="l">
              <a:spcBef>
                <a:spcPts val="0"/>
              </a:spcBef>
              <a:spcAft>
                <a:spcPts val="0"/>
              </a:spcAft>
            </a:pPr>
            <a:r>
              <a:rPr sz="1100" b="1" i="0" lang="id-ID">
                <a:solidFill>
                  <a:srgbClr val="0E7490"/>
                </a:solidFill>
                <a:latin typeface="Calibri"/>
              </a:rPr>
              <a:t>1. DETEKSI DINI</a:t>
            </a:r>
          </a:p>
        </p:txBody>
      </p:sp>
      <p:sp>
        <p:nvSpPr>
          <p:cNvPr id="11" name="TextBox 10"/>
          <p:cNvSpPr txBox="1"/>
          <p:nvPr/>
        </p:nvSpPr>
        <p:spPr>
          <a:xfrm>
            <a:off x="6455664" y="2029967"/>
            <a:ext cx="4965192" cy="859536"/>
          </a:xfrm>
          <a:prstGeom prst="rect">
            <a:avLst/>
          </a:prstGeom>
          <a:noFill/>
        </p:spPr>
        <p:txBody>
          <a:bodyPr wrap="square" lIns="0" rIns="0" tIns="18288" bIns="18288" anchor="t">
            <a:noAutofit/>
          </a:bodyPr>
          <a:lstStyle/>
          <a:p>
            <a:pPr algn="l">
              <a:lnSpc>
                <a:spcPct val="100000"/>
              </a:lnSpc>
              <a:spcBef>
                <a:spcPts val="0"/>
              </a:spcBef>
              <a:spcAft>
                <a:spcPts val="0"/>
              </a:spcAft>
            </a:pPr>
            <a:r>
              <a:rPr sz="1150" b="0" i="0" lang="id-ID">
                <a:solidFill>
                  <a:srgbClr val="334155"/>
                </a:solidFill>
                <a:latin typeface="Calibri"/>
              </a:rPr>
              <a:t>Gunakan kriteria EAPD 2003 secara konsisten + foto klinis, agar data pasien kita dapat dibandingkan dengan literatur dan antar-klinisi.</a:t>
            </a:r>
          </a:p>
        </p:txBody>
      </p:sp>
      <p:sp>
        <p:nvSpPr>
          <p:cNvPr id="12" name="TextBox 11"/>
          <p:cNvSpPr txBox="1"/>
          <p:nvPr/>
        </p:nvSpPr>
        <p:spPr>
          <a:xfrm>
            <a:off x="6455664" y="1719072"/>
            <a:ext cx="4965192" cy="274320"/>
          </a:xfrm>
          <a:prstGeom prst="rect">
            <a:avLst/>
          </a:prstGeom>
          <a:noFill/>
        </p:spPr>
        <p:txBody>
          <a:bodyPr wrap="square" lIns="0" rIns="0" tIns="18288" bIns="18288" anchor="t">
            <a:noAutofit/>
          </a:bodyPr>
          <a:lstStyle/>
          <a:p>
            <a:pPr algn="l">
              <a:spcBef>
                <a:spcPts val="0"/>
              </a:spcBef>
              <a:spcAft>
                <a:spcPts val="0"/>
              </a:spcAft>
            </a:pPr>
            <a:r>
              <a:rPr sz="1100" b="1" i="0" lang="id-ID">
                <a:solidFill>
                  <a:srgbClr val="0E7490"/>
                </a:solidFill>
                <a:latin typeface="Calibri"/>
              </a:rPr>
              <a:t>2. DOKUMENTASI TERSTANDAR</a:t>
            </a:r>
          </a:p>
        </p:txBody>
      </p:sp>
      <p:sp>
        <p:nvSpPr>
          <p:cNvPr id="13" name="TextBox 12"/>
          <p:cNvSpPr txBox="1"/>
          <p:nvPr/>
        </p:nvSpPr>
        <p:spPr>
          <a:xfrm>
            <a:off x="768096" y="3630168"/>
            <a:ext cx="4965192" cy="859536"/>
          </a:xfrm>
          <a:prstGeom prst="rect">
            <a:avLst/>
          </a:prstGeom>
          <a:noFill/>
        </p:spPr>
        <p:txBody>
          <a:bodyPr wrap="square" lIns="0" rIns="0" tIns="18288" bIns="18288" anchor="t">
            <a:noAutofit/>
          </a:bodyPr>
          <a:lstStyle/>
          <a:p>
            <a:pPr algn="l">
              <a:lnSpc>
                <a:spcPct val="100000"/>
              </a:lnSpc>
              <a:spcBef>
                <a:spcPts val="0"/>
              </a:spcBef>
              <a:spcAft>
                <a:spcPts val="0"/>
              </a:spcAft>
            </a:pPr>
            <a:r>
              <a:rPr sz="1150" b="0" i="0" lang="id-ID">
                <a:solidFill>
                  <a:srgbClr val="334155"/>
                </a:solidFill>
                <a:latin typeface="Calibri"/>
              </a:rPr>
              <a:t>Catat keparahan (sedang/berat) dan jumlah molar yang terkena — dua hal ini menentukan intensitas recall dan pilihan perawatan.</a:t>
            </a:r>
          </a:p>
        </p:txBody>
      </p:sp>
      <p:sp>
        <p:nvSpPr>
          <p:cNvPr id="14" name="TextBox 13"/>
          <p:cNvSpPr txBox="1"/>
          <p:nvPr/>
        </p:nvSpPr>
        <p:spPr>
          <a:xfrm>
            <a:off x="768096" y="3319272"/>
            <a:ext cx="4965192" cy="274320"/>
          </a:xfrm>
          <a:prstGeom prst="rect">
            <a:avLst/>
          </a:prstGeom>
          <a:noFill/>
        </p:spPr>
        <p:txBody>
          <a:bodyPr wrap="square" lIns="0" rIns="0" tIns="18288" bIns="18288" anchor="t">
            <a:noAutofit/>
          </a:bodyPr>
          <a:lstStyle/>
          <a:p>
            <a:pPr algn="l">
              <a:spcBef>
                <a:spcPts val="0"/>
              </a:spcBef>
              <a:spcAft>
                <a:spcPts val="0"/>
              </a:spcAft>
            </a:pPr>
            <a:r>
              <a:rPr sz="1100" b="1" i="0" lang="id-ID">
                <a:solidFill>
                  <a:srgbClr val="0E7490"/>
                </a:solidFill>
                <a:latin typeface="Calibri"/>
              </a:rPr>
              <a:t>3. STRATIFIKASI RISIKO</a:t>
            </a:r>
          </a:p>
        </p:txBody>
      </p:sp>
      <p:sp>
        <p:nvSpPr>
          <p:cNvPr id="15" name="TextBox 14"/>
          <p:cNvSpPr txBox="1"/>
          <p:nvPr/>
        </p:nvSpPr>
        <p:spPr>
          <a:xfrm>
            <a:off x="6455664" y="3630168"/>
            <a:ext cx="4965192" cy="859536"/>
          </a:xfrm>
          <a:prstGeom prst="rect">
            <a:avLst/>
          </a:prstGeom>
          <a:noFill/>
        </p:spPr>
        <p:txBody>
          <a:bodyPr wrap="square" lIns="0" rIns="0" tIns="18288" bIns="18288" anchor="t">
            <a:noAutofit/>
          </a:bodyPr>
          <a:lstStyle/>
          <a:p>
            <a:pPr algn="l">
              <a:lnSpc>
                <a:spcPct val="100000"/>
              </a:lnSpc>
              <a:spcBef>
                <a:spcPts val="0"/>
              </a:spcBef>
              <a:spcAft>
                <a:spcPts val="0"/>
              </a:spcAft>
            </a:pPr>
            <a:r>
              <a:rPr sz="1150" b="0" i="0" lang="id-ID">
                <a:solidFill>
                  <a:srgbClr val="334155"/>
                </a:solidFill>
                <a:latin typeface="Calibri"/>
              </a:rPr>
              <a:t>Desensitisasi, sealant pada molar berisiko, restorasi/SSC bila enamel pecah; hindari preparasi agresif. Pencegahan karies lebih krusial pada enamel yang sudah lemah.</a:t>
            </a:r>
          </a:p>
        </p:txBody>
      </p:sp>
      <p:sp>
        <p:nvSpPr>
          <p:cNvPr id="16" name="TextBox 15"/>
          <p:cNvSpPr txBox="1"/>
          <p:nvPr/>
        </p:nvSpPr>
        <p:spPr>
          <a:xfrm>
            <a:off x="6455664" y="3319272"/>
            <a:ext cx="4965192" cy="274320"/>
          </a:xfrm>
          <a:prstGeom prst="rect">
            <a:avLst/>
          </a:prstGeom>
          <a:noFill/>
        </p:spPr>
        <p:txBody>
          <a:bodyPr wrap="square" lIns="0" rIns="0" tIns="18288" bIns="18288" anchor="t">
            <a:noAutofit/>
          </a:bodyPr>
          <a:lstStyle/>
          <a:p>
            <a:pPr algn="l">
              <a:spcBef>
                <a:spcPts val="0"/>
              </a:spcBef>
              <a:spcAft>
                <a:spcPts val="0"/>
              </a:spcAft>
            </a:pPr>
            <a:r>
              <a:rPr sz="1100" b="1" i="0" lang="id-ID">
                <a:solidFill>
                  <a:srgbClr val="0E7490"/>
                </a:solidFill>
                <a:latin typeface="Calibri"/>
              </a:rPr>
              <a:t>4. TATALAKSANA &amp; PENCEGAHAN</a:t>
            </a:r>
          </a:p>
        </p:txBody>
      </p:sp>
      <p:sp>
        <p:nvSpPr>
          <p:cNvPr id="17" name="TextBox 16"/>
          <p:cNvSpPr txBox="1"/>
          <p:nvPr/>
        </p:nvSpPr>
        <p:spPr>
          <a:xfrm>
            <a:off x="822959" y="5010912"/>
            <a:ext cx="10543032" cy="566928"/>
          </a:xfrm>
          <a:prstGeom prst="rect">
            <a:avLst/>
          </a:prstGeom>
          <a:noFill/>
        </p:spPr>
        <p:txBody>
          <a:bodyPr wrap="square" lIns="0" rIns="0" tIns="18288" bIns="18288" anchor="t">
            <a:noAutofit/>
          </a:bodyPr>
          <a:lstStyle/>
          <a:p>
            <a:pPr algn="l">
              <a:lnSpc>
                <a:spcPct val="100000"/>
              </a:lnSpc>
              <a:spcBef>
                <a:spcPts val="0"/>
              </a:spcBef>
              <a:spcAft>
                <a:spcPts val="0"/>
              </a:spcAft>
            </a:pPr>
            <a:r>
              <a:rPr sz="1250" b="0" i="0" lang="id-ID">
                <a:solidFill>
                  <a:srgbClr val="0F172A"/>
                </a:solidFill>
                <a:latin typeface="Calibri"/>
              </a:rPr>
              <a:t>Untuk program kesehatan gigi sekolah: prevalensi ± 13–15% cukup tinggi untuk menjadikan pemeriksaan MIH bagian rutin skrining UKS, bukan temuan insidental.</a:t>
            </a:r>
          </a:p>
        </p:txBody>
      </p:sp>
      <p:sp>
        <p:nvSpPr>
          <p:cNvPr id="18" name="TextBox 17"/>
          <p:cNvSpPr txBox="1"/>
          <p:nvPr/>
        </p:nvSpPr>
        <p:spPr>
          <a:xfrm>
            <a:off x="548640" y="274320"/>
            <a:ext cx="8229600" cy="237744"/>
          </a:xfrm>
          <a:prstGeom prst="rect">
            <a:avLst/>
          </a:prstGeom>
          <a:noFill/>
        </p:spPr>
        <p:txBody>
          <a:bodyPr wrap="square" lIns="0" rIns="0" tIns="18288" bIns="18288" anchor="t">
            <a:noAutofit/>
          </a:bodyPr>
          <a:lstStyle/>
          <a:p>
            <a:pPr algn="l">
              <a:spcBef>
                <a:spcPts val="0"/>
              </a:spcBef>
              <a:spcAft>
                <a:spcPts val="0"/>
              </a:spcAft>
            </a:pPr>
            <a:r>
              <a:rPr sz="1000" b="1" i="0" lang="id-ID">
                <a:solidFill>
                  <a:srgbClr val="0E7490"/>
                </a:solidFill>
                <a:latin typeface="Calibri"/>
              </a:rPr>
              <a:t>IMPLIKASI KLINIS</a:t>
            </a:r>
          </a:p>
        </p:txBody>
      </p:sp>
      <p:sp>
        <p:nvSpPr>
          <p:cNvPr id="19" name="TextBox 18"/>
          <p:cNvSpPr txBox="1"/>
          <p:nvPr/>
        </p:nvSpPr>
        <p:spPr>
          <a:xfrm>
            <a:off x="548640" y="530352"/>
            <a:ext cx="11091672" cy="786384"/>
          </a:xfrm>
          <a:prstGeom prst="rect">
            <a:avLst/>
          </a:prstGeom>
          <a:noFill/>
        </p:spPr>
        <p:txBody>
          <a:bodyPr wrap="square" lIns="0" rIns="0" tIns="18288" bIns="18288" anchor="t">
            <a:noAutofit/>
          </a:bodyPr>
          <a:lstStyle/>
          <a:p>
            <a:pPr algn="l">
              <a:lnSpc>
                <a:spcPct val="95000"/>
              </a:lnSpc>
              <a:spcBef>
                <a:spcPts val="0"/>
              </a:spcBef>
              <a:spcAft>
                <a:spcPts val="0"/>
              </a:spcAft>
            </a:pPr>
            <a:r>
              <a:rPr sz="2500" b="1" i="0" lang="id-ID">
                <a:solidFill>
                  <a:srgbClr val="0F172A"/>
                </a:solidFill>
                <a:latin typeface="Calibri"/>
              </a:rPr>
              <a:t>Protokol praktis: skrining usia 6–8 tahun, catat keparahan, tatalaksana minimal invasif</a:t>
            </a:r>
          </a:p>
        </p:txBody>
      </p:sp>
      <p:sp>
        <p:nvSpPr>
          <p:cNvPr id="20" name="TextBox 19"/>
          <p:cNvSpPr txBox="1"/>
          <p:nvPr/>
        </p:nvSpPr>
        <p:spPr>
          <a:xfrm>
            <a:off x="548640" y="6291072"/>
            <a:ext cx="9692640" cy="274320"/>
          </a:xfrm>
          <a:prstGeom prst="rect">
            <a:avLst/>
          </a:prstGeom>
          <a:noFill/>
        </p:spPr>
        <p:txBody>
          <a:bodyPr wrap="square" lIns="0" rIns="0" tIns="18288" bIns="18288" anchor="t">
            <a:noAutofit/>
          </a:bodyPr>
          <a:lstStyle/>
          <a:p>
            <a:pPr algn="l">
              <a:spcBef>
                <a:spcPts val="0"/>
              </a:spcBef>
              <a:spcAft>
                <a:spcPts val="0"/>
              </a:spcAft>
            </a:pPr>
            <a:r>
              <a:rPr sz="900" b="0" i="0" lang="id-ID">
                <a:solidFill>
                  <a:srgbClr val="64748B"/>
                </a:solidFill>
                <a:latin typeface="Calibri"/>
              </a:rPr>
              <a:t>Sumber utama: Lopes LB, Machado V, Mascarenhas P, Mendes JJ, Botelho J. Sci Rep 2021;11:22405 (CC BY 4.0)</a:t>
            </a:r>
          </a:p>
        </p:txBody>
      </p:sp>
      <p:sp>
        <p:nvSpPr>
          <p:cNvPr id="21" name="TextBox 20"/>
          <p:cNvSpPr txBox="1"/>
          <p:nvPr/>
        </p:nvSpPr>
        <p:spPr>
          <a:xfrm>
            <a:off x="10698480" y="6291072"/>
            <a:ext cx="941832" cy="274320"/>
          </a:xfrm>
          <a:prstGeom prst="rect">
            <a:avLst/>
          </a:prstGeom>
          <a:noFill/>
        </p:spPr>
        <p:txBody>
          <a:bodyPr wrap="square" lIns="0" rIns="0" tIns="18288" bIns="18288" anchor="t">
            <a:noAutofit/>
          </a:bodyPr>
          <a:lstStyle/>
          <a:p>
            <a:pPr algn="r">
              <a:spcBef>
                <a:spcPts val="0"/>
              </a:spcBef>
              <a:spcAft>
                <a:spcPts val="0"/>
              </a:spcAft>
            </a:pPr>
            <a:r>
              <a:rPr sz="900" b="0" i="0" lang="id-ID">
                <a:solidFill>
                  <a:srgbClr val="64748B"/>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1572768"/>
            <a:ext cx="3538728" cy="1234440"/>
          </a:xfrm>
          <a:prstGeom prst="roundRect">
            <a:avLst>
              <a:gd name="adj" fmla="val 4444"/>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4233672" y="1572768"/>
            <a:ext cx="3538728" cy="1234440"/>
          </a:xfrm>
          <a:prstGeom prst="roundRect">
            <a:avLst>
              <a:gd name="adj" fmla="val 4444"/>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7918704" y="1572768"/>
            <a:ext cx="3721608" cy="1234440"/>
          </a:xfrm>
          <a:prstGeom prst="roundRect">
            <a:avLst>
              <a:gd name="adj" fmla="val 4444"/>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48640" y="1371600"/>
            <a:ext cx="11091672" cy="914"/>
          </a:xfrm>
          <a:prstGeom prst="line">
            <a:avLst/>
          </a:prstGeom>
          <a:ln w="19050">
            <a:solidFill>
              <a:srgbClr val="0E749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749808" y="1682496"/>
            <a:ext cx="3136392" cy="987552"/>
          </a:xfrm>
          <a:prstGeom prst="rect">
            <a:avLst/>
          </a:prstGeom>
          <a:noFill/>
        </p:spPr>
        <p:txBody>
          <a:bodyPr wrap="square" lIns="0" rIns="0" tIns="18288" bIns="18288" anchor="t">
            <a:noAutofit/>
          </a:bodyPr>
          <a:lstStyle/>
          <a:p>
            <a:pPr algn="l">
              <a:lnSpc>
                <a:spcPct val="100000"/>
              </a:lnSpc>
              <a:spcBef>
                <a:spcPts val="0"/>
              </a:spcBef>
              <a:spcAft>
                <a:spcPts val="0"/>
              </a:spcAft>
            </a:pPr>
            <a:r>
              <a:rPr sz="1200" b="0" i="0" lang="id-ID">
                <a:solidFill>
                  <a:srgbClr val="334155"/>
                </a:solidFill>
                <a:latin typeface="Calibri"/>
              </a:rPr>
              <a:t>13,5% (12,0–15,1)</a:t>
            </a:r>
          </a:p>
          <a:p>
            <a:pPr algn="l">
              <a:lnSpc>
                <a:spcPct val="100000"/>
              </a:lnSpc>
              <a:spcBef>
                <a:spcPts val="0"/>
              </a:spcBef>
              <a:spcAft>
                <a:spcPts val="0"/>
              </a:spcAft>
            </a:pPr>
            <a:r>
              <a:rPr sz="1200" b="0" i="0" lang="id-ID">
                <a:solidFill>
                  <a:srgbClr val="334155"/>
                </a:solidFill>
                <a:latin typeface="Calibri"/>
              </a:rPr>
              <a:t>Prevalensi global MIH dari 113.089 peserta, SORT A.</a:t>
            </a:r>
          </a:p>
        </p:txBody>
      </p:sp>
      <p:sp>
        <p:nvSpPr>
          <p:cNvPr id="8" name="TextBox 7"/>
          <p:cNvSpPr txBox="1"/>
          <p:nvPr/>
        </p:nvSpPr>
        <p:spPr>
          <a:xfrm>
            <a:off x="4434840" y="1682496"/>
            <a:ext cx="3136392" cy="987552"/>
          </a:xfrm>
          <a:prstGeom prst="rect">
            <a:avLst/>
          </a:prstGeom>
          <a:noFill/>
        </p:spPr>
        <p:txBody>
          <a:bodyPr wrap="square" lIns="0" rIns="0" tIns="18288" bIns="18288" anchor="t">
            <a:noAutofit/>
          </a:bodyPr>
          <a:lstStyle/>
          <a:p>
            <a:pPr algn="l">
              <a:lnSpc>
                <a:spcPct val="100000"/>
              </a:lnSpc>
              <a:spcBef>
                <a:spcPts val="0"/>
              </a:spcBef>
              <a:spcAft>
                <a:spcPts val="0"/>
              </a:spcAft>
            </a:pPr>
            <a:r>
              <a:rPr sz="1200" b="0" i="0" lang="id-ID">
                <a:solidFill>
                  <a:srgbClr val="334155"/>
                </a:solidFill>
                <a:latin typeface="Calibri"/>
              </a:rPr>
              <a:t>36,3% kasus sedang–berat</a:t>
            </a:r>
          </a:p>
          <a:p>
            <a:pPr algn="l">
              <a:lnSpc>
                <a:spcPct val="100000"/>
              </a:lnSpc>
              <a:spcBef>
                <a:spcPts val="0"/>
              </a:spcBef>
              <a:spcAft>
                <a:spcPts val="0"/>
              </a:spcAft>
            </a:pPr>
            <a:r>
              <a:rPr sz="1200" b="0" i="0" lang="id-ID">
                <a:solidFill>
                  <a:srgbClr val="334155"/>
                </a:solidFill>
                <a:latin typeface="Calibri"/>
              </a:rPr>
              <a:t>Beban perawatan nyata pada lebih dari sepertiga anak dengan MIH.</a:t>
            </a:r>
          </a:p>
        </p:txBody>
      </p:sp>
      <p:sp>
        <p:nvSpPr>
          <p:cNvPr id="9" name="TextBox 8"/>
          <p:cNvSpPr txBox="1"/>
          <p:nvPr/>
        </p:nvSpPr>
        <p:spPr>
          <a:xfrm>
            <a:off x="8119871" y="1682496"/>
            <a:ext cx="3319272" cy="987552"/>
          </a:xfrm>
          <a:prstGeom prst="rect">
            <a:avLst/>
          </a:prstGeom>
          <a:noFill/>
        </p:spPr>
        <p:txBody>
          <a:bodyPr wrap="square" lIns="0" rIns="0" tIns="18288" bIns="18288" anchor="t">
            <a:noAutofit/>
          </a:bodyPr>
          <a:lstStyle/>
          <a:p>
            <a:pPr algn="l">
              <a:lnSpc>
                <a:spcPct val="100000"/>
              </a:lnSpc>
              <a:spcBef>
                <a:spcPts val="0"/>
              </a:spcBef>
              <a:spcAft>
                <a:spcPts val="0"/>
              </a:spcAft>
            </a:pPr>
            <a:r>
              <a:rPr sz="1200" b="0" i="0" lang="id-ID">
                <a:solidFill>
                  <a:srgbClr val="334155"/>
                </a:solidFill>
                <a:latin typeface="Calibri"/>
              </a:rPr>
              <a:t>±36–39% disertai insisivus; HSPM 3,6%</a:t>
            </a:r>
          </a:p>
          <a:p>
            <a:pPr algn="l">
              <a:lnSpc>
                <a:spcPct val="100000"/>
              </a:lnSpc>
              <a:spcBef>
                <a:spcPts val="0"/>
              </a:spcBef>
              <a:spcAft>
                <a:spcPts val="0"/>
              </a:spcAft>
            </a:pPr>
            <a:r>
              <a:rPr sz="1200" b="0" i="0" lang="id-ID">
                <a:solidFill>
                  <a:srgbClr val="334155"/>
                </a:solidFill>
                <a:latin typeface="Calibri"/>
              </a:rPr>
              <a:t>Dampak estetik dan riwayat molar sulung perlu ditanyakan.</a:t>
            </a:r>
          </a:p>
        </p:txBody>
      </p:sp>
      <p:sp>
        <p:nvSpPr>
          <p:cNvPr id="10" name="TextBox 9"/>
          <p:cNvSpPr txBox="1"/>
          <p:nvPr/>
        </p:nvSpPr>
        <p:spPr>
          <a:xfrm>
            <a:off x="548640" y="5120640"/>
            <a:ext cx="11091672" cy="640080"/>
          </a:xfrm>
          <a:prstGeom prst="rect">
            <a:avLst/>
          </a:prstGeom>
          <a:noFill/>
        </p:spPr>
        <p:txBody>
          <a:bodyPr wrap="square" lIns="0" rIns="0" tIns="18288" bIns="18288" anchor="t">
            <a:noAutofit/>
          </a:bodyPr>
          <a:lstStyle/>
          <a:p>
            <a:pPr algn="l">
              <a:lnSpc>
                <a:spcPct val="100000"/>
              </a:lnSpc>
              <a:spcBef>
                <a:spcPts val="0"/>
              </a:spcBef>
              <a:spcAft>
                <a:spcPts val="0"/>
              </a:spcAft>
            </a:pPr>
            <a:r>
              <a:rPr sz="1300" b="1" i="0" lang="id-ID">
                <a:solidFill>
                  <a:srgbClr val="155E75"/>
                </a:solidFill>
                <a:latin typeface="Calibri"/>
              </a:rPr>
              <a:t>Take-home: MIH bukan kelainan langka. Dengan kriteria EAPD yang sama, data klinik kita dapat dibandingkan dengan literatur internasional — mulai dari pencatatan yang rapi.</a:t>
            </a:r>
          </a:p>
        </p:txBody>
      </p:sp>
      <p:sp>
        <p:nvSpPr>
          <p:cNvPr id="11" name="TextBox 10"/>
          <p:cNvSpPr txBox="1"/>
          <p:nvPr/>
        </p:nvSpPr>
        <p:spPr>
          <a:xfrm>
            <a:off x="548640" y="274320"/>
            <a:ext cx="8229600" cy="237744"/>
          </a:xfrm>
          <a:prstGeom prst="rect">
            <a:avLst/>
          </a:prstGeom>
          <a:noFill/>
        </p:spPr>
        <p:txBody>
          <a:bodyPr wrap="square" lIns="0" rIns="0" tIns="18288" bIns="18288" anchor="t">
            <a:noAutofit/>
          </a:bodyPr>
          <a:lstStyle/>
          <a:p>
            <a:pPr algn="l">
              <a:spcBef>
                <a:spcPts val="0"/>
              </a:spcBef>
              <a:spcAft>
                <a:spcPts val="0"/>
              </a:spcAft>
            </a:pPr>
            <a:r>
              <a:rPr sz="1000" b="1" i="0" lang="id-ID">
                <a:solidFill>
                  <a:srgbClr val="0E7490"/>
                </a:solidFill>
                <a:latin typeface="Calibri"/>
              </a:rPr>
              <a:t>KESIMPULAN &amp; RUJUKAN</a:t>
            </a:r>
          </a:p>
        </p:txBody>
      </p:sp>
      <p:sp>
        <p:nvSpPr>
          <p:cNvPr id="12" name="TextBox 11"/>
          <p:cNvSpPr txBox="1"/>
          <p:nvPr/>
        </p:nvSpPr>
        <p:spPr>
          <a:xfrm>
            <a:off x="548640" y="3346704"/>
            <a:ext cx="11091672" cy="1600200"/>
          </a:xfrm>
          <a:prstGeom prst="rect">
            <a:avLst/>
          </a:prstGeom>
          <a:noFill/>
        </p:spPr>
        <p:txBody>
          <a:bodyPr wrap="square" lIns="0" rIns="0" tIns="18288" bIns="18288" anchor="t">
            <a:noAutofit/>
          </a:bodyPr>
          <a:lstStyle/>
          <a:p>
            <a:pPr algn="l">
              <a:lnSpc>
                <a:spcPct val="100000"/>
              </a:lnSpc>
              <a:spcBef>
                <a:spcPts val="0"/>
              </a:spcBef>
              <a:spcAft>
                <a:spcPts val="0"/>
              </a:spcAft>
            </a:pPr>
            <a:r>
              <a:rPr sz="1150" b="0" i="0" lang="id-ID">
                <a:solidFill>
                  <a:srgbClr val="334155"/>
                </a:solidFill>
                <a:latin typeface="Calibri"/>
              </a:rPr>
              <a:t>1.  Lopes LB, Machado V, Mascarenhas P, Mendes JJ, Botelho J. The prevalence of molar-incisor hypomineralization: a systematic review and meta-analysis. Sci Rep. 2021;11:22405. doi:10.1038/s41598-021-01541-7  ← artikel utama</a:t>
            </a:r>
          </a:p>
          <a:p>
            <a:pPr algn="l">
              <a:lnSpc>
                <a:spcPct val="100000"/>
              </a:lnSpc>
              <a:spcBef>
                <a:spcPts val="0"/>
              </a:spcBef>
              <a:spcAft>
                <a:spcPts val="0"/>
              </a:spcAft>
            </a:pPr>
            <a:r>
              <a:rPr sz="1150" b="0" i="0" lang="id-ID">
                <a:solidFill>
                  <a:srgbClr val="334155"/>
                </a:solidFill>
                <a:latin typeface="Calibri"/>
              </a:rPr>
              <a:t>2.  Weerheijm KL, dkk. Judgement criteria for molar incisor hypomineralisation (MIH) in epidemiologic studies (European meeting on MIH, Athens 2003). Eur J Paediatr Dent. 2003;4:110–113.</a:t>
            </a:r>
          </a:p>
          <a:p>
            <a:pPr algn="l">
              <a:lnSpc>
                <a:spcPct val="100000"/>
              </a:lnSpc>
              <a:spcBef>
                <a:spcPts val="0"/>
              </a:spcBef>
              <a:spcAft>
                <a:spcPts val="0"/>
              </a:spcAft>
            </a:pPr>
            <a:r>
              <a:rPr sz="1150" b="0" i="0" lang="id-ID">
                <a:solidFill>
                  <a:srgbClr val="334155"/>
                </a:solidFill>
                <a:latin typeface="Calibri"/>
              </a:rPr>
              <a:t>3.  Schwendicke F, dkk. Global burden of molar incisor hypomineralization. J Dent. 2018;68:10–18.</a:t>
            </a:r>
          </a:p>
          <a:p>
            <a:pPr algn="l">
              <a:lnSpc>
                <a:spcPct val="100000"/>
              </a:lnSpc>
              <a:spcBef>
                <a:spcPts val="0"/>
              </a:spcBef>
              <a:spcAft>
                <a:spcPts val="0"/>
              </a:spcAft>
            </a:pPr>
            <a:r>
              <a:rPr sz="1150" b="0" i="0" lang="id-ID">
                <a:solidFill>
                  <a:srgbClr val="334155"/>
                </a:solidFill>
                <a:latin typeface="Calibri"/>
              </a:rPr>
              <a:t>4.  Zhao D, dkk. The prevalence of molar incisor hypomineralization: evidence from 70 studies. Int J Paediatr Dent. 2018;28:170–179.</a:t>
            </a:r>
          </a:p>
        </p:txBody>
      </p:sp>
      <p:sp>
        <p:nvSpPr>
          <p:cNvPr id="13" name="TextBox 12"/>
          <p:cNvSpPr txBox="1"/>
          <p:nvPr/>
        </p:nvSpPr>
        <p:spPr>
          <a:xfrm>
            <a:off x="548640" y="3017520"/>
            <a:ext cx="11091672" cy="274320"/>
          </a:xfrm>
          <a:prstGeom prst="rect">
            <a:avLst/>
          </a:prstGeom>
          <a:noFill/>
        </p:spPr>
        <p:txBody>
          <a:bodyPr wrap="square" lIns="0" rIns="0" tIns="18288" bIns="18288" anchor="t">
            <a:noAutofit/>
          </a:bodyPr>
          <a:lstStyle/>
          <a:p>
            <a:pPr algn="l">
              <a:spcBef>
                <a:spcPts val="0"/>
              </a:spcBef>
              <a:spcAft>
                <a:spcPts val="0"/>
              </a:spcAft>
            </a:pPr>
            <a:r>
              <a:rPr sz="1300" b="1" i="0" lang="id-ID">
                <a:solidFill>
                  <a:srgbClr val="0F172A"/>
                </a:solidFill>
                <a:latin typeface="Calibri"/>
              </a:rPr>
              <a:t>Rujukan</a:t>
            </a:r>
          </a:p>
        </p:txBody>
      </p:sp>
      <p:sp>
        <p:nvSpPr>
          <p:cNvPr id="14" name="TextBox 13"/>
          <p:cNvSpPr txBox="1"/>
          <p:nvPr/>
        </p:nvSpPr>
        <p:spPr>
          <a:xfrm>
            <a:off x="548640" y="530352"/>
            <a:ext cx="11091672" cy="786384"/>
          </a:xfrm>
          <a:prstGeom prst="rect">
            <a:avLst/>
          </a:prstGeom>
          <a:noFill/>
        </p:spPr>
        <p:txBody>
          <a:bodyPr wrap="square" lIns="0" rIns="0" tIns="18288" bIns="18288" anchor="t">
            <a:noAutofit/>
          </a:bodyPr>
          <a:lstStyle/>
          <a:p>
            <a:pPr algn="l">
              <a:lnSpc>
                <a:spcPct val="95000"/>
              </a:lnSpc>
              <a:spcBef>
                <a:spcPts val="0"/>
              </a:spcBef>
              <a:spcAft>
                <a:spcPts val="0"/>
              </a:spcAft>
            </a:pPr>
            <a:r>
              <a:rPr sz="2500" b="1" i="0" lang="id-ID">
                <a:solidFill>
                  <a:srgbClr val="0F172A"/>
                </a:solidFill>
                <a:latin typeface="Calibri"/>
              </a:rPr>
              <a:t>MIH menyerang sekitar 1 dari 7–8 anak — siapkan skrining dan tatalaksananya</a:t>
            </a:r>
          </a:p>
        </p:txBody>
      </p:sp>
      <p:sp>
        <p:nvSpPr>
          <p:cNvPr id="15" name="TextBox 14"/>
          <p:cNvSpPr txBox="1"/>
          <p:nvPr/>
        </p:nvSpPr>
        <p:spPr>
          <a:xfrm>
            <a:off x="548640" y="6291072"/>
            <a:ext cx="9692640" cy="274320"/>
          </a:xfrm>
          <a:prstGeom prst="rect">
            <a:avLst/>
          </a:prstGeom>
          <a:noFill/>
        </p:spPr>
        <p:txBody>
          <a:bodyPr wrap="square" lIns="0" rIns="0" tIns="18288" bIns="18288" anchor="t">
            <a:noAutofit/>
          </a:bodyPr>
          <a:lstStyle/>
          <a:p>
            <a:pPr algn="l">
              <a:spcBef>
                <a:spcPts val="0"/>
              </a:spcBef>
              <a:spcAft>
                <a:spcPts val="0"/>
              </a:spcAft>
            </a:pPr>
            <a:r>
              <a:rPr sz="900" b="0" i="0" lang="id-ID">
                <a:solidFill>
                  <a:srgbClr val="64748B"/>
                </a:solidFill>
                <a:latin typeface="Calibri"/>
              </a:rPr>
              <a:t>Sumber utama: Lopes LB, Machado V, Mascarenhas P, Mendes JJ, Botelho J. Sci Rep 2021;11:22405 (CC BY 4.0)</a:t>
            </a:r>
          </a:p>
        </p:txBody>
      </p:sp>
      <p:sp>
        <p:nvSpPr>
          <p:cNvPr id="16" name="TextBox 15"/>
          <p:cNvSpPr txBox="1"/>
          <p:nvPr/>
        </p:nvSpPr>
        <p:spPr>
          <a:xfrm>
            <a:off x="10698480" y="6291072"/>
            <a:ext cx="941832" cy="274320"/>
          </a:xfrm>
          <a:prstGeom prst="rect">
            <a:avLst/>
          </a:prstGeom>
          <a:noFill/>
        </p:spPr>
        <p:txBody>
          <a:bodyPr wrap="square" lIns="0" rIns="0" tIns="18288" bIns="18288" anchor="t">
            <a:noAutofit/>
          </a:bodyPr>
          <a:lstStyle/>
          <a:p>
            <a:pPr algn="r">
              <a:spcBef>
                <a:spcPts val="0"/>
              </a:spcBef>
              <a:spcAft>
                <a:spcPts val="0"/>
              </a:spcAft>
            </a:pPr>
            <a:r>
              <a:rPr sz="900" b="0" i="0" lang="id-ID">
                <a:solidFill>
                  <a:srgbClr val="64748B"/>
                </a:solidFill>
                <a:latin typeface="Calibri"/>
              </a:rPr>
              <a:t>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Presentasi Jurnal — Prevalensi Molar-Incisor Hypomineralization (Lopes dkk. 2021)</dc:title>
  <dc:subject>Presentasi Jurnal — Prevalensi MIH (Lopes dkk., Sci Rep 2021)</dc:subject>
  <dc:creator>Arena Agent</dc:creator>
  <cp:keywords/>
  <dc:description>Dibangun dari spec.json oleh build_deck.py (skill pptx-deck-creation).</dc:description>
  <cp:lastModifiedBy>Steve Canny</cp:lastModifiedBy>
  <cp:revision>1</cp:revision>
  <dcterms:created xsi:type="dcterms:W3CDTF">2013-01-27T09:14:16Z</dcterms:created>
  <dcterms:modified xsi:type="dcterms:W3CDTF">2013-01-27T09:15:58Z</dcterms:modified>
  <cp:category/>
  <dc:language>id-ID</dc:language>
</cp:coreProperties>
</file>