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nilai</c:v>
                </c:pt>
              </c:strCache>
            </c:strRef>
          </c:tx>
          <c:dPt>
            <c:idx val="0"/>
            <c:spPr>
              <a:solidFill>
                <a:srgbClr val="0E7490"/>
              </a:solidFill>
            </c:spPr>
          </c:dPt>
          <c:dPt>
            <c:idx val="1"/>
            <c:spPr>
              <a:solidFill>
                <a:srgbClr val="0E7490"/>
              </a:solidFill>
            </c:spPr>
          </c:dPt>
          <c:dPt>
            <c:idx val="2"/>
            <c:spPr>
              <a:solidFill>
                <a:srgbClr val="0E7490"/>
              </a:solidFill>
            </c:spPr>
          </c:dPt>
          <c:dPt>
            <c:idx val="3"/>
            <c:spPr>
              <a:solidFill>
                <a:srgbClr val="B45309"/>
              </a:solidFill>
            </c:spPr>
          </c:dPt>
          <c:cat>
            <c:strRef>
              <c:f>Sheet1!$A$2:$A$5</c:f>
              <c:strCache>
                <c:ptCount val="4"/>
                <c:pt idx="0">
                  <c:v>9/9</c:v>
                </c:pt>
                <c:pt idx="1">
                  <c:v>8/9</c:v>
                </c:pt>
                <c:pt idx="2">
                  <c:v>7/9</c:v>
                </c:pt>
                <c:pt idx="3">
                  <c:v>6/9</c:v>
                </c:pt>
              </c:strCache>
            </c:strRef>
          </c:cat>
          <c:val>
            <c:numRef>
              <c:f>Sheet1!$B$2:$B$5</c:f>
              <c:numCache>
                <c:formatCode>General</c:formatCode>
                <c:ptCount val="4"/>
                <c:pt idx="0">
                  <c:v>48</c:v>
                </c:pt>
                <c:pt idx="1">
                  <c:v>53</c:v>
                </c:pt>
                <c:pt idx="2">
                  <c:v>6</c:v>
                </c:pt>
                <c:pt idx="3">
                  <c:v>1</c:v>
                </c:pt>
              </c:numCache>
            </c:numRef>
          </c:val>
        </c:ser>
        <c:dLbls>
          <c:numFmt formatCode="0" sourceLinked="0"/>
          <c:txPr>
            <a:bodyPr/>
            <a:lstStyle/>
            <a:p>
              <a:pPr>
                <a:defRPr sz="1050" b="1">
                  <a:solidFill>
                    <a:srgbClr val="0F172A"/>
                  </a:solidFill>
                  <a:latin typeface="Calibri"/>
                </a:defRPr>
              </a:pPr>
            </a:p>
          </c:txPr>
          <c:dLblPos val="outEnd"/>
          <c:showLegendKey val="0"/>
          <c:showVal val="1"/>
          <c:showCatName val="0"/>
          <c:showSerName val="0"/>
          <c:showPercent val="0"/>
          <c:showBubbleSize val="0"/>
          <c:showLeaderLines val="1"/>
        </c:dLbls>
        <c:gapWidth val="58"/>
        <c:axId val="-2068027336"/>
        <c:axId val="-2113994440"/>
      </c:barChart>
      <c:catAx>
        <c:axId val="-2068027336"/>
        <c:scaling>
          <c:orientation val="minMax"/>
        </c:scaling>
        <c:delete val="0"/>
        <c:axPos val="b"/>
        <c:majorTickMark val="out"/>
        <c:minorTickMark val="none"/>
        <c:tickLblPos val="nextTo"/>
        <c:txPr>
          <a:bodyPr/>
          <a:lstStyle/>
          <a:p>
            <a:pPr>
              <a:defRPr sz="1050">
                <a:solidFill>
                  <a:srgbClr val="3C4A55"/>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050">
          <a:solidFill>
            <a:srgbClr val="3C4A5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nilai</c:v>
                </c:pt>
              </c:strCache>
            </c:strRef>
          </c:tx>
          <c:dPt>
            <c:idx val="0"/>
            <c:spPr>
              <a:solidFill>
                <a:srgbClr val="0E7490"/>
              </a:solidFill>
            </c:spPr>
          </c:dPt>
          <c:dPt>
            <c:idx val="1"/>
            <c:spPr>
              <a:solidFill>
                <a:srgbClr val="E4EBEE"/>
              </a:solidFill>
            </c:spPr>
          </c:dPt>
          <c:cat>
            <c:strRef>
              <c:f>Sheet1!$A$2:$A$3</c:f>
              <c:strCache>
                <c:ptCount val="2"/>
                <c:pt idx="0">
                  <c:v>MIH</c:v>
                </c:pt>
                <c:pt idx="1">
                  <c:v>Tanpa MIH</c:v>
                </c:pt>
              </c:strCache>
            </c:strRef>
          </c:cat>
          <c:val>
            <c:numRef>
              <c:f>Sheet1!$B$2:$B$3</c:f>
              <c:numCache>
                <c:formatCode>General</c:formatCode>
                <c:ptCount val="2"/>
                <c:pt idx="0">
                  <c:v>13.5</c:v>
                </c:pt>
                <c:pt idx="1">
                  <c:v>86.5</c:v>
                </c:pt>
              </c:numCache>
            </c:numRef>
          </c:val>
        </c:ser>
        <c:firstSliceAng val="0"/>
        <c:holeSize val="50"/>
      </c:doughnutChart>
    </c:plotArea>
    <c:plotVisOnly val="1"/>
    <c:dispBlanksAs val="gap"/>
    <c:showDLblsOverMax val="0"/>
  </c:chart>
  <c:txPr>
    <a:bodyPr/>
    <a:lstStyle/>
    <a:p>
      <a:pPr>
        <a:defRPr sz="1000">
          <a:solidFill>
            <a:srgbClr val="3C4A55"/>
          </a:solidFill>
          <a:latin typeface="Calibri"/>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nilai</c:v>
                </c:pt>
              </c:strCache>
            </c:strRef>
          </c:tx>
          <c:dPt>
            <c:idx val="0"/>
            <c:spPr>
              <a:solidFill>
                <a:srgbClr val="0E7490"/>
              </a:solidFill>
            </c:spPr>
          </c:dPt>
          <c:dPt>
            <c:idx val="1"/>
            <c:spPr>
              <a:solidFill>
                <a:srgbClr val="0E7490"/>
              </a:solidFill>
            </c:spPr>
          </c:dPt>
          <c:dPt>
            <c:idx val="2"/>
            <c:spPr>
              <a:solidFill>
                <a:srgbClr val="0E7490"/>
              </a:solidFill>
            </c:spPr>
          </c:dPt>
          <c:dPt>
            <c:idx val="3"/>
            <c:spPr>
              <a:solidFill>
                <a:srgbClr val="0E7490"/>
              </a:solidFill>
            </c:spPr>
          </c:dPt>
          <c:cat>
            <c:strRef>
              <c:f>Sheet1!$A$2:$A$5</c:f>
              <c:strCache>
                <c:ptCount val="4"/>
                <c:pt idx="0">
                  <c:v>4 gigi · 27,4%</c:v>
                </c:pt>
                <c:pt idx="1">
                  <c:v>3 gigi · 18,1%</c:v>
                </c:pt>
                <c:pt idx="2">
                  <c:v>2 gigi · 26,7%</c:v>
                </c:pt>
                <c:pt idx="3">
                  <c:v>1 gigi · 24,3%</c:v>
                </c:pt>
              </c:strCache>
            </c:strRef>
          </c:cat>
          <c:val>
            <c:numRef>
              <c:f>Sheet1!$B$2:$B$5</c:f>
              <c:numCache>
                <c:formatCode>General</c:formatCode>
                <c:ptCount val="4"/>
                <c:pt idx="0">
                  <c:v>27.4</c:v>
                </c:pt>
                <c:pt idx="1">
                  <c:v>18.1</c:v>
                </c:pt>
                <c:pt idx="2">
                  <c:v>26.7</c:v>
                </c:pt>
                <c:pt idx="3">
                  <c:v>24.3</c:v>
                </c:pt>
              </c:numCache>
            </c:numRef>
          </c:val>
        </c:ser>
        <c:gapWidth val="48"/>
        <c:axId val="-2068027336"/>
        <c:axId val="-2113994440"/>
      </c:barChart>
      <c:catAx>
        <c:axId val="-2068027336"/>
        <c:scaling>
          <c:orientation val="minMax"/>
        </c:scaling>
        <c:delete val="0"/>
        <c:axPos val="l"/>
        <c:majorTickMark val="out"/>
        <c:minorTickMark val="none"/>
        <c:tickLblPos val="nextTo"/>
        <c:txPr>
          <a:bodyPr/>
          <a:lstStyle/>
          <a:p>
            <a:pPr>
              <a:defRPr sz="1050">
                <a:solidFill>
                  <a:srgbClr val="3C4A55"/>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050">
          <a:solidFill>
            <a:srgbClr val="3C4A5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Buka dengan satu kalimat saja: ini meta-analisis tentang seberapa sering MIH muncul pada anak, terbit di Scientific Reports 2021 dan aksesnya terbuka. Sebutkan bahwa angka besarnya 13,5% akan dibahas di slide 9. Karena ini diskusi jurnal, tawarkan sejak awal bahwa peserta boleh menyela untuk bertanya.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Enam kartu ini bisa dibaca dalam satu menit. Kalau waktu terbatas, cukup tiga angka di baris atas: 116 studi, 113.089 peserta, dan 13,5%. Sebutkan juga sejak awal bahwa kepastian buktinya SORT A, karena itu akan jadi bahan perdebatan di bagian penilaian kritis nanti.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Mulai dari pengalaman klinis peserta: pernah melihat molar muda dengan bercak putih yang emailnya mudah terkelupas? Dari situ masuk ke definisi MIH. Tiga tahap di kanan bawah menjelaskan kenapa ini bukan persoalan estetika saja: emailnya memang tidak matang, jadi rapuh sejak awal.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Slide ini menjelaskan kenapa artikel ini diperlukan. Tunjuk garis rentangnya: terendah 2,8%, tertinggi 40,2%. Lalu tanyakan: kalau dua studi memberi angka sejauh itu, angka mana yang dipakai untuk menyusun program? Di situ celahnya, kriteria diagnostik belum seragam.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Bacakan pertanyaan PECO satu kali saja, peserta sudah paham istilahnya. Yang layak ditekankan adalah empat luaran di bawah: artikel ini tidak berhenti pada prevalensi, tetapi juga mengukur keparahan, jumlah gigi yang terkena, dan HSPM. Luaran sekunder inilah yang biasanya tidak disediakan tinjauan lain.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Tiga hal yang perlu ditunjuk: protokol didaftarkan sebelum pencarian dimulai, tujuh basis data, dan pencarian berhenti pada Juli 2021. Catatan kuning adalah temuan saya sendiri saat membaca: PubMed dan MEDLINE disebut terpisah, dan EMBASE hanya muncul di strategi. Untuk keperluan replikasi, cek lampiran artikelnya.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Yang membuat hasil ini layak dipercaya ada dua: penyaringan oleh dua peneliti independen dengan kesepakatan hampir sempurna, kappa 0,885, dan model random-effects yang memang diperlukan karena populasi antar studi beragam. Kalau ada pertanyaan soal mutu studi, jawabannya ada di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Mulai dari tiga angka di atas: 116 studi, 133.734 peserta, dan 113.089 peserta yang akhirnya dianalisis. Grafik batang menunjukkan mutunya: 48 studi dengan skor maksimum dan hanya satu studi berkualitas sedang. Sebutkan angka 48,7% di kartu kanan, karena angka itu akan muncul lagi di slide keterbatasan.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Ini slide intinya. Tiga angka: 13,5% dengan rentang kepercayaan 12,0 sampai 15,1, dari 113.089 anak. Kalau ditanya soal I² 98%, jawab begini: rata-rata ini menggambarkan beban populasi, bukan angka presisi untuk satu kota. Uji Egger dan leave-one-out ada untuk menunjukkan estimasi tidak bergantung pada satu studi tertentu.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Dua pesan klinis. Pertama, 36,3% kasus tergolong sedang sampai berat, jadi lebih dari sepertiga anak membutuhkan perawatan nyata. Kedua, empat pola molar hampir merata, 18% sampai 27%, jadi tidak ada pola tunggal yang bisa diprediksi. Kalau ada yang bertanya soal insisivus, jawab terus terang: abstrak menulis 36,6% dan Tabel 2 menulis 38,7%; saya memakai angka tabel.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Dua temuan yang sifatnya berbeda. Selisih antar wilayah, Amerika 15,3% dan Asia 10,7%, tidak bermakna secara statistik, dan urutan wilayahnya bergeser dibanding tinjauan 2018. Sebaliknya, pemakaian kriteria non-EAPD menghasilkan estimasi yang berbeda bermakna dengan p 0,0061. Kalau presentasi ini memicu satu debat, biarkan debatnya soal standardisasi kriteria diagnostik.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Bagian ini jawaban penulis atas pertanyaan kenapa angkanya berbeda-beda. Pesan utamanya: variasi wilayah lebih menjelaskan daripada faktor metodologis yang mereka uji. Tiga kartu di bawah adalah alasannya, dan yang terakhir memuat permintaan penulis untuk studi berikutnya.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Bagian ini biasanya paling hidup di diskusi jurnal. Sampaikan kekuatannya dengan adil, lalu kelemahannya tanpa melemahkan artikelnya: heterogenitas tinggi, hampir separuh studi gagal pada representativitas sampel, dan tidak ada penilaian GRADE. Saya juga mencatat dua ketidakkonsistenan kecil: angka insisivus berbeda antara abstrak dan tabel, dan penyebutan basis data tidak seragam.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Turunkan ke praktik. Dua langkah pertama paling mudah dilakukan besok pagi: periksa molar pertama segera setelah erupsi, dan pakai kriteria EAPD supaya catatan kita sebanding dengan literatur. Dua langkah berikutnya soal tatalaksana minimal invasif. Kalau audiensnya dari puskesmas atau program sekolah, bagian bawah slide ini yang paling relevan.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Tutup dengan tiga angka dan satu kalimat: MIH sering terlewat, dan pencatatan yang rapi membuat data klinik kita sebanding dengan literatur internasional. Siapkan dua pertanyaan untuk membuka diskusi. Pertama, apakah angka di Indonesia mungkin berbeda dari 13,5%? Kedua, apakah kriteria EAPD bisa diterapkan di tempat kerja peserta sehari-hari?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6355080" y="3172968"/>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459321" y="2602382"/>
            <a:ext cx="274320" cy="274320"/>
          </a:xfrm>
          <a:prstGeom prst="roundRect">
            <a:avLst>
              <a:gd name="adj" fmla="val 33333"/>
            </a:avLst>
          </a:prstGeom>
          <a:solidFill>
            <a:srgbClr val="7FDC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765645" y="2070201"/>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7252106" y="1613001"/>
            <a:ext cx="274320" cy="274320"/>
          </a:xfrm>
          <a:prstGeom prst="roundRect">
            <a:avLst>
              <a:gd name="adj" fmla="val 33333"/>
            </a:avLst>
          </a:prstGeom>
          <a:solidFill>
            <a:srgbClr val="7FDC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886700" y="1262786"/>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625535" y="1042415"/>
            <a:ext cx="274320" cy="274320"/>
          </a:xfrm>
          <a:prstGeom prst="roundRect">
            <a:avLst>
              <a:gd name="adj" fmla="val 33333"/>
            </a:avLst>
          </a:prstGeom>
          <a:solidFill>
            <a:srgbClr val="7FDC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9418320" y="967435"/>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0211104" y="1042415"/>
            <a:ext cx="274320" cy="274320"/>
          </a:xfrm>
          <a:prstGeom prst="roundRect">
            <a:avLst>
              <a:gd name="adj" fmla="val 33333"/>
            </a:avLst>
          </a:prstGeom>
          <a:solidFill>
            <a:srgbClr val="7FDC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0949940" y="1262786"/>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1584533" y="1613001"/>
            <a:ext cx="274320" cy="274320"/>
          </a:xfrm>
          <a:prstGeom prst="roundRect">
            <a:avLst>
              <a:gd name="adj" fmla="val 33333"/>
            </a:avLst>
          </a:prstGeom>
          <a:solidFill>
            <a:srgbClr val="7FDC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2070994" y="2070201"/>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377318" y="2602382"/>
            <a:ext cx="274320" cy="274320"/>
          </a:xfrm>
          <a:prstGeom prst="roundRect">
            <a:avLst>
              <a:gd name="adj" fmla="val 33333"/>
            </a:avLst>
          </a:prstGeom>
          <a:solidFill>
            <a:srgbClr val="7FDC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2481560" y="3172968"/>
            <a:ext cx="274320" cy="274320"/>
          </a:xfrm>
          <a:prstGeom prst="roundRect">
            <a:avLst>
              <a:gd name="adj" fmla="val 33333"/>
            </a:avLst>
          </a:prstGeom>
          <a:solidFill>
            <a:srgbClr val="7FDCE6">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92240" y="1104595"/>
            <a:ext cx="6126480" cy="4411065"/>
          </a:xfrm>
          <a:prstGeom prst="ellipse">
            <a:avLst/>
          </a:prstGeom>
          <a:solidFill>
            <a:srgbClr val="0B2E36">
              <a:alpha val="26000"/>
            </a:srgbClr>
          </a:solidFill>
          <a:ln w="12700">
            <a:solidFill>
              <a:srgbClr val="7FDCE6">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49947" y="1721815"/>
            <a:ext cx="4411065" cy="3175711"/>
          </a:xfrm>
          <a:prstGeom prst="ellipse">
            <a:avLst/>
          </a:prstGeom>
          <a:solidFill>
            <a:srgbClr val="0B2E36">
              <a:alpha val="16000"/>
            </a:srgbClr>
          </a:solidFill>
          <a:ln w="12700">
            <a:solidFill>
              <a:srgbClr val="7FDCE6">
                <a:alpha val="1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146389" y="2295144"/>
            <a:ext cx="2818180" cy="2029053"/>
          </a:xfrm>
          <a:prstGeom prst="ellipse">
            <a:avLst/>
          </a:prstGeom>
          <a:solidFill>
            <a:srgbClr val="0B2E36">
              <a:alpha val="26000"/>
            </a:srgbClr>
          </a:solidFill>
          <a:ln w="12700">
            <a:solidFill>
              <a:srgbClr val="7FDCE6">
                <a:alpha val="2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22960" y="804672"/>
            <a:ext cx="50292" cy="310896"/>
          </a:xfrm>
          <a:prstGeom prst="roundRect">
            <a:avLst>
              <a:gd name="adj" fmla="val 36363"/>
            </a:avLst>
          </a:prstGeom>
          <a:solidFill>
            <a:srgbClr val="7F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87552" y="786384"/>
            <a:ext cx="6400800" cy="292608"/>
          </a:xfrm>
          <a:prstGeom prst="rect">
            <a:avLst/>
          </a:prstGeom>
          <a:noFill/>
        </p:spPr>
        <p:txBody>
          <a:bodyPr wrap="square" lIns="18288" rIns="18288" tIns="0" bIns="0" anchor="t">
            <a:noAutofit/>
          </a:bodyPr>
          <a:lstStyle/>
          <a:p>
            <a:pPr algn="l">
              <a:spcBef>
                <a:spcPts val="0"/>
              </a:spcBef>
              <a:spcAft>
                <a:spcPts val="0"/>
              </a:spcAft>
            </a:pPr>
            <a:r>
              <a:rPr sz="1050" b="1" i="0" spc="150" lang="id-ID">
                <a:solidFill>
                  <a:srgbClr val="7FDCE6"/>
                </a:solidFill>
                <a:latin typeface="Calibri"/>
              </a:rPr>
              <a:t>DISKUSI JURNAL · KEDOKTERAN GIGI ANAK</a:t>
            </a:r>
          </a:p>
        </p:txBody>
      </p:sp>
      <p:sp>
        <p:nvSpPr>
          <p:cNvPr id="21" name="TextBox 20"/>
          <p:cNvSpPr txBox="1"/>
          <p:nvPr/>
        </p:nvSpPr>
        <p:spPr>
          <a:xfrm>
            <a:off x="822960" y="1225296"/>
            <a:ext cx="6675120" cy="1481328"/>
          </a:xfrm>
          <a:prstGeom prst="rect">
            <a:avLst/>
          </a:prstGeom>
          <a:noFill/>
        </p:spPr>
        <p:txBody>
          <a:bodyPr wrap="square" lIns="18288" rIns="18288" tIns="0" bIns="0" anchor="t">
            <a:noAutofit/>
          </a:bodyPr>
          <a:lstStyle/>
          <a:p>
            <a:pPr algn="l">
              <a:lnSpc>
                <a:spcPct val="95000"/>
              </a:lnSpc>
              <a:spcBef>
                <a:spcPts val="0"/>
              </a:spcBef>
              <a:spcAft>
                <a:spcPts val="0"/>
              </a:spcAft>
            </a:pPr>
            <a:r>
              <a:rPr sz="3600" b="1" i="0" lang="id-ID">
                <a:solidFill>
                  <a:srgbClr val="FFFFFF"/>
                </a:solidFill>
                <a:latin typeface="Calibri"/>
              </a:rPr>
              <a:t>Prevalensi Molar-Incisor Hypomineralization pada Anak dan Remaja</a:t>
            </a:r>
          </a:p>
        </p:txBody>
      </p:sp>
      <p:sp>
        <p:nvSpPr>
          <p:cNvPr id="22" name="TextBox 21"/>
          <p:cNvSpPr txBox="1"/>
          <p:nvPr/>
        </p:nvSpPr>
        <p:spPr>
          <a:xfrm>
            <a:off x="822960" y="2761488"/>
            <a:ext cx="6675120" cy="329184"/>
          </a:xfrm>
          <a:prstGeom prst="rect">
            <a:avLst/>
          </a:prstGeom>
          <a:noFill/>
        </p:spPr>
        <p:txBody>
          <a:bodyPr wrap="square" lIns="18288" rIns="18288" tIns="0" bIns="0" anchor="t">
            <a:noAutofit/>
          </a:bodyPr>
          <a:lstStyle/>
          <a:p>
            <a:pPr algn="l">
              <a:spcBef>
                <a:spcPts val="0"/>
              </a:spcBef>
              <a:spcAft>
                <a:spcPts val="0"/>
              </a:spcAft>
            </a:pPr>
            <a:r>
              <a:rPr sz="1400" b="0" i="0" lang="id-ID">
                <a:solidFill>
                  <a:srgbClr val="8FC6CE"/>
                </a:solidFill>
                <a:latin typeface="Calibri"/>
              </a:rPr>
              <a:t>Tinjauan sistematis dan meta-analisis 116 studi</a:t>
            </a:r>
          </a:p>
        </p:txBody>
      </p:sp>
      <p:sp>
        <p:nvSpPr>
          <p:cNvPr id="23" name="TextBox 22"/>
          <p:cNvSpPr txBox="1"/>
          <p:nvPr/>
        </p:nvSpPr>
        <p:spPr>
          <a:xfrm>
            <a:off x="822960" y="3145536"/>
            <a:ext cx="6675120" cy="512064"/>
          </a:xfrm>
          <a:prstGeom prst="rect">
            <a:avLst/>
          </a:prstGeom>
          <a:noFill/>
        </p:spPr>
        <p:txBody>
          <a:bodyPr wrap="square" lIns="18288" rIns="18288" tIns="0" bIns="0" anchor="t">
            <a:noAutofit/>
          </a:bodyPr>
          <a:lstStyle/>
          <a:p>
            <a:pPr algn="l">
              <a:lnSpc>
                <a:spcPct val="105000"/>
              </a:lnSpc>
              <a:spcBef>
                <a:spcPts val="0"/>
              </a:spcBef>
              <a:spcAft>
                <a:spcPts val="0"/>
              </a:spcAft>
            </a:pPr>
            <a:r>
              <a:rPr sz="1100" b="0" i="1" lang="id-ID">
                <a:solidFill>
                  <a:srgbClr val="8AA6AC"/>
                </a:solidFill>
                <a:latin typeface="Calibri"/>
              </a:rPr>
              <a:t>The prevalence of molar-incisor hypomineralization: a systematic review and meta-analysis</a:t>
            </a:r>
          </a:p>
        </p:txBody>
      </p:sp>
      <p:sp>
        <p:nvSpPr>
          <p:cNvPr id="24" name="TextBox 23"/>
          <p:cNvSpPr txBox="1"/>
          <p:nvPr/>
        </p:nvSpPr>
        <p:spPr>
          <a:xfrm>
            <a:off x="822960" y="3858768"/>
            <a:ext cx="6675120" cy="1234440"/>
          </a:xfrm>
          <a:prstGeom prst="rect">
            <a:avLst/>
          </a:prstGeom>
          <a:noFill/>
        </p:spPr>
        <p:txBody>
          <a:bodyPr wrap="square" lIns="18288" rIns="18288" tIns="0" bIns="0" anchor="t">
            <a:noAutofit/>
          </a:bodyPr>
          <a:lstStyle/>
          <a:p>
            <a:pPr algn="l">
              <a:lnSpc>
                <a:spcPct val="122000"/>
              </a:lnSpc>
              <a:spcBef>
                <a:spcPts val="0"/>
              </a:spcBef>
              <a:spcAft>
                <a:spcPts val="200"/>
              </a:spcAft>
            </a:pPr>
            <a:r>
              <a:rPr sz="1050" b="0" i="0" lang="id-ID">
                <a:solidFill>
                  <a:srgbClr val="BCD0D5"/>
                </a:solidFill>
                <a:latin typeface="Calibri"/>
              </a:rPr>
              <a:t>Lopes LB, Machado V, Mascarenhas P, Mendes JJ, Botelho J · Egas Moniz, Portugal</a:t>
            </a:r>
          </a:p>
          <a:p>
            <a:pPr algn="l">
              <a:lnSpc>
                <a:spcPct val="122000"/>
              </a:lnSpc>
              <a:spcBef>
                <a:spcPts val="0"/>
              </a:spcBef>
              <a:spcAft>
                <a:spcPts val="200"/>
              </a:spcAft>
            </a:pPr>
            <a:r>
              <a:rPr sz="1050" b="0" i="0" lang="id-ID">
                <a:solidFill>
                  <a:srgbClr val="BCD0D5"/>
                </a:solidFill>
                <a:latin typeface="Calibri"/>
              </a:rPr>
              <a:t>Scientific Reports 2021;11:22405 · akses terbuka CC BY 4.0</a:t>
            </a:r>
          </a:p>
          <a:p>
            <a:pPr algn="l">
              <a:lnSpc>
                <a:spcPct val="122000"/>
              </a:lnSpc>
              <a:spcBef>
                <a:spcPts val="0"/>
              </a:spcBef>
              <a:spcAft>
                <a:spcPts val="200"/>
              </a:spcAft>
            </a:pPr>
            <a:r>
              <a:rPr sz="1050" b="0" i="0" lang="id-ID">
                <a:solidFill>
                  <a:srgbClr val="BCD0D5"/>
                </a:solidFill>
                <a:latin typeface="Calibri"/>
              </a:rPr>
              <a:t>DOI 10.1038/s41598-021-01541-7 · PMID 34789780 · PMC8599453</a:t>
            </a:r>
          </a:p>
          <a:p>
            <a:pPr algn="l">
              <a:lnSpc>
                <a:spcPct val="122000"/>
              </a:lnSpc>
              <a:spcBef>
                <a:spcPts val="0"/>
              </a:spcBef>
              <a:spcAft>
                <a:spcPts val="200"/>
              </a:spcAft>
            </a:pPr>
            <a:r>
              <a:rPr sz="1050" b="0" i="0" lang="id-ID">
                <a:solidFill>
                  <a:srgbClr val="BCD0D5"/>
                </a:solidFill>
                <a:latin typeface="Calibri"/>
              </a:rPr>
              <a:t>PROSPERO CRD42021229435 · systematic review dan meta-analisis</a:t>
            </a:r>
          </a:p>
        </p:txBody>
      </p:sp>
      <p:sp>
        <p:nvSpPr>
          <p:cNvPr id="25" name="TextBox 24"/>
          <p:cNvSpPr txBox="1"/>
          <p:nvPr/>
        </p:nvSpPr>
        <p:spPr>
          <a:xfrm>
            <a:off x="7589520" y="2103120"/>
            <a:ext cx="4023360" cy="1325880"/>
          </a:xfrm>
          <a:prstGeom prst="rect">
            <a:avLst/>
          </a:prstGeom>
          <a:noFill/>
        </p:spPr>
        <p:txBody>
          <a:bodyPr wrap="square" lIns="18288" rIns="18288" tIns="0" bIns="0" anchor="t">
            <a:noAutofit/>
          </a:bodyPr>
          <a:lstStyle/>
          <a:p>
            <a:pPr algn="ctr">
              <a:spcBef>
                <a:spcPts val="0"/>
              </a:spcBef>
              <a:spcAft>
                <a:spcPts val="0"/>
              </a:spcAft>
            </a:pPr>
            <a:r>
              <a:rPr sz="6000" b="1" i="0" lang="id-ID">
                <a:solidFill>
                  <a:srgbClr val="FFFFFF"/>
                </a:solidFill>
                <a:latin typeface="Calibri"/>
              </a:rPr>
              <a:t>13,5%</a:t>
            </a:r>
          </a:p>
        </p:txBody>
      </p:sp>
      <p:sp>
        <p:nvSpPr>
          <p:cNvPr id="26" name="TextBox 25"/>
          <p:cNvSpPr txBox="1"/>
          <p:nvPr/>
        </p:nvSpPr>
        <p:spPr>
          <a:xfrm>
            <a:off x="7589520" y="3474720"/>
            <a:ext cx="4023360" cy="566928"/>
          </a:xfrm>
          <a:prstGeom prst="rect">
            <a:avLst/>
          </a:prstGeom>
          <a:noFill/>
        </p:spPr>
        <p:txBody>
          <a:bodyPr wrap="square" lIns="18288" rIns="18288" tIns="0" bIns="0" anchor="t">
            <a:noAutofit/>
          </a:bodyPr>
          <a:lstStyle/>
          <a:p>
            <a:pPr algn="ctr">
              <a:lnSpc>
                <a:spcPct val="115000"/>
              </a:lnSpc>
              <a:spcBef>
                <a:spcPts val="0"/>
              </a:spcBef>
              <a:spcAft>
                <a:spcPts val="0"/>
              </a:spcAft>
            </a:pPr>
            <a:r>
              <a:rPr sz="1200" b="0" i="0" lang="id-ID">
                <a:solidFill>
                  <a:srgbClr val="BCD0D5"/>
                </a:solidFill>
                <a:latin typeface="Calibri"/>
              </a:rPr>
              <a:t>prevalensi global MIH</a:t>
            </a:r>
          </a:p>
          <a:p>
            <a:pPr algn="ctr">
              <a:lnSpc>
                <a:spcPct val="115000"/>
              </a:lnSpc>
              <a:spcBef>
                <a:spcPts val="0"/>
              </a:spcBef>
              <a:spcAft>
                <a:spcPts val="0"/>
              </a:spcAft>
            </a:pPr>
            <a:r>
              <a:rPr sz="1200" b="0" i="0" lang="id-ID">
                <a:solidFill>
                  <a:srgbClr val="BCD0D5"/>
                </a:solidFill>
                <a:latin typeface="Calibri"/>
              </a:rPr>
              <a:t>95% CI 12,0–15,1</a:t>
            </a:r>
          </a:p>
        </p:txBody>
      </p:sp>
      <p:sp>
        <p:nvSpPr>
          <p:cNvPr id="27" name="Rounded Rectangle 26"/>
          <p:cNvSpPr/>
          <p:nvPr/>
        </p:nvSpPr>
        <p:spPr>
          <a:xfrm>
            <a:off x="8549640" y="4133087"/>
            <a:ext cx="2331720" cy="475488"/>
          </a:xfrm>
          <a:prstGeom prst="roundRect">
            <a:avLst>
              <a:gd name="adj" fmla="val 50000"/>
            </a:avLst>
          </a:prstGeom>
          <a:solidFill>
            <a:srgbClr val="123F4A"/>
          </a:solidFill>
          <a:ln w="9525">
            <a:solidFill>
              <a:srgbClr val="1B536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677656" y="4251960"/>
            <a:ext cx="2075688" cy="219456"/>
          </a:xfrm>
          <a:prstGeom prst="rect">
            <a:avLst/>
          </a:prstGeom>
          <a:noFill/>
        </p:spPr>
        <p:txBody>
          <a:bodyPr wrap="square" lIns="18288" rIns="18288" tIns="0" bIns="0" anchor="t">
            <a:noAutofit/>
          </a:bodyPr>
          <a:lstStyle/>
          <a:p>
            <a:pPr algn="ctr">
              <a:spcBef>
                <a:spcPts val="0"/>
              </a:spcBef>
              <a:spcAft>
                <a:spcPts val="0"/>
              </a:spcAft>
            </a:pPr>
            <a:r>
              <a:rPr sz="1050" b="0" i="0" lang="id-ID">
                <a:solidFill>
                  <a:srgbClr val="8FC6CE"/>
                </a:solidFill>
                <a:latin typeface="Calibri"/>
              </a:rPr>
              <a:t>n = 113.089 anak dan remaja</a:t>
            </a:r>
          </a:p>
        </p:txBody>
      </p:sp>
      <p:sp>
        <p:nvSpPr>
          <p:cNvPr id="29" name="Rounded Rectangle 28"/>
          <p:cNvSpPr/>
          <p:nvPr/>
        </p:nvSpPr>
        <p:spPr>
          <a:xfrm>
            <a:off x="822960" y="5961888"/>
            <a:ext cx="10817352" cy="12801"/>
          </a:xfrm>
          <a:prstGeom prst="roundRect">
            <a:avLst>
              <a:gd name="adj" fmla="val 50000"/>
            </a:avLst>
          </a:prstGeom>
          <a:solidFill>
            <a:srgbClr val="1B53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2960" y="6108192"/>
            <a:ext cx="10607040" cy="310896"/>
          </a:xfrm>
          <a:prstGeom prst="rect">
            <a:avLst/>
          </a:prstGeom>
          <a:noFill/>
        </p:spPr>
        <p:txBody>
          <a:bodyPr wrap="square" lIns="18288" rIns="18288" tIns="0" bIns="0" anchor="t">
            <a:noAutofit/>
          </a:bodyPr>
          <a:lstStyle/>
          <a:p>
            <a:pPr algn="l">
              <a:spcBef>
                <a:spcPts val="0"/>
              </a:spcBef>
              <a:spcAft>
                <a:spcPts val="0"/>
              </a:spcAft>
            </a:pPr>
            <a:r>
              <a:rPr sz="1100" b="0" i="0" lang="id-ID">
                <a:solidFill>
                  <a:srgbClr val="8AA6AC"/>
                </a:solidFill>
                <a:latin typeface="Calibri"/>
              </a:rPr>
              <a:t>Pemateri: ____________________     Tanggal: ____________________     Program Studi Kedokteran Gigi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RINGKASAN</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Inti artikel dalam satu slide</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02</a:t>
            </a:r>
          </a:p>
        </p:txBody>
      </p:sp>
      <p:sp>
        <p:nvSpPr>
          <p:cNvPr id="11" name="Rounded Rectangle 10"/>
          <p:cNvSpPr/>
          <p:nvPr/>
        </p:nvSpPr>
        <p:spPr>
          <a:xfrm>
            <a:off x="548640" y="1572768"/>
            <a:ext cx="3525926" cy="1371600"/>
          </a:xfrm>
          <a:prstGeom prst="roundRect">
            <a:avLst>
              <a:gd name="adj" fmla="val 6000"/>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13,5%</a:t>
            </a:r>
          </a:p>
        </p:txBody>
      </p:sp>
      <p:sp>
        <p:nvSpPr>
          <p:cNvPr id="13" name="TextBox 12"/>
          <p:cNvSpPr txBox="1"/>
          <p:nvPr/>
        </p:nvSpPr>
        <p:spPr>
          <a:xfrm>
            <a:off x="713232"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Prevalensi global MIH</a:t>
            </a:r>
          </a:p>
        </p:txBody>
      </p:sp>
      <p:sp>
        <p:nvSpPr>
          <p:cNvPr id="14" name="TextBox 13"/>
          <p:cNvSpPr txBox="1"/>
          <p:nvPr/>
        </p:nvSpPr>
        <p:spPr>
          <a:xfrm>
            <a:off x="713232" y="2523744"/>
            <a:ext cx="3196742" cy="256032"/>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95% CI 12,0–15,1 · dari 98 studi berkriteria EAPD 2003</a:t>
            </a:r>
          </a:p>
        </p:txBody>
      </p:sp>
      <p:sp>
        <p:nvSpPr>
          <p:cNvPr id="15" name="Rounded Rectangle 14"/>
          <p:cNvSpPr/>
          <p:nvPr/>
        </p:nvSpPr>
        <p:spPr>
          <a:xfrm>
            <a:off x="4330598" y="1572768"/>
            <a:ext cx="3525926" cy="1371600"/>
          </a:xfrm>
          <a:prstGeom prst="roundRect">
            <a:avLst>
              <a:gd name="adj" fmla="val 6000"/>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95190"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116</a:t>
            </a:r>
          </a:p>
        </p:txBody>
      </p:sp>
      <p:sp>
        <p:nvSpPr>
          <p:cNvPr id="17" name="TextBox 16"/>
          <p:cNvSpPr txBox="1"/>
          <p:nvPr/>
        </p:nvSpPr>
        <p:spPr>
          <a:xfrm>
            <a:off x="4495190"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Studi observasional</a:t>
            </a:r>
          </a:p>
        </p:txBody>
      </p:sp>
      <p:sp>
        <p:nvSpPr>
          <p:cNvPr id="18" name="TextBox 17"/>
          <p:cNvSpPr txBox="1"/>
          <p:nvPr/>
        </p:nvSpPr>
        <p:spPr>
          <a:xfrm>
            <a:off x="4495190" y="2523744"/>
            <a:ext cx="3196742" cy="256032"/>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133.734 peserta pada analisis awal, semua klasifikasi</a:t>
            </a:r>
          </a:p>
        </p:txBody>
      </p:sp>
      <p:sp>
        <p:nvSpPr>
          <p:cNvPr id="19" name="Rounded Rectangle 18"/>
          <p:cNvSpPr/>
          <p:nvPr/>
        </p:nvSpPr>
        <p:spPr>
          <a:xfrm>
            <a:off x="8112556" y="1572768"/>
            <a:ext cx="3525926" cy="1371600"/>
          </a:xfrm>
          <a:prstGeom prst="roundRect">
            <a:avLst>
              <a:gd name="adj" fmla="val 6000"/>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77148"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113.089</a:t>
            </a:r>
          </a:p>
        </p:txBody>
      </p:sp>
      <p:sp>
        <p:nvSpPr>
          <p:cNvPr id="21" name="TextBox 20"/>
          <p:cNvSpPr txBox="1"/>
          <p:nvPr/>
        </p:nvSpPr>
        <p:spPr>
          <a:xfrm>
            <a:off x="8277148"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Peserta analisis utama</a:t>
            </a:r>
          </a:p>
        </p:txBody>
      </p:sp>
      <p:sp>
        <p:nvSpPr>
          <p:cNvPr id="22" name="TextBox 21"/>
          <p:cNvSpPr txBox="1"/>
          <p:nvPr/>
        </p:nvSpPr>
        <p:spPr>
          <a:xfrm>
            <a:off x="8277148" y="2523744"/>
            <a:ext cx="3196742" cy="256032"/>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SORT A untuk kepastian bukti; 48 studi berskor NOS 9/9</a:t>
            </a:r>
          </a:p>
        </p:txBody>
      </p:sp>
      <p:sp>
        <p:nvSpPr>
          <p:cNvPr id="23" name="Rounded Rectangle 22"/>
          <p:cNvSpPr/>
          <p:nvPr/>
        </p:nvSpPr>
        <p:spPr>
          <a:xfrm>
            <a:off x="548640" y="3163824"/>
            <a:ext cx="3525926" cy="960120"/>
          </a:xfrm>
          <a:prstGeom prst="roundRect">
            <a:avLst>
              <a:gd name="adj" fmla="val 8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4088" y="3300984"/>
            <a:ext cx="321503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Desain</a:t>
            </a:r>
          </a:p>
        </p:txBody>
      </p:sp>
      <p:sp>
        <p:nvSpPr>
          <p:cNvPr id="25" name="TextBox 24"/>
          <p:cNvSpPr txBox="1"/>
          <p:nvPr/>
        </p:nvSpPr>
        <p:spPr>
          <a:xfrm>
            <a:off x="704088" y="3584448"/>
            <a:ext cx="3215030" cy="402336"/>
          </a:xfrm>
          <a:prstGeom prst="rect">
            <a:avLst/>
          </a:prstGeom>
          <a:noFill/>
        </p:spPr>
        <p:txBody>
          <a:bodyPr wrap="square" lIns="18288" rIns="18288" tIns="0" bIns="0" anchor="t">
            <a:noAutofit/>
          </a:bodyPr>
          <a:lstStyle/>
          <a:p>
            <a:pPr algn="l">
              <a:lnSpc>
                <a:spcPct val="100000"/>
              </a:lnSpc>
              <a:spcBef>
                <a:spcPts val="0"/>
              </a:spcBef>
              <a:spcAft>
                <a:spcPts val="0"/>
              </a:spcAft>
            </a:pPr>
            <a:r>
              <a:rPr sz="1050" b="0" i="0" lang="id-ID">
                <a:solidFill>
                  <a:srgbClr val="3C4A55"/>
                </a:solidFill>
                <a:latin typeface="Calibri"/>
              </a:rPr>
              <a:t>Systematic review dan meta-analisis, laporan mengikuti PRISMA, protokol terdaftar di PROSPERO.</a:t>
            </a:r>
          </a:p>
        </p:txBody>
      </p:sp>
      <p:sp>
        <p:nvSpPr>
          <p:cNvPr id="26" name="Rounded Rectangle 25"/>
          <p:cNvSpPr/>
          <p:nvPr/>
        </p:nvSpPr>
        <p:spPr>
          <a:xfrm>
            <a:off x="4330598" y="3163824"/>
            <a:ext cx="3525926" cy="960120"/>
          </a:xfrm>
          <a:prstGeom prst="roundRect">
            <a:avLst>
              <a:gd name="adj" fmla="val 8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486046" y="3300984"/>
            <a:ext cx="321503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Kriteria utama</a:t>
            </a:r>
          </a:p>
        </p:txBody>
      </p:sp>
      <p:sp>
        <p:nvSpPr>
          <p:cNvPr id="28" name="TextBox 27"/>
          <p:cNvSpPr txBox="1"/>
          <p:nvPr/>
        </p:nvSpPr>
        <p:spPr>
          <a:xfrm>
            <a:off x="4486046" y="3584448"/>
            <a:ext cx="3215030" cy="402336"/>
          </a:xfrm>
          <a:prstGeom prst="rect">
            <a:avLst/>
          </a:prstGeom>
          <a:noFill/>
        </p:spPr>
        <p:txBody>
          <a:bodyPr wrap="square" lIns="18288" rIns="18288" tIns="0" bIns="0" anchor="t">
            <a:noAutofit/>
          </a:bodyPr>
          <a:lstStyle/>
          <a:p>
            <a:pPr algn="l">
              <a:lnSpc>
                <a:spcPct val="100000"/>
              </a:lnSpc>
              <a:spcBef>
                <a:spcPts val="0"/>
              </a:spcBef>
              <a:spcAft>
                <a:spcPts val="0"/>
              </a:spcAft>
            </a:pPr>
            <a:r>
              <a:rPr sz="1050" b="0" i="0" lang="id-ID">
                <a:solidFill>
                  <a:srgbClr val="3C4A55"/>
                </a:solidFill>
                <a:latin typeface="Calibri"/>
              </a:rPr>
              <a:t>Analisis utama memakai definisi kasus EAPD 2003, sehingga 98 studi yang dihitung.</a:t>
            </a:r>
          </a:p>
        </p:txBody>
      </p:sp>
      <p:sp>
        <p:nvSpPr>
          <p:cNvPr id="29" name="Rounded Rectangle 28"/>
          <p:cNvSpPr/>
          <p:nvPr/>
        </p:nvSpPr>
        <p:spPr>
          <a:xfrm>
            <a:off x="8112556" y="3163824"/>
            <a:ext cx="3525926" cy="960120"/>
          </a:xfrm>
          <a:prstGeom prst="roundRect">
            <a:avLst>
              <a:gd name="adj" fmla="val 8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68004" y="3300984"/>
            <a:ext cx="321503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Heterogenitas</a:t>
            </a:r>
          </a:p>
        </p:txBody>
      </p:sp>
      <p:sp>
        <p:nvSpPr>
          <p:cNvPr id="31" name="TextBox 30"/>
          <p:cNvSpPr txBox="1"/>
          <p:nvPr/>
        </p:nvSpPr>
        <p:spPr>
          <a:xfrm>
            <a:off x="8268004" y="3584448"/>
            <a:ext cx="3215030" cy="402336"/>
          </a:xfrm>
          <a:prstGeom prst="rect">
            <a:avLst/>
          </a:prstGeom>
          <a:noFill/>
        </p:spPr>
        <p:txBody>
          <a:bodyPr wrap="square" lIns="18288" rIns="18288" tIns="0" bIns="0" anchor="t">
            <a:noAutofit/>
          </a:bodyPr>
          <a:lstStyle/>
          <a:p>
            <a:pPr algn="l">
              <a:lnSpc>
                <a:spcPct val="100000"/>
              </a:lnSpc>
              <a:spcBef>
                <a:spcPts val="0"/>
              </a:spcBef>
              <a:spcAft>
                <a:spcPts val="0"/>
              </a:spcAft>
            </a:pPr>
            <a:r>
              <a:rPr sz="1050" b="0" i="0" lang="id-ID">
                <a:solidFill>
                  <a:srgbClr val="3C4A55"/>
                </a:solidFill>
                <a:latin typeface="Calibri"/>
              </a:rPr>
              <a:t>I² = 98,0%. Angka global dibaca sebagai beban populasi, bukan angka presisi satu negara.</a:t>
            </a:r>
          </a:p>
        </p:txBody>
      </p:sp>
      <p:sp>
        <p:nvSpPr>
          <p:cNvPr id="32" name="Rounded Rectangle 31"/>
          <p:cNvSpPr/>
          <p:nvPr/>
        </p:nvSpPr>
        <p:spPr>
          <a:xfrm>
            <a:off x="548640" y="4242816"/>
            <a:ext cx="3525926" cy="960120"/>
          </a:xfrm>
          <a:prstGeom prst="roundRect">
            <a:avLst>
              <a:gd name="adj" fmla="val 8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4088" y="4379976"/>
            <a:ext cx="321503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Keparahan</a:t>
            </a:r>
          </a:p>
        </p:txBody>
      </p:sp>
      <p:sp>
        <p:nvSpPr>
          <p:cNvPr id="34" name="TextBox 33"/>
          <p:cNvSpPr txBox="1"/>
          <p:nvPr/>
        </p:nvSpPr>
        <p:spPr>
          <a:xfrm>
            <a:off x="704088" y="4663440"/>
            <a:ext cx="3215030" cy="402336"/>
          </a:xfrm>
          <a:prstGeom prst="rect">
            <a:avLst/>
          </a:prstGeom>
          <a:noFill/>
        </p:spPr>
        <p:txBody>
          <a:bodyPr wrap="square" lIns="18288" rIns="18288" tIns="0" bIns="0" anchor="t">
            <a:noAutofit/>
          </a:bodyPr>
          <a:lstStyle/>
          <a:p>
            <a:pPr algn="l">
              <a:lnSpc>
                <a:spcPct val="100000"/>
              </a:lnSpc>
              <a:spcBef>
                <a:spcPts val="0"/>
              </a:spcBef>
              <a:spcAft>
                <a:spcPts val="0"/>
              </a:spcAft>
            </a:pPr>
            <a:r>
              <a:rPr sz="1050" b="0" i="0" lang="id-ID">
                <a:solidFill>
                  <a:srgbClr val="3C4A55"/>
                </a:solidFill>
                <a:latin typeface="Calibri"/>
              </a:rPr>
              <a:t>36,3% kasus tergolong sedang sampai berat (95% CI 29,9–43,2).</a:t>
            </a:r>
          </a:p>
        </p:txBody>
      </p:sp>
      <p:sp>
        <p:nvSpPr>
          <p:cNvPr id="35" name="Rounded Rectangle 34"/>
          <p:cNvSpPr/>
          <p:nvPr/>
        </p:nvSpPr>
        <p:spPr>
          <a:xfrm>
            <a:off x="4330598" y="4242816"/>
            <a:ext cx="3525926" cy="960120"/>
          </a:xfrm>
          <a:prstGeom prst="roundRect">
            <a:avLst>
              <a:gd name="adj" fmla="val 8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486046" y="4379976"/>
            <a:ext cx="321503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Gigi terkena</a:t>
            </a:r>
          </a:p>
        </p:txBody>
      </p:sp>
      <p:sp>
        <p:nvSpPr>
          <p:cNvPr id="37" name="TextBox 36"/>
          <p:cNvSpPr txBox="1"/>
          <p:nvPr/>
        </p:nvSpPr>
        <p:spPr>
          <a:xfrm>
            <a:off x="4486046" y="4663440"/>
            <a:ext cx="3215030" cy="402336"/>
          </a:xfrm>
          <a:prstGeom prst="rect">
            <a:avLst/>
          </a:prstGeom>
          <a:noFill/>
        </p:spPr>
        <p:txBody>
          <a:bodyPr wrap="square" lIns="18288" rIns="18288" tIns="0" bIns="0" anchor="t">
            <a:noAutofit/>
          </a:bodyPr>
          <a:lstStyle/>
          <a:p>
            <a:pPr algn="l">
              <a:lnSpc>
                <a:spcPct val="100000"/>
              </a:lnSpc>
              <a:spcBef>
                <a:spcPts val="0"/>
              </a:spcBef>
              <a:spcAft>
                <a:spcPts val="0"/>
              </a:spcAft>
            </a:pPr>
            <a:r>
              <a:rPr sz="1050" b="0" i="0" lang="id-ID">
                <a:solidFill>
                  <a:srgbClr val="3C4A55"/>
                </a:solidFill>
                <a:latin typeface="Calibri"/>
              </a:rPr>
              <a:t>Insisivus terlibat pada 36–39% kasus; HSPM menyertai 3,6% kasus.</a:t>
            </a:r>
          </a:p>
        </p:txBody>
      </p:sp>
      <p:sp>
        <p:nvSpPr>
          <p:cNvPr id="38" name="Rounded Rectangle 37"/>
          <p:cNvSpPr/>
          <p:nvPr/>
        </p:nvSpPr>
        <p:spPr>
          <a:xfrm>
            <a:off x="8112556" y="4242816"/>
            <a:ext cx="3525926" cy="960120"/>
          </a:xfrm>
          <a:prstGeom prst="roundRect">
            <a:avLst>
              <a:gd name="adj" fmla="val 8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68004" y="4379976"/>
            <a:ext cx="321503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Sumber</a:t>
            </a:r>
          </a:p>
        </p:txBody>
      </p:sp>
      <p:sp>
        <p:nvSpPr>
          <p:cNvPr id="40" name="TextBox 39"/>
          <p:cNvSpPr txBox="1"/>
          <p:nvPr/>
        </p:nvSpPr>
        <p:spPr>
          <a:xfrm>
            <a:off x="8268004" y="4663440"/>
            <a:ext cx="3215030" cy="402336"/>
          </a:xfrm>
          <a:prstGeom prst="rect">
            <a:avLst/>
          </a:prstGeom>
          <a:noFill/>
        </p:spPr>
        <p:txBody>
          <a:bodyPr wrap="square" lIns="18288" rIns="18288" tIns="0" bIns="0" anchor="t">
            <a:noAutofit/>
          </a:bodyPr>
          <a:lstStyle/>
          <a:p>
            <a:pPr algn="l">
              <a:lnSpc>
                <a:spcPct val="100000"/>
              </a:lnSpc>
              <a:spcBef>
                <a:spcPts val="0"/>
              </a:spcBef>
              <a:spcAft>
                <a:spcPts val="0"/>
              </a:spcAft>
            </a:pPr>
            <a:r>
              <a:rPr sz="1050" b="0" i="0" lang="id-ID">
                <a:solidFill>
                  <a:srgbClr val="3C4A55"/>
                </a:solidFill>
                <a:latin typeface="Calibri"/>
              </a:rPr>
              <a:t>Sci Rep 2021;11:22405, akses terbuka CC BY 4.0.</a:t>
            </a:r>
          </a:p>
        </p:txBody>
      </p:sp>
      <p:sp>
        <p:nvSpPr>
          <p:cNvPr id="41" name="Rounded Rectangle 40"/>
          <p:cNvSpPr/>
          <p:nvPr/>
        </p:nvSpPr>
        <p:spPr>
          <a:xfrm>
            <a:off x="548640" y="5303520"/>
            <a:ext cx="11091672" cy="640080"/>
          </a:xfrm>
          <a:prstGeom prst="roundRect">
            <a:avLst>
              <a:gd name="adj" fmla="val 12857"/>
            </a:avLst>
          </a:prstGeom>
          <a:solidFill>
            <a:srgbClr val="E9F5F6"/>
          </a:solidFill>
          <a:ln w="9525">
            <a:solidFill>
              <a:srgbClr val="D2E9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548640" y="5303520"/>
            <a:ext cx="54864" cy="640080"/>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86384" y="5422392"/>
            <a:ext cx="10634472" cy="402336"/>
          </a:xfrm>
          <a:prstGeom prst="rect">
            <a:avLst/>
          </a:prstGeom>
          <a:noFill/>
        </p:spPr>
        <p:txBody>
          <a:bodyPr wrap="square" lIns="18288" rIns="18288" tIns="0" bIns="0" anchor="ctr">
            <a:noAutofit/>
          </a:bodyPr>
          <a:lstStyle/>
          <a:p>
            <a:pPr algn="l">
              <a:spcBef>
                <a:spcPts val="0"/>
              </a:spcBef>
              <a:spcAft>
                <a:spcPts val="0"/>
              </a:spcAft>
            </a:pPr>
            <a:r>
              <a:rPr sz="1150" b="0" i="0" lang="id-ID">
                <a:solidFill>
                  <a:srgbClr val="0F172A"/>
                </a:solidFill>
                <a:latin typeface="Calibri"/>
              </a:rPr>
              <a:t>Kesimpulan penulis: prevalensi 13,5%, kasus sedang sampai berat 36,3%, insisivus terlibat pada 36–39% kasus, dan HSPM 3,6%. Seluruh kesimpulan diberi peringkat SORT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LATAR BELAKANG · 1</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Apa itu MIH</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03</a:t>
            </a:r>
          </a:p>
        </p:txBody>
      </p:sp>
      <p:sp>
        <p:nvSpPr>
          <p:cNvPr id="11" name="Rounded Rectangle 10"/>
          <p:cNvSpPr/>
          <p:nvPr/>
        </p:nvSpPr>
        <p:spPr>
          <a:xfrm>
            <a:off x="548640" y="1572768"/>
            <a:ext cx="5394960" cy="1353312"/>
          </a:xfrm>
          <a:prstGeom prst="roundRect">
            <a:avLst>
              <a:gd name="adj" fmla="val 608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9928"/>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Definisi</a:t>
            </a:r>
          </a:p>
        </p:txBody>
      </p:sp>
      <p:sp>
        <p:nvSpPr>
          <p:cNvPr id="13" name="TextBox 12"/>
          <p:cNvSpPr txBox="1"/>
          <p:nvPr/>
        </p:nvSpPr>
        <p:spPr>
          <a:xfrm>
            <a:off x="713232" y="2029968"/>
            <a:ext cx="5065776" cy="749808"/>
          </a:xfrm>
          <a:prstGeom prst="rect">
            <a:avLst/>
          </a:prstGeom>
          <a:noFill/>
        </p:spPr>
        <p:txBody>
          <a:bodyPr wrap="square" lIns="18288" rIns="18288" tIns="0" bIns="0" anchor="t">
            <a:noAutofit/>
          </a:bodyPr>
          <a:lstStyle/>
          <a:p>
            <a:pPr algn="l">
              <a:lnSpc>
                <a:spcPct val="105000"/>
              </a:lnSpc>
              <a:spcBef>
                <a:spcPts val="0"/>
              </a:spcBef>
              <a:spcAft>
                <a:spcPts val="0"/>
              </a:spcAft>
            </a:pPr>
            <a:r>
              <a:rPr sz="1100" b="0" i="0" lang="id-ID">
                <a:solidFill>
                  <a:srgbClr val="3C4A55"/>
                </a:solidFill>
                <a:latin typeface="Calibri"/>
              </a:rPr>
              <a:t>Defek kualitatif email, disebut hipomineralisasi, pada satu molar pertama permanen atau lebih dan kadang disertai insisivus. Penyebabnya belum diketahui. Istilah ini dipakai EAPD sejak 2003.</a:t>
            </a:r>
          </a:p>
        </p:txBody>
      </p:sp>
      <p:sp>
        <p:nvSpPr>
          <p:cNvPr id="14" name="Rounded Rectangle 13"/>
          <p:cNvSpPr/>
          <p:nvPr/>
        </p:nvSpPr>
        <p:spPr>
          <a:xfrm>
            <a:off x="548640" y="3063240"/>
            <a:ext cx="5394960" cy="1353312"/>
          </a:xfrm>
          <a:prstGeom prst="roundRect">
            <a:avLst>
              <a:gd name="adj" fmla="val 608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3232" y="3200400"/>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Yang terlihat di kursi gigi</a:t>
            </a:r>
          </a:p>
        </p:txBody>
      </p:sp>
      <p:sp>
        <p:nvSpPr>
          <p:cNvPr id="16" name="TextBox 15"/>
          <p:cNvSpPr txBox="1"/>
          <p:nvPr/>
        </p:nvSpPr>
        <p:spPr>
          <a:xfrm>
            <a:off x="713232" y="3520440"/>
            <a:ext cx="5065776" cy="749808"/>
          </a:xfrm>
          <a:prstGeom prst="rect">
            <a:avLst/>
          </a:prstGeom>
          <a:noFill/>
        </p:spPr>
        <p:txBody>
          <a:bodyPr wrap="square" lIns="18288" rIns="18288" tIns="0" bIns="0" anchor="t">
            <a:noAutofit/>
          </a:bodyPr>
          <a:lstStyle/>
          <a:p>
            <a:pPr algn="l">
              <a:lnSpc>
                <a:spcPct val="105000"/>
              </a:lnSpc>
              <a:spcBef>
                <a:spcPts val="0"/>
              </a:spcBef>
              <a:spcAft>
                <a:spcPts val="0"/>
              </a:spcAft>
            </a:pPr>
            <a:r>
              <a:rPr sz="1100" b="0" i="0" lang="id-ID">
                <a:solidFill>
                  <a:srgbClr val="3C4A55"/>
                </a:solidFill>
                <a:latin typeface="Calibri"/>
              </a:rPr>
              <a:t>Opasitas putih, kuning, sampai cokelat dengan batas yang tegas. Emailnya lebih lunak, sehingga mudah pecah setelah gigi erupsi.</a:t>
            </a:r>
          </a:p>
        </p:txBody>
      </p:sp>
      <p:sp>
        <p:nvSpPr>
          <p:cNvPr id="17" name="Rounded Rectangle 16"/>
          <p:cNvSpPr/>
          <p:nvPr/>
        </p:nvSpPr>
        <p:spPr>
          <a:xfrm>
            <a:off x="548640" y="4553712"/>
            <a:ext cx="5394960" cy="1353312"/>
          </a:xfrm>
          <a:prstGeom prst="roundRect">
            <a:avLst>
              <a:gd name="adj" fmla="val 608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4690872"/>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Yang dialami anak</a:t>
            </a:r>
          </a:p>
        </p:txBody>
      </p:sp>
      <p:sp>
        <p:nvSpPr>
          <p:cNvPr id="19" name="TextBox 18"/>
          <p:cNvSpPr txBox="1"/>
          <p:nvPr/>
        </p:nvSpPr>
        <p:spPr>
          <a:xfrm>
            <a:off x="713232" y="5010912"/>
            <a:ext cx="5065776" cy="749808"/>
          </a:xfrm>
          <a:prstGeom prst="rect">
            <a:avLst/>
          </a:prstGeom>
          <a:noFill/>
        </p:spPr>
        <p:txBody>
          <a:bodyPr wrap="square" lIns="18288" rIns="18288" tIns="0" bIns="0" anchor="t">
            <a:noAutofit/>
          </a:bodyPr>
          <a:lstStyle/>
          <a:p>
            <a:pPr algn="l">
              <a:lnSpc>
                <a:spcPct val="105000"/>
              </a:lnSpc>
              <a:spcBef>
                <a:spcPts val="0"/>
              </a:spcBef>
              <a:spcAft>
                <a:spcPts val="0"/>
              </a:spcAft>
            </a:pPr>
            <a:r>
              <a:rPr sz="1100" b="0" i="0" lang="id-ID">
                <a:solidFill>
                  <a:srgbClr val="3C4A55"/>
                </a:solidFill>
                <a:latin typeface="Calibri"/>
              </a:rPr>
              <a:t>Gigi sensitif, karies lebih mudah terjadi, restorasi sering berulang, dan penampilan gigi depan menambah beban psikologis.</a:t>
            </a:r>
          </a:p>
        </p:txBody>
      </p:sp>
      <p:sp>
        <p:nvSpPr>
          <p:cNvPr id="20" name="Rounded Rectangle 19"/>
          <p:cNvSpPr/>
          <p:nvPr/>
        </p:nvSpPr>
        <p:spPr>
          <a:xfrm>
            <a:off x="6245352" y="1572768"/>
            <a:ext cx="5394960" cy="2148840"/>
          </a:xfrm>
          <a:prstGeom prst="roundRect">
            <a:avLst>
              <a:gd name="adj" fmla="val 3829"/>
            </a:avLst>
          </a:prstGeom>
          <a:solidFill>
            <a:srgbClr val="E9F5F6"/>
          </a:solidFill>
          <a:ln w="9525">
            <a:solidFill>
              <a:srgbClr val="D2E9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9944" y="1719072"/>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Kenapa angkanya diperdebatkan</a:t>
            </a:r>
          </a:p>
        </p:txBody>
      </p:sp>
      <p:sp>
        <p:nvSpPr>
          <p:cNvPr id="22" name="TextBox 21"/>
          <p:cNvSpPr txBox="1"/>
          <p:nvPr/>
        </p:nvSpPr>
        <p:spPr>
          <a:xfrm>
            <a:off x="6409944" y="2029968"/>
            <a:ext cx="5065776" cy="1554480"/>
          </a:xfrm>
          <a:prstGeom prst="rect">
            <a:avLst/>
          </a:prstGeom>
          <a:noFill/>
        </p:spPr>
        <p:txBody>
          <a:bodyPr wrap="square" lIns="18288" rIns="18288" tIns="0" bIns="0" anchor="t">
            <a:noAutofit/>
          </a:bodyPr>
          <a:lstStyle/>
          <a:p>
            <a:pPr algn="l">
              <a:lnSpc>
                <a:spcPct val="106000"/>
              </a:lnSpc>
              <a:spcBef>
                <a:spcPts val="0"/>
              </a:spcBef>
              <a:spcAft>
                <a:spcPts val="600"/>
              </a:spcAft>
            </a:pPr>
            <a:r>
              <a:rPr sz="1100" b="0" i="0" lang="id-ID">
                <a:solidFill>
                  <a:srgbClr val="3C4A55"/>
                </a:solidFill>
                <a:latin typeface="Calibri"/>
              </a:rPr>
              <a:t>Angka prevalensi menentukan besar beban penyakit, dan dari situ disusun perencanaan skrining, kebutuhan tenaga, serta edukasi orang tua.</a:t>
            </a:r>
          </a:p>
          <a:p>
            <a:pPr algn="l">
              <a:lnSpc>
                <a:spcPct val="106000"/>
              </a:lnSpc>
              <a:spcBef>
                <a:spcPts val="0"/>
              </a:spcBef>
              <a:spcAft>
                <a:spcPts val="600"/>
              </a:spcAft>
            </a:pPr>
            <a:r>
              <a:rPr sz="1100" b="0" i="0" lang="id-ID">
                <a:solidFill>
                  <a:srgbClr val="3C4A55"/>
                </a:solidFill>
                <a:latin typeface="Calibri"/>
              </a:rPr>
              <a:t>Laporan yang ada tersebar dari 2,8% sampai 40,2%, sehingga perencanaan kehilangan pijakan.</a:t>
            </a:r>
          </a:p>
        </p:txBody>
      </p:sp>
      <p:sp>
        <p:nvSpPr>
          <p:cNvPr id="23" name="TextBox 22"/>
          <p:cNvSpPr txBox="1"/>
          <p:nvPr/>
        </p:nvSpPr>
        <p:spPr>
          <a:xfrm>
            <a:off x="6245352" y="3877056"/>
            <a:ext cx="5394960" cy="256032"/>
          </a:xfrm>
          <a:prstGeom prst="rect">
            <a:avLst/>
          </a:prstGeom>
          <a:noFill/>
        </p:spPr>
        <p:txBody>
          <a:bodyPr wrap="square" lIns="18288" rIns="18288" tIns="0" bIns="0" anchor="t">
            <a:noAutofit/>
          </a:bodyPr>
          <a:lstStyle/>
          <a:p>
            <a:pPr algn="l">
              <a:spcBef>
                <a:spcPts val="0"/>
              </a:spcBef>
              <a:spcAft>
                <a:spcPts val="0"/>
              </a:spcAft>
            </a:pPr>
            <a:r>
              <a:rPr sz="1100" b="1" i="0" lang="id-ID">
                <a:solidFill>
                  <a:srgbClr val="0F172A"/>
                </a:solidFill>
                <a:latin typeface="Calibri"/>
              </a:rPr>
              <a:t>Tiga tahap kerusakan email</a:t>
            </a:r>
          </a:p>
        </p:txBody>
      </p:sp>
      <p:sp>
        <p:nvSpPr>
          <p:cNvPr id="24" name="Rounded Rectangle 23"/>
          <p:cNvSpPr/>
          <p:nvPr/>
        </p:nvSpPr>
        <p:spPr>
          <a:xfrm>
            <a:off x="6245352" y="4187952"/>
            <a:ext cx="1645920" cy="1005840"/>
          </a:xfrm>
          <a:prstGeom prst="roundRect">
            <a:avLst>
              <a:gd name="adj" fmla="val 818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82512" y="4315968"/>
            <a:ext cx="1371600" cy="749808"/>
          </a:xfrm>
          <a:prstGeom prst="rect">
            <a:avLst/>
          </a:prstGeom>
          <a:noFill/>
        </p:spPr>
        <p:txBody>
          <a:bodyPr wrap="square" lIns="18288" rIns="18288" tIns="0" bIns="0" anchor="ctr">
            <a:noAutofit/>
          </a:bodyPr>
          <a:lstStyle/>
          <a:p>
            <a:pPr algn="ctr">
              <a:spcBef>
                <a:spcPts val="0"/>
              </a:spcBef>
              <a:spcAft>
                <a:spcPts val="0"/>
              </a:spcAft>
            </a:pPr>
            <a:r>
              <a:rPr sz="1150" b="1" i="0" lang="id-ID">
                <a:solidFill>
                  <a:srgbClr val="0F172A"/>
                </a:solidFill>
                <a:latin typeface="Calibri"/>
              </a:rPr>
              <a:t>Email gagal matang</a:t>
            </a:r>
          </a:p>
        </p:txBody>
      </p:sp>
      <p:sp>
        <p:nvSpPr>
          <p:cNvPr id="26" name="Rounded Rectangle 25"/>
          <p:cNvSpPr/>
          <p:nvPr/>
        </p:nvSpPr>
        <p:spPr>
          <a:xfrm>
            <a:off x="8092440" y="4187952"/>
            <a:ext cx="1645920" cy="1005840"/>
          </a:xfrm>
          <a:prstGeom prst="roundRect">
            <a:avLst>
              <a:gd name="adj" fmla="val 818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0" y="4315968"/>
            <a:ext cx="1371600" cy="749808"/>
          </a:xfrm>
          <a:prstGeom prst="rect">
            <a:avLst/>
          </a:prstGeom>
          <a:noFill/>
        </p:spPr>
        <p:txBody>
          <a:bodyPr wrap="square" lIns="18288" rIns="18288" tIns="0" bIns="0" anchor="ctr">
            <a:noAutofit/>
          </a:bodyPr>
          <a:lstStyle/>
          <a:p>
            <a:pPr algn="ctr">
              <a:spcBef>
                <a:spcPts val="0"/>
              </a:spcBef>
              <a:spcAft>
                <a:spcPts val="0"/>
              </a:spcAft>
            </a:pPr>
            <a:r>
              <a:rPr sz="1150" b="1" i="0" lang="id-ID">
                <a:solidFill>
                  <a:srgbClr val="0F172A"/>
                </a:solidFill>
                <a:latin typeface="Calibri"/>
              </a:rPr>
              <a:t>Enamel lunak</a:t>
            </a:r>
          </a:p>
        </p:txBody>
      </p:sp>
      <p:sp>
        <p:nvSpPr>
          <p:cNvPr id="28" name="Rounded Rectangle 27"/>
          <p:cNvSpPr/>
          <p:nvPr/>
        </p:nvSpPr>
        <p:spPr>
          <a:xfrm>
            <a:off x="9939528" y="4187952"/>
            <a:ext cx="1645920" cy="1005840"/>
          </a:xfrm>
          <a:prstGeom prst="roundRect">
            <a:avLst>
              <a:gd name="adj" fmla="val 818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076688" y="4315968"/>
            <a:ext cx="1371600" cy="749808"/>
          </a:xfrm>
          <a:prstGeom prst="rect">
            <a:avLst/>
          </a:prstGeom>
          <a:noFill/>
        </p:spPr>
        <p:txBody>
          <a:bodyPr wrap="square" lIns="18288" rIns="18288" tIns="0" bIns="0" anchor="ctr">
            <a:noAutofit/>
          </a:bodyPr>
          <a:lstStyle/>
          <a:p>
            <a:pPr algn="ctr">
              <a:spcBef>
                <a:spcPts val="0"/>
              </a:spcBef>
              <a:spcAft>
                <a:spcPts val="0"/>
              </a:spcAft>
            </a:pPr>
            <a:r>
              <a:rPr sz="1150" b="1" i="0" lang="id-ID">
                <a:solidFill>
                  <a:srgbClr val="0F172A"/>
                </a:solidFill>
                <a:latin typeface="Calibri"/>
              </a:rPr>
              <a:t>Pecah setelah erupsi</a:t>
            </a:r>
          </a:p>
        </p:txBody>
      </p:sp>
      <p:sp>
        <p:nvSpPr>
          <p:cNvPr id="30" name="Right Arrow 29"/>
          <p:cNvSpPr/>
          <p:nvPr/>
        </p:nvSpPr>
        <p:spPr>
          <a:xfrm>
            <a:off x="7918704" y="4553712"/>
            <a:ext cx="164592" cy="237744"/>
          </a:xfrm>
          <a:prstGeom prst="rightArrow">
            <a:avLst/>
          </a:prstGeom>
          <a:solidFill>
            <a:srgbClr val="8FC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ight Arrow 30"/>
          <p:cNvSpPr/>
          <p:nvPr/>
        </p:nvSpPr>
        <p:spPr>
          <a:xfrm>
            <a:off x="9765792" y="4553712"/>
            <a:ext cx="164592" cy="237744"/>
          </a:xfrm>
          <a:prstGeom prst="rightArrow">
            <a:avLst/>
          </a:prstGeom>
          <a:solidFill>
            <a:srgbClr val="8FC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45352" y="5321808"/>
            <a:ext cx="5394960" cy="566928"/>
          </a:xfrm>
          <a:prstGeom prst="rect">
            <a:avLst/>
          </a:prstGeom>
          <a:noFill/>
        </p:spPr>
        <p:txBody>
          <a:bodyPr wrap="square" lIns="18288" rIns="18288" tIns="0" bIns="0" anchor="t">
            <a:noAutofit/>
          </a:bodyPr>
          <a:lstStyle/>
          <a:p>
            <a:pPr algn="l">
              <a:spcBef>
                <a:spcPts val="0"/>
              </a:spcBef>
              <a:spcAft>
                <a:spcPts val="0"/>
              </a:spcAft>
            </a:pPr>
            <a:r>
              <a:rPr sz="1050" b="0" i="1" lang="id-ID">
                <a:solidFill>
                  <a:srgbClr val="6B7B87"/>
                </a:solidFill>
                <a:latin typeface="Calibri"/>
              </a:rPr>
              <a:t>Pecahnya email terjadi setelah gigi muncul, jadi kerusakan sering belum terlihat saat anak masih kecil.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LATAR BELAKANG · 2</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Angka laporan yang tersebar luas</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04</a:t>
            </a:r>
          </a:p>
        </p:txBody>
      </p:sp>
      <p:sp>
        <p:nvSpPr>
          <p:cNvPr id="11" name="Rounded Rectangle 10"/>
          <p:cNvSpPr/>
          <p:nvPr/>
        </p:nvSpPr>
        <p:spPr>
          <a:xfrm>
            <a:off x="548640" y="1572768"/>
            <a:ext cx="11091672" cy="2212848"/>
          </a:xfrm>
          <a:prstGeom prst="roundRect">
            <a:avLst>
              <a:gd name="adj" fmla="val 3719"/>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1719072"/>
            <a:ext cx="7315200" cy="256032"/>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E7490"/>
                </a:solidFill>
                <a:latin typeface="Calibri"/>
              </a:rPr>
              <a:t>Rentang prevalensi yang dilaporkan studi</a:t>
            </a:r>
          </a:p>
        </p:txBody>
      </p:sp>
      <p:sp>
        <p:nvSpPr>
          <p:cNvPr id="13" name="TextBox 12"/>
          <p:cNvSpPr txBox="1"/>
          <p:nvPr/>
        </p:nvSpPr>
        <p:spPr>
          <a:xfrm>
            <a:off x="2194560" y="2542032"/>
            <a:ext cx="2743200" cy="256032"/>
          </a:xfrm>
          <a:prstGeom prst="rect">
            <a:avLst/>
          </a:prstGeom>
          <a:noFill/>
        </p:spPr>
        <p:txBody>
          <a:bodyPr wrap="square" lIns="18288" rIns="18288" tIns="0" bIns="0" anchor="t">
            <a:noAutofit/>
          </a:bodyPr>
          <a:lstStyle/>
          <a:p>
            <a:pPr algn="l">
              <a:spcBef>
                <a:spcPts val="0"/>
              </a:spcBef>
              <a:spcAft>
                <a:spcPts val="0"/>
              </a:spcAft>
            </a:pPr>
            <a:r>
              <a:rPr sz="1000" b="1" i="0" lang="id-ID">
                <a:solidFill>
                  <a:srgbClr val="6B7B87"/>
                </a:solidFill>
                <a:latin typeface="Calibri"/>
              </a:rPr>
              <a:t>SR 2018 · 13,1% dan 14,2%</a:t>
            </a:r>
          </a:p>
        </p:txBody>
      </p:sp>
      <p:sp>
        <p:nvSpPr>
          <p:cNvPr id="14" name="Rounded Rectangle 13"/>
          <p:cNvSpPr/>
          <p:nvPr/>
        </p:nvSpPr>
        <p:spPr>
          <a:xfrm>
            <a:off x="4133087" y="2834640"/>
            <a:ext cx="274320" cy="18288"/>
          </a:xfrm>
          <a:prstGeom prst="roundRect">
            <a:avLst>
              <a:gd name="adj" fmla="val 50000"/>
            </a:avLst>
          </a:prstGeom>
          <a:solidFill>
            <a:srgbClr val="6B7B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097280" y="3218688"/>
            <a:ext cx="9692640" cy="109728"/>
          </a:xfrm>
          <a:prstGeom prst="roundRect">
            <a:avLst>
              <a:gd name="adj" fmla="val 50000"/>
            </a:avLst>
          </a:prstGeom>
          <a:solidFill>
            <a:srgbClr val="E4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746504" y="3218688"/>
            <a:ext cx="8631936" cy="109728"/>
          </a:xfrm>
          <a:prstGeom prst="roundRect">
            <a:avLst>
              <a:gd name="adj" fmla="val 50000"/>
            </a:avLst>
          </a:prstGeom>
          <a:solidFill>
            <a:srgbClr val="8FC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673352" y="3191256"/>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618488" y="3401568"/>
            <a:ext cx="109728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155E75"/>
                </a:solidFill>
                <a:latin typeface="Calibri"/>
              </a:rPr>
              <a:t>2,8%</a:t>
            </a:r>
          </a:p>
        </p:txBody>
      </p:sp>
      <p:sp>
        <p:nvSpPr>
          <p:cNvPr id="19" name="Oval 18"/>
          <p:cNvSpPr/>
          <p:nvPr/>
        </p:nvSpPr>
        <p:spPr>
          <a:xfrm>
            <a:off x="10314432" y="3191256"/>
            <a:ext cx="164592" cy="164592"/>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272016" y="3401568"/>
            <a:ext cx="1097280" cy="256032"/>
          </a:xfrm>
          <a:prstGeom prst="rect">
            <a:avLst/>
          </a:prstGeom>
          <a:noFill/>
        </p:spPr>
        <p:txBody>
          <a:bodyPr wrap="square" lIns="18288" rIns="18288" tIns="0" bIns="0" anchor="t">
            <a:noAutofit/>
          </a:bodyPr>
          <a:lstStyle/>
          <a:p>
            <a:pPr algn="r">
              <a:spcBef>
                <a:spcPts val="0"/>
              </a:spcBef>
              <a:spcAft>
                <a:spcPts val="0"/>
              </a:spcAft>
            </a:pPr>
            <a:r>
              <a:rPr sz="1200" b="1" i="0" lang="id-ID">
                <a:solidFill>
                  <a:srgbClr val="155E75"/>
                </a:solidFill>
                <a:latin typeface="Calibri"/>
              </a:rPr>
              <a:t>40,2%</a:t>
            </a:r>
          </a:p>
        </p:txBody>
      </p:sp>
      <p:sp>
        <p:nvSpPr>
          <p:cNvPr id="21" name="Oval 20"/>
          <p:cNvSpPr/>
          <p:nvPr/>
        </p:nvSpPr>
        <p:spPr>
          <a:xfrm>
            <a:off x="4142232" y="3172968"/>
            <a:ext cx="201168" cy="201168"/>
          </a:xfrm>
          <a:prstGeom prst="ellipse">
            <a:avLst/>
          </a:prstGeom>
          <a:solidFill>
            <a:srgbClr val="155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291840" y="3401568"/>
            <a:ext cx="2194560" cy="256032"/>
          </a:xfrm>
          <a:prstGeom prst="rect">
            <a:avLst/>
          </a:prstGeom>
          <a:noFill/>
        </p:spPr>
        <p:txBody>
          <a:bodyPr wrap="square" lIns="18288" rIns="18288" tIns="0" bIns="0" anchor="t">
            <a:noAutofit/>
          </a:bodyPr>
          <a:lstStyle/>
          <a:p>
            <a:pPr algn="l">
              <a:spcBef>
                <a:spcPts val="0"/>
              </a:spcBef>
              <a:spcAft>
                <a:spcPts val="0"/>
              </a:spcAft>
            </a:pPr>
            <a:r>
              <a:rPr sz="1000" b="1" i="0" lang="id-ID">
                <a:solidFill>
                  <a:srgbClr val="155E75"/>
                </a:solidFill>
                <a:latin typeface="Calibri"/>
              </a:rPr>
              <a:t>Artikel ini · 13,5%</a:t>
            </a:r>
          </a:p>
        </p:txBody>
      </p:sp>
      <p:sp>
        <p:nvSpPr>
          <p:cNvPr id="23" name="TextBox 22"/>
          <p:cNvSpPr txBox="1"/>
          <p:nvPr/>
        </p:nvSpPr>
        <p:spPr>
          <a:xfrm>
            <a:off x="10424160" y="3035808"/>
            <a:ext cx="1078992" cy="237744"/>
          </a:xfrm>
          <a:prstGeom prst="rect">
            <a:avLst/>
          </a:prstGeom>
          <a:noFill/>
        </p:spPr>
        <p:txBody>
          <a:bodyPr wrap="square" lIns="18288" rIns="18288" tIns="0" bIns="0" anchor="t">
            <a:noAutofit/>
          </a:bodyPr>
          <a:lstStyle/>
          <a:p>
            <a:pPr algn="r">
              <a:spcBef>
                <a:spcPts val="0"/>
              </a:spcBef>
              <a:spcAft>
                <a:spcPts val="0"/>
              </a:spcAft>
            </a:pPr>
            <a:r>
              <a:rPr sz="900" b="0" i="0" lang="id-ID">
                <a:solidFill>
                  <a:srgbClr val="6B7B87"/>
                </a:solidFill>
                <a:latin typeface="Calibri"/>
              </a:rPr>
              <a:t>skala 0–42%</a:t>
            </a:r>
          </a:p>
        </p:txBody>
      </p:sp>
      <p:sp>
        <p:nvSpPr>
          <p:cNvPr id="24" name="Rounded Rectangle 23"/>
          <p:cNvSpPr/>
          <p:nvPr/>
        </p:nvSpPr>
        <p:spPr>
          <a:xfrm>
            <a:off x="548640" y="4005072"/>
            <a:ext cx="3525926" cy="1938528"/>
          </a:xfrm>
          <a:prstGeom prst="roundRect">
            <a:avLst>
              <a:gd name="adj" fmla="val 424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3232" y="4151376"/>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F172A"/>
                </a:solidFill>
                <a:latin typeface="Calibri"/>
              </a:rPr>
              <a:t>Akar masalahnya</a:t>
            </a:r>
          </a:p>
        </p:txBody>
      </p:sp>
      <p:sp>
        <p:nvSpPr>
          <p:cNvPr id="26" name="TextBox 25"/>
          <p:cNvSpPr txBox="1"/>
          <p:nvPr/>
        </p:nvSpPr>
        <p:spPr>
          <a:xfrm>
            <a:off x="713232" y="4498848"/>
            <a:ext cx="3196742" cy="1280160"/>
          </a:xfrm>
          <a:prstGeom prst="rect">
            <a:avLst/>
          </a:prstGeom>
          <a:noFill/>
        </p:spPr>
        <p:txBody>
          <a:bodyPr wrap="square" lIns="18288" rIns="18288" tIns="0" bIns="0" anchor="t">
            <a:noAutofit/>
          </a:bodyPr>
          <a:lstStyle/>
          <a:p>
            <a:pPr algn="l">
              <a:lnSpc>
                <a:spcPct val="106000"/>
              </a:lnSpc>
              <a:spcBef>
                <a:spcPts val="0"/>
              </a:spcBef>
              <a:spcAft>
                <a:spcPts val="0"/>
              </a:spcAft>
            </a:pPr>
            <a:r>
              <a:rPr sz="1100" b="0" i="0" lang="id-ID">
                <a:solidFill>
                  <a:srgbClr val="3C4A55"/>
                </a:solidFill>
                <a:latin typeface="Calibri"/>
              </a:rPr>
              <a:t>Kriteria diagnostik belum seragam. Selisih angka antar studi tidak selalu mencerminkan perbedaan penyakit yang sebenarnya.</a:t>
            </a:r>
          </a:p>
        </p:txBody>
      </p:sp>
      <p:sp>
        <p:nvSpPr>
          <p:cNvPr id="27" name="Rounded Rectangle 26"/>
          <p:cNvSpPr/>
          <p:nvPr/>
        </p:nvSpPr>
        <p:spPr>
          <a:xfrm>
            <a:off x="4330598" y="4005072"/>
            <a:ext cx="3525926" cy="1938528"/>
          </a:xfrm>
          <a:prstGeom prst="roundRect">
            <a:avLst>
              <a:gd name="adj" fmla="val 424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95190" y="4151376"/>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F172A"/>
                </a:solidFill>
                <a:latin typeface="Calibri"/>
              </a:rPr>
              <a:t>Bukti sebelumnya</a:t>
            </a:r>
          </a:p>
        </p:txBody>
      </p:sp>
      <p:sp>
        <p:nvSpPr>
          <p:cNvPr id="29" name="TextBox 28"/>
          <p:cNvSpPr txBox="1"/>
          <p:nvPr/>
        </p:nvSpPr>
        <p:spPr>
          <a:xfrm>
            <a:off x="4495190" y="4498848"/>
            <a:ext cx="3196742" cy="1280160"/>
          </a:xfrm>
          <a:prstGeom prst="rect">
            <a:avLst/>
          </a:prstGeom>
          <a:noFill/>
        </p:spPr>
        <p:txBody>
          <a:bodyPr wrap="square" lIns="18288" rIns="18288" tIns="0" bIns="0" anchor="t">
            <a:noAutofit/>
          </a:bodyPr>
          <a:lstStyle/>
          <a:p>
            <a:pPr algn="l">
              <a:lnSpc>
                <a:spcPct val="106000"/>
              </a:lnSpc>
              <a:spcBef>
                <a:spcPts val="0"/>
              </a:spcBef>
              <a:spcAft>
                <a:spcPts val="0"/>
              </a:spcAft>
            </a:pPr>
            <a:r>
              <a:rPr sz="1100" b="0" i="0" lang="id-ID">
                <a:solidFill>
                  <a:srgbClr val="3C4A55"/>
                </a:solidFill>
                <a:latin typeface="Calibri"/>
              </a:rPr>
              <a:t>Dua tinjauan tahun 2018 melaporkan 13,1% dan 14,2%, dengan pencarian yang berhenti pada pertengahan 2017.</a:t>
            </a:r>
          </a:p>
        </p:txBody>
      </p:sp>
      <p:sp>
        <p:nvSpPr>
          <p:cNvPr id="30" name="Rounded Rectangle 29"/>
          <p:cNvSpPr/>
          <p:nvPr/>
        </p:nvSpPr>
        <p:spPr>
          <a:xfrm>
            <a:off x="8112556" y="4005072"/>
            <a:ext cx="3525926" cy="1938528"/>
          </a:xfrm>
          <a:prstGeom prst="roundRect">
            <a:avLst>
              <a:gd name="adj" fmla="val 424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77148" y="4151376"/>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F172A"/>
                </a:solidFill>
                <a:latin typeface="Calibri"/>
              </a:rPr>
              <a:t>Yang belum terjawab</a:t>
            </a:r>
          </a:p>
        </p:txBody>
      </p:sp>
      <p:sp>
        <p:nvSpPr>
          <p:cNvPr id="32" name="TextBox 31"/>
          <p:cNvSpPr txBox="1"/>
          <p:nvPr/>
        </p:nvSpPr>
        <p:spPr>
          <a:xfrm>
            <a:off x="8277148" y="4498848"/>
            <a:ext cx="3196742" cy="1280160"/>
          </a:xfrm>
          <a:prstGeom prst="rect">
            <a:avLst/>
          </a:prstGeom>
          <a:noFill/>
        </p:spPr>
        <p:txBody>
          <a:bodyPr wrap="square" lIns="18288" rIns="18288" tIns="0" bIns="0" anchor="t">
            <a:noAutofit/>
          </a:bodyPr>
          <a:lstStyle/>
          <a:p>
            <a:pPr algn="l">
              <a:lnSpc>
                <a:spcPct val="106000"/>
              </a:lnSpc>
              <a:spcBef>
                <a:spcPts val="0"/>
              </a:spcBef>
              <a:spcAft>
                <a:spcPts val="0"/>
              </a:spcAft>
            </a:pPr>
            <a:r>
              <a:rPr sz="1100" b="0" i="0" lang="id-ID">
                <a:solidFill>
                  <a:srgbClr val="3C4A55"/>
                </a:solidFill>
                <a:latin typeface="Calibri"/>
              </a:rPr>
              <a:t>Keparahan kasus, jumlah gigi yang terkena, dan HSPM jarang dilaporkan.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TUJUAN</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Pertanyaan penelitian dan empat luaran</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05</a:t>
            </a:r>
          </a:p>
        </p:txBody>
      </p:sp>
      <p:sp>
        <p:nvSpPr>
          <p:cNvPr id="11" name="Rounded Rectangle 10"/>
          <p:cNvSpPr/>
          <p:nvPr/>
        </p:nvSpPr>
        <p:spPr>
          <a:xfrm>
            <a:off x="548640" y="1572768"/>
            <a:ext cx="11091672" cy="694944"/>
          </a:xfrm>
          <a:prstGeom prst="roundRect">
            <a:avLst>
              <a:gd name="adj" fmla="val 11842"/>
            </a:avLst>
          </a:prstGeom>
          <a:solidFill>
            <a:srgbClr val="0B2E36"/>
          </a:solidFill>
          <a:ln w="9525">
            <a:solidFill>
              <a:srgbClr val="123F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1700784"/>
            <a:ext cx="10634472" cy="438912"/>
          </a:xfrm>
          <a:prstGeom prst="rect">
            <a:avLst/>
          </a:prstGeom>
          <a:noFill/>
        </p:spPr>
        <p:txBody>
          <a:bodyPr wrap="square" lIns="18288" rIns="18288" tIns="0" bIns="0" anchor="ctr">
            <a:noAutofit/>
          </a:bodyPr>
          <a:lstStyle/>
          <a:p>
            <a:pPr algn="l">
              <a:spcBef>
                <a:spcPts val="0"/>
              </a:spcBef>
              <a:spcAft>
                <a:spcPts val="0"/>
              </a:spcAft>
            </a:pPr>
            <a:r>
              <a:rPr sz="1500" b="1" i="0" lang="id-ID">
                <a:solidFill>
                  <a:srgbClr val="FFFFFF"/>
                </a:solidFill>
                <a:latin typeface="Calibri"/>
              </a:rPr>
              <a:t>Berapa prevalensi MIH global pada anak dan remaja?</a:t>
            </a:r>
          </a:p>
        </p:txBody>
      </p:sp>
      <p:sp>
        <p:nvSpPr>
          <p:cNvPr id="13" name="Rounded Rectangle 12"/>
          <p:cNvSpPr/>
          <p:nvPr/>
        </p:nvSpPr>
        <p:spPr>
          <a:xfrm>
            <a:off x="548640" y="2432304"/>
            <a:ext cx="2601468" cy="1024128"/>
          </a:xfrm>
          <a:prstGeom prst="roundRect">
            <a:avLst>
              <a:gd name="adj" fmla="val 803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4944" y="2560320"/>
            <a:ext cx="502920" cy="457200"/>
          </a:xfrm>
          <a:prstGeom prst="rect">
            <a:avLst/>
          </a:prstGeom>
          <a:noFill/>
        </p:spPr>
        <p:txBody>
          <a:bodyPr wrap="square" lIns="18288" rIns="18288" tIns="0" bIns="0" anchor="t">
            <a:noAutofit/>
          </a:bodyPr>
          <a:lstStyle/>
          <a:p>
            <a:pPr algn="l">
              <a:spcBef>
                <a:spcPts val="0"/>
              </a:spcBef>
              <a:spcAft>
                <a:spcPts val="0"/>
              </a:spcAft>
            </a:pPr>
            <a:r>
              <a:rPr sz="2200" b="1" i="0" lang="id-ID">
                <a:solidFill>
                  <a:srgbClr val="0E7490"/>
                </a:solidFill>
                <a:latin typeface="Calibri"/>
              </a:rPr>
              <a:t>P</a:t>
            </a:r>
          </a:p>
        </p:txBody>
      </p:sp>
      <p:sp>
        <p:nvSpPr>
          <p:cNvPr id="15" name="TextBox 14"/>
          <p:cNvSpPr txBox="1"/>
          <p:nvPr/>
        </p:nvSpPr>
        <p:spPr>
          <a:xfrm>
            <a:off x="1225296" y="2560320"/>
            <a:ext cx="1778508" cy="768096"/>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Populasi</a:t>
            </a:r>
          </a:p>
          <a:p>
            <a:pPr algn="l">
              <a:lnSpc>
                <a:spcPct val="105000"/>
              </a:lnSpc>
              <a:spcBef>
                <a:spcPts val="0"/>
              </a:spcBef>
              <a:spcAft>
                <a:spcPts val="0"/>
              </a:spcAft>
            </a:pPr>
            <a:r>
              <a:rPr sz="1050" b="0" i="0" lang="id-ID">
                <a:solidFill>
                  <a:srgbClr val="3C4A55"/>
                </a:solidFill>
                <a:latin typeface="Calibri"/>
              </a:rPr>
              <a:t>studi klinis dan epidemiologis pada manusia</a:t>
            </a:r>
          </a:p>
        </p:txBody>
      </p:sp>
      <p:sp>
        <p:nvSpPr>
          <p:cNvPr id="16" name="Rounded Rectangle 15"/>
          <p:cNvSpPr/>
          <p:nvPr/>
        </p:nvSpPr>
        <p:spPr>
          <a:xfrm>
            <a:off x="3378708" y="2432304"/>
            <a:ext cx="2601468" cy="1024128"/>
          </a:xfrm>
          <a:prstGeom prst="roundRect">
            <a:avLst>
              <a:gd name="adj" fmla="val 803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25012" y="2560320"/>
            <a:ext cx="502920" cy="457200"/>
          </a:xfrm>
          <a:prstGeom prst="rect">
            <a:avLst/>
          </a:prstGeom>
          <a:noFill/>
        </p:spPr>
        <p:txBody>
          <a:bodyPr wrap="square" lIns="18288" rIns="18288" tIns="0" bIns="0" anchor="t">
            <a:noAutofit/>
          </a:bodyPr>
          <a:lstStyle/>
          <a:p>
            <a:pPr algn="l">
              <a:spcBef>
                <a:spcPts val="0"/>
              </a:spcBef>
              <a:spcAft>
                <a:spcPts val="0"/>
              </a:spcAft>
            </a:pPr>
            <a:r>
              <a:rPr sz="2200" b="1" i="0" lang="id-ID">
                <a:solidFill>
                  <a:srgbClr val="0E7490"/>
                </a:solidFill>
                <a:latin typeface="Calibri"/>
              </a:rPr>
              <a:t>E</a:t>
            </a:r>
          </a:p>
        </p:txBody>
      </p:sp>
      <p:sp>
        <p:nvSpPr>
          <p:cNvPr id="18" name="TextBox 17"/>
          <p:cNvSpPr txBox="1"/>
          <p:nvPr/>
        </p:nvSpPr>
        <p:spPr>
          <a:xfrm>
            <a:off x="4055363" y="2560320"/>
            <a:ext cx="1778508" cy="768096"/>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Paparan</a:t>
            </a:r>
          </a:p>
          <a:p>
            <a:pPr algn="l">
              <a:lnSpc>
                <a:spcPct val="105000"/>
              </a:lnSpc>
              <a:spcBef>
                <a:spcPts val="0"/>
              </a:spcBef>
              <a:spcAft>
                <a:spcPts val="0"/>
              </a:spcAft>
            </a:pPr>
            <a:r>
              <a:rPr sz="1050" b="0" i="0" lang="id-ID">
                <a:solidFill>
                  <a:srgbClr val="3C4A55"/>
                </a:solidFill>
                <a:latin typeface="Calibri"/>
              </a:rPr>
              <a:t>diagnosis MIH ditegakkan</a:t>
            </a:r>
          </a:p>
        </p:txBody>
      </p:sp>
      <p:sp>
        <p:nvSpPr>
          <p:cNvPr id="19" name="Rounded Rectangle 18"/>
          <p:cNvSpPr/>
          <p:nvPr/>
        </p:nvSpPr>
        <p:spPr>
          <a:xfrm>
            <a:off x="6208776" y="2432304"/>
            <a:ext cx="2601468" cy="1024128"/>
          </a:xfrm>
          <a:prstGeom prst="roundRect">
            <a:avLst>
              <a:gd name="adj" fmla="val 803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560320"/>
            <a:ext cx="502920" cy="457200"/>
          </a:xfrm>
          <a:prstGeom prst="rect">
            <a:avLst/>
          </a:prstGeom>
          <a:noFill/>
        </p:spPr>
        <p:txBody>
          <a:bodyPr wrap="square" lIns="18288" rIns="18288" tIns="0" bIns="0" anchor="t">
            <a:noAutofit/>
          </a:bodyPr>
          <a:lstStyle/>
          <a:p>
            <a:pPr algn="l">
              <a:spcBef>
                <a:spcPts val="0"/>
              </a:spcBef>
              <a:spcAft>
                <a:spcPts val="0"/>
              </a:spcAft>
            </a:pPr>
            <a:r>
              <a:rPr sz="2200" b="1" i="0" lang="id-ID">
                <a:solidFill>
                  <a:srgbClr val="0E7490"/>
                </a:solidFill>
                <a:latin typeface="Calibri"/>
              </a:rPr>
              <a:t>C</a:t>
            </a:r>
          </a:p>
        </p:txBody>
      </p:sp>
      <p:sp>
        <p:nvSpPr>
          <p:cNvPr id="21" name="TextBox 20"/>
          <p:cNvSpPr txBox="1"/>
          <p:nvPr/>
        </p:nvSpPr>
        <p:spPr>
          <a:xfrm>
            <a:off x="6885432" y="2560320"/>
            <a:ext cx="1778508" cy="768096"/>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Pembanding</a:t>
            </a:r>
          </a:p>
          <a:p>
            <a:pPr algn="l">
              <a:lnSpc>
                <a:spcPct val="105000"/>
              </a:lnSpc>
              <a:spcBef>
                <a:spcPts val="0"/>
              </a:spcBef>
              <a:spcAft>
                <a:spcPts val="0"/>
              </a:spcAft>
            </a:pPr>
            <a:r>
              <a:rPr sz="1050" b="0" i="0" lang="id-ID">
                <a:solidFill>
                  <a:srgbClr val="3C4A55"/>
                </a:solidFill>
                <a:latin typeface="Calibri"/>
              </a:rPr>
              <a:t>anak tanpa MIH</a:t>
            </a:r>
          </a:p>
        </p:txBody>
      </p:sp>
      <p:sp>
        <p:nvSpPr>
          <p:cNvPr id="22" name="Rounded Rectangle 21"/>
          <p:cNvSpPr/>
          <p:nvPr/>
        </p:nvSpPr>
        <p:spPr>
          <a:xfrm>
            <a:off x="9038844" y="2432304"/>
            <a:ext cx="2601468" cy="1024128"/>
          </a:xfrm>
          <a:prstGeom prst="roundRect">
            <a:avLst>
              <a:gd name="adj" fmla="val 8035"/>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85148" y="2560320"/>
            <a:ext cx="502920" cy="457200"/>
          </a:xfrm>
          <a:prstGeom prst="rect">
            <a:avLst/>
          </a:prstGeom>
          <a:noFill/>
        </p:spPr>
        <p:txBody>
          <a:bodyPr wrap="square" lIns="18288" rIns="18288" tIns="0" bIns="0" anchor="t">
            <a:noAutofit/>
          </a:bodyPr>
          <a:lstStyle/>
          <a:p>
            <a:pPr algn="l">
              <a:spcBef>
                <a:spcPts val="0"/>
              </a:spcBef>
              <a:spcAft>
                <a:spcPts val="0"/>
              </a:spcAft>
            </a:pPr>
            <a:r>
              <a:rPr sz="2200" b="1" i="0" lang="id-ID">
                <a:solidFill>
                  <a:srgbClr val="0E7490"/>
                </a:solidFill>
                <a:latin typeface="Calibri"/>
              </a:rPr>
              <a:t>O</a:t>
            </a:r>
          </a:p>
        </p:txBody>
      </p:sp>
      <p:sp>
        <p:nvSpPr>
          <p:cNvPr id="24" name="TextBox 23"/>
          <p:cNvSpPr txBox="1"/>
          <p:nvPr/>
        </p:nvSpPr>
        <p:spPr>
          <a:xfrm>
            <a:off x="9715500" y="2560320"/>
            <a:ext cx="1778508" cy="768096"/>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Luaran</a:t>
            </a:r>
          </a:p>
          <a:p>
            <a:pPr algn="l">
              <a:lnSpc>
                <a:spcPct val="105000"/>
              </a:lnSpc>
              <a:spcBef>
                <a:spcPts val="0"/>
              </a:spcBef>
              <a:spcAft>
                <a:spcPts val="0"/>
              </a:spcAft>
            </a:pPr>
            <a:r>
              <a:rPr sz="1050" b="0" i="0" lang="id-ID">
                <a:solidFill>
                  <a:srgbClr val="3C4A55"/>
                </a:solidFill>
                <a:latin typeface="Calibri"/>
              </a:rPr>
              <a:t>prevalensi MIH</a:t>
            </a:r>
          </a:p>
        </p:txBody>
      </p:sp>
      <p:sp>
        <p:nvSpPr>
          <p:cNvPr id="25" name="Rounded Rectangle 24"/>
          <p:cNvSpPr/>
          <p:nvPr/>
        </p:nvSpPr>
        <p:spPr>
          <a:xfrm>
            <a:off x="548640" y="3639312"/>
            <a:ext cx="11091672" cy="2304288"/>
          </a:xfrm>
          <a:prstGeom prst="roundRect">
            <a:avLst>
              <a:gd name="adj" fmla="val 357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3749039"/>
            <a:ext cx="548640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Luaran yang diukur</a:t>
            </a:r>
          </a:p>
        </p:txBody>
      </p:sp>
      <p:sp>
        <p:nvSpPr>
          <p:cNvPr id="27" name="Rounded Rectangle 26"/>
          <p:cNvSpPr/>
          <p:nvPr/>
        </p:nvSpPr>
        <p:spPr>
          <a:xfrm>
            <a:off x="749808" y="4069080"/>
            <a:ext cx="274320" cy="274320"/>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68096" y="4096512"/>
            <a:ext cx="237744" cy="237744"/>
          </a:xfrm>
          <a:prstGeom prst="rect">
            <a:avLst/>
          </a:prstGeom>
          <a:noFill/>
        </p:spPr>
        <p:txBody>
          <a:bodyPr wrap="square" lIns="18288" rIns="18288" tIns="0" bIns="0" anchor="t">
            <a:noAutofit/>
          </a:bodyPr>
          <a:lstStyle/>
          <a:p>
            <a:pPr algn="ctr">
              <a:spcBef>
                <a:spcPts val="0"/>
              </a:spcBef>
              <a:spcAft>
                <a:spcPts val="0"/>
              </a:spcAft>
            </a:pPr>
            <a:r>
              <a:rPr sz="1100" b="1" i="0" lang="id-ID">
                <a:solidFill>
                  <a:srgbClr val="FFFFFF"/>
                </a:solidFill>
                <a:latin typeface="Calibri"/>
              </a:rPr>
              <a:t>1</a:t>
            </a:r>
          </a:p>
        </p:txBody>
      </p:sp>
      <p:sp>
        <p:nvSpPr>
          <p:cNvPr id="29" name="TextBox 28"/>
          <p:cNvSpPr txBox="1"/>
          <p:nvPr/>
        </p:nvSpPr>
        <p:spPr>
          <a:xfrm>
            <a:off x="1152144" y="4023360"/>
            <a:ext cx="2011680" cy="384048"/>
          </a:xfrm>
          <a:prstGeom prst="rect">
            <a:avLst/>
          </a:prstGeom>
          <a:noFill/>
        </p:spPr>
        <p:txBody>
          <a:bodyPr wrap="square" lIns="18288" rIns="18288" tIns="0" bIns="0" anchor="ctr">
            <a:noAutofit/>
          </a:bodyPr>
          <a:lstStyle/>
          <a:p>
            <a:pPr algn="l">
              <a:spcBef>
                <a:spcPts val="0"/>
              </a:spcBef>
              <a:spcAft>
                <a:spcPts val="0"/>
              </a:spcAft>
            </a:pPr>
            <a:r>
              <a:rPr sz="900" b="1" i="0" spc="60" lang="id-ID">
                <a:solidFill>
                  <a:srgbClr val="6B7B87"/>
                </a:solidFill>
                <a:latin typeface="Calibri"/>
              </a:rPr>
              <a:t>PRIMER</a:t>
            </a:r>
          </a:p>
        </p:txBody>
      </p:sp>
      <p:sp>
        <p:nvSpPr>
          <p:cNvPr id="30" name="TextBox 29"/>
          <p:cNvSpPr txBox="1"/>
          <p:nvPr/>
        </p:nvSpPr>
        <p:spPr>
          <a:xfrm>
            <a:off x="3200400" y="4023360"/>
            <a:ext cx="3840480" cy="384048"/>
          </a:xfrm>
          <a:prstGeom prst="rect">
            <a:avLst/>
          </a:prstGeom>
          <a:noFill/>
        </p:spPr>
        <p:txBody>
          <a:bodyPr wrap="square" lIns="18288" rIns="18288" tIns="0" bIns="0" anchor="ctr">
            <a:noAutofit/>
          </a:bodyPr>
          <a:lstStyle/>
          <a:p>
            <a:pPr algn="l">
              <a:spcBef>
                <a:spcPts val="0"/>
              </a:spcBef>
              <a:spcAft>
                <a:spcPts val="0"/>
              </a:spcAft>
            </a:pPr>
            <a:r>
              <a:rPr sz="1150" b="1" i="0" lang="id-ID">
                <a:solidFill>
                  <a:srgbClr val="0F172A"/>
                </a:solidFill>
                <a:latin typeface="Calibri"/>
              </a:rPr>
              <a:t>Prevalensi global MIH</a:t>
            </a:r>
          </a:p>
        </p:txBody>
      </p:sp>
      <p:sp>
        <p:nvSpPr>
          <p:cNvPr id="31" name="TextBox 30"/>
          <p:cNvSpPr txBox="1"/>
          <p:nvPr/>
        </p:nvSpPr>
        <p:spPr>
          <a:xfrm>
            <a:off x="7132320" y="4023360"/>
            <a:ext cx="4315968" cy="384048"/>
          </a:xfrm>
          <a:prstGeom prst="rect">
            <a:avLst/>
          </a:prstGeom>
          <a:noFill/>
        </p:spPr>
        <p:txBody>
          <a:bodyPr wrap="square" lIns="18288" rIns="18288" tIns="0" bIns="0" anchor="ctr">
            <a:noAutofit/>
          </a:bodyPr>
          <a:lstStyle/>
          <a:p>
            <a:pPr algn="l">
              <a:spcBef>
                <a:spcPts val="0"/>
              </a:spcBef>
              <a:spcAft>
                <a:spcPts val="0"/>
              </a:spcAft>
            </a:pPr>
            <a:r>
              <a:rPr sz="1050" b="0" i="0" lang="id-ID">
                <a:solidFill>
                  <a:srgbClr val="6B7B87"/>
                </a:solidFill>
                <a:latin typeface="Calibri"/>
              </a:rPr>
              <a:t>diperkirakan dari seluruh studi yang memenuhi kriteria</a:t>
            </a:r>
          </a:p>
        </p:txBody>
      </p:sp>
      <p:sp>
        <p:nvSpPr>
          <p:cNvPr id="32" name="Rounded Rectangle 31"/>
          <p:cNvSpPr/>
          <p:nvPr/>
        </p:nvSpPr>
        <p:spPr>
          <a:xfrm>
            <a:off x="749808" y="4507992"/>
            <a:ext cx="274320" cy="274320"/>
          </a:xfrm>
          <a:prstGeom prst="roundRect">
            <a:avLst>
              <a:gd name="adj" fmla="val 50000"/>
            </a:avLst>
          </a:prstGeom>
          <a:solidFill>
            <a:srgbClr val="D2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68096" y="4535424"/>
            <a:ext cx="237744" cy="237744"/>
          </a:xfrm>
          <a:prstGeom prst="rect">
            <a:avLst/>
          </a:prstGeom>
          <a:noFill/>
        </p:spPr>
        <p:txBody>
          <a:bodyPr wrap="square" lIns="18288" rIns="18288" tIns="0" bIns="0" anchor="t">
            <a:noAutofit/>
          </a:bodyPr>
          <a:lstStyle/>
          <a:p>
            <a:pPr algn="ctr">
              <a:spcBef>
                <a:spcPts val="0"/>
              </a:spcBef>
              <a:spcAft>
                <a:spcPts val="0"/>
              </a:spcAft>
            </a:pPr>
            <a:r>
              <a:rPr sz="1100" b="1" i="0" lang="id-ID">
                <a:solidFill>
                  <a:srgbClr val="155E75"/>
                </a:solidFill>
                <a:latin typeface="Calibri"/>
              </a:rPr>
              <a:t>2</a:t>
            </a:r>
          </a:p>
        </p:txBody>
      </p:sp>
      <p:sp>
        <p:nvSpPr>
          <p:cNvPr id="34" name="TextBox 33"/>
          <p:cNvSpPr txBox="1"/>
          <p:nvPr/>
        </p:nvSpPr>
        <p:spPr>
          <a:xfrm>
            <a:off x="1152144" y="4462272"/>
            <a:ext cx="2011680" cy="384048"/>
          </a:xfrm>
          <a:prstGeom prst="rect">
            <a:avLst/>
          </a:prstGeom>
          <a:noFill/>
        </p:spPr>
        <p:txBody>
          <a:bodyPr wrap="square" lIns="18288" rIns="18288" tIns="0" bIns="0" anchor="ctr">
            <a:noAutofit/>
          </a:bodyPr>
          <a:lstStyle/>
          <a:p>
            <a:pPr algn="l">
              <a:spcBef>
                <a:spcPts val="0"/>
              </a:spcBef>
              <a:spcAft>
                <a:spcPts val="0"/>
              </a:spcAft>
            </a:pPr>
            <a:r>
              <a:rPr sz="900" b="1" i="0" spc="60" lang="id-ID">
                <a:solidFill>
                  <a:srgbClr val="6B7B87"/>
                </a:solidFill>
                <a:latin typeface="Calibri"/>
              </a:rPr>
              <a:t>SEKUNDER 1</a:t>
            </a:r>
          </a:p>
        </p:txBody>
      </p:sp>
      <p:sp>
        <p:nvSpPr>
          <p:cNvPr id="35" name="TextBox 34"/>
          <p:cNvSpPr txBox="1"/>
          <p:nvPr/>
        </p:nvSpPr>
        <p:spPr>
          <a:xfrm>
            <a:off x="3200400" y="4462272"/>
            <a:ext cx="3840480" cy="384048"/>
          </a:xfrm>
          <a:prstGeom prst="rect">
            <a:avLst/>
          </a:prstGeom>
          <a:noFill/>
        </p:spPr>
        <p:txBody>
          <a:bodyPr wrap="square" lIns="18288" rIns="18288" tIns="0" bIns="0" anchor="ctr">
            <a:noAutofit/>
          </a:bodyPr>
          <a:lstStyle/>
          <a:p>
            <a:pPr algn="l">
              <a:spcBef>
                <a:spcPts val="0"/>
              </a:spcBef>
              <a:spcAft>
                <a:spcPts val="0"/>
              </a:spcAft>
            </a:pPr>
            <a:r>
              <a:rPr sz="1150" b="1" i="0" lang="id-ID">
                <a:solidFill>
                  <a:srgbClr val="0F172A"/>
                </a:solidFill>
                <a:latin typeface="Calibri"/>
              </a:rPr>
              <a:t>Prevalensi kasus MIH sedang sampai berat</a:t>
            </a:r>
          </a:p>
        </p:txBody>
      </p:sp>
      <p:sp>
        <p:nvSpPr>
          <p:cNvPr id="36" name="TextBox 35"/>
          <p:cNvSpPr txBox="1"/>
          <p:nvPr/>
        </p:nvSpPr>
        <p:spPr>
          <a:xfrm>
            <a:off x="7132320" y="4462272"/>
            <a:ext cx="4315968" cy="384048"/>
          </a:xfrm>
          <a:prstGeom prst="rect">
            <a:avLst/>
          </a:prstGeom>
          <a:noFill/>
        </p:spPr>
        <p:txBody>
          <a:bodyPr wrap="square" lIns="18288" rIns="18288" tIns="0" bIns="0" anchor="ctr">
            <a:noAutofit/>
          </a:bodyPr>
          <a:lstStyle/>
          <a:p>
            <a:pPr algn="l">
              <a:spcBef>
                <a:spcPts val="0"/>
              </a:spcBef>
              <a:spcAft>
                <a:spcPts val="0"/>
              </a:spcAft>
            </a:pPr>
            <a:r>
              <a:rPr sz="1050" b="0" i="0" lang="id-ID">
                <a:solidFill>
                  <a:srgbClr val="6B7B87"/>
                </a:solidFill>
                <a:latin typeface="Calibri"/>
              </a:rPr>
              <a:t>dengan ambang keparahan yang dilaporkan penulis</a:t>
            </a:r>
          </a:p>
        </p:txBody>
      </p:sp>
      <p:sp>
        <p:nvSpPr>
          <p:cNvPr id="37" name="Rounded Rectangle 36"/>
          <p:cNvSpPr/>
          <p:nvPr/>
        </p:nvSpPr>
        <p:spPr>
          <a:xfrm>
            <a:off x="749808" y="4946904"/>
            <a:ext cx="274320" cy="274320"/>
          </a:xfrm>
          <a:prstGeom prst="roundRect">
            <a:avLst>
              <a:gd name="adj" fmla="val 50000"/>
            </a:avLst>
          </a:prstGeom>
          <a:solidFill>
            <a:srgbClr val="D2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8096" y="4974336"/>
            <a:ext cx="237744" cy="237744"/>
          </a:xfrm>
          <a:prstGeom prst="rect">
            <a:avLst/>
          </a:prstGeom>
          <a:noFill/>
        </p:spPr>
        <p:txBody>
          <a:bodyPr wrap="square" lIns="18288" rIns="18288" tIns="0" bIns="0" anchor="t">
            <a:noAutofit/>
          </a:bodyPr>
          <a:lstStyle/>
          <a:p>
            <a:pPr algn="ctr">
              <a:spcBef>
                <a:spcPts val="0"/>
              </a:spcBef>
              <a:spcAft>
                <a:spcPts val="0"/>
              </a:spcAft>
            </a:pPr>
            <a:r>
              <a:rPr sz="1100" b="1" i="0" lang="id-ID">
                <a:solidFill>
                  <a:srgbClr val="155E75"/>
                </a:solidFill>
                <a:latin typeface="Calibri"/>
              </a:rPr>
              <a:t>3</a:t>
            </a:r>
          </a:p>
        </p:txBody>
      </p:sp>
      <p:sp>
        <p:nvSpPr>
          <p:cNvPr id="39" name="TextBox 38"/>
          <p:cNvSpPr txBox="1"/>
          <p:nvPr/>
        </p:nvSpPr>
        <p:spPr>
          <a:xfrm>
            <a:off x="1152144" y="4901184"/>
            <a:ext cx="2011680" cy="384048"/>
          </a:xfrm>
          <a:prstGeom prst="rect">
            <a:avLst/>
          </a:prstGeom>
          <a:noFill/>
        </p:spPr>
        <p:txBody>
          <a:bodyPr wrap="square" lIns="18288" rIns="18288" tIns="0" bIns="0" anchor="ctr">
            <a:noAutofit/>
          </a:bodyPr>
          <a:lstStyle/>
          <a:p>
            <a:pPr algn="l">
              <a:spcBef>
                <a:spcPts val="0"/>
              </a:spcBef>
              <a:spcAft>
                <a:spcPts val="0"/>
              </a:spcAft>
            </a:pPr>
            <a:r>
              <a:rPr sz="900" b="1" i="0" spc="60" lang="id-ID">
                <a:solidFill>
                  <a:srgbClr val="6B7B87"/>
                </a:solidFill>
                <a:latin typeface="Calibri"/>
              </a:rPr>
              <a:t>SEKUNDER 2</a:t>
            </a:r>
          </a:p>
        </p:txBody>
      </p:sp>
      <p:sp>
        <p:nvSpPr>
          <p:cNvPr id="40" name="TextBox 39"/>
          <p:cNvSpPr txBox="1"/>
          <p:nvPr/>
        </p:nvSpPr>
        <p:spPr>
          <a:xfrm>
            <a:off x="3200400" y="4901184"/>
            <a:ext cx="3840480" cy="384048"/>
          </a:xfrm>
          <a:prstGeom prst="rect">
            <a:avLst/>
          </a:prstGeom>
          <a:noFill/>
        </p:spPr>
        <p:txBody>
          <a:bodyPr wrap="square" lIns="18288" rIns="18288" tIns="0" bIns="0" anchor="ctr">
            <a:noAutofit/>
          </a:bodyPr>
          <a:lstStyle/>
          <a:p>
            <a:pPr algn="l">
              <a:spcBef>
                <a:spcPts val="0"/>
              </a:spcBef>
              <a:spcAft>
                <a:spcPts val="0"/>
              </a:spcAft>
            </a:pPr>
            <a:r>
              <a:rPr sz="1150" b="1" i="0" lang="id-ID">
                <a:solidFill>
                  <a:srgbClr val="0F172A"/>
                </a:solidFill>
                <a:latin typeface="Calibri"/>
              </a:rPr>
              <a:t>Jumlah molar pertama permanen yang terkena</a:t>
            </a:r>
          </a:p>
        </p:txBody>
      </p:sp>
      <p:sp>
        <p:nvSpPr>
          <p:cNvPr id="41" name="TextBox 40"/>
          <p:cNvSpPr txBox="1"/>
          <p:nvPr/>
        </p:nvSpPr>
        <p:spPr>
          <a:xfrm>
            <a:off x="7132320" y="4901184"/>
            <a:ext cx="4315968" cy="384048"/>
          </a:xfrm>
          <a:prstGeom prst="rect">
            <a:avLst/>
          </a:prstGeom>
          <a:noFill/>
        </p:spPr>
        <p:txBody>
          <a:bodyPr wrap="square" lIns="18288" rIns="18288" tIns="0" bIns="0" anchor="ctr">
            <a:noAutofit/>
          </a:bodyPr>
          <a:lstStyle/>
          <a:p>
            <a:pPr algn="l">
              <a:spcBef>
                <a:spcPts val="0"/>
              </a:spcBef>
              <a:spcAft>
                <a:spcPts val="0"/>
              </a:spcAft>
            </a:pPr>
            <a:r>
              <a:rPr sz="1050" b="0" i="0" lang="id-ID">
                <a:solidFill>
                  <a:srgbClr val="6B7B87"/>
                </a:solidFill>
                <a:latin typeface="Calibri"/>
              </a:rPr>
              <a:t>dihitung untuk 1 sampai 4 gigi</a:t>
            </a:r>
          </a:p>
        </p:txBody>
      </p:sp>
      <p:sp>
        <p:nvSpPr>
          <p:cNvPr id="42" name="Rounded Rectangle 41"/>
          <p:cNvSpPr/>
          <p:nvPr/>
        </p:nvSpPr>
        <p:spPr>
          <a:xfrm>
            <a:off x="749808" y="5385816"/>
            <a:ext cx="274320" cy="274320"/>
          </a:xfrm>
          <a:prstGeom prst="roundRect">
            <a:avLst>
              <a:gd name="adj" fmla="val 50000"/>
            </a:avLst>
          </a:prstGeom>
          <a:solidFill>
            <a:srgbClr val="D2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68096" y="5413248"/>
            <a:ext cx="237744" cy="237744"/>
          </a:xfrm>
          <a:prstGeom prst="rect">
            <a:avLst/>
          </a:prstGeom>
          <a:noFill/>
        </p:spPr>
        <p:txBody>
          <a:bodyPr wrap="square" lIns="18288" rIns="18288" tIns="0" bIns="0" anchor="t">
            <a:noAutofit/>
          </a:bodyPr>
          <a:lstStyle/>
          <a:p>
            <a:pPr algn="ctr">
              <a:spcBef>
                <a:spcPts val="0"/>
              </a:spcBef>
              <a:spcAft>
                <a:spcPts val="0"/>
              </a:spcAft>
            </a:pPr>
            <a:r>
              <a:rPr sz="1100" b="1" i="0" lang="id-ID">
                <a:solidFill>
                  <a:srgbClr val="155E75"/>
                </a:solidFill>
                <a:latin typeface="Calibri"/>
              </a:rPr>
              <a:t>4</a:t>
            </a:r>
          </a:p>
        </p:txBody>
      </p:sp>
      <p:sp>
        <p:nvSpPr>
          <p:cNvPr id="44" name="TextBox 43"/>
          <p:cNvSpPr txBox="1"/>
          <p:nvPr/>
        </p:nvSpPr>
        <p:spPr>
          <a:xfrm>
            <a:off x="1152144" y="5340096"/>
            <a:ext cx="2011680" cy="384048"/>
          </a:xfrm>
          <a:prstGeom prst="rect">
            <a:avLst/>
          </a:prstGeom>
          <a:noFill/>
        </p:spPr>
        <p:txBody>
          <a:bodyPr wrap="square" lIns="18288" rIns="18288" tIns="0" bIns="0" anchor="ctr">
            <a:noAutofit/>
          </a:bodyPr>
          <a:lstStyle/>
          <a:p>
            <a:pPr algn="l">
              <a:spcBef>
                <a:spcPts val="0"/>
              </a:spcBef>
              <a:spcAft>
                <a:spcPts val="0"/>
              </a:spcAft>
            </a:pPr>
            <a:r>
              <a:rPr sz="900" b="1" i="0" spc="60" lang="id-ID">
                <a:solidFill>
                  <a:srgbClr val="6B7B87"/>
                </a:solidFill>
                <a:latin typeface="Calibri"/>
              </a:rPr>
              <a:t>SEKUNDER 3 &amp; 4</a:t>
            </a:r>
          </a:p>
        </p:txBody>
      </p:sp>
      <p:sp>
        <p:nvSpPr>
          <p:cNvPr id="45" name="TextBox 44"/>
          <p:cNvSpPr txBox="1"/>
          <p:nvPr/>
        </p:nvSpPr>
        <p:spPr>
          <a:xfrm>
            <a:off x="3200400" y="5340096"/>
            <a:ext cx="3840480" cy="384048"/>
          </a:xfrm>
          <a:prstGeom prst="rect">
            <a:avLst/>
          </a:prstGeom>
          <a:noFill/>
        </p:spPr>
        <p:txBody>
          <a:bodyPr wrap="square" lIns="18288" rIns="18288" tIns="0" bIns="0" anchor="ctr">
            <a:noAutofit/>
          </a:bodyPr>
          <a:lstStyle/>
          <a:p>
            <a:pPr algn="l">
              <a:spcBef>
                <a:spcPts val="0"/>
              </a:spcBef>
              <a:spcAft>
                <a:spcPts val="0"/>
              </a:spcAft>
            </a:pPr>
            <a:r>
              <a:rPr sz="1150" b="1" i="0" lang="id-ID">
                <a:solidFill>
                  <a:srgbClr val="0F172A"/>
                </a:solidFill>
                <a:latin typeface="Calibri"/>
              </a:rPr>
              <a:t>Kasus dengan insisivus terkena dan prevalensi HSPM</a:t>
            </a:r>
          </a:p>
        </p:txBody>
      </p:sp>
      <p:sp>
        <p:nvSpPr>
          <p:cNvPr id="46" name="TextBox 45"/>
          <p:cNvSpPr txBox="1"/>
          <p:nvPr/>
        </p:nvSpPr>
        <p:spPr>
          <a:xfrm>
            <a:off x="7132320" y="5340096"/>
            <a:ext cx="4315968" cy="384048"/>
          </a:xfrm>
          <a:prstGeom prst="rect">
            <a:avLst/>
          </a:prstGeom>
          <a:noFill/>
        </p:spPr>
        <p:txBody>
          <a:bodyPr wrap="square" lIns="18288" rIns="18288" tIns="0" bIns="0" anchor="ctr">
            <a:noAutofit/>
          </a:bodyPr>
          <a:lstStyle/>
          <a:p>
            <a:pPr algn="l">
              <a:spcBef>
                <a:spcPts val="0"/>
              </a:spcBef>
              <a:spcAft>
                <a:spcPts val="0"/>
              </a:spcAft>
            </a:pPr>
            <a:r>
              <a:rPr sz="1050" b="0" i="0" lang="id-ID">
                <a:solidFill>
                  <a:srgbClr val="6B7B87"/>
                </a:solidFill>
                <a:latin typeface="Calibri"/>
              </a:rPr>
              <a:t>molar kedua sulung yang juga hipomineralisasi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METODE · 1</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Cara penulis mencari bukti</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06</a:t>
            </a:r>
          </a:p>
        </p:txBody>
      </p:sp>
      <p:sp>
        <p:nvSpPr>
          <p:cNvPr id="11" name="Rounded Rectangle 10"/>
          <p:cNvSpPr/>
          <p:nvPr/>
        </p:nvSpPr>
        <p:spPr>
          <a:xfrm>
            <a:off x="548640" y="1572768"/>
            <a:ext cx="5394960" cy="1389888"/>
          </a:xfrm>
          <a:prstGeom prst="roundRect">
            <a:avLst>
              <a:gd name="adj" fmla="val 5921"/>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9928"/>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Desain dan registrasi</a:t>
            </a:r>
          </a:p>
        </p:txBody>
      </p:sp>
      <p:sp>
        <p:nvSpPr>
          <p:cNvPr id="13" name="TextBox 12"/>
          <p:cNvSpPr txBox="1"/>
          <p:nvPr/>
        </p:nvSpPr>
        <p:spPr>
          <a:xfrm>
            <a:off x="713232" y="2029968"/>
            <a:ext cx="5065776" cy="786384"/>
          </a:xfrm>
          <a:prstGeom prst="rect">
            <a:avLst/>
          </a:prstGeom>
          <a:noFill/>
        </p:spPr>
        <p:txBody>
          <a:bodyPr wrap="square" lIns="18288" rIns="18288" tIns="0" bIns="0" anchor="t">
            <a:noAutofit/>
          </a:bodyPr>
          <a:lstStyle/>
          <a:p>
            <a:pPr algn="l">
              <a:lnSpc>
                <a:spcPct val="106000"/>
              </a:lnSpc>
              <a:spcBef>
                <a:spcPts val="0"/>
              </a:spcBef>
              <a:spcAft>
                <a:spcPts val="0"/>
              </a:spcAft>
            </a:pPr>
            <a:r>
              <a:rPr sz="1100" b="0" i="0" lang="id-ID">
                <a:solidFill>
                  <a:srgbClr val="3C4A55"/>
                </a:solidFill>
                <a:latin typeface="Calibri"/>
              </a:rPr>
              <a:t>Systematic review dan meta-analisis, dilaporkan mengikuti pedoman PRISMA. Protokolnya didaftarkan lebih dulu di PROSPERO, nomor CRD42021229435.</a:t>
            </a:r>
          </a:p>
        </p:txBody>
      </p:sp>
      <p:sp>
        <p:nvSpPr>
          <p:cNvPr id="14" name="Rounded Rectangle 13"/>
          <p:cNvSpPr/>
          <p:nvPr/>
        </p:nvSpPr>
        <p:spPr>
          <a:xfrm>
            <a:off x="548640" y="3108960"/>
            <a:ext cx="5394960" cy="2834640"/>
          </a:xfrm>
          <a:prstGeom prst="roundRect">
            <a:avLst>
              <a:gd name="adj" fmla="val 2903"/>
            </a:avLst>
          </a:prstGeom>
          <a:solidFill>
            <a:srgbClr val="FCF6EA"/>
          </a:solidFill>
          <a:ln w="9525">
            <a:solidFill>
              <a:srgbClr val="EBD8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3232" y="3255264"/>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B45309"/>
                </a:solidFill>
                <a:latin typeface="Calibri"/>
              </a:rPr>
              <a:t>Catatan pembacaan</a:t>
            </a:r>
          </a:p>
        </p:txBody>
      </p:sp>
      <p:sp>
        <p:nvSpPr>
          <p:cNvPr id="16" name="TextBox 15"/>
          <p:cNvSpPr txBox="1"/>
          <p:nvPr/>
        </p:nvSpPr>
        <p:spPr>
          <a:xfrm>
            <a:off x="713232" y="3584448"/>
            <a:ext cx="5065776" cy="2157984"/>
          </a:xfrm>
          <a:prstGeom prst="rect">
            <a:avLst/>
          </a:prstGeom>
          <a:noFill/>
        </p:spPr>
        <p:txBody>
          <a:bodyPr wrap="square" lIns="18288" rIns="18288" tIns="0" bIns="0" anchor="t">
            <a:noAutofit/>
          </a:bodyPr>
          <a:lstStyle/>
          <a:p>
            <a:pPr algn="l">
              <a:lnSpc>
                <a:spcPct val="106000"/>
              </a:lnSpc>
              <a:spcBef>
                <a:spcPts val="0"/>
              </a:spcBef>
              <a:spcAft>
                <a:spcPts val="600"/>
              </a:spcAft>
            </a:pPr>
            <a:r>
              <a:rPr sz="1100" b="0" i="0" lang="id-ID">
                <a:solidFill>
                  <a:srgbClr val="3C4A55"/>
                </a:solidFill>
                <a:latin typeface="Calibri"/>
              </a:rPr>
              <a:t>PubMed dan MEDLINE disebut sebagai dua entri terpisah, sedangkan EMBASE hanya muncul pada bagian strategi pencarian.</a:t>
            </a:r>
          </a:p>
          <a:p>
            <a:pPr algn="l">
              <a:lnSpc>
                <a:spcPct val="106000"/>
              </a:lnSpc>
              <a:spcBef>
                <a:spcPts val="0"/>
              </a:spcBef>
              <a:spcAft>
                <a:spcPts val="600"/>
              </a:spcAft>
            </a:pPr>
            <a:r>
              <a:rPr sz="1100" b="0" i="0" lang="id-ID">
                <a:solidFill>
                  <a:srgbClr val="3C4A55"/>
                </a:solidFill>
                <a:latin typeface="Calibri"/>
              </a:rPr>
              <a:t>Keduanya lazim dalam praktik systematic review, tetapi angka tujuh basis data sebaiknya tidak dikutip tanpa catatan ini. Untuk replikasi, periksa lampiran artikel.</a:t>
            </a:r>
          </a:p>
        </p:txBody>
      </p:sp>
      <p:sp>
        <p:nvSpPr>
          <p:cNvPr id="17" name="Rounded Rectangle 16"/>
          <p:cNvSpPr/>
          <p:nvPr/>
        </p:nvSpPr>
        <p:spPr>
          <a:xfrm>
            <a:off x="6245352" y="1572768"/>
            <a:ext cx="5394960" cy="2542032"/>
          </a:xfrm>
          <a:prstGeom prst="roundRect">
            <a:avLst>
              <a:gd name="adj" fmla="val 323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9944" y="1709928"/>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Basis data dan tanggal</a:t>
            </a:r>
          </a:p>
        </p:txBody>
      </p:sp>
      <p:sp>
        <p:nvSpPr>
          <p:cNvPr id="19" name="Rounded Rectangle 18"/>
          <p:cNvSpPr/>
          <p:nvPr/>
        </p:nvSpPr>
        <p:spPr>
          <a:xfrm>
            <a:off x="6409944" y="2011680"/>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47104" y="2130552"/>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PubMed</a:t>
            </a:r>
          </a:p>
        </p:txBody>
      </p:sp>
      <p:sp>
        <p:nvSpPr>
          <p:cNvPr id="21" name="Rounded Rectangle 20"/>
          <p:cNvSpPr/>
          <p:nvPr/>
        </p:nvSpPr>
        <p:spPr>
          <a:xfrm>
            <a:off x="8741664" y="2011680"/>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78824" y="2130552"/>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MEDLINE</a:t>
            </a:r>
          </a:p>
        </p:txBody>
      </p:sp>
      <p:sp>
        <p:nvSpPr>
          <p:cNvPr id="23" name="Rounded Rectangle 22"/>
          <p:cNvSpPr/>
          <p:nvPr/>
        </p:nvSpPr>
        <p:spPr>
          <a:xfrm>
            <a:off x="6409944" y="2450592"/>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47104" y="2569464"/>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CENTRAL</a:t>
            </a:r>
          </a:p>
        </p:txBody>
      </p:sp>
      <p:sp>
        <p:nvSpPr>
          <p:cNvPr id="25" name="Rounded Rectangle 24"/>
          <p:cNvSpPr/>
          <p:nvPr/>
        </p:nvSpPr>
        <p:spPr>
          <a:xfrm>
            <a:off x="8741664" y="2450592"/>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78824" y="2569464"/>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Web of Science</a:t>
            </a:r>
          </a:p>
        </p:txBody>
      </p:sp>
      <p:sp>
        <p:nvSpPr>
          <p:cNvPr id="27" name="Rounded Rectangle 26"/>
          <p:cNvSpPr/>
          <p:nvPr/>
        </p:nvSpPr>
        <p:spPr>
          <a:xfrm>
            <a:off x="6409944" y="2889504"/>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47104" y="3008376"/>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SciELO</a:t>
            </a:r>
          </a:p>
        </p:txBody>
      </p:sp>
      <p:sp>
        <p:nvSpPr>
          <p:cNvPr id="29" name="Rounded Rectangle 28"/>
          <p:cNvSpPr/>
          <p:nvPr/>
        </p:nvSpPr>
        <p:spPr>
          <a:xfrm>
            <a:off x="8741664" y="2889504"/>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878824" y="3008376"/>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LILACS</a:t>
            </a:r>
          </a:p>
        </p:txBody>
      </p:sp>
      <p:sp>
        <p:nvSpPr>
          <p:cNvPr id="31" name="Rounded Rectangle 30"/>
          <p:cNvSpPr/>
          <p:nvPr/>
        </p:nvSpPr>
        <p:spPr>
          <a:xfrm>
            <a:off x="6409944" y="3328416"/>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47104" y="3447288"/>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TRIP</a:t>
            </a:r>
          </a:p>
        </p:txBody>
      </p:sp>
      <p:sp>
        <p:nvSpPr>
          <p:cNvPr id="33" name="Rounded Rectangle 32"/>
          <p:cNvSpPr/>
          <p:nvPr/>
        </p:nvSpPr>
        <p:spPr>
          <a:xfrm>
            <a:off x="8741664" y="3328416"/>
            <a:ext cx="2176272" cy="420624"/>
          </a:xfrm>
          <a:prstGeom prst="roundRect">
            <a:avLst>
              <a:gd name="adj" fmla="val 50000"/>
            </a:avLst>
          </a:prstGeom>
          <a:solidFill>
            <a:srgbClr val="EFF4F6"/>
          </a:solidFill>
          <a:ln w="9525">
            <a:solidFill>
              <a:srgbClr val="E4EB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878824" y="3447288"/>
            <a:ext cx="1901952" cy="164592"/>
          </a:xfrm>
          <a:prstGeom prst="rect">
            <a:avLst/>
          </a:prstGeom>
          <a:noFill/>
        </p:spPr>
        <p:txBody>
          <a:bodyPr wrap="square" lIns="18288" rIns="18288" tIns="0" bIns="0" anchor="t">
            <a:noAutofit/>
          </a:bodyPr>
          <a:lstStyle/>
          <a:p>
            <a:pPr algn="ctr">
              <a:spcBef>
                <a:spcPts val="0"/>
              </a:spcBef>
              <a:spcAft>
                <a:spcPts val="0"/>
              </a:spcAft>
            </a:pPr>
            <a:r>
              <a:rPr sz="1000" b="0" i="0" lang="id-ID">
                <a:solidFill>
                  <a:srgbClr val="3C4A55"/>
                </a:solidFill>
                <a:latin typeface="Calibri"/>
              </a:rPr>
              <a:t>EMBASE (strategi)</a:t>
            </a:r>
          </a:p>
        </p:txBody>
      </p:sp>
      <p:sp>
        <p:nvSpPr>
          <p:cNvPr id="35" name="TextBox 34"/>
          <p:cNvSpPr txBox="1"/>
          <p:nvPr/>
        </p:nvSpPr>
        <p:spPr>
          <a:xfrm>
            <a:off x="6409944" y="3785615"/>
            <a:ext cx="5065776" cy="182880"/>
          </a:xfrm>
          <a:prstGeom prst="rect">
            <a:avLst/>
          </a:prstGeom>
          <a:noFill/>
        </p:spPr>
        <p:txBody>
          <a:bodyPr wrap="square" lIns="18288" rIns="18288" tIns="0" bIns="0" anchor="t">
            <a:noAutofit/>
          </a:bodyPr>
          <a:lstStyle/>
          <a:p>
            <a:pPr algn="l">
              <a:spcBef>
                <a:spcPts val="0"/>
              </a:spcBef>
              <a:spcAft>
                <a:spcPts val="0"/>
              </a:spcAft>
            </a:pPr>
            <a:r>
              <a:rPr sz="1050" b="1" i="0" lang="id-ID">
                <a:solidFill>
                  <a:srgbClr val="155E75"/>
                </a:solidFill>
                <a:latin typeface="Calibri"/>
              </a:rPr>
              <a:t>Pencarian sampai Juli 2021</a:t>
            </a:r>
          </a:p>
        </p:txBody>
      </p:sp>
      <p:sp>
        <p:nvSpPr>
          <p:cNvPr id="36" name="Rounded Rectangle 35"/>
          <p:cNvSpPr/>
          <p:nvPr/>
        </p:nvSpPr>
        <p:spPr>
          <a:xfrm>
            <a:off x="6245352" y="4315968"/>
            <a:ext cx="5394960" cy="1627632"/>
          </a:xfrm>
          <a:prstGeom prst="roundRect">
            <a:avLst>
              <a:gd name="adj" fmla="val 5056"/>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9944" y="4443984"/>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Algoritma pencarian</a:t>
            </a:r>
          </a:p>
        </p:txBody>
      </p:sp>
      <p:sp>
        <p:nvSpPr>
          <p:cNvPr id="38" name="TextBox 37"/>
          <p:cNvSpPr txBox="1"/>
          <p:nvPr/>
        </p:nvSpPr>
        <p:spPr>
          <a:xfrm>
            <a:off x="6409944" y="4773168"/>
            <a:ext cx="5065776" cy="1024128"/>
          </a:xfrm>
          <a:prstGeom prst="rect">
            <a:avLst/>
          </a:prstGeom>
          <a:noFill/>
        </p:spPr>
        <p:txBody>
          <a:bodyPr wrap="square" lIns="18288" rIns="18288" tIns="0" bIns="0" anchor="t">
            <a:noAutofit/>
          </a:bodyPr>
          <a:lstStyle/>
          <a:p>
            <a:pPr algn="l">
              <a:lnSpc>
                <a:spcPct val="105000"/>
              </a:lnSpc>
              <a:spcBef>
                <a:spcPts val="0"/>
              </a:spcBef>
              <a:spcAft>
                <a:spcPts val="0"/>
              </a:spcAft>
            </a:pPr>
            <a:r>
              <a:rPr sz="950" b="0" i="0" lang="id-ID">
                <a:solidFill>
                  <a:srgbClr val="3C4A55"/>
                </a:solidFill>
                <a:latin typeface="Consolas"/>
              </a:rPr>
              <a:t>(hypomineralization OR hypomineralisation OR hypomineralized OR hypoplasia OR demarcated OR opacities OR MIH OR cheese molars) AND (survey OR cross-sectional OR prevalence) AND (molar OR molars OR incisors)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METODE · 2</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Cara penulis menyaring dan menimbang bukti</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07</a:t>
            </a:r>
          </a:p>
        </p:txBody>
      </p:sp>
      <p:sp>
        <p:nvSpPr>
          <p:cNvPr id="11" name="Rounded Rectangle 10"/>
          <p:cNvSpPr/>
          <p:nvPr/>
        </p:nvSpPr>
        <p:spPr>
          <a:xfrm>
            <a:off x="548640" y="1572768"/>
            <a:ext cx="5394960" cy="2048256"/>
          </a:xfrm>
          <a:prstGeom prst="roundRect">
            <a:avLst>
              <a:gd name="adj" fmla="val 401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9928"/>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Kriteria inklusi</a:t>
            </a:r>
          </a:p>
        </p:txBody>
      </p:sp>
      <p:sp>
        <p:nvSpPr>
          <p:cNvPr id="13" name="TextBox 12"/>
          <p:cNvSpPr txBox="1"/>
          <p:nvPr/>
        </p:nvSpPr>
        <p:spPr>
          <a:xfrm>
            <a:off x="713232" y="2048256"/>
            <a:ext cx="5065776" cy="1444752"/>
          </a:xfrm>
          <a:prstGeom prst="rect">
            <a:avLst/>
          </a:prstGeom>
          <a:noFill/>
        </p:spPr>
        <p:txBody>
          <a:bodyPr wrap="square" lIns="18288" rIns="18288" tIns="0" bIns="0" anchor="t">
            <a:noAutofit/>
          </a:bodyPr>
          <a:lstStyle/>
          <a:p>
            <a:pPr algn="l">
              <a:lnSpc>
                <a:spcPct val="96000"/>
              </a:lnSpc>
              <a:spcBef>
                <a:spcPts val="0"/>
              </a:spcBef>
              <a:spcAft>
                <a:spcPts val="500"/>
              </a:spcAft>
            </a:pPr>
            <a:r>
              <a:rPr sz="1100" b="0" i="0" lang="id-ID">
                <a:solidFill>
                  <a:srgbClr val="3C4A55"/>
                </a:solidFill>
                <a:latin typeface="Calibri"/>
              </a:rPr>
              <a:t>•  Studi observasional yang melaporkan prevalensi MIH</a:t>
            </a:r>
          </a:p>
          <a:p>
            <a:pPr algn="l">
              <a:lnSpc>
                <a:spcPct val="96000"/>
              </a:lnSpc>
              <a:spcBef>
                <a:spcPts val="0"/>
              </a:spcBef>
              <a:spcAft>
                <a:spcPts val="500"/>
              </a:spcAft>
            </a:pPr>
            <a:r>
              <a:rPr sz="1100" b="0" i="0" lang="id-ID">
                <a:solidFill>
                  <a:srgbClr val="3C4A55"/>
                </a:solidFill>
                <a:latin typeface="Calibri"/>
              </a:rPr>
              <a:t>•  Definisi MIH dijelaskan dengan jelas</a:t>
            </a:r>
          </a:p>
          <a:p>
            <a:pPr algn="l">
              <a:lnSpc>
                <a:spcPct val="96000"/>
              </a:lnSpc>
              <a:spcBef>
                <a:spcPts val="0"/>
              </a:spcBef>
              <a:spcAft>
                <a:spcPts val="500"/>
              </a:spcAft>
            </a:pPr>
            <a:r>
              <a:rPr sz="1100" b="0" i="0" lang="id-ID">
                <a:solidFill>
                  <a:srgbClr val="3C4A55"/>
                </a:solidFill>
                <a:latin typeface="Calibri"/>
              </a:rPr>
              <a:t>•  Subjek tanpa kelainan sistemik</a:t>
            </a:r>
          </a:p>
          <a:p>
            <a:pPr algn="l">
              <a:lnSpc>
                <a:spcPct val="96000"/>
              </a:lnSpc>
              <a:spcBef>
                <a:spcPts val="0"/>
              </a:spcBef>
              <a:spcAft>
                <a:spcPts val="500"/>
              </a:spcAft>
            </a:pPr>
            <a:r>
              <a:rPr sz="1100" b="0" i="0" lang="id-ID">
                <a:solidFill>
                  <a:srgbClr val="3C4A55"/>
                </a:solidFill>
                <a:latin typeface="Calibri"/>
              </a:rPr>
              <a:t>•  Kedua jenis kelamin diikutsertakan</a:t>
            </a:r>
          </a:p>
        </p:txBody>
      </p:sp>
      <p:sp>
        <p:nvSpPr>
          <p:cNvPr id="14" name="Rounded Rectangle 13"/>
          <p:cNvSpPr/>
          <p:nvPr/>
        </p:nvSpPr>
        <p:spPr>
          <a:xfrm>
            <a:off x="6245352" y="1572768"/>
            <a:ext cx="5394960" cy="2048256"/>
          </a:xfrm>
          <a:prstGeom prst="roundRect">
            <a:avLst>
              <a:gd name="adj" fmla="val 401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9944" y="1709928"/>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Kriteria eksklusi</a:t>
            </a:r>
          </a:p>
        </p:txBody>
      </p:sp>
      <p:sp>
        <p:nvSpPr>
          <p:cNvPr id="16" name="TextBox 15"/>
          <p:cNvSpPr txBox="1"/>
          <p:nvPr/>
        </p:nvSpPr>
        <p:spPr>
          <a:xfrm>
            <a:off x="6409944" y="2048256"/>
            <a:ext cx="5065776" cy="1444752"/>
          </a:xfrm>
          <a:prstGeom prst="rect">
            <a:avLst/>
          </a:prstGeom>
          <a:noFill/>
        </p:spPr>
        <p:txBody>
          <a:bodyPr wrap="square" lIns="18288" rIns="18288" tIns="0" bIns="0" anchor="t">
            <a:noAutofit/>
          </a:bodyPr>
          <a:lstStyle/>
          <a:p>
            <a:pPr algn="l">
              <a:lnSpc>
                <a:spcPct val="96000"/>
              </a:lnSpc>
              <a:spcBef>
                <a:spcPts val="0"/>
              </a:spcBef>
              <a:spcAft>
                <a:spcPts val="500"/>
              </a:spcAft>
            </a:pPr>
            <a:r>
              <a:rPr sz="1100" b="0" i="0" lang="id-ID">
                <a:solidFill>
                  <a:srgbClr val="3C4A55"/>
                </a:solidFill>
                <a:latin typeface="Calibri"/>
              </a:rPr>
              <a:t>•  Populasi khusus, misalnya anak yang lahir prematur</a:t>
            </a:r>
          </a:p>
          <a:p>
            <a:pPr algn="l">
              <a:lnSpc>
                <a:spcPct val="96000"/>
              </a:lnSpc>
              <a:spcBef>
                <a:spcPts val="0"/>
              </a:spcBef>
              <a:spcAft>
                <a:spcPts val="500"/>
              </a:spcAft>
            </a:pPr>
            <a:r>
              <a:rPr sz="1100" b="0" i="0" lang="id-ID">
                <a:solidFill>
                  <a:srgbClr val="3C4A55"/>
                </a:solidFill>
                <a:latin typeface="Calibri"/>
              </a:rPr>
              <a:t>•  Studi yang hanya melaporkan molar sulung</a:t>
            </a:r>
          </a:p>
          <a:p>
            <a:pPr algn="l">
              <a:lnSpc>
                <a:spcPct val="96000"/>
              </a:lnSpc>
              <a:spcBef>
                <a:spcPts val="0"/>
              </a:spcBef>
              <a:spcAft>
                <a:spcPts val="500"/>
              </a:spcAft>
            </a:pPr>
            <a:r>
              <a:rPr sz="1100" b="0" i="0" lang="id-ID">
                <a:solidFill>
                  <a:srgbClr val="3C4A55"/>
                </a:solidFill>
                <a:latin typeface="Calibri"/>
              </a:rPr>
              <a:t>•  Sampel non-representatif, misalnya pasien satu institusi atau kelompok dengan karies tinggi</a:t>
            </a:r>
          </a:p>
        </p:txBody>
      </p:sp>
      <p:sp>
        <p:nvSpPr>
          <p:cNvPr id="17" name="Rounded Rectangle 16"/>
          <p:cNvSpPr/>
          <p:nvPr/>
        </p:nvSpPr>
        <p:spPr>
          <a:xfrm>
            <a:off x="548640" y="3785615"/>
            <a:ext cx="5394960" cy="2048256"/>
          </a:xfrm>
          <a:prstGeom prst="roundRect">
            <a:avLst>
              <a:gd name="adj" fmla="val 401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3922776"/>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Seleksi dan risiko bias</a:t>
            </a:r>
          </a:p>
        </p:txBody>
      </p:sp>
      <p:sp>
        <p:nvSpPr>
          <p:cNvPr id="19" name="TextBox 18"/>
          <p:cNvSpPr txBox="1"/>
          <p:nvPr/>
        </p:nvSpPr>
        <p:spPr>
          <a:xfrm>
            <a:off x="713232" y="4261104"/>
            <a:ext cx="5065776" cy="1444752"/>
          </a:xfrm>
          <a:prstGeom prst="rect">
            <a:avLst/>
          </a:prstGeom>
          <a:noFill/>
        </p:spPr>
        <p:txBody>
          <a:bodyPr wrap="square" lIns="18288" rIns="18288" tIns="0" bIns="0" anchor="t">
            <a:noAutofit/>
          </a:bodyPr>
          <a:lstStyle/>
          <a:p>
            <a:pPr algn="l">
              <a:lnSpc>
                <a:spcPct val="96000"/>
              </a:lnSpc>
              <a:spcBef>
                <a:spcPts val="0"/>
              </a:spcBef>
              <a:spcAft>
                <a:spcPts val="500"/>
              </a:spcAft>
            </a:pPr>
            <a:r>
              <a:rPr sz="1100" b="0" i="0" lang="id-ID">
                <a:solidFill>
                  <a:srgbClr val="3C4A55"/>
                </a:solidFill>
                <a:latin typeface="Calibri"/>
              </a:rPr>
              <a:t>•  Penyaringan oleh dua peneliti independen</a:t>
            </a:r>
          </a:p>
          <a:p>
            <a:pPr algn="l">
              <a:lnSpc>
                <a:spcPct val="96000"/>
              </a:lnSpc>
              <a:spcBef>
                <a:spcPts val="0"/>
              </a:spcBef>
              <a:spcAft>
                <a:spcPts val="500"/>
              </a:spcAft>
            </a:pPr>
            <a:r>
              <a:rPr sz="1100" b="0" i="0" lang="id-ID">
                <a:solidFill>
                  <a:srgbClr val="3C4A55"/>
                </a:solidFill>
                <a:latin typeface="Calibri"/>
              </a:rPr>
              <a:t>•  Kesepakatan antar-penilai κ = 0,885</a:t>
            </a:r>
          </a:p>
          <a:p>
            <a:pPr algn="l">
              <a:lnSpc>
                <a:spcPct val="96000"/>
              </a:lnSpc>
              <a:spcBef>
                <a:spcPts val="0"/>
              </a:spcBef>
              <a:spcAft>
                <a:spcPts val="500"/>
              </a:spcAft>
            </a:pPr>
            <a:r>
              <a:rPr sz="1100" b="0" i="0" lang="id-ID">
                <a:solidFill>
                  <a:srgbClr val="3C4A55"/>
                </a:solidFill>
                <a:latin typeface="Calibri"/>
              </a:rPr>
              <a:t>•  Mutu dinilai dengan Newcastle–Ottawa Scale</a:t>
            </a:r>
          </a:p>
        </p:txBody>
      </p:sp>
      <p:sp>
        <p:nvSpPr>
          <p:cNvPr id="20" name="Rounded Rectangle 19"/>
          <p:cNvSpPr/>
          <p:nvPr/>
        </p:nvSpPr>
        <p:spPr>
          <a:xfrm>
            <a:off x="6245352" y="3785615"/>
            <a:ext cx="5394960" cy="2048256"/>
          </a:xfrm>
          <a:prstGeom prst="roundRect">
            <a:avLst>
              <a:gd name="adj" fmla="val 401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9944" y="3922776"/>
            <a:ext cx="5065776"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Analisis</a:t>
            </a:r>
          </a:p>
        </p:txBody>
      </p:sp>
      <p:sp>
        <p:nvSpPr>
          <p:cNvPr id="22" name="TextBox 21"/>
          <p:cNvSpPr txBox="1"/>
          <p:nvPr/>
        </p:nvSpPr>
        <p:spPr>
          <a:xfrm>
            <a:off x="6409944" y="4261104"/>
            <a:ext cx="5065776" cy="1444752"/>
          </a:xfrm>
          <a:prstGeom prst="rect">
            <a:avLst/>
          </a:prstGeom>
          <a:noFill/>
        </p:spPr>
        <p:txBody>
          <a:bodyPr wrap="square" lIns="18288" rIns="18288" tIns="0" bIns="0" anchor="t">
            <a:noAutofit/>
          </a:bodyPr>
          <a:lstStyle/>
          <a:p>
            <a:pPr algn="l">
              <a:lnSpc>
                <a:spcPct val="96000"/>
              </a:lnSpc>
              <a:spcBef>
                <a:spcPts val="0"/>
              </a:spcBef>
              <a:spcAft>
                <a:spcPts val="500"/>
              </a:spcAft>
            </a:pPr>
            <a:r>
              <a:rPr sz="1100" b="0" i="0" lang="id-ID">
                <a:solidFill>
                  <a:srgbClr val="3C4A55"/>
                </a:solidFill>
                <a:latin typeface="Calibri"/>
              </a:rPr>
              <a:t>•  Model random-effects untuk prevalensi</a:t>
            </a:r>
          </a:p>
          <a:p>
            <a:pPr algn="l">
              <a:lnSpc>
                <a:spcPct val="96000"/>
              </a:lnSpc>
              <a:spcBef>
                <a:spcPts val="0"/>
              </a:spcBef>
              <a:spcAft>
                <a:spcPts val="500"/>
              </a:spcAft>
            </a:pPr>
            <a:r>
              <a:rPr sz="1100" b="0" i="0" lang="id-ID">
                <a:solidFill>
                  <a:srgbClr val="3C4A55"/>
                </a:solidFill>
                <a:latin typeface="Calibri"/>
              </a:rPr>
              <a:t>•  Heterogenitas diuji dengan I², bias publikasi dengan uji Egger</a:t>
            </a:r>
          </a:p>
          <a:p>
            <a:pPr algn="l">
              <a:lnSpc>
                <a:spcPct val="96000"/>
              </a:lnSpc>
              <a:spcBef>
                <a:spcPts val="0"/>
              </a:spcBef>
              <a:spcAft>
                <a:spcPts val="500"/>
              </a:spcAft>
            </a:pPr>
            <a:r>
              <a:rPr sz="1100" b="0" i="0" lang="id-ID">
                <a:solidFill>
                  <a:srgbClr val="3C4A55"/>
                </a:solidFill>
                <a:latin typeface="Calibri"/>
              </a:rPr>
              <a:t>•  Kepastian bukti dinilai memakai SORT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HASIL · 1</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116 studi lolos seleksi, dan mutunya tinggi</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08</a:t>
            </a:r>
          </a:p>
        </p:txBody>
      </p:sp>
      <p:sp>
        <p:nvSpPr>
          <p:cNvPr id="11" name="Rounded Rectangle 10"/>
          <p:cNvSpPr/>
          <p:nvPr/>
        </p:nvSpPr>
        <p:spPr>
          <a:xfrm>
            <a:off x="548640" y="1572768"/>
            <a:ext cx="3525926" cy="1298448"/>
          </a:xfrm>
          <a:prstGeom prst="roundRect">
            <a:avLst>
              <a:gd name="adj" fmla="val 63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116</a:t>
            </a:r>
          </a:p>
        </p:txBody>
      </p:sp>
      <p:sp>
        <p:nvSpPr>
          <p:cNvPr id="13" name="TextBox 12"/>
          <p:cNvSpPr txBox="1"/>
          <p:nvPr/>
        </p:nvSpPr>
        <p:spPr>
          <a:xfrm>
            <a:off x="713232"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Studi dimasukkan</a:t>
            </a:r>
          </a:p>
        </p:txBody>
      </p:sp>
      <p:sp>
        <p:nvSpPr>
          <p:cNvPr id="14" name="TextBox 13"/>
          <p:cNvSpPr txBox="1"/>
          <p:nvPr/>
        </p:nvSpPr>
        <p:spPr>
          <a:xfrm>
            <a:off x="713232" y="2523744"/>
            <a:ext cx="3196742" cy="182880"/>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studi observasional memenuhi kriteria</a:t>
            </a:r>
          </a:p>
        </p:txBody>
      </p:sp>
      <p:sp>
        <p:nvSpPr>
          <p:cNvPr id="15" name="Rounded Rectangle 14"/>
          <p:cNvSpPr/>
          <p:nvPr/>
        </p:nvSpPr>
        <p:spPr>
          <a:xfrm>
            <a:off x="4330598" y="1572768"/>
            <a:ext cx="3525926" cy="1298448"/>
          </a:xfrm>
          <a:prstGeom prst="roundRect">
            <a:avLst>
              <a:gd name="adj" fmla="val 63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95190"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133.734</a:t>
            </a:r>
          </a:p>
        </p:txBody>
      </p:sp>
      <p:sp>
        <p:nvSpPr>
          <p:cNvPr id="17" name="TextBox 16"/>
          <p:cNvSpPr txBox="1"/>
          <p:nvPr/>
        </p:nvSpPr>
        <p:spPr>
          <a:xfrm>
            <a:off x="4495190"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Peserta analisis awal</a:t>
            </a:r>
          </a:p>
        </p:txBody>
      </p:sp>
      <p:sp>
        <p:nvSpPr>
          <p:cNvPr id="18" name="TextBox 17"/>
          <p:cNvSpPr txBox="1"/>
          <p:nvPr/>
        </p:nvSpPr>
        <p:spPr>
          <a:xfrm>
            <a:off x="4495190" y="2523744"/>
            <a:ext cx="3196742" cy="182880"/>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semua jenis klasifikasi diagnostik</a:t>
            </a:r>
          </a:p>
        </p:txBody>
      </p:sp>
      <p:sp>
        <p:nvSpPr>
          <p:cNvPr id="19" name="Rounded Rectangle 18"/>
          <p:cNvSpPr/>
          <p:nvPr/>
        </p:nvSpPr>
        <p:spPr>
          <a:xfrm>
            <a:off x="8112556" y="1572768"/>
            <a:ext cx="3525926" cy="1298448"/>
          </a:xfrm>
          <a:prstGeom prst="roundRect">
            <a:avLst>
              <a:gd name="adj" fmla="val 63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77148"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113.089</a:t>
            </a:r>
          </a:p>
        </p:txBody>
      </p:sp>
      <p:sp>
        <p:nvSpPr>
          <p:cNvPr id="21" name="TextBox 20"/>
          <p:cNvSpPr txBox="1"/>
          <p:nvPr/>
        </p:nvSpPr>
        <p:spPr>
          <a:xfrm>
            <a:off x="8277148"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Peserta analisis utama</a:t>
            </a:r>
          </a:p>
        </p:txBody>
      </p:sp>
      <p:sp>
        <p:nvSpPr>
          <p:cNvPr id="22" name="TextBox 21"/>
          <p:cNvSpPr txBox="1"/>
          <p:nvPr/>
        </p:nvSpPr>
        <p:spPr>
          <a:xfrm>
            <a:off x="8277148" y="2523744"/>
            <a:ext cx="3196742" cy="182880"/>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dari 98 studi berkriteria EAPD 2003</a:t>
            </a:r>
          </a:p>
        </p:txBody>
      </p:sp>
      <p:sp>
        <p:nvSpPr>
          <p:cNvPr id="23" name="Rounded Rectangle 22"/>
          <p:cNvSpPr/>
          <p:nvPr/>
        </p:nvSpPr>
        <p:spPr>
          <a:xfrm>
            <a:off x="548640" y="3054096"/>
            <a:ext cx="6949440" cy="2889504"/>
          </a:xfrm>
          <a:prstGeom prst="roundRect">
            <a:avLst>
              <a:gd name="adj" fmla="val 284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3200400"/>
            <a:ext cx="621792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Distribusi skor Newcastle–Ottawa Scale</a:t>
            </a:r>
          </a:p>
        </p:txBody>
      </p:sp>
      <p:graphicFrame>
        <p:nvGraphicFramePr>
          <p:cNvPr id="25" name="Chart 24"/>
          <p:cNvGraphicFramePr>
            <a:graphicFrameLocks noGrp="1"/>
          </p:cNvGraphicFramePr>
          <p:nvPr/>
        </p:nvGraphicFramePr>
        <p:xfrm>
          <a:off x="822960" y="3547872"/>
          <a:ext cx="6400800" cy="2212848"/>
        </p:xfrm>
        <a:graphic>
          <a:graphicData uri="http://schemas.openxmlformats.org/drawingml/2006/chart">
            <c:chart xmlns:c="http://schemas.openxmlformats.org/drawingml/2006/chart" r:id="rId2"/>
          </a:graphicData>
        </a:graphic>
      </p:graphicFrame>
      <p:sp>
        <p:nvSpPr>
          <p:cNvPr id="26" name="Rounded Rectangle 25"/>
          <p:cNvSpPr/>
          <p:nvPr/>
        </p:nvSpPr>
        <p:spPr>
          <a:xfrm>
            <a:off x="7754112" y="3054096"/>
            <a:ext cx="3886200" cy="2889504"/>
          </a:xfrm>
          <a:prstGeom prst="roundRect">
            <a:avLst>
              <a:gd name="adj" fmla="val 284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36992" y="3200400"/>
            <a:ext cx="352044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Catatan mutu</a:t>
            </a:r>
          </a:p>
        </p:txBody>
      </p:sp>
      <p:sp>
        <p:nvSpPr>
          <p:cNvPr id="28" name="TextBox 27"/>
          <p:cNvSpPr txBox="1"/>
          <p:nvPr/>
        </p:nvSpPr>
        <p:spPr>
          <a:xfrm>
            <a:off x="7936992" y="3529584"/>
            <a:ext cx="3520440" cy="2212848"/>
          </a:xfrm>
          <a:prstGeom prst="rect">
            <a:avLst/>
          </a:prstGeom>
          <a:noFill/>
        </p:spPr>
        <p:txBody>
          <a:bodyPr wrap="square" lIns="18288" rIns="18288" tIns="0" bIns="0" anchor="t">
            <a:noAutofit/>
          </a:bodyPr>
          <a:lstStyle/>
          <a:p>
            <a:pPr algn="l">
              <a:lnSpc>
                <a:spcPct val="106000"/>
              </a:lnSpc>
              <a:spcBef>
                <a:spcPts val="0"/>
              </a:spcBef>
              <a:spcAft>
                <a:spcPts val="600"/>
              </a:spcAft>
            </a:pPr>
            <a:r>
              <a:rPr sz="1100" b="0" i="0" lang="id-ID">
                <a:solidFill>
                  <a:srgbClr val="3C4A55"/>
                </a:solidFill>
                <a:latin typeface="Calibri"/>
              </a:rPr>
              <a:t>Analisis utama hanya memuat studi dengan NOS 7/9 atau lebih.</a:t>
            </a:r>
          </a:p>
          <a:p>
            <a:pPr algn="l">
              <a:lnSpc>
                <a:spcPct val="106000"/>
              </a:lnSpc>
              <a:spcBef>
                <a:spcPts val="0"/>
              </a:spcBef>
              <a:spcAft>
                <a:spcPts val="600"/>
              </a:spcAft>
            </a:pPr>
            <a:r>
              <a:rPr sz="1100" b="0" i="0" lang="id-ID">
                <a:solidFill>
                  <a:srgbClr val="3C4A55"/>
                </a:solidFill>
                <a:latin typeface="Calibri"/>
              </a:rPr>
              <a:t>Kelemahan yang paling sering muncul adalah representativitas sampel: 48,7% studi tidak memenuhinya.</a:t>
            </a:r>
          </a:p>
          <a:p>
            <a:pPr algn="l">
              <a:lnSpc>
                <a:spcPct val="106000"/>
              </a:lnSpc>
              <a:spcBef>
                <a:spcPts val="0"/>
              </a:spcBef>
              <a:spcAft>
                <a:spcPts val="600"/>
              </a:spcAft>
            </a:pPr>
            <a:r>
              <a:rPr sz="1100" b="0" i="0" lang="id-ID">
                <a:solidFill>
                  <a:srgbClr val="3C4A55"/>
                </a:solidFill>
                <a:latin typeface="Calibri"/>
              </a:rPr>
              <a:t>Domain lain dinilai memadai.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HASIL · 2</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Prevalensi global 13,5%</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09</a:t>
            </a:r>
          </a:p>
        </p:txBody>
      </p:sp>
      <p:sp>
        <p:nvSpPr>
          <p:cNvPr id="11" name="Rounded Rectangle 10"/>
          <p:cNvSpPr/>
          <p:nvPr/>
        </p:nvSpPr>
        <p:spPr>
          <a:xfrm>
            <a:off x="548640" y="1572768"/>
            <a:ext cx="5852160" cy="3072384"/>
          </a:xfrm>
          <a:prstGeom prst="roundRect">
            <a:avLst>
              <a:gd name="adj" fmla="val 2678"/>
            </a:avLst>
          </a:prstGeom>
          <a:solidFill>
            <a:srgbClr val="0B2E36"/>
          </a:solidFill>
          <a:ln w="9525">
            <a:solidFill>
              <a:srgbClr val="123F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1792224"/>
            <a:ext cx="5303520" cy="256032"/>
          </a:xfrm>
          <a:prstGeom prst="rect">
            <a:avLst/>
          </a:prstGeom>
          <a:noFill/>
        </p:spPr>
        <p:txBody>
          <a:bodyPr wrap="square" lIns="18288" rIns="18288" tIns="0" bIns="0" anchor="t">
            <a:noAutofit/>
          </a:bodyPr>
          <a:lstStyle/>
          <a:p>
            <a:pPr algn="l">
              <a:spcBef>
                <a:spcPts val="0"/>
              </a:spcBef>
              <a:spcAft>
                <a:spcPts val="0"/>
              </a:spcAft>
            </a:pPr>
            <a:r>
              <a:rPr sz="1050" b="1" i="0" spc="60" lang="id-ID">
                <a:solidFill>
                  <a:srgbClr val="8FC6CE"/>
                </a:solidFill>
                <a:latin typeface="Calibri"/>
              </a:rPr>
              <a:t>Prevalensi MIH global</a:t>
            </a:r>
          </a:p>
        </p:txBody>
      </p:sp>
      <p:sp>
        <p:nvSpPr>
          <p:cNvPr id="13" name="TextBox 12"/>
          <p:cNvSpPr txBox="1"/>
          <p:nvPr/>
        </p:nvSpPr>
        <p:spPr>
          <a:xfrm>
            <a:off x="822960" y="2066543"/>
            <a:ext cx="5303520" cy="1170432"/>
          </a:xfrm>
          <a:prstGeom prst="rect">
            <a:avLst/>
          </a:prstGeom>
          <a:noFill/>
        </p:spPr>
        <p:txBody>
          <a:bodyPr wrap="square" lIns="18288" rIns="18288" tIns="0" bIns="0" anchor="t">
            <a:noAutofit/>
          </a:bodyPr>
          <a:lstStyle/>
          <a:p>
            <a:pPr algn="l">
              <a:spcBef>
                <a:spcPts val="0"/>
              </a:spcBef>
              <a:spcAft>
                <a:spcPts val="0"/>
              </a:spcAft>
            </a:pPr>
            <a:r>
              <a:rPr sz="6400" b="1" i="0" lang="id-ID">
                <a:solidFill>
                  <a:srgbClr val="FFFFFF"/>
                </a:solidFill>
                <a:latin typeface="Calibri"/>
              </a:rPr>
              <a:t>13,5%</a:t>
            </a:r>
          </a:p>
        </p:txBody>
      </p:sp>
      <p:sp>
        <p:nvSpPr>
          <p:cNvPr id="14" name="TextBox 13"/>
          <p:cNvSpPr txBox="1"/>
          <p:nvPr/>
        </p:nvSpPr>
        <p:spPr>
          <a:xfrm>
            <a:off x="822960" y="3346704"/>
            <a:ext cx="5303520" cy="274320"/>
          </a:xfrm>
          <a:prstGeom prst="rect">
            <a:avLst/>
          </a:prstGeom>
          <a:noFill/>
        </p:spPr>
        <p:txBody>
          <a:bodyPr wrap="square" lIns="18288" rIns="18288" tIns="0" bIns="0" anchor="t">
            <a:noAutofit/>
          </a:bodyPr>
          <a:lstStyle/>
          <a:p>
            <a:pPr algn="l">
              <a:spcBef>
                <a:spcPts val="0"/>
              </a:spcBef>
              <a:spcAft>
                <a:spcPts val="0"/>
              </a:spcAft>
            </a:pPr>
            <a:r>
              <a:rPr sz="1200" b="0" i="0" lang="id-ID">
                <a:solidFill>
                  <a:srgbClr val="BCD0D5"/>
                </a:solidFill>
                <a:latin typeface="Calibri"/>
              </a:rPr>
              <a:t>95% CI 12,0–15,1 · p &lt; 0,001 · n = 113.089</a:t>
            </a:r>
          </a:p>
        </p:txBody>
      </p:sp>
      <p:sp>
        <p:nvSpPr>
          <p:cNvPr id="15" name="TextBox 14"/>
          <p:cNvSpPr txBox="1"/>
          <p:nvPr/>
        </p:nvSpPr>
        <p:spPr>
          <a:xfrm>
            <a:off x="822960" y="3712463"/>
            <a:ext cx="5303520" cy="731520"/>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8AA6AC"/>
                </a:solidFill>
                <a:latin typeface="Calibri"/>
              </a:rPr>
              <a:t>Rata-rata tertimbang dari 98 studi berkriteria EAPD 2003. Bacalah sebagai gambaran beban populasi, bukan angka presisi untuk satu negara.</a:t>
            </a:r>
          </a:p>
        </p:txBody>
      </p:sp>
      <p:sp>
        <p:nvSpPr>
          <p:cNvPr id="16" name="Rounded Rectangle 15"/>
          <p:cNvSpPr/>
          <p:nvPr/>
        </p:nvSpPr>
        <p:spPr>
          <a:xfrm>
            <a:off x="6675120" y="1572768"/>
            <a:ext cx="4965192" cy="3072384"/>
          </a:xfrm>
          <a:prstGeom prst="roundRect">
            <a:avLst>
              <a:gd name="adj" fmla="val 267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76288" y="1737360"/>
            <a:ext cx="457200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Porsi anak dengan MIH</a:t>
            </a:r>
          </a:p>
        </p:txBody>
      </p:sp>
      <p:graphicFrame>
        <p:nvGraphicFramePr>
          <p:cNvPr id="18" name="Chart 17"/>
          <p:cNvGraphicFramePr>
            <a:graphicFrameLocks noGrp="1"/>
          </p:cNvGraphicFramePr>
          <p:nvPr/>
        </p:nvGraphicFramePr>
        <p:xfrm>
          <a:off x="7059168" y="2029968"/>
          <a:ext cx="4206240" cy="1773936"/>
        </p:xfrm>
        <a:graphic>
          <a:graphicData uri="http://schemas.openxmlformats.org/drawingml/2006/chart">
            <c:chart xmlns:c="http://schemas.openxmlformats.org/drawingml/2006/chart" r:id="rId2"/>
          </a:graphicData>
        </a:graphic>
      </p:graphicFrame>
      <p:sp>
        <p:nvSpPr>
          <p:cNvPr id="19" name="TextBox 18"/>
          <p:cNvSpPr txBox="1"/>
          <p:nvPr/>
        </p:nvSpPr>
        <p:spPr>
          <a:xfrm>
            <a:off x="8705088" y="2706624"/>
            <a:ext cx="914400" cy="402336"/>
          </a:xfrm>
          <a:prstGeom prst="rect">
            <a:avLst/>
          </a:prstGeom>
          <a:noFill/>
        </p:spPr>
        <p:txBody>
          <a:bodyPr wrap="square" lIns="18288" rIns="18288" tIns="0" bIns="0" anchor="ctr">
            <a:noAutofit/>
          </a:bodyPr>
          <a:lstStyle/>
          <a:p>
            <a:pPr algn="ctr">
              <a:spcBef>
                <a:spcPts val="0"/>
              </a:spcBef>
              <a:spcAft>
                <a:spcPts val="0"/>
              </a:spcAft>
            </a:pPr>
            <a:r>
              <a:rPr sz="1600" b="1" i="0" lang="id-ID">
                <a:solidFill>
                  <a:srgbClr val="155E75"/>
                </a:solidFill>
                <a:latin typeface="Calibri"/>
              </a:rPr>
              <a:t>13,5%</a:t>
            </a:r>
          </a:p>
        </p:txBody>
      </p:sp>
      <p:sp>
        <p:nvSpPr>
          <p:cNvPr id="20" name="Oval 19"/>
          <p:cNvSpPr/>
          <p:nvPr/>
        </p:nvSpPr>
        <p:spPr>
          <a:xfrm>
            <a:off x="7607808" y="3968496"/>
            <a:ext cx="146304" cy="14630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08975" y="3922776"/>
            <a:ext cx="1554480" cy="237744"/>
          </a:xfrm>
          <a:prstGeom prst="rect">
            <a:avLst/>
          </a:prstGeom>
          <a:noFill/>
        </p:spPr>
        <p:txBody>
          <a:bodyPr wrap="square" lIns="18288" rIns="18288" tIns="0" bIns="0" anchor="t">
            <a:noAutofit/>
          </a:bodyPr>
          <a:lstStyle/>
          <a:p>
            <a:pPr algn="l">
              <a:spcBef>
                <a:spcPts val="0"/>
              </a:spcBef>
              <a:spcAft>
                <a:spcPts val="0"/>
              </a:spcAft>
            </a:pPr>
            <a:r>
              <a:rPr sz="1050" b="0" i="0" lang="id-ID">
                <a:solidFill>
                  <a:srgbClr val="0F172A"/>
                </a:solidFill>
                <a:latin typeface="Calibri"/>
              </a:rPr>
              <a:t>MIH · 13,5%</a:t>
            </a:r>
          </a:p>
        </p:txBody>
      </p:sp>
      <p:sp>
        <p:nvSpPr>
          <p:cNvPr id="22" name="Oval 21"/>
          <p:cNvSpPr/>
          <p:nvPr/>
        </p:nvSpPr>
        <p:spPr>
          <a:xfrm>
            <a:off x="9656064" y="3968496"/>
            <a:ext cx="146304" cy="146304"/>
          </a:xfrm>
          <a:prstGeom prst="ellipse">
            <a:avLst/>
          </a:prstGeom>
          <a:solidFill>
            <a:srgbClr val="E4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857232" y="3922776"/>
            <a:ext cx="1645920" cy="237744"/>
          </a:xfrm>
          <a:prstGeom prst="rect">
            <a:avLst/>
          </a:prstGeom>
          <a:noFill/>
        </p:spPr>
        <p:txBody>
          <a:bodyPr wrap="square" lIns="18288" rIns="18288" tIns="0" bIns="0" anchor="t">
            <a:noAutofit/>
          </a:bodyPr>
          <a:lstStyle/>
          <a:p>
            <a:pPr algn="l">
              <a:spcBef>
                <a:spcPts val="0"/>
              </a:spcBef>
              <a:spcAft>
                <a:spcPts val="0"/>
              </a:spcAft>
            </a:pPr>
            <a:r>
              <a:rPr sz="1050" b="0" i="0" lang="id-ID">
                <a:solidFill>
                  <a:srgbClr val="6B7B87"/>
                </a:solidFill>
                <a:latin typeface="Calibri"/>
              </a:rPr>
              <a:t>Tanpa MIH · 86,5%</a:t>
            </a:r>
          </a:p>
        </p:txBody>
      </p:sp>
      <p:sp>
        <p:nvSpPr>
          <p:cNvPr id="24" name="Rounded Rectangle 23"/>
          <p:cNvSpPr/>
          <p:nvPr/>
        </p:nvSpPr>
        <p:spPr>
          <a:xfrm>
            <a:off x="548640" y="4864608"/>
            <a:ext cx="3525926" cy="1078992"/>
          </a:xfrm>
          <a:prstGeom prst="roundRect">
            <a:avLst>
              <a:gd name="adj" fmla="val 762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3232" y="4992624"/>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155E75"/>
                </a:solidFill>
                <a:latin typeface="Calibri"/>
              </a:rPr>
              <a:t>I² = 98,0%</a:t>
            </a:r>
          </a:p>
        </p:txBody>
      </p:sp>
      <p:sp>
        <p:nvSpPr>
          <p:cNvPr id="26" name="TextBox 25"/>
          <p:cNvSpPr txBox="1"/>
          <p:nvPr/>
        </p:nvSpPr>
        <p:spPr>
          <a:xfrm>
            <a:off x="713232" y="5285232"/>
            <a:ext cx="3196742" cy="530352"/>
          </a:xfrm>
          <a:prstGeom prst="rect">
            <a:avLst/>
          </a:prstGeom>
          <a:noFill/>
        </p:spPr>
        <p:txBody>
          <a:bodyPr wrap="square" lIns="18288" rIns="18288" tIns="0" bIns="0" anchor="t">
            <a:noAutofit/>
          </a:bodyPr>
          <a:lstStyle/>
          <a:p>
            <a:pPr algn="l">
              <a:lnSpc>
                <a:spcPct val="104000"/>
              </a:lnSpc>
              <a:spcBef>
                <a:spcPts val="0"/>
              </a:spcBef>
              <a:spcAft>
                <a:spcPts val="0"/>
              </a:spcAft>
            </a:pPr>
            <a:r>
              <a:rPr sz="1050" b="0" i="0" lang="id-ID">
                <a:solidFill>
                  <a:srgbClr val="3C4A55"/>
                </a:solidFill>
                <a:latin typeface="Calibri"/>
              </a:rPr>
              <a:t>Variasi antar studi sangat tinggi dan nyata, bukan kebetulan acak.</a:t>
            </a:r>
          </a:p>
        </p:txBody>
      </p:sp>
      <p:sp>
        <p:nvSpPr>
          <p:cNvPr id="27" name="Rounded Rectangle 26"/>
          <p:cNvSpPr/>
          <p:nvPr/>
        </p:nvSpPr>
        <p:spPr>
          <a:xfrm>
            <a:off x="4330598" y="4864608"/>
            <a:ext cx="3525926" cy="1078992"/>
          </a:xfrm>
          <a:prstGeom prst="roundRect">
            <a:avLst>
              <a:gd name="adj" fmla="val 762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95190" y="4992624"/>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155E75"/>
                </a:solidFill>
                <a:latin typeface="Calibri"/>
              </a:rPr>
              <a:t>Uji Egger p = 0,179</a:t>
            </a:r>
          </a:p>
        </p:txBody>
      </p:sp>
      <p:sp>
        <p:nvSpPr>
          <p:cNvPr id="29" name="TextBox 28"/>
          <p:cNvSpPr txBox="1"/>
          <p:nvPr/>
        </p:nvSpPr>
        <p:spPr>
          <a:xfrm>
            <a:off x="4495190" y="5285232"/>
            <a:ext cx="3196742" cy="530352"/>
          </a:xfrm>
          <a:prstGeom prst="rect">
            <a:avLst/>
          </a:prstGeom>
          <a:noFill/>
        </p:spPr>
        <p:txBody>
          <a:bodyPr wrap="square" lIns="18288" rIns="18288" tIns="0" bIns="0" anchor="t">
            <a:noAutofit/>
          </a:bodyPr>
          <a:lstStyle/>
          <a:p>
            <a:pPr algn="l">
              <a:lnSpc>
                <a:spcPct val="104000"/>
              </a:lnSpc>
              <a:spcBef>
                <a:spcPts val="0"/>
              </a:spcBef>
              <a:spcAft>
                <a:spcPts val="0"/>
              </a:spcAft>
            </a:pPr>
            <a:r>
              <a:rPr sz="1050" b="0" i="0" lang="id-ID">
                <a:solidFill>
                  <a:srgbClr val="3C4A55"/>
                </a:solidFill>
                <a:latin typeface="Calibri"/>
              </a:rPr>
              <a:t>Tidak ada tanda bias publikasi yang berarti.</a:t>
            </a:r>
          </a:p>
        </p:txBody>
      </p:sp>
      <p:sp>
        <p:nvSpPr>
          <p:cNvPr id="30" name="Rounded Rectangle 29"/>
          <p:cNvSpPr/>
          <p:nvPr/>
        </p:nvSpPr>
        <p:spPr>
          <a:xfrm>
            <a:off x="8112556" y="4864608"/>
            <a:ext cx="3525926" cy="1078992"/>
          </a:xfrm>
          <a:prstGeom prst="roundRect">
            <a:avLst>
              <a:gd name="adj" fmla="val 7627"/>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77148" y="4992624"/>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155E75"/>
                </a:solidFill>
                <a:latin typeface="Calibri"/>
              </a:rPr>
              <a:t>Leave-one-out</a:t>
            </a:r>
          </a:p>
        </p:txBody>
      </p:sp>
      <p:sp>
        <p:nvSpPr>
          <p:cNvPr id="32" name="TextBox 31"/>
          <p:cNvSpPr txBox="1"/>
          <p:nvPr/>
        </p:nvSpPr>
        <p:spPr>
          <a:xfrm>
            <a:off x="8277148" y="5285232"/>
            <a:ext cx="3196742" cy="530352"/>
          </a:xfrm>
          <a:prstGeom prst="rect">
            <a:avLst/>
          </a:prstGeom>
          <a:noFill/>
        </p:spPr>
        <p:txBody>
          <a:bodyPr wrap="square" lIns="18288" rIns="18288" tIns="0" bIns="0" anchor="t">
            <a:noAutofit/>
          </a:bodyPr>
          <a:lstStyle/>
          <a:p>
            <a:pPr algn="l">
              <a:lnSpc>
                <a:spcPct val="104000"/>
              </a:lnSpc>
              <a:spcBef>
                <a:spcPts val="0"/>
              </a:spcBef>
              <a:spcAft>
                <a:spcPts val="0"/>
              </a:spcAft>
            </a:pPr>
            <a:r>
              <a:rPr sz="1050" b="0" i="0" lang="id-ID">
                <a:solidFill>
                  <a:srgbClr val="3C4A55"/>
                </a:solidFill>
                <a:latin typeface="Calibri"/>
              </a:rPr>
              <a:t>Estimasi tetap stabil; tidak ditentukan oleh satu studi saja.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HASIL · 3</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Keparahan dan gigi yang terkena</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10</a:t>
            </a:r>
          </a:p>
        </p:txBody>
      </p:sp>
      <p:sp>
        <p:nvSpPr>
          <p:cNvPr id="11" name="Rounded Rectangle 10"/>
          <p:cNvSpPr/>
          <p:nvPr/>
        </p:nvSpPr>
        <p:spPr>
          <a:xfrm>
            <a:off x="548640" y="1572768"/>
            <a:ext cx="3525926" cy="1298448"/>
          </a:xfrm>
          <a:prstGeom prst="roundRect">
            <a:avLst>
              <a:gd name="adj" fmla="val 63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36,3%</a:t>
            </a:r>
          </a:p>
        </p:txBody>
      </p:sp>
      <p:sp>
        <p:nvSpPr>
          <p:cNvPr id="13" name="TextBox 12"/>
          <p:cNvSpPr txBox="1"/>
          <p:nvPr/>
        </p:nvSpPr>
        <p:spPr>
          <a:xfrm>
            <a:off x="713232"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Kasus sedang sampai berat</a:t>
            </a:r>
          </a:p>
        </p:txBody>
      </p:sp>
      <p:sp>
        <p:nvSpPr>
          <p:cNvPr id="14" name="TextBox 13"/>
          <p:cNvSpPr txBox="1"/>
          <p:nvPr/>
        </p:nvSpPr>
        <p:spPr>
          <a:xfrm>
            <a:off x="713232" y="2523744"/>
            <a:ext cx="3196742" cy="182880"/>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95% CI 29,9–43,2 · 33 studi · I² = 95,2%</a:t>
            </a:r>
          </a:p>
        </p:txBody>
      </p:sp>
      <p:sp>
        <p:nvSpPr>
          <p:cNvPr id="15" name="Rounded Rectangle 14"/>
          <p:cNvSpPr/>
          <p:nvPr/>
        </p:nvSpPr>
        <p:spPr>
          <a:xfrm>
            <a:off x="4330598" y="1572768"/>
            <a:ext cx="3525926" cy="1298448"/>
          </a:xfrm>
          <a:prstGeom prst="roundRect">
            <a:avLst>
              <a:gd name="adj" fmla="val 63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95190" y="1700784"/>
            <a:ext cx="3196742" cy="548640"/>
          </a:xfrm>
          <a:prstGeom prst="rect">
            <a:avLst/>
          </a:prstGeom>
          <a:noFill/>
        </p:spPr>
        <p:txBody>
          <a:bodyPr wrap="square" lIns="18288" rIns="18288" tIns="0" bIns="0" anchor="t">
            <a:noAutofit/>
          </a:bodyPr>
          <a:lstStyle/>
          <a:p>
            <a:pPr algn="l">
              <a:spcBef>
                <a:spcPts val="0"/>
              </a:spcBef>
              <a:spcAft>
                <a:spcPts val="0"/>
              </a:spcAft>
            </a:pPr>
            <a:r>
              <a:rPr sz="3000" b="1" i="0" lang="id-ID">
                <a:solidFill>
                  <a:srgbClr val="155E75"/>
                </a:solidFill>
                <a:latin typeface="Calibri"/>
              </a:rPr>
              <a:t>36–39%</a:t>
            </a:r>
          </a:p>
        </p:txBody>
      </p:sp>
      <p:sp>
        <p:nvSpPr>
          <p:cNvPr id="17" name="TextBox 16"/>
          <p:cNvSpPr txBox="1"/>
          <p:nvPr/>
        </p:nvSpPr>
        <p:spPr>
          <a:xfrm>
            <a:off x="4495190"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Insisivus terkena</a:t>
            </a:r>
          </a:p>
        </p:txBody>
      </p:sp>
      <p:sp>
        <p:nvSpPr>
          <p:cNvPr id="18" name="TextBox 17"/>
          <p:cNvSpPr txBox="1"/>
          <p:nvPr/>
        </p:nvSpPr>
        <p:spPr>
          <a:xfrm>
            <a:off x="4495190" y="2523744"/>
            <a:ext cx="3196742" cy="182880"/>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Tabel 2: 38,7% · abstrak: 36,6%</a:t>
            </a:r>
          </a:p>
        </p:txBody>
      </p:sp>
      <p:sp>
        <p:nvSpPr>
          <p:cNvPr id="19" name="Rounded Rectangle 18"/>
          <p:cNvSpPr/>
          <p:nvPr/>
        </p:nvSpPr>
        <p:spPr>
          <a:xfrm>
            <a:off x="8112556" y="1572768"/>
            <a:ext cx="3525926" cy="1298448"/>
          </a:xfrm>
          <a:prstGeom prst="roundRect">
            <a:avLst>
              <a:gd name="adj" fmla="val 63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77148" y="1700784"/>
            <a:ext cx="3196742" cy="548640"/>
          </a:xfrm>
          <a:prstGeom prst="rect">
            <a:avLst/>
          </a:prstGeom>
          <a:noFill/>
        </p:spPr>
        <p:txBody>
          <a:bodyPr wrap="square" lIns="18288" rIns="18288" tIns="0" bIns="0" anchor="t">
            <a:noAutofit/>
          </a:bodyPr>
          <a:lstStyle/>
          <a:p>
            <a:pPr algn="l">
              <a:spcBef>
                <a:spcPts val="0"/>
              </a:spcBef>
              <a:spcAft>
                <a:spcPts val="0"/>
              </a:spcAft>
            </a:pPr>
            <a:r>
              <a:rPr sz="3400" b="1" i="0" lang="id-ID">
                <a:solidFill>
                  <a:srgbClr val="155E75"/>
                </a:solidFill>
                <a:latin typeface="Calibri"/>
              </a:rPr>
              <a:t>3,6%</a:t>
            </a:r>
          </a:p>
        </p:txBody>
      </p:sp>
      <p:sp>
        <p:nvSpPr>
          <p:cNvPr id="21" name="TextBox 20"/>
          <p:cNvSpPr txBox="1"/>
          <p:nvPr/>
        </p:nvSpPr>
        <p:spPr>
          <a:xfrm>
            <a:off x="8277148" y="2267712"/>
            <a:ext cx="3196742" cy="237744"/>
          </a:xfrm>
          <a:prstGeom prst="rect">
            <a:avLst/>
          </a:prstGeom>
          <a:noFill/>
        </p:spPr>
        <p:txBody>
          <a:bodyPr wrap="square" lIns="18288" rIns="18288" tIns="0" bIns="0" anchor="t">
            <a:noAutofit/>
          </a:bodyPr>
          <a:lstStyle/>
          <a:p>
            <a:pPr algn="l">
              <a:spcBef>
                <a:spcPts val="0"/>
              </a:spcBef>
              <a:spcAft>
                <a:spcPts val="0"/>
              </a:spcAft>
            </a:pPr>
            <a:r>
              <a:rPr sz="1150" b="1" i="0" lang="id-ID">
                <a:solidFill>
                  <a:srgbClr val="0F172A"/>
                </a:solidFill>
                <a:latin typeface="Calibri"/>
              </a:rPr>
              <a:t>HSPM menyertai MIH</a:t>
            </a:r>
          </a:p>
        </p:txBody>
      </p:sp>
      <p:sp>
        <p:nvSpPr>
          <p:cNvPr id="22" name="TextBox 21"/>
          <p:cNvSpPr txBox="1"/>
          <p:nvPr/>
        </p:nvSpPr>
        <p:spPr>
          <a:xfrm>
            <a:off x="8277148" y="2523744"/>
            <a:ext cx="3196742" cy="182880"/>
          </a:xfrm>
          <a:prstGeom prst="rect">
            <a:avLst/>
          </a:prstGeom>
          <a:noFill/>
        </p:spPr>
        <p:txBody>
          <a:bodyPr wrap="square" lIns="18288" rIns="18288" tIns="0" bIns="0" anchor="t">
            <a:noAutofit/>
          </a:bodyPr>
          <a:lstStyle/>
          <a:p>
            <a:pPr algn="l">
              <a:lnSpc>
                <a:spcPct val="100000"/>
              </a:lnSpc>
              <a:spcBef>
                <a:spcPts val="0"/>
              </a:spcBef>
              <a:spcAft>
                <a:spcPts val="0"/>
              </a:spcAft>
            </a:pPr>
            <a:r>
              <a:rPr sz="1000" b="0" i="0" lang="id-ID">
                <a:solidFill>
                  <a:srgbClr val="6B7B87"/>
                </a:solidFill>
                <a:latin typeface="Calibri"/>
              </a:rPr>
              <a:t>95% CI 1,9–6,8 · hanya 7 studi · I² = 95,9%</a:t>
            </a:r>
          </a:p>
        </p:txBody>
      </p:sp>
      <p:sp>
        <p:nvSpPr>
          <p:cNvPr id="23" name="Rounded Rectangle 22"/>
          <p:cNvSpPr/>
          <p:nvPr/>
        </p:nvSpPr>
        <p:spPr>
          <a:xfrm>
            <a:off x="548640" y="3054096"/>
            <a:ext cx="6949440" cy="2889504"/>
          </a:xfrm>
          <a:prstGeom prst="roundRect">
            <a:avLst>
              <a:gd name="adj" fmla="val 284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3200400"/>
            <a:ext cx="630936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Jumlah molar pertama permanen yang terkena, dalam persen kasus</a:t>
            </a:r>
          </a:p>
        </p:txBody>
      </p:sp>
      <p:graphicFrame>
        <p:nvGraphicFramePr>
          <p:cNvPr id="25" name="Chart 24"/>
          <p:cNvGraphicFramePr>
            <a:graphicFrameLocks noGrp="1"/>
          </p:cNvGraphicFramePr>
          <p:nvPr/>
        </p:nvGraphicFramePr>
        <p:xfrm>
          <a:off x="822960" y="3511296"/>
          <a:ext cx="6400800" cy="2249424"/>
        </p:xfrm>
        <a:graphic>
          <a:graphicData uri="http://schemas.openxmlformats.org/drawingml/2006/chart">
            <c:chart xmlns:c="http://schemas.openxmlformats.org/drawingml/2006/chart" r:id="rId2"/>
          </a:graphicData>
        </a:graphic>
      </p:graphicFrame>
      <p:sp>
        <p:nvSpPr>
          <p:cNvPr id="26" name="Rounded Rectangle 25"/>
          <p:cNvSpPr/>
          <p:nvPr/>
        </p:nvSpPr>
        <p:spPr>
          <a:xfrm>
            <a:off x="7754112" y="3054096"/>
            <a:ext cx="3886200" cy="2889504"/>
          </a:xfrm>
          <a:prstGeom prst="roundRect">
            <a:avLst>
              <a:gd name="adj" fmla="val 284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36992" y="3200400"/>
            <a:ext cx="352044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Apa artinya</a:t>
            </a:r>
          </a:p>
        </p:txBody>
      </p:sp>
      <p:sp>
        <p:nvSpPr>
          <p:cNvPr id="28" name="TextBox 27"/>
          <p:cNvSpPr txBox="1"/>
          <p:nvPr/>
        </p:nvSpPr>
        <p:spPr>
          <a:xfrm>
            <a:off x="7936992" y="3529584"/>
            <a:ext cx="3520440" cy="1554480"/>
          </a:xfrm>
          <a:prstGeom prst="rect">
            <a:avLst/>
          </a:prstGeom>
          <a:noFill/>
        </p:spPr>
        <p:txBody>
          <a:bodyPr wrap="square" lIns="18288" rIns="18288" tIns="0" bIns="0" anchor="t">
            <a:noAutofit/>
          </a:bodyPr>
          <a:lstStyle/>
          <a:p>
            <a:pPr algn="l">
              <a:lnSpc>
                <a:spcPct val="106000"/>
              </a:lnSpc>
              <a:spcBef>
                <a:spcPts val="0"/>
              </a:spcBef>
              <a:spcAft>
                <a:spcPts val="0"/>
              </a:spcAft>
            </a:pPr>
            <a:r>
              <a:rPr sz="1100" b="0" i="0" lang="id-ID">
                <a:solidFill>
                  <a:srgbClr val="3C4A55"/>
                </a:solidFill>
                <a:latin typeface="Calibri"/>
              </a:rPr>
              <a:t>Empat pola hampir merata, 18% sampai 27%. Tidak ada satu pola yang dominan, sehingga berat ringannya beban per anak sulit diperkirakan hanya dari diagnosis MIH.</a:t>
            </a:r>
          </a:p>
        </p:txBody>
      </p:sp>
      <p:sp>
        <p:nvSpPr>
          <p:cNvPr id="29" name="Rounded Rectangle 28"/>
          <p:cNvSpPr/>
          <p:nvPr/>
        </p:nvSpPr>
        <p:spPr>
          <a:xfrm>
            <a:off x="7936992" y="5138928"/>
            <a:ext cx="3520440"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36992" y="5285232"/>
            <a:ext cx="3520440" cy="530352"/>
          </a:xfrm>
          <a:prstGeom prst="rect">
            <a:avLst/>
          </a:prstGeom>
          <a:noFill/>
        </p:spPr>
        <p:txBody>
          <a:bodyPr wrap="square" lIns="18288" rIns="18288" tIns="0" bIns="0" anchor="t">
            <a:noAutofit/>
          </a:bodyPr>
          <a:lstStyle/>
          <a:p>
            <a:pPr algn="l">
              <a:lnSpc>
                <a:spcPct val="104000"/>
              </a:lnSpc>
              <a:spcBef>
                <a:spcPts val="0"/>
              </a:spcBef>
              <a:spcAft>
                <a:spcPts val="0"/>
              </a:spcAft>
            </a:pPr>
            <a:r>
              <a:rPr sz="1000" b="0" i="1" lang="id-ID">
                <a:solidFill>
                  <a:srgbClr val="6B7B87"/>
                </a:solidFill>
                <a:latin typeface="Calibri"/>
              </a:rPr>
              <a:t>Angka insisivus pada abstrak dan Tabel 2 berbeda; Tabel 2 dipakai sebagai rujukan.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SUB-ANALISIS</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Wilayah dan kriteria diagnostik</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11</a:t>
            </a:r>
          </a:p>
        </p:txBody>
      </p:sp>
      <p:sp>
        <p:nvSpPr>
          <p:cNvPr id="11" name="Rounded Rectangle 10"/>
          <p:cNvSpPr/>
          <p:nvPr/>
        </p:nvSpPr>
        <p:spPr>
          <a:xfrm>
            <a:off x="548640" y="1572768"/>
            <a:ext cx="5852160" cy="4370832"/>
          </a:xfrm>
          <a:prstGeom prst="roundRect">
            <a:avLst>
              <a:gd name="adj" fmla="val 1882"/>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1719072"/>
            <a:ext cx="539496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Prevalensi menurut wilayah</a:t>
            </a:r>
          </a:p>
        </p:txBody>
      </p:sp>
      <p:sp>
        <p:nvSpPr>
          <p:cNvPr id="13" name="TextBox 12"/>
          <p:cNvSpPr txBox="1"/>
          <p:nvPr/>
        </p:nvSpPr>
        <p:spPr>
          <a:xfrm>
            <a:off x="822960" y="2139696"/>
            <a:ext cx="3822191" cy="237744"/>
          </a:xfrm>
          <a:prstGeom prst="rect">
            <a:avLst/>
          </a:prstGeom>
          <a:noFill/>
        </p:spPr>
        <p:txBody>
          <a:bodyPr wrap="square" lIns="18288" rIns="18288" tIns="0" bIns="0" anchor="t">
            <a:noAutofit/>
          </a:bodyPr>
          <a:lstStyle/>
          <a:p>
            <a:pPr algn="l">
              <a:spcBef>
                <a:spcPts val="0"/>
              </a:spcBef>
              <a:spcAft>
                <a:spcPts val="0"/>
              </a:spcAft>
            </a:pPr>
            <a:r>
              <a:rPr sz="1100" b="0" i="0" lang="id-ID">
                <a:solidFill>
                  <a:srgbClr val="3C4A55"/>
                </a:solidFill>
                <a:latin typeface="Calibri"/>
              </a:rPr>
              <a:t>Amerika · 95% CI 12,8–18,3 · I² = 96,3%</a:t>
            </a:r>
          </a:p>
        </p:txBody>
      </p:sp>
      <p:sp>
        <p:nvSpPr>
          <p:cNvPr id="14" name="TextBox 13"/>
          <p:cNvSpPr txBox="1"/>
          <p:nvPr/>
        </p:nvSpPr>
        <p:spPr>
          <a:xfrm>
            <a:off x="4901184" y="2121408"/>
            <a:ext cx="1225296" cy="274320"/>
          </a:xfrm>
          <a:prstGeom prst="rect">
            <a:avLst/>
          </a:prstGeom>
          <a:noFill/>
        </p:spPr>
        <p:txBody>
          <a:bodyPr wrap="square" lIns="18288" rIns="18288" tIns="0" bIns="0" anchor="t">
            <a:noAutofit/>
          </a:bodyPr>
          <a:lstStyle/>
          <a:p>
            <a:pPr algn="r">
              <a:spcBef>
                <a:spcPts val="0"/>
              </a:spcBef>
              <a:spcAft>
                <a:spcPts val="0"/>
              </a:spcAft>
            </a:pPr>
            <a:r>
              <a:rPr sz="1300" b="1" i="0" lang="id-ID">
                <a:solidFill>
                  <a:srgbClr val="155E75"/>
                </a:solidFill>
                <a:latin typeface="Calibri"/>
              </a:rPr>
              <a:t>15,3%</a:t>
            </a:r>
          </a:p>
        </p:txBody>
      </p:sp>
      <p:sp>
        <p:nvSpPr>
          <p:cNvPr id="15" name="Rounded Rectangle 14"/>
          <p:cNvSpPr/>
          <p:nvPr/>
        </p:nvSpPr>
        <p:spPr>
          <a:xfrm>
            <a:off x="822960" y="2450592"/>
            <a:ext cx="5303520" cy="201168"/>
          </a:xfrm>
          <a:prstGeom prst="roundRect">
            <a:avLst>
              <a:gd name="adj" fmla="val 50000"/>
            </a:avLst>
          </a:prstGeom>
          <a:solidFill>
            <a:srgbClr val="E4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22960" y="2450592"/>
            <a:ext cx="4057192" cy="201168"/>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035808"/>
            <a:ext cx="3822191" cy="237744"/>
          </a:xfrm>
          <a:prstGeom prst="rect">
            <a:avLst/>
          </a:prstGeom>
          <a:noFill/>
        </p:spPr>
        <p:txBody>
          <a:bodyPr wrap="square" lIns="18288" rIns="18288" tIns="0" bIns="0" anchor="t">
            <a:noAutofit/>
          </a:bodyPr>
          <a:lstStyle/>
          <a:p>
            <a:pPr algn="l">
              <a:spcBef>
                <a:spcPts val="0"/>
              </a:spcBef>
              <a:spcAft>
                <a:spcPts val="0"/>
              </a:spcAft>
            </a:pPr>
            <a:r>
              <a:rPr sz="1100" b="0" i="0" lang="id-ID">
                <a:solidFill>
                  <a:srgbClr val="3C4A55"/>
                </a:solidFill>
                <a:latin typeface="Calibri"/>
              </a:rPr>
              <a:t>Asia · 95% CI 8,5–13,5 · I² = 98,7%</a:t>
            </a:r>
          </a:p>
        </p:txBody>
      </p:sp>
      <p:sp>
        <p:nvSpPr>
          <p:cNvPr id="18" name="TextBox 17"/>
          <p:cNvSpPr txBox="1"/>
          <p:nvPr/>
        </p:nvSpPr>
        <p:spPr>
          <a:xfrm>
            <a:off x="4901184" y="3017520"/>
            <a:ext cx="1225296" cy="274320"/>
          </a:xfrm>
          <a:prstGeom prst="rect">
            <a:avLst/>
          </a:prstGeom>
          <a:noFill/>
        </p:spPr>
        <p:txBody>
          <a:bodyPr wrap="square" lIns="18288" rIns="18288" tIns="0" bIns="0" anchor="t">
            <a:noAutofit/>
          </a:bodyPr>
          <a:lstStyle/>
          <a:p>
            <a:pPr algn="r">
              <a:spcBef>
                <a:spcPts val="0"/>
              </a:spcBef>
              <a:spcAft>
                <a:spcPts val="0"/>
              </a:spcAft>
            </a:pPr>
            <a:r>
              <a:rPr sz="1300" b="1" i="0" lang="id-ID">
                <a:solidFill>
                  <a:srgbClr val="155E75"/>
                </a:solidFill>
                <a:latin typeface="Calibri"/>
              </a:rPr>
              <a:t>10,7%</a:t>
            </a:r>
          </a:p>
        </p:txBody>
      </p:sp>
      <p:sp>
        <p:nvSpPr>
          <p:cNvPr id="19" name="Rounded Rectangle 18"/>
          <p:cNvSpPr/>
          <p:nvPr/>
        </p:nvSpPr>
        <p:spPr>
          <a:xfrm>
            <a:off x="822960" y="3346704"/>
            <a:ext cx="5303520" cy="201168"/>
          </a:xfrm>
          <a:prstGeom prst="roundRect">
            <a:avLst>
              <a:gd name="adj" fmla="val 50000"/>
            </a:avLst>
          </a:prstGeom>
          <a:solidFill>
            <a:srgbClr val="E4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22960" y="3346704"/>
            <a:ext cx="2837383" cy="201168"/>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60" y="3712463"/>
            <a:ext cx="5303520" cy="219456"/>
          </a:xfrm>
          <a:prstGeom prst="rect">
            <a:avLst/>
          </a:prstGeom>
          <a:noFill/>
        </p:spPr>
        <p:txBody>
          <a:bodyPr wrap="square" lIns="18288" rIns="18288" tIns="0" bIns="0" anchor="t">
            <a:noAutofit/>
          </a:bodyPr>
          <a:lstStyle/>
          <a:p>
            <a:pPr algn="r">
              <a:spcBef>
                <a:spcPts val="0"/>
              </a:spcBef>
              <a:spcAft>
                <a:spcPts val="0"/>
              </a:spcAft>
            </a:pPr>
            <a:r>
              <a:rPr sz="900" b="0" i="0" lang="id-ID">
                <a:solidFill>
                  <a:srgbClr val="6B7B87"/>
                </a:solidFill>
                <a:latin typeface="Calibri"/>
              </a:rPr>
              <a:t>Batang digambar pada skala 0–20%</a:t>
            </a:r>
          </a:p>
        </p:txBody>
      </p:sp>
      <p:sp>
        <p:nvSpPr>
          <p:cNvPr id="22" name="Rounded Rectangle 21"/>
          <p:cNvSpPr/>
          <p:nvPr/>
        </p:nvSpPr>
        <p:spPr>
          <a:xfrm>
            <a:off x="822960" y="4041648"/>
            <a:ext cx="5303520"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206240"/>
            <a:ext cx="5303520" cy="1554480"/>
          </a:xfrm>
          <a:prstGeom prst="rect">
            <a:avLst/>
          </a:prstGeom>
          <a:noFill/>
        </p:spPr>
        <p:txBody>
          <a:bodyPr wrap="square" lIns="18288" rIns="18288" tIns="0" bIns="0" anchor="t">
            <a:noAutofit/>
          </a:bodyPr>
          <a:lstStyle/>
          <a:p>
            <a:pPr algn="l">
              <a:lnSpc>
                <a:spcPct val="106000"/>
              </a:lnSpc>
              <a:spcBef>
                <a:spcPts val="0"/>
              </a:spcBef>
              <a:spcAft>
                <a:spcPts val="600"/>
              </a:spcAft>
            </a:pPr>
            <a:r>
              <a:rPr sz="1100" b="0" i="0" lang="id-ID">
                <a:solidFill>
                  <a:srgbClr val="3C4A55"/>
                </a:solidFill>
                <a:latin typeface="Calibri"/>
              </a:rPr>
              <a:t>Selisih antar wilayah tidak bermakna secara statistik.</a:t>
            </a:r>
          </a:p>
          <a:p>
            <a:pPr algn="l">
              <a:lnSpc>
                <a:spcPct val="106000"/>
              </a:lnSpc>
              <a:spcBef>
                <a:spcPts val="0"/>
              </a:spcBef>
              <a:spcAft>
                <a:spcPts val="600"/>
              </a:spcAft>
            </a:pPr>
            <a:r>
              <a:rPr sz="1100" b="0" i="0" lang="id-ID">
                <a:solidFill>
                  <a:srgbClr val="3C4A55"/>
                </a:solidFill>
                <a:latin typeface="Calibri"/>
              </a:rPr>
              <a:t>Urutan wilayah bergeser dibanding tinjauan 2018: Afrika yang dulu berada di posisi terendah tidak lagi memegang posisi itu.</a:t>
            </a:r>
          </a:p>
          <a:p>
            <a:pPr algn="l">
              <a:lnSpc>
                <a:spcPct val="106000"/>
              </a:lnSpc>
              <a:spcBef>
                <a:spcPts val="0"/>
              </a:spcBef>
              <a:spcAft>
                <a:spcPts val="600"/>
              </a:spcAft>
            </a:pPr>
            <a:r>
              <a:rPr sz="1100" b="0" i="0" lang="id-ID">
                <a:solidFill>
                  <a:srgbClr val="3C4A55"/>
                </a:solidFill>
                <a:latin typeface="Calibri"/>
              </a:rPr>
              <a:t>Penulis menyimpulkan perbedaan wilayah belum cukup menjelaskan variasi angka.</a:t>
            </a:r>
          </a:p>
        </p:txBody>
      </p:sp>
      <p:sp>
        <p:nvSpPr>
          <p:cNvPr id="24" name="Rounded Rectangle 23"/>
          <p:cNvSpPr/>
          <p:nvPr/>
        </p:nvSpPr>
        <p:spPr>
          <a:xfrm>
            <a:off x="6675120" y="1572768"/>
            <a:ext cx="4965192" cy="2103120"/>
          </a:xfrm>
          <a:prstGeom prst="roundRect">
            <a:avLst>
              <a:gd name="adj" fmla="val 3913"/>
            </a:avLst>
          </a:prstGeom>
          <a:solidFill>
            <a:srgbClr val="FCF6EA"/>
          </a:solidFill>
          <a:ln w="9525">
            <a:solidFill>
              <a:srgbClr val="EBD8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76288" y="1719072"/>
            <a:ext cx="457200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B45309"/>
                </a:solidFill>
                <a:latin typeface="Calibri"/>
              </a:rPr>
              <a:t>Kriteria diagnostik berpengaruh</a:t>
            </a:r>
          </a:p>
        </p:txBody>
      </p:sp>
      <p:sp>
        <p:nvSpPr>
          <p:cNvPr id="26" name="TextBox 25"/>
          <p:cNvSpPr txBox="1"/>
          <p:nvPr/>
        </p:nvSpPr>
        <p:spPr>
          <a:xfrm>
            <a:off x="6876288" y="1993392"/>
            <a:ext cx="4562856" cy="475488"/>
          </a:xfrm>
          <a:prstGeom prst="rect">
            <a:avLst/>
          </a:prstGeom>
          <a:noFill/>
        </p:spPr>
        <p:txBody>
          <a:bodyPr wrap="square" lIns="18288" rIns="18288" tIns="0" bIns="0" anchor="t">
            <a:noAutofit/>
          </a:bodyPr>
          <a:lstStyle/>
          <a:p>
            <a:pPr algn="l">
              <a:spcBef>
                <a:spcPts val="0"/>
              </a:spcBef>
              <a:spcAft>
                <a:spcPts val="0"/>
              </a:spcAft>
            </a:pPr>
            <a:r>
              <a:rPr sz="2600" b="1" i="0" lang="id-ID">
                <a:solidFill>
                  <a:srgbClr val="B45309"/>
                </a:solidFill>
                <a:latin typeface="Calibri"/>
              </a:rPr>
              <a:t>p = 0,0061</a:t>
            </a:r>
          </a:p>
        </p:txBody>
      </p:sp>
      <p:sp>
        <p:nvSpPr>
          <p:cNvPr id="27" name="TextBox 26"/>
          <p:cNvSpPr txBox="1"/>
          <p:nvPr/>
        </p:nvSpPr>
        <p:spPr>
          <a:xfrm>
            <a:off x="6876288" y="2523744"/>
            <a:ext cx="4562856" cy="1005840"/>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Studi yang tidak memakai definisi kasus EAPD 2003 menghasilkan estimasi berbeda secara bermakna, umumnya lebih rendah. Sub-analisis ini mencakup 133.734 peserta.</a:t>
            </a:r>
          </a:p>
        </p:txBody>
      </p:sp>
      <p:sp>
        <p:nvSpPr>
          <p:cNvPr id="28" name="Rounded Rectangle 27"/>
          <p:cNvSpPr/>
          <p:nvPr/>
        </p:nvSpPr>
        <p:spPr>
          <a:xfrm>
            <a:off x="6675120" y="3840480"/>
            <a:ext cx="4965192" cy="2103120"/>
          </a:xfrm>
          <a:prstGeom prst="roundRect">
            <a:avLst>
              <a:gd name="adj" fmla="val 3913"/>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76288" y="3986784"/>
            <a:ext cx="4572000"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E7490"/>
                </a:solidFill>
                <a:latin typeface="Calibri"/>
              </a:rPr>
              <a:t>Yang pengaruhnya kecil</a:t>
            </a:r>
          </a:p>
        </p:txBody>
      </p:sp>
      <p:sp>
        <p:nvSpPr>
          <p:cNvPr id="30" name="TextBox 29"/>
          <p:cNvSpPr txBox="1"/>
          <p:nvPr/>
        </p:nvSpPr>
        <p:spPr>
          <a:xfrm>
            <a:off x="6876288" y="4315968"/>
            <a:ext cx="4562856" cy="1463040"/>
          </a:xfrm>
          <a:prstGeom prst="rect">
            <a:avLst/>
          </a:prstGeom>
          <a:noFill/>
        </p:spPr>
        <p:txBody>
          <a:bodyPr wrap="square" lIns="18288" rIns="18288" tIns="0" bIns="0" anchor="t">
            <a:noAutofit/>
          </a:bodyPr>
          <a:lstStyle/>
          <a:p>
            <a:pPr algn="l">
              <a:lnSpc>
                <a:spcPct val="106000"/>
              </a:lnSpc>
              <a:spcBef>
                <a:spcPts val="0"/>
              </a:spcBef>
              <a:spcAft>
                <a:spcPts val="600"/>
              </a:spcAft>
            </a:pPr>
            <a:r>
              <a:rPr sz="1100" b="0" i="0" lang="id-ID">
                <a:solidFill>
                  <a:srgbClr val="3C4A55"/>
                </a:solidFill>
                <a:latin typeface="Calibri"/>
              </a:rPr>
              <a:t>Ukuran sampel dan tahun publikasi hanya menyumbang sebagian kecil heterogenitas.</a:t>
            </a:r>
          </a:p>
          <a:p>
            <a:pPr algn="l">
              <a:lnSpc>
                <a:spcPct val="106000"/>
              </a:lnSpc>
              <a:spcBef>
                <a:spcPts val="0"/>
              </a:spcBef>
              <a:spcAft>
                <a:spcPts val="600"/>
              </a:spcAft>
            </a:pPr>
            <a:r>
              <a:rPr sz="1100" b="0" i="0" lang="id-ID">
                <a:solidFill>
                  <a:srgbClr val="3C4A55"/>
                </a:solidFill>
                <a:latin typeface="Calibri"/>
              </a:rPr>
              <a:t>Meta-regresi lain tidak menunjukkan faktor metodologis yang menonjol, sehingga penulis mengarah pada perbedaan wilayah sebagai penjelasan yang lebih besar.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DISKUSI</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Apa yang menurut penulis menjelaskan variasi ini</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12</a:t>
            </a:r>
          </a:p>
        </p:txBody>
      </p:sp>
      <p:sp>
        <p:nvSpPr>
          <p:cNvPr id="11" name="Rounded Rectangle 10"/>
          <p:cNvSpPr/>
          <p:nvPr/>
        </p:nvSpPr>
        <p:spPr>
          <a:xfrm>
            <a:off x="548640" y="1572768"/>
            <a:ext cx="11091672" cy="1371600"/>
          </a:xfrm>
          <a:prstGeom prst="roundRect">
            <a:avLst>
              <a:gd name="adj" fmla="val 6000"/>
            </a:avLst>
          </a:prstGeom>
          <a:solidFill>
            <a:srgbClr val="0B2E36"/>
          </a:solidFill>
          <a:ln w="9525">
            <a:solidFill>
              <a:srgbClr val="123F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1719072"/>
            <a:ext cx="7315200" cy="237744"/>
          </a:xfrm>
          <a:prstGeom prst="rect">
            <a:avLst/>
          </a:prstGeom>
          <a:noFill/>
        </p:spPr>
        <p:txBody>
          <a:bodyPr wrap="square" lIns="18288" rIns="18288" tIns="0" bIns="0" anchor="t">
            <a:noAutofit/>
          </a:bodyPr>
          <a:lstStyle/>
          <a:p>
            <a:pPr algn="l">
              <a:spcBef>
                <a:spcPts val="0"/>
              </a:spcBef>
              <a:spcAft>
                <a:spcPts val="0"/>
              </a:spcAft>
            </a:pPr>
            <a:r>
              <a:rPr sz="1000" b="1" i="0" spc="90" lang="id-ID">
                <a:solidFill>
                  <a:srgbClr val="8FC6CE"/>
                </a:solidFill>
                <a:latin typeface="Calibri"/>
              </a:rPr>
              <a:t>PESAN UTAMA</a:t>
            </a:r>
          </a:p>
        </p:txBody>
      </p:sp>
      <p:sp>
        <p:nvSpPr>
          <p:cNvPr id="13" name="TextBox 12"/>
          <p:cNvSpPr txBox="1"/>
          <p:nvPr/>
        </p:nvSpPr>
        <p:spPr>
          <a:xfrm>
            <a:off x="822960" y="1975104"/>
            <a:ext cx="10543032" cy="822960"/>
          </a:xfrm>
          <a:prstGeom prst="rect">
            <a:avLst/>
          </a:prstGeom>
          <a:noFill/>
        </p:spPr>
        <p:txBody>
          <a:bodyPr wrap="square" lIns="18288" rIns="18288" tIns="0" bIns="0" anchor="t">
            <a:noAutofit/>
          </a:bodyPr>
          <a:lstStyle/>
          <a:p>
            <a:pPr algn="l">
              <a:lnSpc>
                <a:spcPct val="102000"/>
              </a:lnSpc>
              <a:spcBef>
                <a:spcPts val="0"/>
              </a:spcBef>
              <a:spcAft>
                <a:spcPts val="0"/>
              </a:spcAft>
            </a:pPr>
            <a:r>
              <a:rPr sz="1600" b="1" i="0" lang="id-ID">
                <a:solidFill>
                  <a:srgbClr val="FFFFFF"/>
                </a:solidFill>
                <a:latin typeface="Calibri"/>
              </a:rPr>
              <a:t>Variasi antar wilayah lebih menjelaskan perbedaan angka daripada faktor metodologis yang diuji penulis lewat meta-regresi.</a:t>
            </a:r>
          </a:p>
        </p:txBody>
      </p:sp>
      <p:sp>
        <p:nvSpPr>
          <p:cNvPr id="14" name="Rounded Rectangle 13"/>
          <p:cNvSpPr/>
          <p:nvPr/>
        </p:nvSpPr>
        <p:spPr>
          <a:xfrm>
            <a:off x="548640" y="3127248"/>
            <a:ext cx="3525926" cy="2816352"/>
          </a:xfrm>
          <a:prstGeom prst="roundRect">
            <a:avLst>
              <a:gd name="adj" fmla="val 2922"/>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3232" y="3291840"/>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F172A"/>
                </a:solidFill>
                <a:latin typeface="Calibri"/>
              </a:rPr>
              <a:t>Definisi kasus</a:t>
            </a:r>
          </a:p>
        </p:txBody>
      </p:sp>
      <p:sp>
        <p:nvSpPr>
          <p:cNvPr id="16" name="TextBox 15"/>
          <p:cNvSpPr txBox="1"/>
          <p:nvPr/>
        </p:nvSpPr>
        <p:spPr>
          <a:xfrm>
            <a:off x="713232" y="3639312"/>
            <a:ext cx="3196742" cy="2176272"/>
          </a:xfrm>
          <a:prstGeom prst="rect">
            <a:avLst/>
          </a:prstGeom>
          <a:noFill/>
        </p:spPr>
        <p:txBody>
          <a:bodyPr wrap="square" lIns="18288" rIns="18288" tIns="0" bIns="0" anchor="t">
            <a:noAutofit/>
          </a:bodyPr>
          <a:lstStyle/>
          <a:p>
            <a:pPr algn="l">
              <a:lnSpc>
                <a:spcPct val="107000"/>
              </a:lnSpc>
              <a:spcBef>
                <a:spcPts val="0"/>
              </a:spcBef>
              <a:spcAft>
                <a:spcPts val="0"/>
              </a:spcAft>
            </a:pPr>
            <a:r>
              <a:rPr sz="1100" b="0" i="0" lang="id-ID">
                <a:solidFill>
                  <a:srgbClr val="3C4A55"/>
                </a:solidFill>
                <a:latin typeface="Calibri"/>
              </a:rPr>
              <a:t>Klasifikasi non-EAPD cenderung menurunkan estimasi. Ini alasan praktis untuk menyeragamkan kriteria diagnostik.</a:t>
            </a:r>
          </a:p>
        </p:txBody>
      </p:sp>
      <p:sp>
        <p:nvSpPr>
          <p:cNvPr id="17" name="Rounded Rectangle 16"/>
          <p:cNvSpPr/>
          <p:nvPr/>
        </p:nvSpPr>
        <p:spPr>
          <a:xfrm>
            <a:off x="4330598" y="3127248"/>
            <a:ext cx="3525926" cy="2816352"/>
          </a:xfrm>
          <a:prstGeom prst="roundRect">
            <a:avLst>
              <a:gd name="adj" fmla="val 2922"/>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95190" y="3291840"/>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F172A"/>
                </a:solidFill>
                <a:latin typeface="Calibri"/>
              </a:rPr>
              <a:t>Makna keparahan</a:t>
            </a:r>
          </a:p>
        </p:txBody>
      </p:sp>
      <p:sp>
        <p:nvSpPr>
          <p:cNvPr id="19" name="TextBox 18"/>
          <p:cNvSpPr txBox="1"/>
          <p:nvPr/>
        </p:nvSpPr>
        <p:spPr>
          <a:xfrm>
            <a:off x="4495190" y="3639312"/>
            <a:ext cx="3196742" cy="2176272"/>
          </a:xfrm>
          <a:prstGeom prst="rect">
            <a:avLst/>
          </a:prstGeom>
          <a:noFill/>
        </p:spPr>
        <p:txBody>
          <a:bodyPr wrap="square" lIns="18288" rIns="18288" tIns="0" bIns="0" anchor="t">
            <a:noAutofit/>
          </a:bodyPr>
          <a:lstStyle/>
          <a:p>
            <a:pPr algn="l">
              <a:lnSpc>
                <a:spcPct val="107000"/>
              </a:lnSpc>
              <a:spcBef>
                <a:spcPts val="0"/>
              </a:spcBef>
              <a:spcAft>
                <a:spcPts val="0"/>
              </a:spcAft>
            </a:pPr>
            <a:r>
              <a:rPr sz="1100" b="0" i="0" lang="id-ID">
                <a:solidFill>
                  <a:srgbClr val="3C4A55"/>
                </a:solidFill>
                <a:latin typeface="Calibri"/>
              </a:rPr>
              <a:t>36,3% kasus sedang sampai berat, sehingga sekitar sepertiga anak dengan MIH memerlukan perawatan restoratif yang nyata.</a:t>
            </a:r>
          </a:p>
        </p:txBody>
      </p:sp>
      <p:sp>
        <p:nvSpPr>
          <p:cNvPr id="20" name="Rounded Rectangle 19"/>
          <p:cNvSpPr/>
          <p:nvPr/>
        </p:nvSpPr>
        <p:spPr>
          <a:xfrm>
            <a:off x="8112556" y="3127248"/>
            <a:ext cx="3525926" cy="2816352"/>
          </a:xfrm>
          <a:prstGeom prst="roundRect">
            <a:avLst>
              <a:gd name="adj" fmla="val 2922"/>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77148" y="3291840"/>
            <a:ext cx="3196742" cy="256032"/>
          </a:xfrm>
          <a:prstGeom prst="rect">
            <a:avLst/>
          </a:prstGeom>
          <a:noFill/>
        </p:spPr>
        <p:txBody>
          <a:bodyPr wrap="square" lIns="18288" rIns="18288" tIns="0" bIns="0" anchor="t">
            <a:noAutofit/>
          </a:bodyPr>
          <a:lstStyle/>
          <a:p>
            <a:pPr algn="l">
              <a:spcBef>
                <a:spcPts val="0"/>
              </a:spcBef>
              <a:spcAft>
                <a:spcPts val="0"/>
              </a:spcAft>
            </a:pPr>
            <a:r>
              <a:rPr sz="1200" b="1" i="0" lang="id-ID">
                <a:solidFill>
                  <a:srgbClr val="0F172A"/>
                </a:solidFill>
                <a:latin typeface="Calibri"/>
              </a:rPr>
              <a:t>Data turunan</a:t>
            </a:r>
          </a:p>
        </p:txBody>
      </p:sp>
      <p:sp>
        <p:nvSpPr>
          <p:cNvPr id="22" name="TextBox 21"/>
          <p:cNvSpPr txBox="1"/>
          <p:nvPr/>
        </p:nvSpPr>
        <p:spPr>
          <a:xfrm>
            <a:off x="8277148" y="3639312"/>
            <a:ext cx="3196742" cy="2176272"/>
          </a:xfrm>
          <a:prstGeom prst="rect">
            <a:avLst/>
          </a:prstGeom>
          <a:noFill/>
        </p:spPr>
        <p:txBody>
          <a:bodyPr wrap="square" lIns="18288" rIns="18288" tIns="0" bIns="0" anchor="t">
            <a:noAutofit/>
          </a:bodyPr>
          <a:lstStyle/>
          <a:p>
            <a:pPr algn="l">
              <a:lnSpc>
                <a:spcPct val="107000"/>
              </a:lnSpc>
              <a:spcBef>
                <a:spcPts val="0"/>
              </a:spcBef>
              <a:spcAft>
                <a:spcPts val="0"/>
              </a:spcAft>
            </a:pPr>
            <a:r>
              <a:rPr sz="1100" b="0" i="0" lang="id-ID">
                <a:solidFill>
                  <a:srgbClr val="3C4A55"/>
                </a:solidFill>
                <a:latin typeface="Calibri"/>
              </a:rPr>
              <a:t>Hanya sebagian studi melaporkan keparahan, gigi yang terkena, dan HSPM. Penulis meminta studi berikutnya melaporkan lebih lengkap.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PENILAIAN KRITIS</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Kekuatan dan keterbatasan artikel ini</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13</a:t>
            </a:r>
          </a:p>
        </p:txBody>
      </p:sp>
      <p:sp>
        <p:nvSpPr>
          <p:cNvPr id="11" name="Rounded Rectangle 10"/>
          <p:cNvSpPr/>
          <p:nvPr/>
        </p:nvSpPr>
        <p:spPr>
          <a:xfrm>
            <a:off x="548640" y="1572768"/>
            <a:ext cx="5394960" cy="4370832"/>
          </a:xfrm>
          <a:prstGeom prst="roundRect">
            <a:avLst>
              <a:gd name="adj" fmla="val 1882"/>
            </a:avLst>
          </a:prstGeom>
          <a:solidFill>
            <a:srgbClr val="E9F5F6"/>
          </a:solidFill>
          <a:ln w="9525">
            <a:solidFill>
              <a:srgbClr val="D2E9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1719072"/>
            <a:ext cx="4992624" cy="256032"/>
          </a:xfrm>
          <a:prstGeom prst="rect">
            <a:avLst/>
          </a:prstGeom>
          <a:noFill/>
        </p:spPr>
        <p:txBody>
          <a:bodyPr wrap="square" lIns="18288" rIns="18288" tIns="0" bIns="0" anchor="t">
            <a:noAutofit/>
          </a:bodyPr>
          <a:lstStyle/>
          <a:p>
            <a:pPr algn="l">
              <a:spcBef>
                <a:spcPts val="0"/>
              </a:spcBef>
              <a:spcAft>
                <a:spcPts val="0"/>
              </a:spcAft>
            </a:pPr>
            <a:r>
              <a:rPr sz="1300" b="1" i="0" lang="id-ID">
                <a:solidFill>
                  <a:srgbClr val="0E7490"/>
                </a:solidFill>
                <a:latin typeface="Calibri"/>
              </a:rPr>
              <a:t>Kekuatan</a:t>
            </a:r>
          </a:p>
        </p:txBody>
      </p:sp>
      <p:sp>
        <p:nvSpPr>
          <p:cNvPr id="13" name="TextBox 12"/>
          <p:cNvSpPr txBox="1"/>
          <p:nvPr/>
        </p:nvSpPr>
        <p:spPr>
          <a:xfrm>
            <a:off x="749808" y="2084831"/>
            <a:ext cx="4992624" cy="3712463"/>
          </a:xfrm>
          <a:prstGeom prst="rect">
            <a:avLst/>
          </a:prstGeom>
          <a:noFill/>
        </p:spPr>
        <p:txBody>
          <a:bodyPr wrap="square" lIns="18288" rIns="18288" tIns="0" bIns="0" anchor="t">
            <a:noAutofit/>
          </a:bodyPr>
          <a:lstStyle/>
          <a:p>
            <a:pPr algn="l">
              <a:lnSpc>
                <a:spcPct val="96000"/>
              </a:lnSpc>
              <a:spcBef>
                <a:spcPts val="0"/>
              </a:spcBef>
              <a:spcAft>
                <a:spcPts val="500"/>
              </a:spcAft>
            </a:pPr>
            <a:r>
              <a:rPr sz="1050" b="0" i="0" lang="id-ID">
                <a:solidFill>
                  <a:srgbClr val="3C4A55"/>
                </a:solidFill>
                <a:latin typeface="Calibri"/>
              </a:rPr>
              <a:t>•  Protokol terdaftar sebelum pencarian dimulai, laporan mengikuti PRISMA</a:t>
            </a:r>
          </a:p>
          <a:p>
            <a:pPr algn="l">
              <a:lnSpc>
                <a:spcPct val="96000"/>
              </a:lnSpc>
              <a:spcBef>
                <a:spcPts val="0"/>
              </a:spcBef>
              <a:spcAft>
                <a:spcPts val="500"/>
              </a:spcAft>
            </a:pPr>
            <a:r>
              <a:rPr sz="1050" b="0" i="0" lang="id-ID">
                <a:solidFill>
                  <a:srgbClr val="3C4A55"/>
                </a:solidFill>
                <a:latin typeface="Calibri"/>
              </a:rPr>
              <a:t>•  Tujuh basis data dengan rentang tahun yang luas</a:t>
            </a:r>
          </a:p>
          <a:p>
            <a:pPr algn="l">
              <a:lnSpc>
                <a:spcPct val="96000"/>
              </a:lnSpc>
              <a:spcBef>
                <a:spcPts val="0"/>
              </a:spcBef>
              <a:spcAft>
                <a:spcPts val="500"/>
              </a:spcAft>
            </a:pPr>
            <a:r>
              <a:rPr sz="1050" b="0" i="0" lang="id-ID">
                <a:solidFill>
                  <a:srgbClr val="3C4A55"/>
                </a:solidFill>
                <a:latin typeface="Calibri"/>
              </a:rPr>
              <a:t>•  Penyaringan dan penilaian risiko bias oleh dua peneliti independen, κ = 0,885</a:t>
            </a:r>
          </a:p>
          <a:p>
            <a:pPr algn="l">
              <a:lnSpc>
                <a:spcPct val="96000"/>
              </a:lnSpc>
              <a:spcBef>
                <a:spcPts val="0"/>
              </a:spcBef>
              <a:spcAft>
                <a:spcPts val="500"/>
              </a:spcAft>
            </a:pPr>
            <a:r>
              <a:rPr sz="1050" b="0" i="0" lang="id-ID">
                <a:solidFill>
                  <a:srgbClr val="3C4A55"/>
                </a:solidFill>
                <a:latin typeface="Calibri"/>
              </a:rPr>
              <a:t>•  Semua studi pada analisis utama dinilai berkualitas tinggi, NOS 7/9 atau lebih</a:t>
            </a:r>
          </a:p>
          <a:p>
            <a:pPr algn="l">
              <a:lnSpc>
                <a:spcPct val="96000"/>
              </a:lnSpc>
              <a:spcBef>
                <a:spcPts val="0"/>
              </a:spcBef>
              <a:spcAft>
                <a:spcPts val="500"/>
              </a:spcAft>
            </a:pPr>
            <a:r>
              <a:rPr sz="1050" b="0" i="0" lang="id-ID">
                <a:solidFill>
                  <a:srgbClr val="3C4A55"/>
                </a:solidFill>
                <a:latin typeface="Calibri"/>
              </a:rPr>
              <a:t>•  Definisi kasus EAPD dibandingkan dengan definisi alternatif</a:t>
            </a:r>
          </a:p>
          <a:p>
            <a:pPr algn="l">
              <a:lnSpc>
                <a:spcPct val="96000"/>
              </a:lnSpc>
              <a:spcBef>
                <a:spcPts val="0"/>
              </a:spcBef>
              <a:spcAft>
                <a:spcPts val="500"/>
              </a:spcAft>
            </a:pPr>
            <a:r>
              <a:rPr sz="1050" b="0" i="0" lang="id-ID">
                <a:solidFill>
                  <a:srgbClr val="3C4A55"/>
                </a:solidFill>
                <a:latin typeface="Calibri"/>
              </a:rPr>
              <a:t>•  Uji kestabilan lengkap: Egger, cumulative, dan leave-one-out</a:t>
            </a:r>
          </a:p>
          <a:p>
            <a:pPr algn="l">
              <a:lnSpc>
                <a:spcPct val="96000"/>
              </a:lnSpc>
              <a:spcBef>
                <a:spcPts val="0"/>
              </a:spcBef>
              <a:spcAft>
                <a:spcPts val="500"/>
              </a:spcAft>
            </a:pPr>
            <a:r>
              <a:rPr sz="1050" b="0" i="0" lang="id-ID">
                <a:solidFill>
                  <a:srgbClr val="3C4A55"/>
                </a:solidFill>
                <a:latin typeface="Calibri"/>
              </a:rPr>
              <a:t>•  113.089 peserta dengan kepastian bukti SORT A</a:t>
            </a:r>
          </a:p>
        </p:txBody>
      </p:sp>
      <p:sp>
        <p:nvSpPr>
          <p:cNvPr id="14" name="Rounded Rectangle 13"/>
          <p:cNvSpPr/>
          <p:nvPr/>
        </p:nvSpPr>
        <p:spPr>
          <a:xfrm>
            <a:off x="6245352" y="1572768"/>
            <a:ext cx="5394960" cy="4370832"/>
          </a:xfrm>
          <a:prstGeom prst="roundRect">
            <a:avLst>
              <a:gd name="adj" fmla="val 1882"/>
            </a:avLst>
          </a:prstGeom>
          <a:solidFill>
            <a:srgbClr val="FCF6EA"/>
          </a:solidFill>
          <a:ln w="9525">
            <a:solidFill>
              <a:srgbClr val="EBD8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46520" y="1719072"/>
            <a:ext cx="4992624" cy="256032"/>
          </a:xfrm>
          <a:prstGeom prst="rect">
            <a:avLst/>
          </a:prstGeom>
          <a:noFill/>
        </p:spPr>
        <p:txBody>
          <a:bodyPr wrap="square" lIns="18288" rIns="18288" tIns="0" bIns="0" anchor="t">
            <a:noAutofit/>
          </a:bodyPr>
          <a:lstStyle/>
          <a:p>
            <a:pPr algn="l">
              <a:spcBef>
                <a:spcPts val="0"/>
              </a:spcBef>
              <a:spcAft>
                <a:spcPts val="0"/>
              </a:spcAft>
            </a:pPr>
            <a:r>
              <a:rPr sz="1300" b="1" i="0" lang="id-ID">
                <a:solidFill>
                  <a:srgbClr val="B45309"/>
                </a:solidFill>
                <a:latin typeface="Calibri"/>
              </a:rPr>
              <a:t>Keterbatasan</a:t>
            </a:r>
          </a:p>
        </p:txBody>
      </p:sp>
      <p:sp>
        <p:nvSpPr>
          <p:cNvPr id="16" name="TextBox 15"/>
          <p:cNvSpPr txBox="1"/>
          <p:nvPr/>
        </p:nvSpPr>
        <p:spPr>
          <a:xfrm>
            <a:off x="6446520" y="2084831"/>
            <a:ext cx="4992624" cy="3712463"/>
          </a:xfrm>
          <a:prstGeom prst="rect">
            <a:avLst/>
          </a:prstGeom>
          <a:noFill/>
        </p:spPr>
        <p:txBody>
          <a:bodyPr wrap="square" lIns="18288" rIns="18288" tIns="0" bIns="0" anchor="t">
            <a:noAutofit/>
          </a:bodyPr>
          <a:lstStyle/>
          <a:p>
            <a:pPr algn="l">
              <a:lnSpc>
                <a:spcPct val="96000"/>
              </a:lnSpc>
              <a:spcBef>
                <a:spcPts val="0"/>
              </a:spcBef>
              <a:spcAft>
                <a:spcPts val="500"/>
              </a:spcAft>
            </a:pPr>
            <a:r>
              <a:rPr sz="1050" b="0" i="0" lang="id-ID">
                <a:solidFill>
                  <a:srgbClr val="3C4A55"/>
                </a:solidFill>
                <a:latin typeface="Calibri"/>
              </a:rPr>
              <a:t>•  Heterogenitas sangat tinggi, I² 93–98%, sehingga angka tunggal perlu dibaca hati-hati</a:t>
            </a:r>
          </a:p>
          <a:p>
            <a:pPr algn="l">
              <a:lnSpc>
                <a:spcPct val="96000"/>
              </a:lnSpc>
              <a:spcBef>
                <a:spcPts val="0"/>
              </a:spcBef>
              <a:spcAft>
                <a:spcPts val="500"/>
              </a:spcAft>
            </a:pPr>
            <a:r>
              <a:rPr sz="1050" b="0" i="0" lang="id-ID">
                <a:solidFill>
                  <a:srgbClr val="3C4A55"/>
                </a:solidFill>
                <a:latin typeface="Calibri"/>
              </a:rPr>
              <a:t>•  48,7% studi tidak memenuhi representativitas sampel</a:t>
            </a:r>
          </a:p>
          <a:p>
            <a:pPr algn="l">
              <a:lnSpc>
                <a:spcPct val="96000"/>
              </a:lnSpc>
              <a:spcBef>
                <a:spcPts val="0"/>
              </a:spcBef>
              <a:spcAft>
                <a:spcPts val="500"/>
              </a:spcAft>
            </a:pPr>
            <a:r>
              <a:rPr sz="1050" b="0" i="0" lang="id-ID">
                <a:solidFill>
                  <a:srgbClr val="3C4A55"/>
                </a:solidFill>
                <a:latin typeface="Calibri"/>
              </a:rPr>
              <a:t>•  Studi tanpa definisi EAPD dikeluarkan dari analisis utama, jumlahnya turun dari 116 ke 98</a:t>
            </a:r>
          </a:p>
          <a:p>
            <a:pPr algn="l">
              <a:lnSpc>
                <a:spcPct val="96000"/>
              </a:lnSpc>
              <a:spcBef>
                <a:spcPts val="0"/>
              </a:spcBef>
              <a:spcAft>
                <a:spcPts val="500"/>
              </a:spcAft>
            </a:pPr>
            <a:r>
              <a:rPr sz="1050" b="0" i="0" lang="id-ID">
                <a:solidFill>
                  <a:srgbClr val="3C4A55"/>
                </a:solidFill>
                <a:latin typeface="Calibri"/>
              </a:rPr>
              <a:t>•  Data keparahan, gigi terkena, dan HSPM langka; sebagian estimasi hanya dari 7 studi</a:t>
            </a:r>
          </a:p>
          <a:p>
            <a:pPr algn="l">
              <a:lnSpc>
                <a:spcPct val="96000"/>
              </a:lnSpc>
              <a:spcBef>
                <a:spcPts val="0"/>
              </a:spcBef>
              <a:spcAft>
                <a:spcPts val="500"/>
              </a:spcAft>
            </a:pPr>
            <a:r>
              <a:rPr sz="1050" b="0" i="0" lang="id-ID">
                <a:solidFill>
                  <a:srgbClr val="3C4A55"/>
                </a:solidFill>
                <a:latin typeface="Calibri"/>
              </a:rPr>
              <a:t>•  Faktor medis, sosiodemografis, dan lingkungan tidak dapat dianalisis karena pelaporannya tidak seragam</a:t>
            </a:r>
          </a:p>
          <a:p>
            <a:pPr algn="l">
              <a:lnSpc>
                <a:spcPct val="96000"/>
              </a:lnSpc>
              <a:spcBef>
                <a:spcPts val="0"/>
              </a:spcBef>
              <a:spcAft>
                <a:spcPts val="500"/>
              </a:spcAft>
            </a:pPr>
            <a:r>
              <a:rPr sz="1050" b="0" i="0" lang="id-ID">
                <a:solidFill>
                  <a:srgbClr val="3C4A55"/>
                </a:solidFill>
                <a:latin typeface="Calibri"/>
              </a:rPr>
              <a:t>•  Tidak ada penilaian GRADE, kepastian bukti memakai SORT. Angka insisivus pada abstrak (36,6%) juga berbeda dari Tabel 2 (38,7%)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IMPLIKASI KLINIS</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Apa yang bisa dilakukan di klinik</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14</a:t>
            </a:r>
          </a:p>
        </p:txBody>
      </p:sp>
      <p:sp>
        <p:nvSpPr>
          <p:cNvPr id="11" name="Rounded Rectangle 10"/>
          <p:cNvSpPr/>
          <p:nvPr/>
        </p:nvSpPr>
        <p:spPr>
          <a:xfrm>
            <a:off x="548640" y="1645920"/>
            <a:ext cx="2601468" cy="2798064"/>
          </a:xfrm>
          <a:prstGeom prst="roundRect">
            <a:avLst>
              <a:gd name="adj" fmla="val 3163"/>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713232" y="1810512"/>
            <a:ext cx="384048" cy="384048"/>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232" y="1883664"/>
            <a:ext cx="384048" cy="256032"/>
          </a:xfrm>
          <a:prstGeom prst="rect">
            <a:avLst/>
          </a:prstGeom>
          <a:noFill/>
        </p:spPr>
        <p:txBody>
          <a:bodyPr wrap="square" lIns="18288" rIns="18288" tIns="0" bIns="0" anchor="t">
            <a:noAutofit/>
          </a:bodyPr>
          <a:lstStyle/>
          <a:p>
            <a:pPr algn="ctr">
              <a:spcBef>
                <a:spcPts val="0"/>
              </a:spcBef>
              <a:spcAft>
                <a:spcPts val="0"/>
              </a:spcAft>
            </a:pPr>
            <a:r>
              <a:rPr sz="1300" b="1" i="0" lang="id-ID">
                <a:solidFill>
                  <a:srgbClr val="FFFFFF"/>
                </a:solidFill>
                <a:latin typeface="Calibri"/>
              </a:rPr>
              <a:t>1</a:t>
            </a:r>
          </a:p>
        </p:txBody>
      </p:sp>
      <p:sp>
        <p:nvSpPr>
          <p:cNvPr id="14" name="TextBox 13"/>
          <p:cNvSpPr txBox="1"/>
          <p:nvPr/>
        </p:nvSpPr>
        <p:spPr>
          <a:xfrm>
            <a:off x="713232" y="2322576"/>
            <a:ext cx="2272284" cy="566928"/>
          </a:xfrm>
          <a:prstGeom prst="rect">
            <a:avLst/>
          </a:prstGeom>
          <a:noFill/>
        </p:spPr>
        <p:txBody>
          <a:bodyPr wrap="square" lIns="18288" rIns="18288" tIns="0" bIns="0" anchor="t">
            <a:noAutofit/>
          </a:bodyPr>
          <a:lstStyle/>
          <a:p>
            <a:pPr algn="l">
              <a:lnSpc>
                <a:spcPct val="100000"/>
              </a:lnSpc>
              <a:spcBef>
                <a:spcPts val="0"/>
              </a:spcBef>
              <a:spcAft>
                <a:spcPts val="0"/>
              </a:spcAft>
            </a:pPr>
            <a:r>
              <a:rPr sz="1200" b="1" i="0" lang="id-ID">
                <a:solidFill>
                  <a:srgbClr val="0F172A"/>
                </a:solidFill>
                <a:latin typeface="Calibri"/>
              </a:rPr>
              <a:t>Periksa lebih awal</a:t>
            </a:r>
          </a:p>
        </p:txBody>
      </p:sp>
      <p:sp>
        <p:nvSpPr>
          <p:cNvPr id="15" name="TextBox 14"/>
          <p:cNvSpPr txBox="1"/>
          <p:nvPr/>
        </p:nvSpPr>
        <p:spPr>
          <a:xfrm>
            <a:off x="713232" y="2926080"/>
            <a:ext cx="2272284" cy="1371600"/>
          </a:xfrm>
          <a:prstGeom prst="rect">
            <a:avLst/>
          </a:prstGeom>
          <a:noFill/>
        </p:spPr>
        <p:txBody>
          <a:bodyPr wrap="square" lIns="18288" rIns="18288" tIns="0" bIns="0" anchor="t">
            <a:noAutofit/>
          </a:bodyPr>
          <a:lstStyle/>
          <a:p>
            <a:pPr algn="l">
              <a:lnSpc>
                <a:spcPct val="106000"/>
              </a:lnSpc>
              <a:spcBef>
                <a:spcPts val="0"/>
              </a:spcBef>
              <a:spcAft>
                <a:spcPts val="0"/>
              </a:spcAft>
            </a:pPr>
            <a:r>
              <a:rPr sz="1050" b="0" i="0" lang="id-ID">
                <a:solidFill>
                  <a:srgbClr val="3C4A55"/>
                </a:solidFill>
                <a:latin typeface="Calibri"/>
              </a:rPr>
              <a:t>Molar pertama permanen diperiksa begitu erupsi, sekitar usia 6 sampai 8 tahun. Cari opasitas berbatas tegas dan catat gigi yang terkena.</a:t>
            </a:r>
          </a:p>
        </p:txBody>
      </p:sp>
      <p:sp>
        <p:nvSpPr>
          <p:cNvPr id="16" name="Rounded Rectangle 15"/>
          <p:cNvSpPr/>
          <p:nvPr/>
        </p:nvSpPr>
        <p:spPr>
          <a:xfrm>
            <a:off x="3378708" y="1645920"/>
            <a:ext cx="2601468" cy="2798064"/>
          </a:xfrm>
          <a:prstGeom prst="roundRect">
            <a:avLst>
              <a:gd name="adj" fmla="val 3163"/>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543300" y="1810512"/>
            <a:ext cx="384048" cy="384048"/>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543300" y="1883664"/>
            <a:ext cx="384048" cy="256032"/>
          </a:xfrm>
          <a:prstGeom prst="rect">
            <a:avLst/>
          </a:prstGeom>
          <a:noFill/>
        </p:spPr>
        <p:txBody>
          <a:bodyPr wrap="square" lIns="18288" rIns="18288" tIns="0" bIns="0" anchor="t">
            <a:noAutofit/>
          </a:bodyPr>
          <a:lstStyle/>
          <a:p>
            <a:pPr algn="ctr">
              <a:spcBef>
                <a:spcPts val="0"/>
              </a:spcBef>
              <a:spcAft>
                <a:spcPts val="0"/>
              </a:spcAft>
            </a:pPr>
            <a:r>
              <a:rPr sz="1300" b="1" i="0" lang="id-ID">
                <a:solidFill>
                  <a:srgbClr val="FFFFFF"/>
                </a:solidFill>
                <a:latin typeface="Calibri"/>
              </a:rPr>
              <a:t>2</a:t>
            </a:r>
          </a:p>
        </p:txBody>
      </p:sp>
      <p:sp>
        <p:nvSpPr>
          <p:cNvPr id="19" name="TextBox 18"/>
          <p:cNvSpPr txBox="1"/>
          <p:nvPr/>
        </p:nvSpPr>
        <p:spPr>
          <a:xfrm>
            <a:off x="3543300" y="2322576"/>
            <a:ext cx="2272284" cy="566928"/>
          </a:xfrm>
          <a:prstGeom prst="rect">
            <a:avLst/>
          </a:prstGeom>
          <a:noFill/>
        </p:spPr>
        <p:txBody>
          <a:bodyPr wrap="square" lIns="18288" rIns="18288" tIns="0" bIns="0" anchor="t">
            <a:noAutofit/>
          </a:bodyPr>
          <a:lstStyle/>
          <a:p>
            <a:pPr algn="l">
              <a:lnSpc>
                <a:spcPct val="100000"/>
              </a:lnSpc>
              <a:spcBef>
                <a:spcPts val="0"/>
              </a:spcBef>
              <a:spcAft>
                <a:spcPts val="0"/>
              </a:spcAft>
            </a:pPr>
            <a:r>
              <a:rPr sz="1200" b="1" i="0" lang="id-ID">
                <a:solidFill>
                  <a:srgbClr val="0F172A"/>
                </a:solidFill>
                <a:latin typeface="Calibri"/>
              </a:rPr>
              <a:t>Pakai kriteria yang sama</a:t>
            </a:r>
          </a:p>
        </p:txBody>
      </p:sp>
      <p:sp>
        <p:nvSpPr>
          <p:cNvPr id="20" name="TextBox 19"/>
          <p:cNvSpPr txBox="1"/>
          <p:nvPr/>
        </p:nvSpPr>
        <p:spPr>
          <a:xfrm>
            <a:off x="3543300" y="2926080"/>
            <a:ext cx="2272284" cy="1371600"/>
          </a:xfrm>
          <a:prstGeom prst="rect">
            <a:avLst/>
          </a:prstGeom>
          <a:noFill/>
        </p:spPr>
        <p:txBody>
          <a:bodyPr wrap="square" lIns="18288" rIns="18288" tIns="0" bIns="0" anchor="t">
            <a:noAutofit/>
          </a:bodyPr>
          <a:lstStyle/>
          <a:p>
            <a:pPr algn="l">
              <a:lnSpc>
                <a:spcPct val="106000"/>
              </a:lnSpc>
              <a:spcBef>
                <a:spcPts val="0"/>
              </a:spcBef>
              <a:spcAft>
                <a:spcPts val="0"/>
              </a:spcAft>
            </a:pPr>
            <a:r>
              <a:rPr sz="1050" b="0" i="0" lang="id-ID">
                <a:solidFill>
                  <a:srgbClr val="3C4A55"/>
                </a:solidFill>
                <a:latin typeface="Calibri"/>
              </a:rPr>
              <a:t>Kriteria EAPD 2003 dipakai konsisten, disertai foto klinis, supaya data pasien kita dapat dibandingkan dengan literatur.</a:t>
            </a:r>
          </a:p>
        </p:txBody>
      </p:sp>
      <p:sp>
        <p:nvSpPr>
          <p:cNvPr id="21" name="Rounded Rectangle 20"/>
          <p:cNvSpPr/>
          <p:nvPr/>
        </p:nvSpPr>
        <p:spPr>
          <a:xfrm>
            <a:off x="6208776" y="1645920"/>
            <a:ext cx="2601468" cy="2798064"/>
          </a:xfrm>
          <a:prstGeom prst="roundRect">
            <a:avLst>
              <a:gd name="adj" fmla="val 3163"/>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6373368" y="1810512"/>
            <a:ext cx="384048" cy="384048"/>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73368" y="1883664"/>
            <a:ext cx="384048" cy="256032"/>
          </a:xfrm>
          <a:prstGeom prst="rect">
            <a:avLst/>
          </a:prstGeom>
          <a:noFill/>
        </p:spPr>
        <p:txBody>
          <a:bodyPr wrap="square" lIns="18288" rIns="18288" tIns="0" bIns="0" anchor="t">
            <a:noAutofit/>
          </a:bodyPr>
          <a:lstStyle/>
          <a:p>
            <a:pPr algn="ctr">
              <a:spcBef>
                <a:spcPts val="0"/>
              </a:spcBef>
              <a:spcAft>
                <a:spcPts val="0"/>
              </a:spcAft>
            </a:pPr>
            <a:r>
              <a:rPr sz="1300" b="1" i="0" lang="id-ID">
                <a:solidFill>
                  <a:srgbClr val="FFFFFF"/>
                </a:solidFill>
                <a:latin typeface="Calibri"/>
              </a:rPr>
              <a:t>3</a:t>
            </a:r>
          </a:p>
        </p:txBody>
      </p:sp>
      <p:sp>
        <p:nvSpPr>
          <p:cNvPr id="24" name="TextBox 23"/>
          <p:cNvSpPr txBox="1"/>
          <p:nvPr/>
        </p:nvSpPr>
        <p:spPr>
          <a:xfrm>
            <a:off x="6373368" y="2322576"/>
            <a:ext cx="2272284" cy="566928"/>
          </a:xfrm>
          <a:prstGeom prst="rect">
            <a:avLst/>
          </a:prstGeom>
          <a:noFill/>
        </p:spPr>
        <p:txBody>
          <a:bodyPr wrap="square" lIns="18288" rIns="18288" tIns="0" bIns="0" anchor="t">
            <a:noAutofit/>
          </a:bodyPr>
          <a:lstStyle/>
          <a:p>
            <a:pPr algn="l">
              <a:lnSpc>
                <a:spcPct val="100000"/>
              </a:lnSpc>
              <a:spcBef>
                <a:spcPts val="0"/>
              </a:spcBef>
              <a:spcAft>
                <a:spcPts val="0"/>
              </a:spcAft>
            </a:pPr>
            <a:r>
              <a:rPr sz="1200" b="1" i="0" lang="id-ID">
                <a:solidFill>
                  <a:srgbClr val="0F172A"/>
                </a:solidFill>
                <a:latin typeface="Calibri"/>
              </a:rPr>
              <a:t>Catat keparahan</a:t>
            </a:r>
          </a:p>
        </p:txBody>
      </p:sp>
      <p:sp>
        <p:nvSpPr>
          <p:cNvPr id="25" name="TextBox 24"/>
          <p:cNvSpPr txBox="1"/>
          <p:nvPr/>
        </p:nvSpPr>
        <p:spPr>
          <a:xfrm>
            <a:off x="6373368" y="2926080"/>
            <a:ext cx="2272284" cy="1371600"/>
          </a:xfrm>
          <a:prstGeom prst="rect">
            <a:avLst/>
          </a:prstGeom>
          <a:noFill/>
        </p:spPr>
        <p:txBody>
          <a:bodyPr wrap="square" lIns="18288" rIns="18288" tIns="0" bIns="0" anchor="t">
            <a:noAutofit/>
          </a:bodyPr>
          <a:lstStyle/>
          <a:p>
            <a:pPr algn="l">
              <a:lnSpc>
                <a:spcPct val="106000"/>
              </a:lnSpc>
              <a:spcBef>
                <a:spcPts val="0"/>
              </a:spcBef>
              <a:spcAft>
                <a:spcPts val="0"/>
              </a:spcAft>
            </a:pPr>
            <a:r>
              <a:rPr sz="1050" b="0" i="0" lang="id-ID">
                <a:solidFill>
                  <a:srgbClr val="3C4A55"/>
                </a:solidFill>
                <a:latin typeface="Calibri"/>
              </a:rPr>
              <a:t>Keparahan dan jumlah molar yang terkena menentukan intensitas recall dan pilihan perawatan.</a:t>
            </a:r>
          </a:p>
        </p:txBody>
      </p:sp>
      <p:sp>
        <p:nvSpPr>
          <p:cNvPr id="26" name="Rounded Rectangle 25"/>
          <p:cNvSpPr/>
          <p:nvPr/>
        </p:nvSpPr>
        <p:spPr>
          <a:xfrm>
            <a:off x="9038844" y="1645920"/>
            <a:ext cx="2601468" cy="2798064"/>
          </a:xfrm>
          <a:prstGeom prst="roundRect">
            <a:avLst>
              <a:gd name="adj" fmla="val 3163"/>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9203436" y="1810512"/>
            <a:ext cx="384048" cy="384048"/>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03436" y="1883664"/>
            <a:ext cx="384048" cy="256032"/>
          </a:xfrm>
          <a:prstGeom prst="rect">
            <a:avLst/>
          </a:prstGeom>
          <a:noFill/>
        </p:spPr>
        <p:txBody>
          <a:bodyPr wrap="square" lIns="18288" rIns="18288" tIns="0" bIns="0" anchor="t">
            <a:noAutofit/>
          </a:bodyPr>
          <a:lstStyle/>
          <a:p>
            <a:pPr algn="ctr">
              <a:spcBef>
                <a:spcPts val="0"/>
              </a:spcBef>
              <a:spcAft>
                <a:spcPts val="0"/>
              </a:spcAft>
            </a:pPr>
            <a:r>
              <a:rPr sz="1300" b="1" i="0" lang="id-ID">
                <a:solidFill>
                  <a:srgbClr val="FFFFFF"/>
                </a:solidFill>
                <a:latin typeface="Calibri"/>
              </a:rPr>
              <a:t>4</a:t>
            </a:r>
          </a:p>
        </p:txBody>
      </p:sp>
      <p:sp>
        <p:nvSpPr>
          <p:cNvPr id="29" name="TextBox 28"/>
          <p:cNvSpPr txBox="1"/>
          <p:nvPr/>
        </p:nvSpPr>
        <p:spPr>
          <a:xfrm>
            <a:off x="9203436" y="2322576"/>
            <a:ext cx="2272284" cy="566928"/>
          </a:xfrm>
          <a:prstGeom prst="rect">
            <a:avLst/>
          </a:prstGeom>
          <a:noFill/>
        </p:spPr>
        <p:txBody>
          <a:bodyPr wrap="square" lIns="18288" rIns="18288" tIns="0" bIns="0" anchor="t">
            <a:noAutofit/>
          </a:bodyPr>
          <a:lstStyle/>
          <a:p>
            <a:pPr algn="l">
              <a:lnSpc>
                <a:spcPct val="100000"/>
              </a:lnSpc>
              <a:spcBef>
                <a:spcPts val="0"/>
              </a:spcBef>
              <a:spcAft>
                <a:spcPts val="0"/>
              </a:spcAft>
            </a:pPr>
            <a:r>
              <a:rPr sz="1200" b="1" i="0" lang="id-ID">
                <a:solidFill>
                  <a:srgbClr val="0F172A"/>
                </a:solidFill>
                <a:latin typeface="Calibri"/>
              </a:rPr>
              <a:t>Tangani secara minimal invasif</a:t>
            </a:r>
          </a:p>
        </p:txBody>
      </p:sp>
      <p:sp>
        <p:nvSpPr>
          <p:cNvPr id="30" name="TextBox 29"/>
          <p:cNvSpPr txBox="1"/>
          <p:nvPr/>
        </p:nvSpPr>
        <p:spPr>
          <a:xfrm>
            <a:off x="9203436" y="2926080"/>
            <a:ext cx="2272284" cy="1371600"/>
          </a:xfrm>
          <a:prstGeom prst="rect">
            <a:avLst/>
          </a:prstGeom>
          <a:noFill/>
        </p:spPr>
        <p:txBody>
          <a:bodyPr wrap="square" lIns="18288" rIns="18288" tIns="0" bIns="0" anchor="t">
            <a:noAutofit/>
          </a:bodyPr>
          <a:lstStyle/>
          <a:p>
            <a:pPr algn="l">
              <a:lnSpc>
                <a:spcPct val="106000"/>
              </a:lnSpc>
              <a:spcBef>
                <a:spcPts val="0"/>
              </a:spcBef>
              <a:spcAft>
                <a:spcPts val="0"/>
              </a:spcAft>
            </a:pPr>
            <a:r>
              <a:rPr sz="1050" b="0" i="0" lang="id-ID">
                <a:solidFill>
                  <a:srgbClr val="3C4A55"/>
                </a:solidFill>
                <a:latin typeface="Calibri"/>
              </a:rPr>
              <a:t>Desensitisasi, sealant pada molar berisiko, restorasi atau SSC bila enamel pecah. Hindari preparasi agresif, dan ingat bahwa pencegahan karies lebih menentukan pada enamel yang lemah.</a:t>
            </a:r>
          </a:p>
        </p:txBody>
      </p:sp>
      <p:sp>
        <p:nvSpPr>
          <p:cNvPr id="31" name="Right Arrow 30"/>
          <p:cNvSpPr/>
          <p:nvPr/>
        </p:nvSpPr>
        <p:spPr>
          <a:xfrm>
            <a:off x="3218688" y="2889504"/>
            <a:ext cx="173736" cy="237744"/>
          </a:xfrm>
          <a:prstGeom prst="rightArrow">
            <a:avLst/>
          </a:prstGeom>
          <a:solidFill>
            <a:srgbClr val="8FC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ight Arrow 31"/>
          <p:cNvSpPr/>
          <p:nvPr/>
        </p:nvSpPr>
        <p:spPr>
          <a:xfrm>
            <a:off x="6048756" y="2889504"/>
            <a:ext cx="173736" cy="237744"/>
          </a:xfrm>
          <a:prstGeom prst="rightArrow">
            <a:avLst/>
          </a:prstGeom>
          <a:solidFill>
            <a:srgbClr val="8FC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ight Arrow 32"/>
          <p:cNvSpPr/>
          <p:nvPr/>
        </p:nvSpPr>
        <p:spPr>
          <a:xfrm>
            <a:off x="8878824" y="2889504"/>
            <a:ext cx="173736" cy="237744"/>
          </a:xfrm>
          <a:prstGeom prst="rightArrow">
            <a:avLst/>
          </a:prstGeom>
          <a:solidFill>
            <a:srgbClr val="8FC6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548640" y="4626864"/>
            <a:ext cx="11091672" cy="1316736"/>
          </a:xfrm>
          <a:prstGeom prst="roundRect">
            <a:avLst>
              <a:gd name="adj" fmla="val 6250"/>
            </a:avLst>
          </a:prstGeom>
          <a:solidFill>
            <a:srgbClr val="0B2E36"/>
          </a:solidFill>
          <a:ln w="9525">
            <a:solidFill>
              <a:srgbClr val="123F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2960" y="4773168"/>
            <a:ext cx="7315200" cy="237744"/>
          </a:xfrm>
          <a:prstGeom prst="rect">
            <a:avLst/>
          </a:prstGeom>
          <a:noFill/>
        </p:spPr>
        <p:txBody>
          <a:bodyPr wrap="square" lIns="18288" rIns="18288" tIns="0" bIns="0" anchor="t">
            <a:noAutofit/>
          </a:bodyPr>
          <a:lstStyle/>
          <a:p>
            <a:pPr algn="l">
              <a:spcBef>
                <a:spcPts val="0"/>
              </a:spcBef>
              <a:spcAft>
                <a:spcPts val="0"/>
              </a:spcAft>
            </a:pPr>
            <a:r>
              <a:rPr sz="1000" b="1" i="0" spc="90" lang="id-ID">
                <a:solidFill>
                  <a:srgbClr val="8FC6CE"/>
                </a:solidFill>
                <a:latin typeface="Calibri"/>
              </a:rPr>
              <a:t>UNTUK PROGRAM SEKOLAH</a:t>
            </a:r>
          </a:p>
        </p:txBody>
      </p:sp>
      <p:sp>
        <p:nvSpPr>
          <p:cNvPr id="36" name="TextBox 35"/>
          <p:cNvSpPr txBox="1"/>
          <p:nvPr/>
        </p:nvSpPr>
        <p:spPr>
          <a:xfrm>
            <a:off x="822960" y="5029200"/>
            <a:ext cx="10543032" cy="768096"/>
          </a:xfrm>
          <a:prstGeom prst="rect">
            <a:avLst/>
          </a:prstGeom>
          <a:noFill/>
        </p:spPr>
        <p:txBody>
          <a:bodyPr wrap="square" lIns="18288" rIns="18288" tIns="0" bIns="0" anchor="t">
            <a:noAutofit/>
          </a:bodyPr>
          <a:lstStyle/>
          <a:p>
            <a:pPr algn="l">
              <a:lnSpc>
                <a:spcPct val="104000"/>
              </a:lnSpc>
              <a:spcBef>
                <a:spcPts val="0"/>
              </a:spcBef>
              <a:spcAft>
                <a:spcPts val="0"/>
              </a:spcAft>
            </a:pPr>
            <a:r>
              <a:rPr sz="1300" b="0" i="0" lang="id-ID">
                <a:solidFill>
                  <a:srgbClr val="FFFFFF"/>
                </a:solidFill>
                <a:latin typeface="Calibri"/>
              </a:rPr>
              <a:t>Angka 13% sampai 15% cukup tinggi untuk menjadikan pemeriksaan MIH bagian dari skrining rutin, bukan temuan yang kebetulan terlihat.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48640" y="411480"/>
            <a:ext cx="50292" cy="292608"/>
          </a:xfrm>
          <a:prstGeom prst="roundRect">
            <a:avLst>
              <a:gd name="adj" fmla="val 36363"/>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393192"/>
            <a:ext cx="6035040" cy="274320"/>
          </a:xfrm>
          <a:prstGeom prst="rect">
            <a:avLst/>
          </a:prstGeom>
          <a:noFill/>
        </p:spPr>
        <p:txBody>
          <a:bodyPr wrap="square" lIns="18288" rIns="18288" tIns="0" bIns="0" anchor="t">
            <a:noAutofit/>
          </a:bodyPr>
          <a:lstStyle/>
          <a:p>
            <a:pPr algn="l">
              <a:spcBef>
                <a:spcPts val="0"/>
              </a:spcBef>
              <a:spcAft>
                <a:spcPts val="0"/>
              </a:spcAft>
            </a:pPr>
            <a:r>
              <a:rPr sz="1050" b="1" i="0" spc="130" lang="id-ID">
                <a:solidFill>
                  <a:srgbClr val="0E7490"/>
                </a:solidFill>
                <a:latin typeface="Calibri"/>
              </a:rPr>
              <a:t>KESIMPULAN</a:t>
            </a:r>
          </a:p>
        </p:txBody>
      </p:sp>
      <p:sp>
        <p:nvSpPr>
          <p:cNvPr id="5" name="TextBox 4"/>
          <p:cNvSpPr txBox="1"/>
          <p:nvPr/>
        </p:nvSpPr>
        <p:spPr>
          <a:xfrm>
            <a:off x="548640" y="731520"/>
            <a:ext cx="11091672" cy="566928"/>
          </a:xfrm>
          <a:prstGeom prst="rect">
            <a:avLst/>
          </a:prstGeom>
          <a:noFill/>
        </p:spPr>
        <p:txBody>
          <a:bodyPr wrap="square" lIns="18288" rIns="18288" tIns="0" bIns="0" anchor="t">
            <a:noAutofit/>
          </a:bodyPr>
          <a:lstStyle/>
          <a:p>
            <a:pPr algn="l">
              <a:lnSpc>
                <a:spcPct val="98000"/>
              </a:lnSpc>
              <a:spcBef>
                <a:spcPts val="0"/>
              </a:spcBef>
              <a:spcAft>
                <a:spcPts val="0"/>
              </a:spcAft>
            </a:pPr>
            <a:r>
              <a:rPr sz="2400" b="1" i="0" lang="id-ID">
                <a:solidFill>
                  <a:srgbClr val="0F172A"/>
                </a:solidFill>
                <a:latin typeface="Calibri"/>
              </a:rPr>
              <a:t>Tiga angka, satu pesan</a:t>
            </a:r>
          </a:p>
        </p:txBody>
      </p:sp>
      <p:sp>
        <p:nvSpPr>
          <p:cNvPr id="6" name="Rounded Rectangle 5"/>
          <p:cNvSpPr/>
          <p:nvPr/>
        </p:nvSpPr>
        <p:spPr>
          <a:xfrm>
            <a:off x="548640" y="1389888"/>
            <a:ext cx="1188720" cy="23774"/>
          </a:xfrm>
          <a:prstGeom prst="roundRect">
            <a:avLst>
              <a:gd name="adj" fmla="val 42307"/>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28800" y="1394460"/>
            <a:ext cx="981151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48640" y="6199632"/>
            <a:ext cx="11091672" cy="12801"/>
          </a:xfrm>
          <a:prstGeom prst="roundRect">
            <a:avLst>
              <a:gd name="adj" fmla="val 50000"/>
            </a:avLst>
          </a:prstGeom>
          <a:solidFill>
            <a:srgbClr val="DC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6291072"/>
            <a:ext cx="8778240" cy="274320"/>
          </a:xfrm>
          <a:prstGeom prst="rect">
            <a:avLst/>
          </a:prstGeom>
          <a:noFill/>
        </p:spPr>
        <p:txBody>
          <a:bodyPr wrap="square" lIns="18288" rIns="18288" tIns="0" bIns="0" anchor="t">
            <a:noAutofit/>
          </a:bodyPr>
          <a:lstStyle/>
          <a:p>
            <a:pPr algn="l">
              <a:spcBef>
                <a:spcPts val="0"/>
              </a:spcBef>
              <a:spcAft>
                <a:spcPts val="0"/>
              </a:spcAft>
            </a:pPr>
            <a:r>
              <a:rPr sz="900" b="0" i="0" lang="id-ID">
                <a:solidFill>
                  <a:srgbClr val="6B7B87"/>
                </a:solidFill>
                <a:latin typeface="Calibri"/>
              </a:rPr>
              <a:t>Lopes dkk., Sci Rep 2021;11:22405 · DOI 10.1038/s41598-021-01541-7 · CC BY 4.0</a:t>
            </a:r>
          </a:p>
        </p:txBody>
      </p:sp>
      <p:sp>
        <p:nvSpPr>
          <p:cNvPr id="10" name="TextBox 9"/>
          <p:cNvSpPr txBox="1"/>
          <p:nvPr/>
        </p:nvSpPr>
        <p:spPr>
          <a:xfrm>
            <a:off x="10149840" y="6272784"/>
            <a:ext cx="1490472" cy="292608"/>
          </a:xfrm>
          <a:prstGeom prst="rect">
            <a:avLst/>
          </a:prstGeom>
          <a:noFill/>
        </p:spPr>
        <p:txBody>
          <a:bodyPr wrap="square" lIns="18288" rIns="18288" tIns="0" bIns="0" anchor="t">
            <a:noAutofit/>
          </a:bodyPr>
          <a:lstStyle/>
          <a:p>
            <a:pPr algn="r">
              <a:spcBef>
                <a:spcPts val="0"/>
              </a:spcBef>
              <a:spcAft>
                <a:spcPts val="0"/>
              </a:spcAft>
            </a:pPr>
            <a:r>
              <a:rPr sz="1050" b="1" i="0" lang="id-ID">
                <a:solidFill>
                  <a:srgbClr val="0E7490"/>
                </a:solidFill>
                <a:latin typeface="Calibri"/>
              </a:rPr>
              <a:t>15</a:t>
            </a:r>
          </a:p>
        </p:txBody>
      </p:sp>
      <p:sp>
        <p:nvSpPr>
          <p:cNvPr id="11" name="Rounded Rectangle 10"/>
          <p:cNvSpPr/>
          <p:nvPr/>
        </p:nvSpPr>
        <p:spPr>
          <a:xfrm>
            <a:off x="548640" y="1572768"/>
            <a:ext cx="3525926" cy="1700784"/>
          </a:xfrm>
          <a:prstGeom prst="roundRect">
            <a:avLst>
              <a:gd name="adj" fmla="val 48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3232" y="1700784"/>
            <a:ext cx="3196742" cy="457200"/>
          </a:xfrm>
          <a:prstGeom prst="rect">
            <a:avLst/>
          </a:prstGeom>
          <a:noFill/>
        </p:spPr>
        <p:txBody>
          <a:bodyPr wrap="square" lIns="18288" rIns="18288" tIns="0" bIns="0" anchor="t">
            <a:noAutofit/>
          </a:bodyPr>
          <a:lstStyle/>
          <a:p>
            <a:pPr algn="l">
              <a:spcBef>
                <a:spcPts val="0"/>
              </a:spcBef>
              <a:spcAft>
                <a:spcPts val="0"/>
              </a:spcAft>
            </a:pPr>
            <a:r>
              <a:rPr sz="2400" b="1" i="0" lang="id-ID">
                <a:solidFill>
                  <a:srgbClr val="155E75"/>
                </a:solidFill>
                <a:latin typeface="Calibri"/>
              </a:rPr>
              <a:t>13,5%</a:t>
            </a:r>
          </a:p>
        </p:txBody>
      </p:sp>
      <p:sp>
        <p:nvSpPr>
          <p:cNvPr id="13" name="TextBox 12"/>
          <p:cNvSpPr txBox="1"/>
          <p:nvPr/>
        </p:nvSpPr>
        <p:spPr>
          <a:xfrm>
            <a:off x="713232" y="2157984"/>
            <a:ext cx="3196742" cy="237744"/>
          </a:xfrm>
          <a:prstGeom prst="rect">
            <a:avLst/>
          </a:prstGeom>
          <a:noFill/>
        </p:spPr>
        <p:txBody>
          <a:bodyPr wrap="square" lIns="18288" rIns="18288" tIns="0" bIns="0" anchor="t">
            <a:noAutofit/>
          </a:bodyPr>
          <a:lstStyle/>
          <a:p>
            <a:pPr algn="l">
              <a:spcBef>
                <a:spcPts val="0"/>
              </a:spcBef>
              <a:spcAft>
                <a:spcPts val="0"/>
              </a:spcAft>
            </a:pPr>
            <a:r>
              <a:rPr sz="1050" b="0" i="0" lang="id-ID">
                <a:solidFill>
                  <a:srgbClr val="6B7B87"/>
                </a:solidFill>
                <a:latin typeface="Calibri"/>
              </a:rPr>
              <a:t>12,0–15,1</a:t>
            </a:r>
          </a:p>
        </p:txBody>
      </p:sp>
      <p:sp>
        <p:nvSpPr>
          <p:cNvPr id="14" name="TextBox 13"/>
          <p:cNvSpPr txBox="1"/>
          <p:nvPr/>
        </p:nvSpPr>
        <p:spPr>
          <a:xfrm>
            <a:off x="713232" y="2432304"/>
            <a:ext cx="3196742" cy="694944"/>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Prevalensi global dari 113.089 peserta, dengan kepastian bukti SORT A.</a:t>
            </a:r>
          </a:p>
        </p:txBody>
      </p:sp>
      <p:sp>
        <p:nvSpPr>
          <p:cNvPr id="15" name="Rounded Rectangle 14"/>
          <p:cNvSpPr/>
          <p:nvPr/>
        </p:nvSpPr>
        <p:spPr>
          <a:xfrm>
            <a:off x="4330598" y="1572768"/>
            <a:ext cx="3525926" cy="1700784"/>
          </a:xfrm>
          <a:prstGeom prst="roundRect">
            <a:avLst>
              <a:gd name="adj" fmla="val 48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95190" y="1700784"/>
            <a:ext cx="3196742" cy="457200"/>
          </a:xfrm>
          <a:prstGeom prst="rect">
            <a:avLst/>
          </a:prstGeom>
          <a:noFill/>
        </p:spPr>
        <p:txBody>
          <a:bodyPr wrap="square" lIns="18288" rIns="18288" tIns="0" bIns="0" anchor="t">
            <a:noAutofit/>
          </a:bodyPr>
          <a:lstStyle/>
          <a:p>
            <a:pPr algn="l">
              <a:spcBef>
                <a:spcPts val="0"/>
              </a:spcBef>
              <a:spcAft>
                <a:spcPts val="0"/>
              </a:spcAft>
            </a:pPr>
            <a:r>
              <a:rPr sz="2400" b="1" i="0" lang="id-ID">
                <a:solidFill>
                  <a:srgbClr val="155E75"/>
                </a:solidFill>
                <a:latin typeface="Calibri"/>
              </a:rPr>
              <a:t>36,3%</a:t>
            </a:r>
          </a:p>
        </p:txBody>
      </p:sp>
      <p:sp>
        <p:nvSpPr>
          <p:cNvPr id="17" name="TextBox 16"/>
          <p:cNvSpPr txBox="1"/>
          <p:nvPr/>
        </p:nvSpPr>
        <p:spPr>
          <a:xfrm>
            <a:off x="4495190" y="2157984"/>
            <a:ext cx="3196742" cy="237744"/>
          </a:xfrm>
          <a:prstGeom prst="rect">
            <a:avLst/>
          </a:prstGeom>
          <a:noFill/>
        </p:spPr>
        <p:txBody>
          <a:bodyPr wrap="square" lIns="18288" rIns="18288" tIns="0" bIns="0" anchor="t">
            <a:noAutofit/>
          </a:bodyPr>
          <a:lstStyle/>
          <a:p>
            <a:pPr algn="l">
              <a:spcBef>
                <a:spcPts val="0"/>
              </a:spcBef>
              <a:spcAft>
                <a:spcPts val="0"/>
              </a:spcAft>
            </a:pPr>
            <a:r>
              <a:rPr sz="1050" b="0" i="0" lang="id-ID">
                <a:solidFill>
                  <a:srgbClr val="6B7B87"/>
                </a:solidFill>
                <a:latin typeface="Calibri"/>
              </a:rPr>
              <a:t>29,9–43,2</a:t>
            </a:r>
          </a:p>
        </p:txBody>
      </p:sp>
      <p:sp>
        <p:nvSpPr>
          <p:cNvPr id="18" name="TextBox 17"/>
          <p:cNvSpPr txBox="1"/>
          <p:nvPr/>
        </p:nvSpPr>
        <p:spPr>
          <a:xfrm>
            <a:off x="4495190" y="2432304"/>
            <a:ext cx="3196742" cy="694944"/>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Kasus sedang sampai berat, sehingga beban perawatan nyata dirasakan sekitar sepertiga anak dengan MIH.</a:t>
            </a:r>
          </a:p>
        </p:txBody>
      </p:sp>
      <p:sp>
        <p:nvSpPr>
          <p:cNvPr id="19" name="Rounded Rectangle 18"/>
          <p:cNvSpPr/>
          <p:nvPr/>
        </p:nvSpPr>
        <p:spPr>
          <a:xfrm>
            <a:off x="8112556" y="1572768"/>
            <a:ext cx="3525926" cy="1700784"/>
          </a:xfrm>
          <a:prstGeom prst="roundRect">
            <a:avLst>
              <a:gd name="adj" fmla="val 4838"/>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77148" y="1700784"/>
            <a:ext cx="3196742" cy="457200"/>
          </a:xfrm>
          <a:prstGeom prst="rect">
            <a:avLst/>
          </a:prstGeom>
          <a:noFill/>
        </p:spPr>
        <p:txBody>
          <a:bodyPr wrap="square" lIns="18288" rIns="18288" tIns="0" bIns="0" anchor="t">
            <a:noAutofit/>
          </a:bodyPr>
          <a:lstStyle/>
          <a:p>
            <a:pPr algn="l">
              <a:spcBef>
                <a:spcPts val="0"/>
              </a:spcBef>
              <a:spcAft>
                <a:spcPts val="0"/>
              </a:spcAft>
            </a:pPr>
            <a:r>
              <a:rPr sz="2400" b="1" i="0" lang="id-ID">
                <a:solidFill>
                  <a:srgbClr val="155E75"/>
                </a:solidFill>
                <a:latin typeface="Calibri"/>
              </a:rPr>
              <a:t>36–39%</a:t>
            </a:r>
          </a:p>
        </p:txBody>
      </p:sp>
      <p:sp>
        <p:nvSpPr>
          <p:cNvPr id="21" name="TextBox 20"/>
          <p:cNvSpPr txBox="1"/>
          <p:nvPr/>
        </p:nvSpPr>
        <p:spPr>
          <a:xfrm>
            <a:off x="8277148" y="2157984"/>
            <a:ext cx="3196742" cy="237744"/>
          </a:xfrm>
          <a:prstGeom prst="rect">
            <a:avLst/>
          </a:prstGeom>
          <a:noFill/>
        </p:spPr>
        <p:txBody>
          <a:bodyPr wrap="square" lIns="18288" rIns="18288" tIns="0" bIns="0" anchor="t">
            <a:noAutofit/>
          </a:bodyPr>
          <a:lstStyle/>
          <a:p>
            <a:pPr algn="l">
              <a:spcBef>
                <a:spcPts val="0"/>
              </a:spcBef>
              <a:spcAft>
                <a:spcPts val="0"/>
              </a:spcAft>
            </a:pPr>
            <a:r>
              <a:rPr sz="1050" b="0" i="0" lang="id-ID">
                <a:solidFill>
                  <a:srgbClr val="6B7B87"/>
                </a:solidFill>
                <a:latin typeface="Calibri"/>
              </a:rPr>
              <a:t>HSPM 3,6%</a:t>
            </a:r>
          </a:p>
        </p:txBody>
      </p:sp>
      <p:sp>
        <p:nvSpPr>
          <p:cNvPr id="22" name="TextBox 21"/>
          <p:cNvSpPr txBox="1"/>
          <p:nvPr/>
        </p:nvSpPr>
        <p:spPr>
          <a:xfrm>
            <a:off x="8277148" y="2432304"/>
            <a:ext cx="3196742" cy="694944"/>
          </a:xfrm>
          <a:prstGeom prst="rect">
            <a:avLst/>
          </a:prstGeom>
          <a:noFill/>
        </p:spPr>
        <p:txBody>
          <a:bodyPr wrap="square" lIns="18288" rIns="18288" tIns="0" bIns="0" anchor="t">
            <a:noAutofit/>
          </a:bodyPr>
          <a:lstStyle/>
          <a:p>
            <a:pPr algn="l">
              <a:lnSpc>
                <a:spcPct val="105000"/>
              </a:lnSpc>
              <a:spcBef>
                <a:spcPts val="0"/>
              </a:spcBef>
              <a:spcAft>
                <a:spcPts val="0"/>
              </a:spcAft>
            </a:pPr>
            <a:r>
              <a:rPr sz="1050" b="0" i="0" lang="id-ID">
                <a:solidFill>
                  <a:srgbClr val="3C4A55"/>
                </a:solidFill>
                <a:latin typeface="Calibri"/>
              </a:rPr>
              <a:t>Insisivus terlibat pada 36–39% kasus, dan HSPM menyertai 3,6% kasus.</a:t>
            </a:r>
          </a:p>
        </p:txBody>
      </p:sp>
      <p:sp>
        <p:nvSpPr>
          <p:cNvPr id="23" name="Rounded Rectangle 22"/>
          <p:cNvSpPr/>
          <p:nvPr/>
        </p:nvSpPr>
        <p:spPr>
          <a:xfrm>
            <a:off x="548640" y="3401568"/>
            <a:ext cx="11091672" cy="969264"/>
          </a:xfrm>
          <a:prstGeom prst="roundRect">
            <a:avLst>
              <a:gd name="adj" fmla="val 8490"/>
            </a:avLst>
          </a:prstGeom>
          <a:solidFill>
            <a:srgbClr val="E9F5F6"/>
          </a:solidFill>
          <a:ln w="9525">
            <a:solidFill>
              <a:srgbClr val="D2E9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48640" y="3401568"/>
            <a:ext cx="54864" cy="969264"/>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 y="3529584"/>
            <a:ext cx="10634472" cy="713232"/>
          </a:xfrm>
          <a:prstGeom prst="rect">
            <a:avLst/>
          </a:prstGeom>
          <a:noFill/>
        </p:spPr>
        <p:txBody>
          <a:bodyPr wrap="square" lIns="18288" rIns="18288" tIns="0" bIns="0" anchor="ctr">
            <a:noAutofit/>
          </a:bodyPr>
          <a:lstStyle/>
          <a:p>
            <a:pPr algn="l">
              <a:spcBef>
                <a:spcPts val="0"/>
              </a:spcBef>
              <a:spcAft>
                <a:spcPts val="0"/>
              </a:spcAft>
            </a:pPr>
            <a:r>
              <a:rPr sz="1200" b="0" i="0" lang="id-ID">
                <a:solidFill>
                  <a:srgbClr val="0F172A"/>
                </a:solidFill>
                <a:latin typeface="Calibri"/>
              </a:rPr>
              <a:t>Angka 13,5% menempatkan MIH sebagai kelainan yang sering dijumpai. Dengan kriteria EAPD yang sama, catatan klinik kita dapat dibandingkan dengan literatur internasional.</a:t>
            </a:r>
          </a:p>
        </p:txBody>
      </p:sp>
      <p:sp>
        <p:nvSpPr>
          <p:cNvPr id="26" name="Rounded Rectangle 25"/>
          <p:cNvSpPr/>
          <p:nvPr/>
        </p:nvSpPr>
        <p:spPr>
          <a:xfrm>
            <a:off x="548640" y="4498848"/>
            <a:ext cx="11091672" cy="1444752"/>
          </a:xfrm>
          <a:prstGeom prst="roundRect">
            <a:avLst>
              <a:gd name="adj" fmla="val 5696"/>
            </a:avLst>
          </a:prstGeom>
          <a:solidFill>
            <a:srgbClr val="FFFFFF"/>
          </a:solidFill>
          <a:ln w="9525">
            <a:solidFill>
              <a:srgbClr val="DCE3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4608576"/>
            <a:ext cx="3657600" cy="256032"/>
          </a:xfrm>
          <a:prstGeom prst="rect">
            <a:avLst/>
          </a:prstGeom>
          <a:noFill/>
        </p:spPr>
        <p:txBody>
          <a:bodyPr wrap="square" lIns="18288" rIns="18288" tIns="0" bIns="0" anchor="t">
            <a:noAutofit/>
          </a:bodyPr>
          <a:lstStyle/>
          <a:p>
            <a:pPr algn="l">
              <a:spcBef>
                <a:spcPts val="0"/>
              </a:spcBef>
              <a:spcAft>
                <a:spcPts val="0"/>
              </a:spcAft>
            </a:pPr>
            <a:r>
              <a:rPr sz="1050" b="1" i="0" spc="60" lang="id-ID">
                <a:solidFill>
                  <a:srgbClr val="6B7B87"/>
                </a:solidFill>
                <a:latin typeface="Calibri"/>
              </a:rPr>
              <a:t>Rujukan</a:t>
            </a:r>
          </a:p>
        </p:txBody>
      </p:sp>
      <p:sp>
        <p:nvSpPr>
          <p:cNvPr id="28" name="TextBox 27"/>
          <p:cNvSpPr txBox="1"/>
          <p:nvPr/>
        </p:nvSpPr>
        <p:spPr>
          <a:xfrm>
            <a:off x="749808" y="4882896"/>
            <a:ext cx="10689336" cy="914400"/>
          </a:xfrm>
          <a:prstGeom prst="rect">
            <a:avLst/>
          </a:prstGeom>
          <a:noFill/>
        </p:spPr>
        <p:txBody>
          <a:bodyPr wrap="square" lIns="18288" rIns="18288" tIns="0" bIns="0" anchor="t">
            <a:noAutofit/>
          </a:bodyPr>
          <a:lstStyle/>
          <a:p>
            <a:pPr algn="l">
              <a:lnSpc>
                <a:spcPct val="116000"/>
              </a:lnSpc>
              <a:spcBef>
                <a:spcPts val="0"/>
              </a:spcBef>
              <a:spcAft>
                <a:spcPts val="0"/>
              </a:spcAft>
            </a:pPr>
            <a:r>
              <a:rPr sz="950" b="0" i="0" lang="id-ID">
                <a:solidFill>
                  <a:srgbClr val="3C4A55"/>
                </a:solidFill>
                <a:latin typeface="Calibri"/>
              </a:rPr>
              <a:t>1.  Lopes LB, dkk. Sci Rep. 2021;11:22405. doi:10.1038/s41598-021-01541-7 (artikel utama)</a:t>
            </a:r>
          </a:p>
          <a:p>
            <a:pPr algn="l">
              <a:lnSpc>
                <a:spcPct val="116000"/>
              </a:lnSpc>
              <a:spcBef>
                <a:spcPts val="0"/>
              </a:spcBef>
              <a:spcAft>
                <a:spcPts val="0"/>
              </a:spcAft>
            </a:pPr>
            <a:r>
              <a:rPr sz="950" b="0" i="0" lang="id-ID">
                <a:solidFill>
                  <a:srgbClr val="3C4A55"/>
                </a:solidFill>
                <a:latin typeface="Calibri"/>
              </a:rPr>
              <a:t>2.  Weerheijm KL, dkk. Eur J Paediatr Dent. 2003;4:110–113 (kriteria EAPD)</a:t>
            </a:r>
          </a:p>
          <a:p>
            <a:pPr algn="l">
              <a:lnSpc>
                <a:spcPct val="116000"/>
              </a:lnSpc>
              <a:spcBef>
                <a:spcPts val="0"/>
              </a:spcBef>
              <a:spcAft>
                <a:spcPts val="0"/>
              </a:spcAft>
            </a:pPr>
            <a:r>
              <a:rPr sz="950" b="0" i="0" lang="id-ID">
                <a:solidFill>
                  <a:srgbClr val="3C4A55"/>
                </a:solidFill>
                <a:latin typeface="Calibri"/>
              </a:rPr>
              <a:t>3.  Schwendicke F, dkk. J Dent. 2018;68:10–18 (tinjauan sebelumnya)</a:t>
            </a:r>
          </a:p>
          <a:p>
            <a:pPr algn="l">
              <a:lnSpc>
                <a:spcPct val="116000"/>
              </a:lnSpc>
              <a:spcBef>
                <a:spcPts val="0"/>
              </a:spcBef>
              <a:spcAft>
                <a:spcPts val="0"/>
              </a:spcAft>
            </a:pPr>
            <a:r>
              <a:rPr sz="950" b="0" i="0" lang="id-ID">
                <a:solidFill>
                  <a:srgbClr val="3C4A55"/>
                </a:solidFill>
                <a:latin typeface="Calibri"/>
              </a:rPr>
              <a:t>4.  Zhao D, dkk. Int J Paediatr Dent. 2018;28:170–179 (tinjauan sebelumnya)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Jurnal: Prevalensi MIH pada Anak dan Remaja</dc:title>
  <dc:subject>Presentasi Jurnal: Prevalensi MIH pada Anak dan Remaja (Lopes dkk., 2021)</dc:subject>
  <dc:creator>Arena Agent</dc:creator>
  <cp:keywords/>
  <dc:description>Dibangun dari spec.json oleh build_deck.py (skill pptx-deck-creation).</dc:description>
  <cp:lastModifiedBy>Steve Canny</cp:lastModifiedBy>
  <cp:revision>1</cp:revision>
  <dcterms:created xsi:type="dcterms:W3CDTF">2013-01-27T09:14:16Z</dcterms:created>
  <dcterms:modified xsi:type="dcterms:W3CDTF">2013-01-27T09:15:58Z</dcterms:modified>
  <cp:category/>
  <dc:language>id-ID</dc:language>
</cp:coreProperties>
</file>