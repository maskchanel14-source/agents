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nilai</c:v>
                </c:pt>
              </c:strCache>
            </c:strRef>
          </c:tx>
          <c:dPt>
            <c:idx val="0"/>
            <c:spPr>
              <a:solidFill>
                <a:srgbClr val="0E7490"/>
              </a:solidFill>
            </c:spPr>
          </c:dPt>
          <c:dPt>
            <c:idx val="1"/>
            <c:spPr>
              <a:solidFill>
                <a:srgbClr val="0E7490"/>
              </a:solidFill>
            </c:spPr>
          </c:dPt>
          <c:dPt>
            <c:idx val="2"/>
            <c:spPr>
              <a:solidFill>
                <a:srgbClr val="0E7490"/>
              </a:solidFill>
            </c:spPr>
          </c:dPt>
          <c:dPt>
            <c:idx val="3"/>
            <c:spPr>
              <a:solidFill>
                <a:srgbClr val="A16207"/>
              </a:solidFill>
            </c:spPr>
          </c:dPt>
          <c:cat>
            <c:strRef>
              <c:f>Sheet1!$A$2:$A$5</c:f>
              <c:strCache>
                <c:ptCount val="4"/>
                <c:pt idx="0">
                  <c:v>9/9</c:v>
                </c:pt>
                <c:pt idx="1">
                  <c:v>8/9</c:v>
                </c:pt>
                <c:pt idx="2">
                  <c:v>7/9</c:v>
                </c:pt>
                <c:pt idx="3">
                  <c:v>6/9</c:v>
                </c:pt>
              </c:strCache>
            </c:strRef>
          </c:cat>
          <c:val>
            <c:numRef>
              <c:f>Sheet1!$B$2:$B$5</c:f>
              <c:numCache>
                <c:formatCode>General</c:formatCode>
                <c:ptCount val="4"/>
                <c:pt idx="0">
                  <c:v>48</c:v>
                </c:pt>
                <c:pt idx="1">
                  <c:v>53</c:v>
                </c:pt>
                <c:pt idx="2">
                  <c:v>6</c:v>
                </c:pt>
                <c:pt idx="3">
                  <c:v>1</c:v>
                </c:pt>
              </c:numCache>
            </c:numRef>
          </c:val>
        </c:ser>
        <c:dLbls>
          <c:numFmt formatCode="0" sourceLinked="0"/>
          <c:txPr>
            <a:bodyPr/>
            <a:lstStyle/>
            <a:p>
              <a:pPr>
                <a:defRPr sz="1050" b="1">
                  <a:solidFill>
                    <a:srgbClr val="0F172A"/>
                  </a:solidFill>
                  <a:latin typeface="Calibri"/>
                </a:defRPr>
              </a:pPr>
            </a:p>
          </c:txPr>
          <c:dLblPos val="outEnd"/>
          <c:showLegendKey val="0"/>
          <c:showVal val="1"/>
          <c:showCatName val="0"/>
          <c:showSerName val="0"/>
          <c:showPercent val="0"/>
          <c:showBubbleSize val="0"/>
          <c:showLeaderLines val="1"/>
        </c:dLbls>
        <c:gapWidth val="56"/>
        <c:axId val="-2068027336"/>
        <c:axId val="-2113994440"/>
      </c:barChart>
      <c:catAx>
        <c:axId val="-2068027336"/>
        <c:scaling>
          <c:orientation val="minMax"/>
        </c:scaling>
        <c:delete val="0"/>
        <c:axPos val="b"/>
        <c:majorTickMark val="out"/>
        <c:minorTickMark val="none"/>
        <c:tickLblPos val="nextTo"/>
        <c:txPr>
          <a:bodyPr/>
          <a:lstStyle/>
          <a:p>
            <a:pPr>
              <a:defRPr sz="1050">
                <a:solidFill>
                  <a:srgbClr val="3E4C54"/>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050">
          <a:solidFill>
            <a:srgbClr val="3E4C5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nilai</c:v>
                </c:pt>
              </c:strCache>
            </c:strRef>
          </c:tx>
          <c:dPt>
            <c:idx val="0"/>
            <c:spPr>
              <a:solidFill>
                <a:srgbClr val="0E7490"/>
              </a:solidFill>
            </c:spPr>
          </c:dPt>
          <c:dPt>
            <c:idx val="1"/>
            <c:spPr>
              <a:solidFill>
                <a:srgbClr val="E2DFD9"/>
              </a:solidFill>
            </c:spPr>
          </c:dPt>
          <c:cat>
            <c:strRef>
              <c:f>Sheet1!$A$2:$A$3</c:f>
              <c:strCache>
                <c:ptCount val="2"/>
                <c:pt idx="0">
                  <c:v>MIH</c:v>
                </c:pt>
                <c:pt idx="1">
                  <c:v>Tanpa MIH</c:v>
                </c:pt>
              </c:strCache>
            </c:strRef>
          </c:cat>
          <c:val>
            <c:numRef>
              <c:f>Sheet1!$B$2:$B$3</c:f>
              <c:numCache>
                <c:formatCode>General</c:formatCode>
                <c:ptCount val="2"/>
                <c:pt idx="0">
                  <c:v>13.5</c:v>
                </c:pt>
                <c:pt idx="1">
                  <c:v>86.5</c:v>
                </c:pt>
              </c:numCache>
            </c:numRef>
          </c:val>
        </c:ser>
        <c:firstSliceAng val="0"/>
        <c:holeSize val="50"/>
      </c:doughnutChart>
    </c:plotArea>
    <c:plotVisOnly val="1"/>
    <c:dispBlanksAs val="gap"/>
    <c:showDLblsOverMax val="0"/>
  </c:chart>
  <c:txPr>
    <a:bodyPr/>
    <a:lstStyle/>
    <a:p>
      <a:pPr>
        <a:defRPr sz="1000">
          <a:solidFill>
            <a:srgbClr val="3E4C54"/>
          </a:solidFill>
          <a:latin typeface="Calibri"/>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nilai</c:v>
                </c:pt>
              </c:strCache>
            </c:strRef>
          </c:tx>
          <c:dPt>
            <c:idx val="0"/>
            <c:spPr>
              <a:solidFill>
                <a:srgbClr val="0E7490"/>
              </a:solidFill>
            </c:spPr>
          </c:dPt>
          <c:dPt>
            <c:idx val="1"/>
            <c:spPr>
              <a:solidFill>
                <a:srgbClr val="0E7490"/>
              </a:solidFill>
            </c:spPr>
          </c:dPt>
          <c:dPt>
            <c:idx val="2"/>
            <c:spPr>
              <a:solidFill>
                <a:srgbClr val="0E7490"/>
              </a:solidFill>
            </c:spPr>
          </c:dPt>
          <c:dPt>
            <c:idx val="3"/>
            <c:spPr>
              <a:solidFill>
                <a:srgbClr val="0E7490"/>
              </a:solidFill>
            </c:spPr>
          </c:dPt>
          <c:cat>
            <c:strRef>
              <c:f>Sheet1!$A$2:$A$5</c:f>
              <c:strCache>
                <c:ptCount val="4"/>
                <c:pt idx="0">
                  <c:v>4 gigi · 27,4%</c:v>
                </c:pt>
                <c:pt idx="1">
                  <c:v>3 gigi · 18,1%</c:v>
                </c:pt>
                <c:pt idx="2">
                  <c:v>2 gigi · 26,7%</c:v>
                </c:pt>
                <c:pt idx="3">
                  <c:v>1 gigi · 24,3%</c:v>
                </c:pt>
              </c:strCache>
            </c:strRef>
          </c:cat>
          <c:val>
            <c:numRef>
              <c:f>Sheet1!$B$2:$B$5</c:f>
              <c:numCache>
                <c:formatCode>General</c:formatCode>
                <c:ptCount val="4"/>
                <c:pt idx="0">
                  <c:v>27.4</c:v>
                </c:pt>
                <c:pt idx="1">
                  <c:v>18.1</c:v>
                </c:pt>
                <c:pt idx="2">
                  <c:v>26.7</c:v>
                </c:pt>
                <c:pt idx="3">
                  <c:v>24.3</c:v>
                </c:pt>
              </c:numCache>
            </c:numRef>
          </c:val>
        </c:ser>
        <c:gapWidth val="46"/>
        <c:axId val="-2068027336"/>
        <c:axId val="-2113994440"/>
      </c:barChart>
      <c:catAx>
        <c:axId val="-2068027336"/>
        <c:scaling>
          <c:orientation val="minMax"/>
        </c:scaling>
        <c:delete val="0"/>
        <c:axPos val="l"/>
        <c:majorTickMark val="out"/>
        <c:minorTickMark val="none"/>
        <c:tickLblPos val="nextTo"/>
        <c:txPr>
          <a:bodyPr/>
          <a:lstStyle/>
          <a:p>
            <a:pPr>
              <a:defRPr sz="1050">
                <a:solidFill>
                  <a:srgbClr val="3E4C54"/>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050">
          <a:solidFill>
            <a:srgbClr val="3E4C5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Satu menit untuk sampul. Sebutkan identitas artikelnya: Lopes dkk., Scientific Reports 2021, akses terbuka. Lalu lempar angka besarnya lebih dulu, 13,5%, supaya peserta punya pegangan sejak awal. Kalau ada yang bertanya kenapa artikel ini yang dipilih, jawab: ini meta-analisis terbaru dengan jumlah studi dan peserta terbesar untuk MIH.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Kalau waktu terbatas, seluruh presentasi bisa diringkas dari slide ini. Tiga kartu angka di kiri adalah intinya: 116 studi, 113.089 peserta, 13,5%. Baris kanan menunjukkan bahwa artikel ini juga mencatat keparahan dan HSPM, dua hal yang sering dilewatkan tinjauan sebelumnya.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Tunjukkan gambar potongan gigi pelan-pelan, jangan buru-buru. Yang perlu ditekankan: emailnya memang tidak matang sejak awal, jadi rapuh, dan bercaknya punya batas yang tegas. Tiga bintik oranye di gambar mewakili area hipomineralisasi. Kalau ada peserta yang bertanya soal penyebab, jawab terus terang bahwa sampai artikel ini terbit penyebabnya belum diketahui.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ini alasan kenapa artikel ini ditulis. Tunjuk ujung kiri dan ujung kanan garis. Selisihnya lebih dari empat belas kali lipat, dan itu terjadi pada penyakit yang sama. Penyebab utamanya bukan perbedaan anak, tetapi perbedaan cara menegakkan diagnosis. Dua tinjauan sebelumnya berhenti pada 2017 dan hanya melaporkan prevalensi.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PECO biasanya sudah dikenal peserta, jadi cukup dibaca cepat. Yang layak ditekankan adalah empat luaran di bawah: artikel ini tidak berhenti pada prevalensi, tetapi juga menghitung keparahan, jumlah gigi yang terkena, dan HSPM. Luaran sekunder inilah yang jarang disediakan tinjauan lain.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Empat simpul di garis waktu ini menunjukkan urutan kerjanya. Protokol didaftarkan sebelum pencarian dimulai, itu penting untuk menepis tuduhan memilih hasil. Pencarian berhenti Juli 2021. Soal jumlah basis data, ada catatan kecil: PubMed dan MEDLINE disebut sebagai dua entri terpisah, dan EMBASE hanya muncul di strategi. Untuk replikasi, cek lampiran artikelnya.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ini yang menentukan apakah hasilnya bisa dipercaya. Kriteria eksklusinya ketat: populasi khusus, molar sulung saja, dan sampel yang tidak representatif dikeluarkan. Efeknya, analisis utama hanya memuat 98 dari 116 studi. Konsekuensinya dibahas lagi di slide keterbatasan.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Tiga angka dulu, lalu grafiknya. Sebanyak 48 studi mendapat skor maksimum, dan hanya satu studi yang berkualitas sedang. Satu hal yang perlu disebut walau tidak enak: 48,7% studi punya kelemahan pada representativitas sampel, dan angka itu akan muncul lagi di slide penilaian kritis.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inti. Baca angkanya lengkap dengan rentang kepercayaan dan jumlah peserta. Kalau ditanya soal I² yang 98%, jawab begini: variasi antar studi memang besar, jadi angka ini paling tepat dibaca sebagai gambaran beban populasi, bukan angka presisi untuk satu kota. Uji Egger dan leave-one-out ditampilkan untuk menunjukkan estimasi ini tidak bergantung pada satu studi.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Dua pesan klinis di slide ini. Pertama, 36,3% kasus sudah sedang sampai berat, artinya lebih dari sepertiga anak perlu perawatan restoratif yang nyata. Kedua, distribusi molarnya hampir merata, 18% sampai 27% di setiap jumlah gigi, jadi tidak ada pola tunggal yang bisa diprediksi. Soal angka insisivus, abstrak menulis 36,6% dan Tabel 2 menulis 38,7%; di deck ini dipakai angka tabel.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Dua temuan yang sifatnya beda. Selisih antar wilayah, Amerika 15,3% dan Asia 10,7%, tidak bermakna secara statistik, dan urutan wilayahnya bergeser dibanding tinjauan 2018. Sebaliknya, pemakaian kriteria non-EAPD menghasilkan estimasi yang berbeda bermakna, p sama dengan 0,0061. Kalau presentasi ini memicu perdebatan, biarkan perdebatannya soal standardisasi diagnosis.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ini jawaban penulis atas pertanyaan kenapa angkanya berbeda-beda. Pesan utamanya: variasi wilayah lebih menjelaskan dibanding faktor metodologis yang mereka uji. Tiga baris di bawah adalah alasannya, dan baris terakhir memuat permintaan penulis untuk penelitian berikutnya.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favorit di diskusi jurnal. Sampaikan kekuatannya dengan adil, lalu keterbatasannya tanpa melemahkan artikelnya. Dua baris terakhir keterbatasan adalah temuan saya sendiri: angka insisivus berbeda antara abstrak dan tabel, dan penyebutan basis data tidak seragam.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Turunkan ke praktik. Dua langkah pertama bisa dikerjakan besok pagi: periksa molar pertama begitu erupsi, dan pakai kriteria EAPD supaya catatan kita bisa dibandingkan dengan literatur. Kalau audiensnya dari puskesmas atau program sekolah, bagian bawah slide ini yang paling relevan.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Tutup dengan tiga angka, lalu satu kalimat: MIH sering terlewat, dan pencatatan yang rapi membuat data klinik kita sebanding dengan literatur internasional. Dua pertanyaan untuk membuka diskusi: apakah angka di Indonesia mungkin berbeda, dan apakah kriteria EAPD bisa diterapkan di tempat kerja peserta sehari-hari?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222A"/>
              </a:gs>
              <a:gs pos="100000">
                <a:srgbClr val="134450"/>
              </a:gs>
            </a:gsLst>
            <a:lin scaled="0" ang="19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rot="1440000">
            <a:off x="7818120" y="-548640"/>
            <a:ext cx="20116" cy="3291840"/>
          </a:xfrm>
          <a:prstGeom prst="rect">
            <a:avLst/>
          </a:prstGeom>
          <a:solidFill>
            <a:srgbClr val="7FDCE6">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rot="1440000">
            <a:off x="8092440" y="-548640"/>
            <a:ext cx="20116" cy="3291840"/>
          </a:xfrm>
          <a:prstGeom prst="rect">
            <a:avLst/>
          </a:prstGeom>
          <a:solidFill>
            <a:srgbClr val="7FDCE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rot="1440000">
            <a:off x="8366760" y="-548640"/>
            <a:ext cx="20116" cy="3291840"/>
          </a:xfrm>
          <a:prstGeom prst="rect">
            <a:avLst/>
          </a:prstGeom>
          <a:solidFill>
            <a:srgbClr val="7FDCE6">
              <a:alpha val="1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rot="1440000">
            <a:off x="8641080" y="-548640"/>
            <a:ext cx="20116" cy="3291840"/>
          </a:xfrm>
          <a:prstGeom prst="rect">
            <a:avLst/>
          </a:prstGeom>
          <a:solidFill>
            <a:srgbClr val="7FDCE6">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rot="1440000">
            <a:off x="8915400" y="-548640"/>
            <a:ext cx="20116" cy="3291840"/>
          </a:xfrm>
          <a:prstGeom prst="rect">
            <a:avLst/>
          </a:prstGeom>
          <a:solidFill>
            <a:srgbClr val="7FDCE6">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rot="1440000">
            <a:off x="9189720" y="-548640"/>
            <a:ext cx="20116" cy="3291840"/>
          </a:xfrm>
          <a:prstGeom prst="rect">
            <a:avLst/>
          </a:prstGeom>
          <a:solidFill>
            <a:srgbClr val="7FDCE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rot="1440000">
            <a:off x="9464040" y="-548640"/>
            <a:ext cx="20116" cy="3291840"/>
          </a:xfrm>
          <a:prstGeom prst="rect">
            <a:avLst/>
          </a:prstGeom>
          <a:solidFill>
            <a:srgbClr val="7FDCE6">
              <a:alpha val="1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rot="1440000">
            <a:off x="9738360" y="-548640"/>
            <a:ext cx="20116" cy="3291840"/>
          </a:xfrm>
          <a:prstGeom prst="rect">
            <a:avLst/>
          </a:prstGeom>
          <a:solidFill>
            <a:srgbClr val="7FDCE6">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rot="1440000">
            <a:off x="10012680" y="-548640"/>
            <a:ext cx="20116" cy="3291840"/>
          </a:xfrm>
          <a:prstGeom prst="rect">
            <a:avLst/>
          </a:prstGeom>
          <a:solidFill>
            <a:srgbClr val="7FDCE6">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40080" y="841248"/>
            <a:ext cx="41148" cy="274320"/>
          </a:xfrm>
          <a:prstGeom prst="rect">
            <a:avLst/>
          </a:prstGeom>
          <a:solidFill>
            <a:srgbClr val="7F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82296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7FDCE6"/>
                </a:solidFill>
                <a:latin typeface="Calibri"/>
              </a:rPr>
              <a:t>DISKUSI JURNAL · KEDOKTERAN GIGI ANAK</a:t>
            </a:r>
          </a:p>
        </p:txBody>
      </p:sp>
      <p:sp>
        <p:nvSpPr>
          <p:cNvPr id="14" name="TextBox 13"/>
          <p:cNvSpPr txBox="1"/>
          <p:nvPr/>
        </p:nvSpPr>
        <p:spPr>
          <a:xfrm>
            <a:off x="640080" y="1298448"/>
            <a:ext cx="6446520" cy="1645920"/>
          </a:xfrm>
          <a:prstGeom prst="rect">
            <a:avLst/>
          </a:prstGeom>
          <a:noFill/>
        </p:spPr>
        <p:txBody>
          <a:bodyPr wrap="square" lIns="18288" rIns="18288" tIns="0" bIns="0" anchor="t">
            <a:noAutofit/>
          </a:bodyPr>
          <a:lstStyle/>
          <a:p>
            <a:pPr algn="l">
              <a:lnSpc>
                <a:spcPct val="102000"/>
              </a:lnSpc>
              <a:spcBef>
                <a:spcPts val="0"/>
              </a:spcBef>
              <a:spcAft>
                <a:spcPts val="0"/>
              </a:spcAft>
            </a:pPr>
            <a:r>
              <a:rPr sz="3800" b="0" i="0" lang="id-ID">
                <a:solidFill>
                  <a:srgbClr val="FFFFFF"/>
                </a:solidFill>
                <a:latin typeface="Cambria"/>
              </a:rPr>
              <a:t>Molar-Incisor Hypomineralization pada anak dan remaja</a:t>
            </a:r>
          </a:p>
        </p:txBody>
      </p:sp>
      <p:sp>
        <p:nvSpPr>
          <p:cNvPr id="15" name="TextBox 14"/>
          <p:cNvSpPr txBox="1"/>
          <p:nvPr/>
        </p:nvSpPr>
        <p:spPr>
          <a:xfrm>
            <a:off x="640080" y="3017520"/>
            <a:ext cx="6035040" cy="310896"/>
          </a:xfrm>
          <a:prstGeom prst="rect">
            <a:avLst/>
          </a:prstGeom>
          <a:noFill/>
        </p:spPr>
        <p:txBody>
          <a:bodyPr wrap="square" lIns="18288" rIns="18288" tIns="0" bIns="0" anchor="t">
            <a:noAutofit/>
          </a:bodyPr>
          <a:lstStyle/>
          <a:p>
            <a:pPr algn="l">
              <a:spcBef>
                <a:spcPts val="0"/>
              </a:spcBef>
              <a:spcAft>
                <a:spcPts val="0"/>
              </a:spcAft>
            </a:pPr>
            <a:r>
              <a:rPr sz="1050" b="0" i="1" lang="id-ID">
                <a:solidFill>
                  <a:srgbClr val="8FAAB0"/>
                </a:solidFill>
                <a:latin typeface="Calibri"/>
              </a:rPr>
              <a:t>The prevalence of molar-incisor hypomineralization: a systematic review and meta-analysis</a:t>
            </a:r>
          </a:p>
        </p:txBody>
      </p:sp>
      <p:sp>
        <p:nvSpPr>
          <p:cNvPr id="16" name="Rectangle 15"/>
          <p:cNvSpPr/>
          <p:nvPr/>
        </p:nvSpPr>
        <p:spPr>
          <a:xfrm>
            <a:off x="640080" y="3456432"/>
            <a:ext cx="5852160" cy="12801"/>
          </a:xfrm>
          <a:prstGeom prst="rect">
            <a:avLst/>
          </a:prstGeom>
          <a:solidFill>
            <a:srgbClr val="1C4C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602736"/>
            <a:ext cx="5943600" cy="1188720"/>
          </a:xfrm>
          <a:prstGeom prst="rect">
            <a:avLst/>
          </a:prstGeom>
          <a:noFill/>
        </p:spPr>
        <p:txBody>
          <a:bodyPr wrap="square" lIns="18288" rIns="18288" tIns="0" bIns="0" anchor="t">
            <a:noAutofit/>
          </a:bodyPr>
          <a:lstStyle/>
          <a:p>
            <a:pPr algn="l">
              <a:lnSpc>
                <a:spcPct val="125000"/>
              </a:lnSpc>
              <a:spcBef>
                <a:spcPts val="0"/>
              </a:spcBef>
              <a:spcAft>
                <a:spcPts val="300"/>
              </a:spcAft>
            </a:pPr>
            <a:r>
              <a:rPr sz="1000" b="0" i="0" lang="id-ID">
                <a:solidFill>
                  <a:srgbClr val="8FAAB0"/>
                </a:solidFill>
                <a:latin typeface="Calibri"/>
              </a:rPr>
              <a:t>Lopes LB, Machado V, Mascarenhas P, Mendes JJ, Botelho J · Egas Moniz, Portugal</a:t>
            </a:r>
          </a:p>
          <a:p>
            <a:pPr algn="l">
              <a:lnSpc>
                <a:spcPct val="125000"/>
              </a:lnSpc>
              <a:spcBef>
                <a:spcPts val="0"/>
              </a:spcBef>
              <a:spcAft>
                <a:spcPts val="300"/>
              </a:spcAft>
            </a:pPr>
            <a:r>
              <a:rPr sz="1000" b="0" i="0" lang="id-ID">
                <a:solidFill>
                  <a:srgbClr val="8FAAB0"/>
                </a:solidFill>
                <a:latin typeface="Calibri"/>
              </a:rPr>
              <a:t>Scientific Reports 2021;11:22405 · open access CC BY 4.0</a:t>
            </a:r>
          </a:p>
          <a:p>
            <a:pPr algn="l">
              <a:lnSpc>
                <a:spcPct val="125000"/>
              </a:lnSpc>
              <a:spcBef>
                <a:spcPts val="0"/>
              </a:spcBef>
              <a:spcAft>
                <a:spcPts val="300"/>
              </a:spcAft>
            </a:pPr>
            <a:r>
              <a:rPr sz="1000" b="0" i="0" lang="id-ID">
                <a:solidFill>
                  <a:srgbClr val="8FAAB0"/>
                </a:solidFill>
                <a:latin typeface="Calibri"/>
              </a:rPr>
              <a:t>PMID 34789780 · PMC8599453 · PROSPERO CRD42021229435</a:t>
            </a:r>
          </a:p>
        </p:txBody>
      </p:sp>
      <p:sp>
        <p:nvSpPr>
          <p:cNvPr id="18" name="TextBox 17"/>
          <p:cNvSpPr txBox="1"/>
          <p:nvPr/>
        </p:nvSpPr>
        <p:spPr>
          <a:xfrm>
            <a:off x="7973568" y="2395728"/>
            <a:ext cx="3401568" cy="1517904"/>
          </a:xfrm>
          <a:prstGeom prst="rect">
            <a:avLst/>
          </a:prstGeom>
          <a:noFill/>
        </p:spPr>
        <p:txBody>
          <a:bodyPr wrap="square" lIns="18288" rIns="18288" tIns="0" bIns="0" anchor="t">
            <a:noAutofit/>
          </a:bodyPr>
          <a:lstStyle/>
          <a:p>
            <a:pPr algn="ctr">
              <a:lnSpc>
                <a:spcPct val="100000"/>
              </a:lnSpc>
              <a:spcBef>
                <a:spcPts val="0"/>
              </a:spcBef>
              <a:spcAft>
                <a:spcPts val="0"/>
              </a:spcAft>
            </a:pPr>
            <a:r>
              <a:rPr sz="7600" b="0" i="0" lang="id-ID">
                <a:solidFill>
                  <a:srgbClr val="FFFFFF"/>
                </a:solidFill>
                <a:latin typeface="Cambria"/>
              </a:rPr>
              <a:t>13,5%</a:t>
            </a:r>
          </a:p>
        </p:txBody>
      </p:sp>
      <p:sp>
        <p:nvSpPr>
          <p:cNvPr id="19" name="Rectangle 18"/>
          <p:cNvSpPr/>
          <p:nvPr/>
        </p:nvSpPr>
        <p:spPr>
          <a:xfrm>
            <a:off x="8613648" y="4041648"/>
            <a:ext cx="2121408" cy="12801"/>
          </a:xfrm>
          <a:prstGeom prst="rect">
            <a:avLst/>
          </a:prstGeom>
          <a:solidFill>
            <a:srgbClr val="1C4C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973568" y="4187952"/>
            <a:ext cx="3401568" cy="566928"/>
          </a:xfrm>
          <a:prstGeom prst="rect">
            <a:avLst/>
          </a:prstGeom>
          <a:noFill/>
        </p:spPr>
        <p:txBody>
          <a:bodyPr wrap="square" lIns="18288" rIns="18288" tIns="0" bIns="0" anchor="t">
            <a:noAutofit/>
          </a:bodyPr>
          <a:lstStyle/>
          <a:p>
            <a:pPr algn="ctr">
              <a:lnSpc>
                <a:spcPct val="120000"/>
              </a:lnSpc>
              <a:spcBef>
                <a:spcPts val="0"/>
              </a:spcBef>
              <a:spcAft>
                <a:spcPts val="0"/>
              </a:spcAft>
            </a:pPr>
            <a:r>
              <a:rPr sz="1050" b="0" i="0" lang="id-ID">
                <a:solidFill>
                  <a:srgbClr val="8FAAB0"/>
                </a:solidFill>
                <a:latin typeface="Calibri"/>
              </a:rPr>
              <a:t>prevalensi global MIH</a:t>
            </a:r>
          </a:p>
          <a:p>
            <a:pPr algn="ctr">
              <a:lnSpc>
                <a:spcPct val="120000"/>
              </a:lnSpc>
              <a:spcBef>
                <a:spcPts val="0"/>
              </a:spcBef>
              <a:spcAft>
                <a:spcPts val="0"/>
              </a:spcAft>
            </a:pPr>
            <a:r>
              <a:rPr sz="1050" b="0" i="0" lang="id-ID">
                <a:solidFill>
                  <a:srgbClr val="8FAAB0"/>
                </a:solidFill>
                <a:latin typeface="Calibri"/>
              </a:rPr>
              <a:t>95% CI 12,0–15,1 · 113.089 anak</a:t>
            </a:r>
          </a:p>
        </p:txBody>
      </p:sp>
      <p:sp>
        <p:nvSpPr>
          <p:cNvPr id="21" name="Rectangle 20"/>
          <p:cNvSpPr/>
          <p:nvPr/>
        </p:nvSpPr>
        <p:spPr>
          <a:xfrm>
            <a:off x="640080" y="6053328"/>
            <a:ext cx="10908792" cy="12801"/>
          </a:xfrm>
          <a:prstGeom prst="rect">
            <a:avLst/>
          </a:prstGeom>
          <a:solidFill>
            <a:srgbClr val="1C4C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0080" y="6199632"/>
            <a:ext cx="10607040" cy="292608"/>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8FAAB0"/>
                </a:solidFill>
                <a:latin typeface="Calibri"/>
              </a:rPr>
              <a:t>Pemateri: ____________________     Tanggal: ____________________     Program Studi Kedokteran Gigi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RINGKASAN</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Ringkasan</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02</a:t>
            </a:r>
          </a:p>
        </p:txBody>
      </p:sp>
      <p:sp>
        <p:nvSpPr>
          <p:cNvPr id="10" name="TextBox 9"/>
          <p:cNvSpPr txBox="1"/>
          <p:nvPr/>
        </p:nvSpPr>
        <p:spPr>
          <a:xfrm>
            <a:off x="640080" y="1755648"/>
            <a:ext cx="3840480" cy="1737360"/>
          </a:xfrm>
          <a:prstGeom prst="rect">
            <a:avLst/>
          </a:prstGeom>
          <a:noFill/>
        </p:spPr>
        <p:txBody>
          <a:bodyPr wrap="square" lIns="18288" rIns="18288" tIns="0" bIns="0" anchor="t">
            <a:noAutofit/>
          </a:bodyPr>
          <a:lstStyle/>
          <a:p>
            <a:pPr algn="l">
              <a:lnSpc>
                <a:spcPct val="100000"/>
              </a:lnSpc>
              <a:spcBef>
                <a:spcPts val="0"/>
              </a:spcBef>
              <a:spcAft>
                <a:spcPts val="0"/>
              </a:spcAft>
            </a:pPr>
            <a:r>
              <a:rPr sz="8400" b="0" i="0" lang="id-ID">
                <a:solidFill>
                  <a:srgbClr val="155E75"/>
                </a:solidFill>
                <a:latin typeface="Cambria"/>
              </a:rPr>
              <a:t>13,5%</a:t>
            </a:r>
          </a:p>
        </p:txBody>
      </p:sp>
      <p:sp>
        <p:nvSpPr>
          <p:cNvPr id="11" name="TextBox 10"/>
          <p:cNvSpPr txBox="1"/>
          <p:nvPr/>
        </p:nvSpPr>
        <p:spPr>
          <a:xfrm>
            <a:off x="640080" y="3529584"/>
            <a:ext cx="3840480" cy="548640"/>
          </a:xfrm>
          <a:prstGeom prst="rect">
            <a:avLst/>
          </a:prstGeom>
          <a:noFill/>
        </p:spPr>
        <p:txBody>
          <a:bodyPr wrap="square" lIns="18288" rIns="18288" tIns="0" bIns="0" anchor="t">
            <a:noAutofit/>
          </a:bodyPr>
          <a:lstStyle/>
          <a:p>
            <a:pPr algn="l">
              <a:lnSpc>
                <a:spcPct val="118000"/>
              </a:lnSpc>
              <a:spcBef>
                <a:spcPts val="0"/>
              </a:spcBef>
              <a:spcAft>
                <a:spcPts val="0"/>
              </a:spcAft>
            </a:pPr>
            <a:r>
              <a:rPr sz="1100" b="0" i="0" lang="id-ID">
                <a:solidFill>
                  <a:srgbClr val="3E4C54"/>
                </a:solidFill>
                <a:latin typeface="Calibri"/>
              </a:rPr>
              <a:t>prevalensi global</a:t>
            </a:r>
          </a:p>
          <a:p>
            <a:pPr algn="l">
              <a:lnSpc>
                <a:spcPct val="118000"/>
              </a:lnSpc>
              <a:spcBef>
                <a:spcPts val="0"/>
              </a:spcBef>
              <a:spcAft>
                <a:spcPts val="0"/>
              </a:spcAft>
            </a:pPr>
            <a:r>
              <a:rPr sz="1100" b="0" i="0" lang="id-ID">
                <a:solidFill>
                  <a:srgbClr val="3E4C54"/>
                </a:solidFill>
                <a:latin typeface="Calibri"/>
              </a:rPr>
              <a:t>95% CI 12,0–15,1 · n = 113.089</a:t>
            </a:r>
          </a:p>
        </p:txBody>
      </p:sp>
      <p:sp>
        <p:nvSpPr>
          <p:cNvPr id="12" name="Rectangle 11"/>
          <p:cNvSpPr/>
          <p:nvPr/>
        </p:nvSpPr>
        <p:spPr>
          <a:xfrm>
            <a:off x="640080" y="4224528"/>
            <a:ext cx="384048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 y="4334256"/>
            <a:ext cx="3840480" cy="100584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Setara satu dari tujuh sampai delapan anak. Angka ini dihitung dari 98 studi yang memakai kriteria EAPD 2003.</a:t>
            </a:r>
          </a:p>
        </p:txBody>
      </p:sp>
      <p:sp>
        <p:nvSpPr>
          <p:cNvPr id="14" name="TextBox 13"/>
          <p:cNvSpPr txBox="1"/>
          <p:nvPr/>
        </p:nvSpPr>
        <p:spPr>
          <a:xfrm>
            <a:off x="5577840" y="1773936"/>
            <a:ext cx="5971032" cy="292608"/>
          </a:xfrm>
          <a:prstGeom prst="rect">
            <a:avLst/>
          </a:prstGeom>
          <a:noFill/>
        </p:spPr>
        <p:txBody>
          <a:bodyPr wrap="square" lIns="18288" rIns="18288" tIns="0" bIns="0" anchor="t">
            <a:noAutofit/>
          </a:bodyPr>
          <a:lstStyle/>
          <a:p>
            <a:pPr algn="l">
              <a:spcBef>
                <a:spcPts val="0"/>
              </a:spcBef>
              <a:spcAft>
                <a:spcPts val="0"/>
              </a:spcAft>
            </a:pPr>
            <a:r>
              <a:rPr sz="1600" b="1" i="0" lang="id-ID">
                <a:solidFill>
                  <a:srgbClr val="141E24"/>
                </a:solidFill>
                <a:latin typeface="Cambria"/>
              </a:rPr>
              <a:t>116 studi · 133.734 peserta</a:t>
            </a:r>
          </a:p>
        </p:txBody>
      </p:sp>
      <p:sp>
        <p:nvSpPr>
          <p:cNvPr id="15" name="TextBox 14"/>
          <p:cNvSpPr txBox="1"/>
          <p:nvPr/>
        </p:nvSpPr>
        <p:spPr>
          <a:xfrm>
            <a:off x="5577840" y="2103120"/>
            <a:ext cx="5971032"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113.089 di antaranya masuk analisis utama</a:t>
            </a:r>
          </a:p>
        </p:txBody>
      </p:sp>
      <p:sp>
        <p:nvSpPr>
          <p:cNvPr id="16" name="Rectangle 15"/>
          <p:cNvSpPr/>
          <p:nvPr/>
        </p:nvSpPr>
        <p:spPr>
          <a:xfrm>
            <a:off x="5577840" y="2377440"/>
            <a:ext cx="597103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577840" y="2779776"/>
            <a:ext cx="5971032" cy="292608"/>
          </a:xfrm>
          <a:prstGeom prst="rect">
            <a:avLst/>
          </a:prstGeom>
          <a:noFill/>
        </p:spPr>
        <p:txBody>
          <a:bodyPr wrap="square" lIns="18288" rIns="18288" tIns="0" bIns="0" anchor="t">
            <a:noAutofit/>
          </a:bodyPr>
          <a:lstStyle/>
          <a:p>
            <a:pPr algn="l">
              <a:spcBef>
                <a:spcPts val="0"/>
              </a:spcBef>
              <a:spcAft>
                <a:spcPts val="0"/>
              </a:spcAft>
            </a:pPr>
            <a:r>
              <a:rPr sz="1600" b="1" i="0" lang="id-ID">
                <a:solidFill>
                  <a:srgbClr val="141E24"/>
                </a:solidFill>
                <a:latin typeface="Cambria"/>
              </a:rPr>
              <a:t>36,3% kasus sedang sampai berat</a:t>
            </a:r>
          </a:p>
        </p:txBody>
      </p:sp>
      <p:sp>
        <p:nvSpPr>
          <p:cNvPr id="18" name="TextBox 17"/>
          <p:cNvSpPr txBox="1"/>
          <p:nvPr/>
        </p:nvSpPr>
        <p:spPr>
          <a:xfrm>
            <a:off x="5577840" y="3108960"/>
            <a:ext cx="5971032"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95% CI 29,9–43,2</a:t>
            </a:r>
          </a:p>
        </p:txBody>
      </p:sp>
      <p:sp>
        <p:nvSpPr>
          <p:cNvPr id="19" name="Rectangle 18"/>
          <p:cNvSpPr/>
          <p:nvPr/>
        </p:nvSpPr>
        <p:spPr>
          <a:xfrm>
            <a:off x="5577840" y="3383280"/>
            <a:ext cx="597103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577840" y="3785615"/>
            <a:ext cx="5971032" cy="292608"/>
          </a:xfrm>
          <a:prstGeom prst="rect">
            <a:avLst/>
          </a:prstGeom>
          <a:noFill/>
        </p:spPr>
        <p:txBody>
          <a:bodyPr wrap="square" lIns="18288" rIns="18288" tIns="0" bIns="0" anchor="t">
            <a:noAutofit/>
          </a:bodyPr>
          <a:lstStyle/>
          <a:p>
            <a:pPr algn="l">
              <a:spcBef>
                <a:spcPts val="0"/>
              </a:spcBef>
              <a:spcAft>
                <a:spcPts val="0"/>
              </a:spcAft>
            </a:pPr>
            <a:r>
              <a:rPr sz="1600" b="1" i="0" lang="id-ID">
                <a:solidFill>
                  <a:srgbClr val="141E24"/>
                </a:solidFill>
                <a:latin typeface="Cambria"/>
              </a:rPr>
              <a:t>HSPM menyertai 3,6% kasus</a:t>
            </a:r>
          </a:p>
        </p:txBody>
      </p:sp>
      <p:sp>
        <p:nvSpPr>
          <p:cNvPr id="21" name="TextBox 20"/>
          <p:cNvSpPr txBox="1"/>
          <p:nvPr/>
        </p:nvSpPr>
        <p:spPr>
          <a:xfrm>
            <a:off x="5577840" y="4114800"/>
            <a:ext cx="5971032"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lihat juga slide 10</a:t>
            </a:r>
          </a:p>
        </p:txBody>
      </p:sp>
      <p:sp>
        <p:nvSpPr>
          <p:cNvPr id="22" name="Rectangle 21"/>
          <p:cNvSpPr/>
          <p:nvPr/>
        </p:nvSpPr>
        <p:spPr>
          <a:xfrm>
            <a:off x="5577840" y="4389120"/>
            <a:ext cx="597103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577840" y="4791456"/>
            <a:ext cx="5971032" cy="292608"/>
          </a:xfrm>
          <a:prstGeom prst="rect">
            <a:avLst/>
          </a:prstGeom>
          <a:noFill/>
        </p:spPr>
        <p:txBody>
          <a:bodyPr wrap="square" lIns="18288" rIns="18288" tIns="0" bIns="0" anchor="t">
            <a:noAutofit/>
          </a:bodyPr>
          <a:lstStyle/>
          <a:p>
            <a:pPr algn="l">
              <a:spcBef>
                <a:spcPts val="0"/>
              </a:spcBef>
              <a:spcAft>
                <a:spcPts val="0"/>
              </a:spcAft>
            </a:pPr>
            <a:r>
              <a:rPr sz="1600" b="1" i="0" lang="id-ID">
                <a:solidFill>
                  <a:srgbClr val="141E24"/>
                </a:solidFill>
                <a:latin typeface="Cambria"/>
              </a:rPr>
              <a:t>Kepastian bukti SORT A</a:t>
            </a:r>
          </a:p>
        </p:txBody>
      </p:sp>
      <p:sp>
        <p:nvSpPr>
          <p:cNvPr id="24" name="TextBox 23"/>
          <p:cNvSpPr txBox="1"/>
          <p:nvPr/>
        </p:nvSpPr>
        <p:spPr>
          <a:xfrm>
            <a:off x="5577840" y="5120640"/>
            <a:ext cx="5971032"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48 studi berskor NOS 9/9</a:t>
            </a:r>
          </a:p>
        </p:txBody>
      </p:sp>
      <p:sp>
        <p:nvSpPr>
          <p:cNvPr id="25" name="Rectangle 24"/>
          <p:cNvSpPr/>
          <p:nvPr/>
        </p:nvSpPr>
        <p:spPr>
          <a:xfrm>
            <a:off x="5577840" y="5394960"/>
            <a:ext cx="597103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 y="5541264"/>
            <a:ext cx="10908792" cy="402336"/>
          </a:xfrm>
          <a:prstGeom prst="rect">
            <a:avLst/>
          </a:prstGeom>
          <a:noFill/>
        </p:spPr>
        <p:txBody>
          <a:bodyPr wrap="square" lIns="18288" rIns="18288" tIns="0" bIns="0" anchor="t">
            <a:noAutofit/>
          </a:bodyPr>
          <a:lstStyle/>
          <a:p>
            <a:pPr algn="l">
              <a:lnSpc>
                <a:spcPct val="112000"/>
              </a:lnSpc>
              <a:spcBef>
                <a:spcPts val="0"/>
              </a:spcBef>
              <a:spcAft>
                <a:spcPts val="0"/>
              </a:spcAft>
            </a:pPr>
            <a:r>
              <a:rPr sz="1250" b="0" i="0" lang="id-ID">
                <a:solidFill>
                  <a:srgbClr val="3E4C54"/>
                </a:solidFill>
                <a:latin typeface="Calibri"/>
              </a:rPr>
              <a:t>MIH bukan kelainan langka, dan lebih dari sepertiganya butuh perawatan.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LATAR BELAKANG</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Apa itu MIH</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03</a:t>
            </a:r>
          </a:p>
        </p:txBody>
      </p:sp>
      <p:sp>
        <p:nvSpPr>
          <p:cNvPr id="10" name="TextBox 9"/>
          <p:cNvSpPr txBox="1"/>
          <p:nvPr/>
        </p:nvSpPr>
        <p:spPr>
          <a:xfrm>
            <a:off x="640080" y="1682496"/>
            <a:ext cx="5120640" cy="786384"/>
          </a:xfrm>
          <a:prstGeom prst="rect">
            <a:avLst/>
          </a:prstGeom>
          <a:noFill/>
        </p:spPr>
        <p:txBody>
          <a:bodyPr wrap="square" lIns="18288" rIns="18288" tIns="0" bIns="0" anchor="t">
            <a:noAutofit/>
          </a:bodyPr>
          <a:lstStyle/>
          <a:p>
            <a:pPr algn="l">
              <a:lnSpc>
                <a:spcPct val="112000"/>
              </a:lnSpc>
              <a:spcBef>
                <a:spcPts val="0"/>
              </a:spcBef>
              <a:spcAft>
                <a:spcPts val="0"/>
              </a:spcAft>
            </a:pPr>
            <a:r>
              <a:rPr sz="1300" b="0" i="0" lang="id-ID">
                <a:solidFill>
                  <a:srgbClr val="3E4C54"/>
                </a:solidFill>
                <a:latin typeface="Calibri"/>
              </a:rPr>
              <a:t>Email pada gigi permanen muda gagal matang. Bercaknya keras, putih sampai cokelat, batasnya tegas, dan email itu lebih rapuh daripada email di sebelahnya.</a:t>
            </a:r>
          </a:p>
        </p:txBody>
      </p:sp>
      <p:sp>
        <p:nvSpPr>
          <p:cNvPr id="11" name="Round Same Side Corner Rectangle 10"/>
          <p:cNvSpPr/>
          <p:nvPr/>
        </p:nvSpPr>
        <p:spPr>
          <a:xfrm>
            <a:off x="958291" y="3208629"/>
            <a:ext cx="298094" cy="263347"/>
          </a:xfrm>
          <a:prstGeom prst="round2SameRect">
            <a:avLst/>
          </a:prstGeom>
          <a:solidFill>
            <a:srgbClr val="A16207"/>
          </a:solidFill>
          <a:ln w="9525">
            <a:solidFill>
              <a:srgbClr val="A1620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 Same Side Corner Rectangle 11"/>
          <p:cNvSpPr/>
          <p:nvPr/>
        </p:nvSpPr>
        <p:spPr>
          <a:xfrm>
            <a:off x="1102766" y="3044952"/>
            <a:ext cx="298094" cy="263347"/>
          </a:xfrm>
          <a:prstGeom prst="round2SameRect">
            <a:avLst/>
          </a:prstGeom>
          <a:solidFill>
            <a:srgbClr val="A16207"/>
          </a:solidFill>
          <a:ln w="9525">
            <a:solidFill>
              <a:srgbClr val="A1620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 Same Side Corner Rectangle 12"/>
          <p:cNvSpPr/>
          <p:nvPr/>
        </p:nvSpPr>
        <p:spPr>
          <a:xfrm>
            <a:off x="1315821" y="2902305"/>
            <a:ext cx="298094" cy="263347"/>
          </a:xfrm>
          <a:prstGeom prst="round2SameRect">
            <a:avLst/>
          </a:prstGeom>
          <a:solidFill>
            <a:srgbClr val="FFFFFF"/>
          </a:solidFill>
          <a:ln w="9525">
            <a:solidFill>
              <a:srgbClr val="E2D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 Same Side Corner Rectangle 13"/>
          <p:cNvSpPr/>
          <p:nvPr/>
        </p:nvSpPr>
        <p:spPr>
          <a:xfrm>
            <a:off x="1585569" y="2788005"/>
            <a:ext cx="298094" cy="263347"/>
          </a:xfrm>
          <a:prstGeom prst="round2SameRect">
            <a:avLst/>
          </a:prstGeom>
          <a:solidFill>
            <a:srgbClr val="FFFFFF"/>
          </a:solidFill>
          <a:ln w="9525">
            <a:solidFill>
              <a:srgbClr val="E2D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 Same Side Corner Rectangle 14"/>
          <p:cNvSpPr/>
          <p:nvPr/>
        </p:nvSpPr>
        <p:spPr>
          <a:xfrm>
            <a:off x="1897380" y="2708452"/>
            <a:ext cx="298094" cy="263347"/>
          </a:xfrm>
          <a:prstGeom prst="round2SameRect">
            <a:avLst/>
          </a:prstGeom>
          <a:solidFill>
            <a:srgbClr val="E4F3F5"/>
          </a:solidFill>
          <a:ln w="9525">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 Same Side Corner Rectangle 15"/>
          <p:cNvSpPr/>
          <p:nvPr/>
        </p:nvSpPr>
        <p:spPr>
          <a:xfrm>
            <a:off x="2236622" y="2668219"/>
            <a:ext cx="298094" cy="263347"/>
          </a:xfrm>
          <a:prstGeom prst="round2SameRect">
            <a:avLst/>
          </a:prstGeom>
          <a:solidFill>
            <a:srgbClr val="E4F3F5"/>
          </a:solidFill>
          <a:ln w="9525">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 Same Side Corner Rectangle 16"/>
          <p:cNvSpPr/>
          <p:nvPr/>
        </p:nvSpPr>
        <p:spPr>
          <a:xfrm>
            <a:off x="2585008" y="2668219"/>
            <a:ext cx="298094" cy="263347"/>
          </a:xfrm>
          <a:prstGeom prst="round2SameRect">
            <a:avLst/>
          </a:prstGeom>
          <a:solidFill>
            <a:srgbClr val="E4F3F5"/>
          </a:solidFill>
          <a:ln w="9525">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 Same Side Corner Rectangle 17"/>
          <p:cNvSpPr/>
          <p:nvPr/>
        </p:nvSpPr>
        <p:spPr>
          <a:xfrm>
            <a:off x="2924251" y="2708452"/>
            <a:ext cx="298094" cy="263347"/>
          </a:xfrm>
          <a:prstGeom prst="round2SameRect">
            <a:avLst/>
          </a:prstGeom>
          <a:solidFill>
            <a:srgbClr val="E4F3F5"/>
          </a:solidFill>
          <a:ln w="9525">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 Same Side Corner Rectangle 18"/>
          <p:cNvSpPr/>
          <p:nvPr/>
        </p:nvSpPr>
        <p:spPr>
          <a:xfrm>
            <a:off x="3236976" y="2788005"/>
            <a:ext cx="298094" cy="263347"/>
          </a:xfrm>
          <a:prstGeom prst="round2SameRect">
            <a:avLst/>
          </a:prstGeom>
          <a:solidFill>
            <a:srgbClr val="FFFFFF"/>
          </a:solidFill>
          <a:ln w="9525">
            <a:solidFill>
              <a:srgbClr val="E2D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 Same Side Corner Rectangle 19"/>
          <p:cNvSpPr/>
          <p:nvPr/>
        </p:nvSpPr>
        <p:spPr>
          <a:xfrm>
            <a:off x="3506724" y="2902305"/>
            <a:ext cx="298094" cy="263347"/>
          </a:xfrm>
          <a:prstGeom prst="round2SameRect">
            <a:avLst/>
          </a:prstGeom>
          <a:solidFill>
            <a:srgbClr val="FFFFFF"/>
          </a:solidFill>
          <a:ln w="9525">
            <a:solidFill>
              <a:srgbClr val="E2D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 Same Side Corner Rectangle 20"/>
          <p:cNvSpPr/>
          <p:nvPr/>
        </p:nvSpPr>
        <p:spPr>
          <a:xfrm>
            <a:off x="3718864" y="3044952"/>
            <a:ext cx="298094" cy="263347"/>
          </a:xfrm>
          <a:prstGeom prst="round2SameRect">
            <a:avLst/>
          </a:prstGeom>
          <a:solidFill>
            <a:srgbClr val="A16207"/>
          </a:solidFill>
          <a:ln w="9525">
            <a:solidFill>
              <a:srgbClr val="A1620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 Same Side Corner Rectangle 21"/>
          <p:cNvSpPr/>
          <p:nvPr/>
        </p:nvSpPr>
        <p:spPr>
          <a:xfrm>
            <a:off x="3863339" y="3208629"/>
            <a:ext cx="298094" cy="263347"/>
          </a:xfrm>
          <a:prstGeom prst="round2SameRect">
            <a:avLst/>
          </a:prstGeom>
          <a:solidFill>
            <a:srgbClr val="A16207"/>
          </a:solidFill>
          <a:ln w="9525">
            <a:solidFill>
              <a:srgbClr val="A1620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822960" y="4443984"/>
            <a:ext cx="393192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60" y="4535424"/>
            <a:ext cx="3931920" cy="493776"/>
          </a:xfrm>
          <a:prstGeom prst="rect">
            <a:avLst/>
          </a:prstGeom>
          <a:noFill/>
        </p:spPr>
        <p:txBody>
          <a:bodyPr wrap="square" lIns="18288" rIns="18288" tIns="0" bIns="0" anchor="t">
            <a:noAutofit/>
          </a:bodyPr>
          <a:lstStyle/>
          <a:p>
            <a:pPr algn="l">
              <a:lnSpc>
                <a:spcPct val="108000"/>
              </a:lnSpc>
              <a:spcBef>
                <a:spcPts val="0"/>
              </a:spcBef>
              <a:spcAft>
                <a:spcPts val="0"/>
              </a:spcAft>
            </a:pPr>
            <a:r>
              <a:rPr sz="1000" b="0" i="1" lang="id-ID">
                <a:solidFill>
                  <a:srgbClr val="6E7C83"/>
                </a:solidFill>
                <a:latin typeface="Calibri"/>
              </a:rPr>
              <a:t>Rahang atas dari permukaan kunyah. Studi MIH memeriksa molar pertama permanen, kadang disertai insisivus.</a:t>
            </a:r>
          </a:p>
        </p:txBody>
      </p:sp>
      <p:sp>
        <p:nvSpPr>
          <p:cNvPr id="25" name="Oval 24"/>
          <p:cNvSpPr/>
          <p:nvPr/>
        </p:nvSpPr>
        <p:spPr>
          <a:xfrm>
            <a:off x="822960" y="5138928"/>
            <a:ext cx="146304" cy="146304"/>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102352"/>
            <a:ext cx="1920240" cy="237744"/>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3E4C54"/>
                </a:solidFill>
                <a:latin typeface="Calibri"/>
              </a:rPr>
              <a:t>molar pertama</a:t>
            </a:r>
          </a:p>
        </p:txBody>
      </p:sp>
      <p:sp>
        <p:nvSpPr>
          <p:cNvPr id="27" name="Oval 26"/>
          <p:cNvSpPr/>
          <p:nvPr/>
        </p:nvSpPr>
        <p:spPr>
          <a:xfrm>
            <a:off x="3017520" y="5138928"/>
            <a:ext cx="146304" cy="146304"/>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218688" y="5102352"/>
            <a:ext cx="1554480" cy="237744"/>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3E4C54"/>
                </a:solidFill>
                <a:latin typeface="Calibri"/>
              </a:rPr>
              <a:t>insisivus</a:t>
            </a:r>
          </a:p>
        </p:txBody>
      </p:sp>
      <p:sp>
        <p:nvSpPr>
          <p:cNvPr id="29" name="Rounded Rectangle 28"/>
          <p:cNvSpPr/>
          <p:nvPr/>
        </p:nvSpPr>
        <p:spPr>
          <a:xfrm>
            <a:off x="822960" y="5468112"/>
            <a:ext cx="1005840" cy="694944"/>
          </a:xfrm>
          <a:prstGeom prst="roundRect">
            <a:avLst>
              <a:gd name="adj" fmla="val 10526"/>
            </a:avLst>
          </a:prstGeom>
          <a:solidFill>
            <a:srgbClr val="FFFFFF"/>
          </a:solidFill>
          <a:ln w="9525">
            <a:solidFill>
              <a:srgbClr val="E2D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77824" y="6144768"/>
            <a:ext cx="89611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2048256" y="5468112"/>
            <a:ext cx="1005840" cy="694944"/>
          </a:xfrm>
          <a:prstGeom prst="roundRect">
            <a:avLst>
              <a:gd name="adj" fmla="val 10526"/>
            </a:avLst>
          </a:prstGeom>
          <a:solidFill>
            <a:srgbClr val="FDF6E6"/>
          </a:solidFill>
          <a:ln w="9525">
            <a:solidFill>
              <a:srgbClr val="EFDC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2194560" y="5614416"/>
            <a:ext cx="274320" cy="274320"/>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2615184" y="5833872"/>
            <a:ext cx="201168" cy="201168"/>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103120" y="6144768"/>
            <a:ext cx="89611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63824" y="5504688"/>
            <a:ext cx="2615184" cy="512064"/>
          </a:xfrm>
          <a:prstGeom prst="rect">
            <a:avLst/>
          </a:prstGeom>
          <a:noFill/>
        </p:spPr>
        <p:txBody>
          <a:bodyPr wrap="square" lIns="18288" rIns="18288" tIns="0" bIns="0" anchor="t">
            <a:noAutofit/>
          </a:bodyPr>
          <a:lstStyle/>
          <a:p>
            <a:pPr algn="l">
              <a:lnSpc>
                <a:spcPct val="106000"/>
              </a:lnSpc>
              <a:spcBef>
                <a:spcPts val="0"/>
              </a:spcBef>
              <a:spcAft>
                <a:spcPts val="0"/>
              </a:spcAft>
            </a:pPr>
            <a:r>
              <a:rPr sz="1000" b="0" i="1" lang="id-ID">
                <a:solidFill>
                  <a:srgbClr val="6E7C83"/>
                </a:solidFill>
                <a:latin typeface="Calibri"/>
              </a:rPr>
              <a:t>Email normal dan email dengan bercak hipomineralisasi.</a:t>
            </a:r>
          </a:p>
        </p:txBody>
      </p:sp>
      <p:sp>
        <p:nvSpPr>
          <p:cNvPr id="36" name="TextBox 35"/>
          <p:cNvSpPr txBox="1"/>
          <p:nvPr/>
        </p:nvSpPr>
        <p:spPr>
          <a:xfrm>
            <a:off x="5989320" y="1773936"/>
            <a:ext cx="5559552" cy="292608"/>
          </a:xfrm>
          <a:prstGeom prst="rect">
            <a:avLst/>
          </a:prstGeom>
          <a:noFill/>
        </p:spPr>
        <p:txBody>
          <a:bodyPr wrap="square" lIns="18288" rIns="18288" tIns="0" bIns="0" anchor="t">
            <a:noAutofit/>
          </a:bodyPr>
          <a:lstStyle/>
          <a:p>
            <a:pPr algn="l">
              <a:spcBef>
                <a:spcPts val="0"/>
              </a:spcBef>
              <a:spcAft>
                <a:spcPts val="0"/>
              </a:spcAft>
            </a:pPr>
            <a:r>
              <a:rPr sz="1400" b="1" i="0" lang="id-ID">
                <a:solidFill>
                  <a:srgbClr val="141E24"/>
                </a:solidFill>
                <a:latin typeface="Cambria"/>
              </a:rPr>
              <a:t>Definisi resminya</a:t>
            </a:r>
          </a:p>
        </p:txBody>
      </p:sp>
      <p:sp>
        <p:nvSpPr>
          <p:cNvPr id="37" name="TextBox 36"/>
          <p:cNvSpPr txBox="1"/>
          <p:nvPr/>
        </p:nvSpPr>
        <p:spPr>
          <a:xfrm>
            <a:off x="5989320" y="2121408"/>
            <a:ext cx="5559552" cy="859536"/>
          </a:xfrm>
          <a:prstGeom prst="rect">
            <a:avLst/>
          </a:prstGeom>
          <a:noFill/>
        </p:spPr>
        <p:txBody>
          <a:bodyPr wrap="square" lIns="18288" rIns="18288" tIns="0" bIns="0" anchor="t">
            <a:noAutofit/>
          </a:bodyPr>
          <a:lstStyle/>
          <a:p>
            <a:pPr algn="l">
              <a:lnSpc>
                <a:spcPct val="112000"/>
              </a:lnSpc>
              <a:spcBef>
                <a:spcPts val="0"/>
              </a:spcBef>
              <a:spcAft>
                <a:spcPts val="0"/>
              </a:spcAft>
            </a:pPr>
            <a:r>
              <a:rPr sz="1150" b="0" i="0" lang="id-ID">
                <a:solidFill>
                  <a:srgbClr val="3E4C54"/>
                </a:solidFill>
                <a:latin typeface="Calibri"/>
              </a:rPr>
              <a:t>Defek kualitatif email: jumlah mineralnya kurang, bukan jumlah emailnya.</a:t>
            </a:r>
          </a:p>
        </p:txBody>
      </p:sp>
      <p:sp>
        <p:nvSpPr>
          <p:cNvPr id="38" name="Rectangle 37"/>
          <p:cNvSpPr/>
          <p:nvPr/>
        </p:nvSpPr>
        <p:spPr>
          <a:xfrm>
            <a:off x="5989320" y="2999232"/>
            <a:ext cx="555955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989320" y="3163824"/>
            <a:ext cx="5559552" cy="292608"/>
          </a:xfrm>
          <a:prstGeom prst="rect">
            <a:avLst/>
          </a:prstGeom>
          <a:noFill/>
        </p:spPr>
        <p:txBody>
          <a:bodyPr wrap="square" lIns="18288" rIns="18288" tIns="0" bIns="0" anchor="t">
            <a:noAutofit/>
          </a:bodyPr>
          <a:lstStyle/>
          <a:p>
            <a:pPr algn="l">
              <a:spcBef>
                <a:spcPts val="0"/>
              </a:spcBef>
              <a:spcAft>
                <a:spcPts val="0"/>
              </a:spcAft>
            </a:pPr>
            <a:r>
              <a:rPr sz="1400" b="1" i="0" lang="id-ID">
                <a:solidFill>
                  <a:srgbClr val="141E24"/>
                </a:solidFill>
                <a:latin typeface="Cambria"/>
              </a:rPr>
              <a:t>Yang dirasakan anak</a:t>
            </a:r>
          </a:p>
        </p:txBody>
      </p:sp>
      <p:sp>
        <p:nvSpPr>
          <p:cNvPr id="40" name="TextBox 39"/>
          <p:cNvSpPr txBox="1"/>
          <p:nvPr/>
        </p:nvSpPr>
        <p:spPr>
          <a:xfrm>
            <a:off x="5989320" y="3511296"/>
            <a:ext cx="5559552" cy="859536"/>
          </a:xfrm>
          <a:prstGeom prst="rect">
            <a:avLst/>
          </a:prstGeom>
          <a:noFill/>
        </p:spPr>
        <p:txBody>
          <a:bodyPr wrap="square" lIns="18288" rIns="18288" tIns="0" bIns="0" anchor="t">
            <a:noAutofit/>
          </a:bodyPr>
          <a:lstStyle/>
          <a:p>
            <a:pPr algn="l">
              <a:lnSpc>
                <a:spcPct val="112000"/>
              </a:lnSpc>
              <a:spcBef>
                <a:spcPts val="0"/>
              </a:spcBef>
              <a:spcAft>
                <a:spcPts val="0"/>
              </a:spcAft>
            </a:pPr>
            <a:r>
              <a:rPr sz="1150" b="0" i="0" lang="id-ID">
                <a:solidFill>
                  <a:srgbClr val="3E4C54"/>
                </a:solidFill>
                <a:latin typeface="Calibri"/>
              </a:rPr>
              <a:t>Gigi sensitif, sulit menyikat, dan restorasi sering harus diulang.</a:t>
            </a:r>
          </a:p>
        </p:txBody>
      </p:sp>
      <p:sp>
        <p:nvSpPr>
          <p:cNvPr id="41" name="Rectangle 40"/>
          <p:cNvSpPr/>
          <p:nvPr/>
        </p:nvSpPr>
        <p:spPr>
          <a:xfrm>
            <a:off x="5989320" y="4389120"/>
            <a:ext cx="555955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989320" y="4553712"/>
            <a:ext cx="5559552" cy="292608"/>
          </a:xfrm>
          <a:prstGeom prst="rect">
            <a:avLst/>
          </a:prstGeom>
          <a:noFill/>
        </p:spPr>
        <p:txBody>
          <a:bodyPr wrap="square" lIns="18288" rIns="18288" tIns="0" bIns="0" anchor="t">
            <a:noAutofit/>
          </a:bodyPr>
          <a:lstStyle/>
          <a:p>
            <a:pPr algn="l">
              <a:spcBef>
                <a:spcPts val="0"/>
              </a:spcBef>
              <a:spcAft>
                <a:spcPts val="0"/>
              </a:spcAft>
            </a:pPr>
            <a:r>
              <a:rPr sz="1400" b="1" i="0" lang="id-ID">
                <a:solidFill>
                  <a:srgbClr val="141E24"/>
                </a:solidFill>
                <a:latin typeface="Cambria"/>
              </a:rPr>
              <a:t>Yang belum jelas</a:t>
            </a:r>
          </a:p>
        </p:txBody>
      </p:sp>
      <p:sp>
        <p:nvSpPr>
          <p:cNvPr id="43" name="TextBox 42"/>
          <p:cNvSpPr txBox="1"/>
          <p:nvPr/>
        </p:nvSpPr>
        <p:spPr>
          <a:xfrm>
            <a:off x="5989320" y="4901184"/>
            <a:ext cx="5559552" cy="859536"/>
          </a:xfrm>
          <a:prstGeom prst="rect">
            <a:avLst/>
          </a:prstGeom>
          <a:noFill/>
        </p:spPr>
        <p:txBody>
          <a:bodyPr wrap="square" lIns="18288" rIns="18288" tIns="0" bIns="0" anchor="t">
            <a:noAutofit/>
          </a:bodyPr>
          <a:lstStyle/>
          <a:p>
            <a:pPr algn="l">
              <a:lnSpc>
                <a:spcPct val="112000"/>
              </a:lnSpc>
              <a:spcBef>
                <a:spcPts val="0"/>
              </a:spcBef>
              <a:spcAft>
                <a:spcPts val="0"/>
              </a:spcAft>
            </a:pPr>
            <a:r>
              <a:rPr sz="1150" b="0" i="0" lang="id-ID">
                <a:solidFill>
                  <a:srgbClr val="3E4C54"/>
                </a:solidFill>
                <a:latin typeface="Calibri"/>
              </a:rPr>
              <a:t>Penyebabnya belum diketahui, sehingga pencegahan MIH sendiri masih belum bisa dilakukan.</a:t>
            </a:r>
          </a:p>
        </p:txBody>
      </p:sp>
      <p:sp>
        <p:nvSpPr>
          <p:cNvPr id="44" name="Rectangle 43"/>
          <p:cNvSpPr/>
          <p:nvPr/>
        </p:nvSpPr>
        <p:spPr>
          <a:xfrm>
            <a:off x="5989320" y="5779008"/>
            <a:ext cx="555955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LATAR BELAKANG</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Angka laporan tersebar dari 2,8% sampai 40,2%</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04</a:t>
            </a:r>
          </a:p>
        </p:txBody>
      </p:sp>
      <p:sp>
        <p:nvSpPr>
          <p:cNvPr id="10" name="TextBox 9"/>
          <p:cNvSpPr txBox="1"/>
          <p:nvPr/>
        </p:nvSpPr>
        <p:spPr>
          <a:xfrm>
            <a:off x="640080" y="1975104"/>
            <a:ext cx="5486400" cy="237744"/>
          </a:xfrm>
          <a:prstGeom prst="rect">
            <a:avLst/>
          </a:prstGeom>
          <a:noFill/>
        </p:spPr>
        <p:txBody>
          <a:bodyPr wrap="square" lIns="18288" rIns="18288" tIns="0" bIns="0" anchor="t">
            <a:noAutofit/>
          </a:bodyPr>
          <a:lstStyle/>
          <a:p>
            <a:pPr algn="l">
              <a:spcBef>
                <a:spcPts val="0"/>
              </a:spcBef>
              <a:spcAft>
                <a:spcPts val="0"/>
              </a:spcAft>
            </a:pPr>
            <a:r>
              <a:rPr sz="950" b="1" i="0" spc="120" lang="id-ID">
                <a:solidFill>
                  <a:srgbClr val="6E7C83"/>
                </a:solidFill>
                <a:latin typeface="Calibri"/>
              </a:rPr>
              <a:t>KISARAN YANG DILAPORKAN STUDI</a:t>
            </a:r>
          </a:p>
        </p:txBody>
      </p:sp>
      <p:sp>
        <p:nvSpPr>
          <p:cNvPr id="11" name="Rounded Rectangle 10"/>
          <p:cNvSpPr/>
          <p:nvPr/>
        </p:nvSpPr>
        <p:spPr>
          <a:xfrm>
            <a:off x="640080" y="2798064"/>
            <a:ext cx="10817352" cy="91440"/>
          </a:xfrm>
          <a:prstGeom prst="roundRect">
            <a:avLst>
              <a:gd name="adj" fmla="val 50000"/>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362456" y="2798064"/>
            <a:ext cx="9555480" cy="91440"/>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576072" y="2770632"/>
            <a:ext cx="146304" cy="146304"/>
          </a:xfrm>
          <a:prstGeom prst="ellipse">
            <a:avLst/>
          </a:prstGeom>
          <a:solidFill>
            <a:srgbClr val="155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 y="3017520"/>
            <a:ext cx="1280160" cy="274320"/>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55E75"/>
                </a:solidFill>
                <a:latin typeface="Cambria"/>
              </a:rPr>
              <a:t>2,8%</a:t>
            </a:r>
          </a:p>
        </p:txBody>
      </p:sp>
      <p:sp>
        <p:nvSpPr>
          <p:cNvPr id="15" name="Oval 14"/>
          <p:cNvSpPr/>
          <p:nvPr/>
        </p:nvSpPr>
        <p:spPr>
          <a:xfrm>
            <a:off x="11393424" y="2770632"/>
            <a:ext cx="146304" cy="146304"/>
          </a:xfrm>
          <a:prstGeom prst="ellipse">
            <a:avLst/>
          </a:prstGeom>
          <a:solidFill>
            <a:srgbClr val="155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241280" y="3017520"/>
            <a:ext cx="1307592" cy="274320"/>
          </a:xfrm>
          <a:prstGeom prst="rect">
            <a:avLst/>
          </a:prstGeom>
          <a:noFill/>
        </p:spPr>
        <p:txBody>
          <a:bodyPr wrap="square" lIns="18288" rIns="18288" tIns="0" bIns="0" anchor="t">
            <a:noAutofit/>
          </a:bodyPr>
          <a:lstStyle/>
          <a:p>
            <a:pPr algn="r">
              <a:spcBef>
                <a:spcPts val="0"/>
              </a:spcBef>
              <a:spcAft>
                <a:spcPts val="0"/>
              </a:spcAft>
            </a:pPr>
            <a:r>
              <a:rPr sz="1300" b="1" i="0" lang="id-ID">
                <a:solidFill>
                  <a:srgbClr val="155E75"/>
                </a:solidFill>
                <a:latin typeface="Cambria"/>
              </a:rPr>
              <a:t>40,2%</a:t>
            </a:r>
          </a:p>
        </p:txBody>
      </p:sp>
      <p:sp>
        <p:nvSpPr>
          <p:cNvPr id="17" name="Oval 16"/>
          <p:cNvSpPr/>
          <p:nvPr/>
        </p:nvSpPr>
        <p:spPr>
          <a:xfrm>
            <a:off x="4023360" y="2752344"/>
            <a:ext cx="182880" cy="182880"/>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08960" y="3017520"/>
            <a:ext cx="2103120" cy="274320"/>
          </a:xfrm>
          <a:prstGeom prst="rect">
            <a:avLst/>
          </a:prstGeom>
          <a:noFill/>
        </p:spPr>
        <p:txBody>
          <a:bodyPr wrap="square" lIns="18288" rIns="18288" tIns="0" bIns="0" anchor="t">
            <a:noAutofit/>
          </a:bodyPr>
          <a:lstStyle/>
          <a:p>
            <a:pPr algn="l">
              <a:spcBef>
                <a:spcPts val="0"/>
              </a:spcBef>
              <a:spcAft>
                <a:spcPts val="0"/>
              </a:spcAft>
            </a:pPr>
            <a:r>
              <a:rPr sz="1100" b="1" i="0" lang="id-ID">
                <a:solidFill>
                  <a:srgbClr val="A16207"/>
                </a:solidFill>
                <a:latin typeface="Calibri"/>
              </a:rPr>
              <a:t>13,5% di artikel ini</a:t>
            </a:r>
          </a:p>
        </p:txBody>
      </p:sp>
      <p:sp>
        <p:nvSpPr>
          <p:cNvPr id="19" name="TextBox 18"/>
          <p:cNvSpPr txBox="1"/>
          <p:nvPr/>
        </p:nvSpPr>
        <p:spPr>
          <a:xfrm>
            <a:off x="3127248" y="2359152"/>
            <a:ext cx="4023360" cy="274320"/>
          </a:xfrm>
          <a:prstGeom prst="rect">
            <a:avLst/>
          </a:prstGeom>
          <a:noFill/>
        </p:spPr>
        <p:txBody>
          <a:bodyPr wrap="square" lIns="18288" rIns="18288" tIns="0" bIns="0" anchor="t">
            <a:noAutofit/>
          </a:bodyPr>
          <a:lstStyle/>
          <a:p>
            <a:pPr algn="l">
              <a:spcBef>
                <a:spcPts val="0"/>
              </a:spcBef>
              <a:spcAft>
                <a:spcPts val="0"/>
              </a:spcAft>
            </a:pPr>
            <a:r>
              <a:rPr sz="1000" b="0" i="1" lang="id-ID">
                <a:solidFill>
                  <a:srgbClr val="6E7C83"/>
                </a:solidFill>
                <a:latin typeface="Calibri"/>
              </a:rPr>
              <a:t>Tinjauan 2018: 13,1% dan 14,2%</a:t>
            </a:r>
          </a:p>
        </p:txBody>
      </p:sp>
      <p:sp>
        <p:nvSpPr>
          <p:cNvPr id="20" name="TextBox 19"/>
          <p:cNvSpPr txBox="1"/>
          <p:nvPr/>
        </p:nvSpPr>
        <p:spPr>
          <a:xfrm>
            <a:off x="640080" y="3767328"/>
            <a:ext cx="3401568" cy="987552"/>
          </a:xfrm>
          <a:prstGeom prst="rect">
            <a:avLst/>
          </a:prstGeom>
          <a:noFill/>
        </p:spPr>
        <p:txBody>
          <a:bodyPr wrap="square" lIns="18288" rIns="18288" tIns="0" bIns="0" anchor="t">
            <a:noAutofit/>
          </a:bodyPr>
          <a:lstStyle/>
          <a:p>
            <a:pPr algn="l">
              <a:lnSpc>
                <a:spcPct val="114000"/>
              </a:lnSpc>
              <a:spcBef>
                <a:spcPts val="0"/>
              </a:spcBef>
              <a:spcAft>
                <a:spcPts val="0"/>
              </a:spcAft>
            </a:pPr>
            <a:r>
              <a:rPr sz="1200" b="0" i="0" lang="id-ID">
                <a:solidFill>
                  <a:srgbClr val="3E4C54"/>
                </a:solidFill>
                <a:latin typeface="Calibri"/>
              </a:rPr>
              <a:t>Kriteria diagnostik belum seragam, sehingga angka antar studi sulit disandingkan, padahal penyakitnya sama.</a:t>
            </a:r>
          </a:p>
        </p:txBody>
      </p:sp>
      <p:sp>
        <p:nvSpPr>
          <p:cNvPr id="21" name="TextBox 20"/>
          <p:cNvSpPr txBox="1"/>
          <p:nvPr/>
        </p:nvSpPr>
        <p:spPr>
          <a:xfrm>
            <a:off x="4352544" y="3767328"/>
            <a:ext cx="3401568" cy="987552"/>
          </a:xfrm>
          <a:prstGeom prst="rect">
            <a:avLst/>
          </a:prstGeom>
          <a:noFill/>
        </p:spPr>
        <p:txBody>
          <a:bodyPr wrap="square" lIns="18288" rIns="18288" tIns="0" bIns="0" anchor="t">
            <a:noAutofit/>
          </a:bodyPr>
          <a:lstStyle/>
          <a:p>
            <a:pPr algn="l">
              <a:lnSpc>
                <a:spcPct val="114000"/>
              </a:lnSpc>
              <a:spcBef>
                <a:spcPts val="0"/>
              </a:spcBef>
              <a:spcAft>
                <a:spcPts val="0"/>
              </a:spcAft>
            </a:pPr>
            <a:r>
              <a:rPr sz="1200" b="0" i="0" lang="id-ID">
                <a:solidFill>
                  <a:srgbClr val="3E4C54"/>
                </a:solidFill>
                <a:latin typeface="Calibri"/>
              </a:rPr>
              <a:t>Dua tinjauan sebelumnya berhenti pada pertengahan 2017 dan hanya melaporkan prevalensi, tanpa keparahan kasus.</a:t>
            </a:r>
          </a:p>
        </p:txBody>
      </p:sp>
      <p:sp>
        <p:nvSpPr>
          <p:cNvPr id="22" name="Rectangle 21"/>
          <p:cNvSpPr/>
          <p:nvPr/>
        </p:nvSpPr>
        <p:spPr>
          <a:xfrm>
            <a:off x="4041648" y="3767328"/>
            <a:ext cx="10972" cy="1463040"/>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065008" y="3767328"/>
            <a:ext cx="3401568" cy="987552"/>
          </a:xfrm>
          <a:prstGeom prst="rect">
            <a:avLst/>
          </a:prstGeom>
          <a:noFill/>
        </p:spPr>
        <p:txBody>
          <a:bodyPr wrap="square" lIns="18288" rIns="18288" tIns="0" bIns="0" anchor="t">
            <a:noAutofit/>
          </a:bodyPr>
          <a:lstStyle/>
          <a:p>
            <a:pPr algn="l">
              <a:lnSpc>
                <a:spcPct val="114000"/>
              </a:lnSpc>
              <a:spcBef>
                <a:spcPts val="0"/>
              </a:spcBef>
              <a:spcAft>
                <a:spcPts val="0"/>
              </a:spcAft>
            </a:pPr>
            <a:r>
              <a:rPr sz="1200" b="0" i="0" lang="id-ID">
                <a:solidFill>
                  <a:srgbClr val="3E4C54"/>
                </a:solidFill>
                <a:latin typeface="Calibri"/>
              </a:rPr>
              <a:t>Keparahan, jumlah gigi yang terkena, dan HSPM hampir tidak pernah dilaporkan.</a:t>
            </a:r>
          </a:p>
        </p:txBody>
      </p:sp>
      <p:sp>
        <p:nvSpPr>
          <p:cNvPr id="24" name="Rectangle 23"/>
          <p:cNvSpPr/>
          <p:nvPr/>
        </p:nvSpPr>
        <p:spPr>
          <a:xfrm>
            <a:off x="7754112" y="3767328"/>
            <a:ext cx="10972" cy="1463040"/>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40080" y="47183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 y="4864608"/>
            <a:ext cx="10908792" cy="548640"/>
          </a:xfrm>
          <a:prstGeom prst="rect">
            <a:avLst/>
          </a:prstGeom>
          <a:noFill/>
        </p:spPr>
        <p:txBody>
          <a:bodyPr wrap="square" lIns="18288" rIns="18288" tIns="0" bIns="0" anchor="t">
            <a:noAutofit/>
          </a:bodyPr>
          <a:lstStyle/>
          <a:p>
            <a:pPr algn="l">
              <a:spcBef>
                <a:spcPts val="0"/>
              </a:spcBef>
              <a:spcAft>
                <a:spcPts val="0"/>
              </a:spcAft>
            </a:pPr>
            <a:r>
              <a:rPr sz="1200" b="0" i="0" lang="id-ID">
                <a:solidFill>
                  <a:srgbClr val="141E24"/>
                </a:solidFill>
                <a:latin typeface="Calibri"/>
              </a:rPr>
              <a:t>Artikel ini menjawab dua hal sekaligus: memperbarui estimasi global dengan satu kriteria diagnostik, lalu mengukur keparahan kasusnya.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TUJUAN</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Pertanyaan penelitian dan empat luaran</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05</a:t>
            </a:r>
          </a:p>
        </p:txBody>
      </p:sp>
      <p:sp>
        <p:nvSpPr>
          <p:cNvPr id="10" name="TextBox 9"/>
          <p:cNvSpPr txBox="1"/>
          <p:nvPr/>
        </p:nvSpPr>
        <p:spPr>
          <a:xfrm>
            <a:off x="640080" y="1737360"/>
            <a:ext cx="566928" cy="566928"/>
          </a:xfrm>
          <a:prstGeom prst="rect">
            <a:avLst/>
          </a:prstGeom>
          <a:noFill/>
        </p:spPr>
        <p:txBody>
          <a:bodyPr wrap="square" lIns="18288" rIns="18288" tIns="0" bIns="0" anchor="t">
            <a:noAutofit/>
          </a:bodyPr>
          <a:lstStyle/>
          <a:p>
            <a:pPr algn="l">
              <a:lnSpc>
                <a:spcPct val="100000"/>
              </a:lnSpc>
              <a:spcBef>
                <a:spcPts val="0"/>
              </a:spcBef>
              <a:spcAft>
                <a:spcPts val="0"/>
              </a:spcAft>
            </a:pPr>
            <a:r>
              <a:rPr sz="3000" b="0" i="0" lang="id-ID">
                <a:solidFill>
                  <a:srgbClr val="0E7490"/>
                </a:solidFill>
                <a:latin typeface="Cambria"/>
              </a:rPr>
              <a:t>P</a:t>
            </a:r>
          </a:p>
        </p:txBody>
      </p:sp>
      <p:sp>
        <p:nvSpPr>
          <p:cNvPr id="11" name="TextBox 10"/>
          <p:cNvSpPr txBox="1"/>
          <p:nvPr/>
        </p:nvSpPr>
        <p:spPr>
          <a:xfrm>
            <a:off x="1298448" y="1792224"/>
            <a:ext cx="1865376" cy="237744"/>
          </a:xfrm>
          <a:prstGeom prst="rect">
            <a:avLst/>
          </a:prstGeom>
          <a:noFill/>
        </p:spPr>
        <p:txBody>
          <a:bodyPr wrap="square" lIns="18288" rIns="18288" tIns="0" bIns="0" anchor="t">
            <a:noAutofit/>
          </a:bodyPr>
          <a:lstStyle/>
          <a:p>
            <a:pPr algn="l">
              <a:spcBef>
                <a:spcPts val="0"/>
              </a:spcBef>
              <a:spcAft>
                <a:spcPts val="0"/>
              </a:spcAft>
            </a:pPr>
            <a:r>
              <a:rPr sz="1100" b="1" i="0" spc="30" lang="id-ID">
                <a:solidFill>
                  <a:srgbClr val="141E24"/>
                </a:solidFill>
                <a:latin typeface="Calibri"/>
              </a:rPr>
              <a:t>Populasi</a:t>
            </a:r>
          </a:p>
        </p:txBody>
      </p:sp>
      <p:sp>
        <p:nvSpPr>
          <p:cNvPr id="12" name="TextBox 11"/>
          <p:cNvSpPr txBox="1"/>
          <p:nvPr/>
        </p:nvSpPr>
        <p:spPr>
          <a:xfrm>
            <a:off x="1298448" y="2048256"/>
            <a:ext cx="1865376" cy="566928"/>
          </a:xfrm>
          <a:prstGeom prst="rect">
            <a:avLst/>
          </a:prstGeom>
          <a:noFill/>
        </p:spPr>
        <p:txBody>
          <a:bodyPr wrap="square" lIns="18288" rIns="18288" tIns="0" bIns="0" anchor="t">
            <a:noAutofit/>
          </a:bodyPr>
          <a:lstStyle/>
          <a:p>
            <a:pPr algn="l">
              <a:lnSpc>
                <a:spcPct val="106000"/>
              </a:lnSpc>
              <a:spcBef>
                <a:spcPts val="0"/>
              </a:spcBef>
              <a:spcAft>
                <a:spcPts val="0"/>
              </a:spcAft>
            </a:pPr>
            <a:r>
              <a:rPr sz="1050" b="0" i="0" lang="id-ID">
                <a:solidFill>
                  <a:srgbClr val="6E7C83"/>
                </a:solidFill>
                <a:latin typeface="Calibri"/>
              </a:rPr>
              <a:t>studi klinis dan epidemiologis pada manusia</a:t>
            </a:r>
          </a:p>
        </p:txBody>
      </p:sp>
      <p:sp>
        <p:nvSpPr>
          <p:cNvPr id="13" name="TextBox 12"/>
          <p:cNvSpPr txBox="1"/>
          <p:nvPr/>
        </p:nvSpPr>
        <p:spPr>
          <a:xfrm>
            <a:off x="3364992" y="1737360"/>
            <a:ext cx="566928" cy="566928"/>
          </a:xfrm>
          <a:prstGeom prst="rect">
            <a:avLst/>
          </a:prstGeom>
          <a:noFill/>
        </p:spPr>
        <p:txBody>
          <a:bodyPr wrap="square" lIns="18288" rIns="18288" tIns="0" bIns="0" anchor="t">
            <a:noAutofit/>
          </a:bodyPr>
          <a:lstStyle/>
          <a:p>
            <a:pPr algn="l">
              <a:lnSpc>
                <a:spcPct val="100000"/>
              </a:lnSpc>
              <a:spcBef>
                <a:spcPts val="0"/>
              </a:spcBef>
              <a:spcAft>
                <a:spcPts val="0"/>
              </a:spcAft>
            </a:pPr>
            <a:r>
              <a:rPr sz="3000" b="0" i="0" lang="id-ID">
                <a:solidFill>
                  <a:srgbClr val="0E7490"/>
                </a:solidFill>
                <a:latin typeface="Cambria"/>
              </a:rPr>
              <a:t>E</a:t>
            </a:r>
          </a:p>
        </p:txBody>
      </p:sp>
      <p:sp>
        <p:nvSpPr>
          <p:cNvPr id="14" name="TextBox 13"/>
          <p:cNvSpPr txBox="1"/>
          <p:nvPr/>
        </p:nvSpPr>
        <p:spPr>
          <a:xfrm>
            <a:off x="4023360" y="1792224"/>
            <a:ext cx="1865376" cy="237744"/>
          </a:xfrm>
          <a:prstGeom prst="rect">
            <a:avLst/>
          </a:prstGeom>
          <a:noFill/>
        </p:spPr>
        <p:txBody>
          <a:bodyPr wrap="square" lIns="18288" rIns="18288" tIns="0" bIns="0" anchor="t">
            <a:noAutofit/>
          </a:bodyPr>
          <a:lstStyle/>
          <a:p>
            <a:pPr algn="l">
              <a:spcBef>
                <a:spcPts val="0"/>
              </a:spcBef>
              <a:spcAft>
                <a:spcPts val="0"/>
              </a:spcAft>
            </a:pPr>
            <a:r>
              <a:rPr sz="1100" b="1" i="0" spc="30" lang="id-ID">
                <a:solidFill>
                  <a:srgbClr val="141E24"/>
                </a:solidFill>
                <a:latin typeface="Calibri"/>
              </a:rPr>
              <a:t>Paparan</a:t>
            </a:r>
          </a:p>
        </p:txBody>
      </p:sp>
      <p:sp>
        <p:nvSpPr>
          <p:cNvPr id="15" name="TextBox 14"/>
          <p:cNvSpPr txBox="1"/>
          <p:nvPr/>
        </p:nvSpPr>
        <p:spPr>
          <a:xfrm>
            <a:off x="4023360" y="2048256"/>
            <a:ext cx="1865376" cy="566928"/>
          </a:xfrm>
          <a:prstGeom prst="rect">
            <a:avLst/>
          </a:prstGeom>
          <a:noFill/>
        </p:spPr>
        <p:txBody>
          <a:bodyPr wrap="square" lIns="18288" rIns="18288" tIns="0" bIns="0" anchor="t">
            <a:noAutofit/>
          </a:bodyPr>
          <a:lstStyle/>
          <a:p>
            <a:pPr algn="l">
              <a:lnSpc>
                <a:spcPct val="106000"/>
              </a:lnSpc>
              <a:spcBef>
                <a:spcPts val="0"/>
              </a:spcBef>
              <a:spcAft>
                <a:spcPts val="0"/>
              </a:spcAft>
            </a:pPr>
            <a:r>
              <a:rPr sz="1050" b="0" i="0" lang="id-ID">
                <a:solidFill>
                  <a:srgbClr val="6E7C83"/>
                </a:solidFill>
                <a:latin typeface="Calibri"/>
              </a:rPr>
              <a:t>diagnosis MIH</a:t>
            </a:r>
          </a:p>
        </p:txBody>
      </p:sp>
      <p:sp>
        <p:nvSpPr>
          <p:cNvPr id="16" name="TextBox 15"/>
          <p:cNvSpPr txBox="1"/>
          <p:nvPr/>
        </p:nvSpPr>
        <p:spPr>
          <a:xfrm>
            <a:off x="6089904" y="1737360"/>
            <a:ext cx="566928" cy="566928"/>
          </a:xfrm>
          <a:prstGeom prst="rect">
            <a:avLst/>
          </a:prstGeom>
          <a:noFill/>
        </p:spPr>
        <p:txBody>
          <a:bodyPr wrap="square" lIns="18288" rIns="18288" tIns="0" bIns="0" anchor="t">
            <a:noAutofit/>
          </a:bodyPr>
          <a:lstStyle/>
          <a:p>
            <a:pPr algn="l">
              <a:lnSpc>
                <a:spcPct val="100000"/>
              </a:lnSpc>
              <a:spcBef>
                <a:spcPts val="0"/>
              </a:spcBef>
              <a:spcAft>
                <a:spcPts val="0"/>
              </a:spcAft>
            </a:pPr>
            <a:r>
              <a:rPr sz="3000" b="0" i="0" lang="id-ID">
                <a:solidFill>
                  <a:srgbClr val="0E7490"/>
                </a:solidFill>
                <a:latin typeface="Cambria"/>
              </a:rPr>
              <a:t>C</a:t>
            </a:r>
          </a:p>
        </p:txBody>
      </p:sp>
      <p:sp>
        <p:nvSpPr>
          <p:cNvPr id="17" name="TextBox 16"/>
          <p:cNvSpPr txBox="1"/>
          <p:nvPr/>
        </p:nvSpPr>
        <p:spPr>
          <a:xfrm>
            <a:off x="6748272" y="1792224"/>
            <a:ext cx="1865376" cy="237744"/>
          </a:xfrm>
          <a:prstGeom prst="rect">
            <a:avLst/>
          </a:prstGeom>
          <a:noFill/>
        </p:spPr>
        <p:txBody>
          <a:bodyPr wrap="square" lIns="18288" rIns="18288" tIns="0" bIns="0" anchor="t">
            <a:noAutofit/>
          </a:bodyPr>
          <a:lstStyle/>
          <a:p>
            <a:pPr algn="l">
              <a:spcBef>
                <a:spcPts val="0"/>
              </a:spcBef>
              <a:spcAft>
                <a:spcPts val="0"/>
              </a:spcAft>
            </a:pPr>
            <a:r>
              <a:rPr sz="1100" b="1" i="0" spc="30" lang="id-ID">
                <a:solidFill>
                  <a:srgbClr val="141E24"/>
                </a:solidFill>
                <a:latin typeface="Calibri"/>
              </a:rPr>
              <a:t>Pembanding</a:t>
            </a:r>
          </a:p>
        </p:txBody>
      </p:sp>
      <p:sp>
        <p:nvSpPr>
          <p:cNvPr id="18" name="TextBox 17"/>
          <p:cNvSpPr txBox="1"/>
          <p:nvPr/>
        </p:nvSpPr>
        <p:spPr>
          <a:xfrm>
            <a:off x="6748272" y="2048256"/>
            <a:ext cx="1865376" cy="566928"/>
          </a:xfrm>
          <a:prstGeom prst="rect">
            <a:avLst/>
          </a:prstGeom>
          <a:noFill/>
        </p:spPr>
        <p:txBody>
          <a:bodyPr wrap="square" lIns="18288" rIns="18288" tIns="0" bIns="0" anchor="t">
            <a:noAutofit/>
          </a:bodyPr>
          <a:lstStyle/>
          <a:p>
            <a:pPr algn="l">
              <a:lnSpc>
                <a:spcPct val="106000"/>
              </a:lnSpc>
              <a:spcBef>
                <a:spcPts val="0"/>
              </a:spcBef>
              <a:spcAft>
                <a:spcPts val="0"/>
              </a:spcAft>
            </a:pPr>
            <a:r>
              <a:rPr sz="1050" b="0" i="0" lang="id-ID">
                <a:solidFill>
                  <a:srgbClr val="6E7C83"/>
                </a:solidFill>
                <a:latin typeface="Calibri"/>
              </a:rPr>
              <a:t>anak tanpa MIH</a:t>
            </a:r>
          </a:p>
        </p:txBody>
      </p:sp>
      <p:sp>
        <p:nvSpPr>
          <p:cNvPr id="19" name="TextBox 18"/>
          <p:cNvSpPr txBox="1"/>
          <p:nvPr/>
        </p:nvSpPr>
        <p:spPr>
          <a:xfrm>
            <a:off x="8814816" y="1737360"/>
            <a:ext cx="566928" cy="566928"/>
          </a:xfrm>
          <a:prstGeom prst="rect">
            <a:avLst/>
          </a:prstGeom>
          <a:noFill/>
        </p:spPr>
        <p:txBody>
          <a:bodyPr wrap="square" lIns="18288" rIns="18288" tIns="0" bIns="0" anchor="t">
            <a:noAutofit/>
          </a:bodyPr>
          <a:lstStyle/>
          <a:p>
            <a:pPr algn="l">
              <a:lnSpc>
                <a:spcPct val="100000"/>
              </a:lnSpc>
              <a:spcBef>
                <a:spcPts val="0"/>
              </a:spcBef>
              <a:spcAft>
                <a:spcPts val="0"/>
              </a:spcAft>
            </a:pPr>
            <a:r>
              <a:rPr sz="3000" b="0" i="0" lang="id-ID">
                <a:solidFill>
                  <a:srgbClr val="0E7490"/>
                </a:solidFill>
                <a:latin typeface="Cambria"/>
              </a:rPr>
              <a:t>O</a:t>
            </a:r>
          </a:p>
        </p:txBody>
      </p:sp>
      <p:sp>
        <p:nvSpPr>
          <p:cNvPr id="20" name="TextBox 19"/>
          <p:cNvSpPr txBox="1"/>
          <p:nvPr/>
        </p:nvSpPr>
        <p:spPr>
          <a:xfrm>
            <a:off x="9473184" y="1792224"/>
            <a:ext cx="1865376" cy="237744"/>
          </a:xfrm>
          <a:prstGeom prst="rect">
            <a:avLst/>
          </a:prstGeom>
          <a:noFill/>
        </p:spPr>
        <p:txBody>
          <a:bodyPr wrap="square" lIns="18288" rIns="18288" tIns="0" bIns="0" anchor="t">
            <a:noAutofit/>
          </a:bodyPr>
          <a:lstStyle/>
          <a:p>
            <a:pPr algn="l">
              <a:spcBef>
                <a:spcPts val="0"/>
              </a:spcBef>
              <a:spcAft>
                <a:spcPts val="0"/>
              </a:spcAft>
            </a:pPr>
            <a:r>
              <a:rPr sz="1100" b="1" i="0" spc="30" lang="id-ID">
                <a:solidFill>
                  <a:srgbClr val="141E24"/>
                </a:solidFill>
                <a:latin typeface="Calibri"/>
              </a:rPr>
              <a:t>Luaran</a:t>
            </a:r>
          </a:p>
        </p:txBody>
      </p:sp>
      <p:sp>
        <p:nvSpPr>
          <p:cNvPr id="21" name="TextBox 20"/>
          <p:cNvSpPr txBox="1"/>
          <p:nvPr/>
        </p:nvSpPr>
        <p:spPr>
          <a:xfrm>
            <a:off x="9473184" y="2048256"/>
            <a:ext cx="1865376" cy="566928"/>
          </a:xfrm>
          <a:prstGeom prst="rect">
            <a:avLst/>
          </a:prstGeom>
          <a:noFill/>
        </p:spPr>
        <p:txBody>
          <a:bodyPr wrap="square" lIns="18288" rIns="18288" tIns="0" bIns="0" anchor="t">
            <a:noAutofit/>
          </a:bodyPr>
          <a:lstStyle/>
          <a:p>
            <a:pPr algn="l">
              <a:lnSpc>
                <a:spcPct val="106000"/>
              </a:lnSpc>
              <a:spcBef>
                <a:spcPts val="0"/>
              </a:spcBef>
              <a:spcAft>
                <a:spcPts val="0"/>
              </a:spcAft>
            </a:pPr>
            <a:r>
              <a:rPr sz="1050" b="0" i="0" lang="id-ID">
                <a:solidFill>
                  <a:srgbClr val="6E7C83"/>
                </a:solidFill>
                <a:latin typeface="Calibri"/>
              </a:rPr>
              <a:t>prevalensi MIH</a:t>
            </a:r>
          </a:p>
        </p:txBody>
      </p:sp>
      <p:sp>
        <p:nvSpPr>
          <p:cNvPr id="22" name="Rectangle 21"/>
          <p:cNvSpPr/>
          <p:nvPr/>
        </p:nvSpPr>
        <p:spPr>
          <a:xfrm>
            <a:off x="640080" y="270662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0080" y="2889504"/>
            <a:ext cx="10908792" cy="402336"/>
          </a:xfrm>
          <a:prstGeom prst="rect">
            <a:avLst/>
          </a:prstGeom>
          <a:noFill/>
        </p:spPr>
        <p:txBody>
          <a:bodyPr wrap="square" lIns="18288" rIns="18288" tIns="0" bIns="0" anchor="t">
            <a:noAutofit/>
          </a:bodyPr>
          <a:lstStyle/>
          <a:p>
            <a:pPr algn="l">
              <a:spcBef>
                <a:spcPts val="0"/>
              </a:spcBef>
              <a:spcAft>
                <a:spcPts val="0"/>
              </a:spcAft>
            </a:pPr>
            <a:r>
              <a:rPr sz="1400" b="0" i="0" lang="id-ID">
                <a:solidFill>
                  <a:srgbClr val="141E24"/>
                </a:solidFill>
                <a:latin typeface="Cambria"/>
              </a:rPr>
              <a:t>Pertanyaan primernya sederhana: berapa prevalensi MIH di seluruh dunia?</a:t>
            </a:r>
          </a:p>
        </p:txBody>
      </p:sp>
      <p:sp>
        <p:nvSpPr>
          <p:cNvPr id="24" name="TextBox 23"/>
          <p:cNvSpPr txBox="1"/>
          <p:nvPr/>
        </p:nvSpPr>
        <p:spPr>
          <a:xfrm>
            <a:off x="640080" y="3547872"/>
            <a:ext cx="5486400" cy="237744"/>
          </a:xfrm>
          <a:prstGeom prst="rect">
            <a:avLst/>
          </a:prstGeom>
          <a:noFill/>
        </p:spPr>
        <p:txBody>
          <a:bodyPr wrap="square" lIns="18288" rIns="18288" tIns="0" bIns="0" anchor="t">
            <a:noAutofit/>
          </a:bodyPr>
          <a:lstStyle/>
          <a:p>
            <a:pPr algn="l">
              <a:spcBef>
                <a:spcPts val="0"/>
              </a:spcBef>
              <a:spcAft>
                <a:spcPts val="0"/>
              </a:spcAft>
            </a:pPr>
            <a:r>
              <a:rPr sz="950" b="1" i="0" spc="120" lang="id-ID">
                <a:solidFill>
                  <a:srgbClr val="6E7C83"/>
                </a:solidFill>
                <a:latin typeface="Calibri"/>
              </a:rPr>
              <a:t>LUARAN YANG DIUKUR</a:t>
            </a:r>
          </a:p>
        </p:txBody>
      </p:sp>
      <p:sp>
        <p:nvSpPr>
          <p:cNvPr id="25" name="Rectangle 24"/>
          <p:cNvSpPr/>
          <p:nvPr/>
        </p:nvSpPr>
        <p:spPr>
          <a:xfrm>
            <a:off x="640080" y="3959352"/>
            <a:ext cx="146304" cy="14630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0976" y="3895344"/>
            <a:ext cx="6309360" cy="292608"/>
          </a:xfrm>
          <a:prstGeom prst="rect">
            <a:avLst/>
          </a:prstGeom>
          <a:noFill/>
        </p:spPr>
        <p:txBody>
          <a:bodyPr wrap="square" lIns="18288" rIns="18288" tIns="0" bIns="0" anchor="t">
            <a:noAutofit/>
          </a:bodyPr>
          <a:lstStyle/>
          <a:p>
            <a:pPr algn="l">
              <a:spcBef>
                <a:spcPts val="0"/>
              </a:spcBef>
              <a:spcAft>
                <a:spcPts val="0"/>
              </a:spcAft>
            </a:pPr>
            <a:r>
              <a:rPr sz="1250" b="1" i="0" lang="id-ID">
                <a:solidFill>
                  <a:srgbClr val="141E24"/>
                </a:solidFill>
                <a:latin typeface="Calibri"/>
              </a:rPr>
              <a:t>Prevalensi global MIH</a:t>
            </a:r>
          </a:p>
        </p:txBody>
      </p:sp>
      <p:sp>
        <p:nvSpPr>
          <p:cNvPr id="27" name="TextBox 26"/>
          <p:cNvSpPr txBox="1"/>
          <p:nvPr/>
        </p:nvSpPr>
        <p:spPr>
          <a:xfrm>
            <a:off x="7406640" y="3913632"/>
            <a:ext cx="1828800" cy="256032"/>
          </a:xfrm>
          <a:prstGeom prst="rect">
            <a:avLst/>
          </a:prstGeom>
          <a:noFill/>
        </p:spPr>
        <p:txBody>
          <a:bodyPr wrap="square" lIns="18288" rIns="18288" tIns="0" bIns="0" anchor="t">
            <a:noAutofit/>
          </a:bodyPr>
          <a:lstStyle/>
          <a:p>
            <a:pPr algn="r">
              <a:spcBef>
                <a:spcPts val="0"/>
              </a:spcBef>
              <a:spcAft>
                <a:spcPts val="0"/>
              </a:spcAft>
            </a:pPr>
            <a:r>
              <a:rPr sz="1000" b="0" i="1" lang="id-ID">
                <a:solidFill>
                  <a:srgbClr val="6E7C83"/>
                </a:solidFill>
                <a:latin typeface="Calibri"/>
              </a:rPr>
              <a:t>luaran primer</a:t>
            </a:r>
          </a:p>
        </p:txBody>
      </p:sp>
      <p:sp>
        <p:nvSpPr>
          <p:cNvPr id="28" name="TextBox 27"/>
          <p:cNvSpPr txBox="1"/>
          <p:nvPr/>
        </p:nvSpPr>
        <p:spPr>
          <a:xfrm>
            <a:off x="9418320" y="3913632"/>
            <a:ext cx="2130552" cy="256032"/>
          </a:xfrm>
          <a:prstGeom prst="rect">
            <a:avLst/>
          </a:prstGeom>
          <a:noFill/>
        </p:spPr>
        <p:txBody>
          <a:bodyPr wrap="square" lIns="18288" rIns="18288" tIns="0" bIns="0" anchor="t">
            <a:noAutofit/>
          </a:bodyPr>
          <a:lstStyle/>
          <a:p>
            <a:pPr algn="r">
              <a:spcBef>
                <a:spcPts val="0"/>
              </a:spcBef>
              <a:spcAft>
                <a:spcPts val="0"/>
              </a:spcAft>
            </a:pPr>
            <a:r>
              <a:rPr sz="950" b="0" i="0" lang="id-ID">
                <a:solidFill>
                  <a:srgbClr val="6E7C83"/>
                </a:solidFill>
                <a:latin typeface="Calibri"/>
              </a:rPr>
              <a:t>S1</a:t>
            </a:r>
          </a:p>
        </p:txBody>
      </p:sp>
      <p:sp>
        <p:nvSpPr>
          <p:cNvPr id="29" name="Rectangle 28"/>
          <p:cNvSpPr/>
          <p:nvPr/>
        </p:nvSpPr>
        <p:spPr>
          <a:xfrm>
            <a:off x="640080" y="431596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40080" y="4526280"/>
            <a:ext cx="146304" cy="146304"/>
          </a:xfrm>
          <a:prstGeom prst="rect">
            <a:avLst/>
          </a:prstGeom>
          <a:solidFill>
            <a:srgbClr val="BFD9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50976" y="4462272"/>
            <a:ext cx="6309360" cy="292608"/>
          </a:xfrm>
          <a:prstGeom prst="rect">
            <a:avLst/>
          </a:prstGeom>
          <a:noFill/>
        </p:spPr>
        <p:txBody>
          <a:bodyPr wrap="square" lIns="18288" rIns="18288" tIns="0" bIns="0" anchor="t">
            <a:noAutofit/>
          </a:bodyPr>
          <a:lstStyle/>
          <a:p>
            <a:pPr algn="l">
              <a:spcBef>
                <a:spcPts val="0"/>
              </a:spcBef>
              <a:spcAft>
                <a:spcPts val="0"/>
              </a:spcAft>
            </a:pPr>
            <a:r>
              <a:rPr sz="1250" b="0" i="0" lang="id-ID">
                <a:solidFill>
                  <a:srgbClr val="141E24"/>
                </a:solidFill>
                <a:latin typeface="Calibri"/>
              </a:rPr>
              <a:t>Prevalensi kasus sedang sampai berat</a:t>
            </a:r>
          </a:p>
        </p:txBody>
      </p:sp>
      <p:sp>
        <p:nvSpPr>
          <p:cNvPr id="32" name="TextBox 31"/>
          <p:cNvSpPr txBox="1"/>
          <p:nvPr/>
        </p:nvSpPr>
        <p:spPr>
          <a:xfrm>
            <a:off x="7406640" y="4480560"/>
            <a:ext cx="1828800" cy="256032"/>
          </a:xfrm>
          <a:prstGeom prst="rect">
            <a:avLst/>
          </a:prstGeom>
          <a:noFill/>
        </p:spPr>
        <p:txBody>
          <a:bodyPr wrap="square" lIns="18288" rIns="18288" tIns="0" bIns="0" anchor="t">
            <a:noAutofit/>
          </a:bodyPr>
          <a:lstStyle/>
          <a:p>
            <a:pPr algn="r">
              <a:spcBef>
                <a:spcPts val="0"/>
              </a:spcBef>
              <a:spcAft>
                <a:spcPts val="0"/>
              </a:spcAft>
            </a:pPr>
            <a:r>
              <a:rPr sz="1000" b="0" i="1" lang="id-ID">
                <a:solidFill>
                  <a:srgbClr val="6E7C83"/>
                </a:solidFill>
                <a:latin typeface="Calibri"/>
              </a:rPr>
              <a:t>sekunder</a:t>
            </a:r>
          </a:p>
        </p:txBody>
      </p:sp>
      <p:sp>
        <p:nvSpPr>
          <p:cNvPr id="33" name="TextBox 32"/>
          <p:cNvSpPr txBox="1"/>
          <p:nvPr/>
        </p:nvSpPr>
        <p:spPr>
          <a:xfrm>
            <a:off x="9418320" y="4480560"/>
            <a:ext cx="2130552" cy="256032"/>
          </a:xfrm>
          <a:prstGeom prst="rect">
            <a:avLst/>
          </a:prstGeom>
          <a:noFill/>
        </p:spPr>
        <p:txBody>
          <a:bodyPr wrap="square" lIns="18288" rIns="18288" tIns="0" bIns="0" anchor="t">
            <a:noAutofit/>
          </a:bodyPr>
          <a:lstStyle/>
          <a:p>
            <a:pPr algn="r">
              <a:spcBef>
                <a:spcPts val="0"/>
              </a:spcBef>
              <a:spcAft>
                <a:spcPts val="0"/>
              </a:spcAft>
            </a:pPr>
            <a:r>
              <a:rPr sz="950" b="0" i="0" lang="id-ID">
                <a:solidFill>
                  <a:srgbClr val="6E7C83"/>
                </a:solidFill>
                <a:latin typeface="Calibri"/>
              </a:rPr>
              <a:t>S1</a:t>
            </a:r>
          </a:p>
        </p:txBody>
      </p:sp>
      <p:sp>
        <p:nvSpPr>
          <p:cNvPr id="34" name="Rectangle 33"/>
          <p:cNvSpPr/>
          <p:nvPr/>
        </p:nvSpPr>
        <p:spPr>
          <a:xfrm>
            <a:off x="640080" y="4882896"/>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40080" y="5093208"/>
            <a:ext cx="146304" cy="146304"/>
          </a:xfrm>
          <a:prstGeom prst="rect">
            <a:avLst/>
          </a:prstGeom>
          <a:solidFill>
            <a:srgbClr val="BFD9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50976" y="5029200"/>
            <a:ext cx="6309360" cy="292608"/>
          </a:xfrm>
          <a:prstGeom prst="rect">
            <a:avLst/>
          </a:prstGeom>
          <a:noFill/>
        </p:spPr>
        <p:txBody>
          <a:bodyPr wrap="square" lIns="18288" rIns="18288" tIns="0" bIns="0" anchor="t">
            <a:noAutofit/>
          </a:bodyPr>
          <a:lstStyle/>
          <a:p>
            <a:pPr algn="l">
              <a:spcBef>
                <a:spcPts val="0"/>
              </a:spcBef>
              <a:spcAft>
                <a:spcPts val="0"/>
              </a:spcAft>
            </a:pPr>
            <a:r>
              <a:rPr sz="1250" b="0" i="0" lang="id-ID">
                <a:solidFill>
                  <a:srgbClr val="141E24"/>
                </a:solidFill>
                <a:latin typeface="Calibri"/>
              </a:rPr>
              <a:t>Jumlah molar pertama permanen yang terkena</a:t>
            </a:r>
          </a:p>
        </p:txBody>
      </p:sp>
      <p:sp>
        <p:nvSpPr>
          <p:cNvPr id="37" name="TextBox 36"/>
          <p:cNvSpPr txBox="1"/>
          <p:nvPr/>
        </p:nvSpPr>
        <p:spPr>
          <a:xfrm>
            <a:off x="7406640" y="5047488"/>
            <a:ext cx="1828800" cy="256032"/>
          </a:xfrm>
          <a:prstGeom prst="rect">
            <a:avLst/>
          </a:prstGeom>
          <a:noFill/>
        </p:spPr>
        <p:txBody>
          <a:bodyPr wrap="square" lIns="18288" rIns="18288" tIns="0" bIns="0" anchor="t">
            <a:noAutofit/>
          </a:bodyPr>
          <a:lstStyle/>
          <a:p>
            <a:pPr algn="r">
              <a:spcBef>
                <a:spcPts val="0"/>
              </a:spcBef>
              <a:spcAft>
                <a:spcPts val="0"/>
              </a:spcAft>
            </a:pPr>
            <a:r>
              <a:rPr sz="1000" b="0" i="1" lang="id-ID">
                <a:solidFill>
                  <a:srgbClr val="6E7C83"/>
                </a:solidFill>
                <a:latin typeface="Calibri"/>
              </a:rPr>
              <a:t>sekunder</a:t>
            </a:r>
          </a:p>
        </p:txBody>
      </p:sp>
      <p:sp>
        <p:nvSpPr>
          <p:cNvPr id="38" name="TextBox 37"/>
          <p:cNvSpPr txBox="1"/>
          <p:nvPr/>
        </p:nvSpPr>
        <p:spPr>
          <a:xfrm>
            <a:off x="9418320" y="5047488"/>
            <a:ext cx="2130552" cy="256032"/>
          </a:xfrm>
          <a:prstGeom prst="rect">
            <a:avLst/>
          </a:prstGeom>
          <a:noFill/>
        </p:spPr>
        <p:txBody>
          <a:bodyPr wrap="square" lIns="18288" rIns="18288" tIns="0" bIns="0" anchor="t">
            <a:noAutofit/>
          </a:bodyPr>
          <a:lstStyle/>
          <a:p>
            <a:pPr algn="r">
              <a:spcBef>
                <a:spcPts val="0"/>
              </a:spcBef>
              <a:spcAft>
                <a:spcPts val="0"/>
              </a:spcAft>
            </a:pPr>
            <a:r>
              <a:rPr sz="950" b="0" i="0" lang="id-ID">
                <a:solidFill>
                  <a:srgbClr val="6E7C83"/>
                </a:solidFill>
                <a:latin typeface="Calibri"/>
              </a:rPr>
              <a:t>S1</a:t>
            </a:r>
          </a:p>
        </p:txBody>
      </p:sp>
      <p:sp>
        <p:nvSpPr>
          <p:cNvPr id="39" name="Rectangle 38"/>
          <p:cNvSpPr/>
          <p:nvPr/>
        </p:nvSpPr>
        <p:spPr>
          <a:xfrm>
            <a:off x="640080" y="544982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40080" y="5660136"/>
            <a:ext cx="146304" cy="146304"/>
          </a:xfrm>
          <a:prstGeom prst="rect">
            <a:avLst/>
          </a:prstGeom>
          <a:solidFill>
            <a:srgbClr val="BFD9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50976" y="5596128"/>
            <a:ext cx="6309360" cy="292608"/>
          </a:xfrm>
          <a:prstGeom prst="rect">
            <a:avLst/>
          </a:prstGeom>
          <a:noFill/>
        </p:spPr>
        <p:txBody>
          <a:bodyPr wrap="square" lIns="18288" rIns="18288" tIns="0" bIns="0" anchor="t">
            <a:noAutofit/>
          </a:bodyPr>
          <a:lstStyle/>
          <a:p>
            <a:pPr algn="l">
              <a:spcBef>
                <a:spcPts val="0"/>
              </a:spcBef>
              <a:spcAft>
                <a:spcPts val="0"/>
              </a:spcAft>
            </a:pPr>
            <a:r>
              <a:rPr sz="1250" b="0" i="0" lang="id-ID">
                <a:solidFill>
                  <a:srgbClr val="141E24"/>
                </a:solidFill>
                <a:latin typeface="Calibri"/>
              </a:rPr>
              <a:t>Kasus dengan insisivus terkena, dan prevalensi HSPM</a:t>
            </a:r>
          </a:p>
        </p:txBody>
      </p:sp>
      <p:sp>
        <p:nvSpPr>
          <p:cNvPr id="42" name="TextBox 41"/>
          <p:cNvSpPr txBox="1"/>
          <p:nvPr/>
        </p:nvSpPr>
        <p:spPr>
          <a:xfrm>
            <a:off x="7406640" y="5614416"/>
            <a:ext cx="1828800" cy="256032"/>
          </a:xfrm>
          <a:prstGeom prst="rect">
            <a:avLst/>
          </a:prstGeom>
          <a:noFill/>
        </p:spPr>
        <p:txBody>
          <a:bodyPr wrap="square" lIns="18288" rIns="18288" tIns="0" bIns="0" anchor="t">
            <a:noAutofit/>
          </a:bodyPr>
          <a:lstStyle/>
          <a:p>
            <a:pPr algn="r">
              <a:spcBef>
                <a:spcPts val="0"/>
              </a:spcBef>
              <a:spcAft>
                <a:spcPts val="0"/>
              </a:spcAft>
            </a:pPr>
            <a:r>
              <a:rPr sz="1000" b="0" i="1" lang="id-ID">
                <a:solidFill>
                  <a:srgbClr val="6E7C83"/>
                </a:solidFill>
                <a:latin typeface="Calibri"/>
              </a:rPr>
              <a:t>sekunder</a:t>
            </a:r>
          </a:p>
        </p:txBody>
      </p:sp>
      <p:sp>
        <p:nvSpPr>
          <p:cNvPr id="43" name="TextBox 42"/>
          <p:cNvSpPr txBox="1"/>
          <p:nvPr/>
        </p:nvSpPr>
        <p:spPr>
          <a:xfrm>
            <a:off x="9418320" y="5614416"/>
            <a:ext cx="2130552" cy="256032"/>
          </a:xfrm>
          <a:prstGeom prst="rect">
            <a:avLst/>
          </a:prstGeom>
          <a:noFill/>
        </p:spPr>
        <p:txBody>
          <a:bodyPr wrap="square" lIns="18288" rIns="18288" tIns="0" bIns="0" anchor="t">
            <a:noAutofit/>
          </a:bodyPr>
          <a:lstStyle/>
          <a:p>
            <a:pPr algn="r">
              <a:spcBef>
                <a:spcPts val="0"/>
              </a:spcBef>
              <a:spcAft>
                <a:spcPts val="0"/>
              </a:spcAft>
            </a:pPr>
            <a:r>
              <a:rPr sz="950" b="0" i="0" lang="id-ID">
                <a:solidFill>
                  <a:srgbClr val="6E7C83"/>
                </a:solidFill>
                <a:latin typeface="Calibri"/>
              </a:rPr>
              <a:t>S1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METODE · PENCARIAN</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Cara penulis mengumpulkan bukti</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06</a:t>
            </a:r>
          </a:p>
        </p:txBody>
      </p:sp>
      <p:sp>
        <p:nvSpPr>
          <p:cNvPr id="10" name="Rectangle 9"/>
          <p:cNvSpPr/>
          <p:nvPr/>
        </p:nvSpPr>
        <p:spPr>
          <a:xfrm>
            <a:off x="640080" y="2139696"/>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0080" y="2048256"/>
            <a:ext cx="201168" cy="201168"/>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0080" y="1572768"/>
            <a:ext cx="2542032" cy="402336"/>
          </a:xfrm>
          <a:prstGeom prst="rect">
            <a:avLst/>
          </a:prstGeom>
          <a:noFill/>
        </p:spPr>
        <p:txBody>
          <a:bodyPr wrap="square" lIns="18288" rIns="18288" tIns="0" bIns="0" anchor="t">
            <a:noAutofit/>
          </a:bodyPr>
          <a:lstStyle/>
          <a:p>
            <a:pPr algn="l">
              <a:lnSpc>
                <a:spcPct val="102000"/>
              </a:lnSpc>
              <a:spcBef>
                <a:spcPts val="0"/>
              </a:spcBef>
              <a:spcAft>
                <a:spcPts val="0"/>
              </a:spcAft>
            </a:pPr>
            <a:r>
              <a:rPr sz="1250" b="1" i="0" lang="id-ID">
                <a:solidFill>
                  <a:srgbClr val="141E24"/>
                </a:solidFill>
                <a:latin typeface="Calibri"/>
              </a:rPr>
              <a:t>Protokol didaftarkan</a:t>
            </a:r>
          </a:p>
        </p:txBody>
      </p:sp>
      <p:sp>
        <p:nvSpPr>
          <p:cNvPr id="13" name="TextBox 12"/>
          <p:cNvSpPr txBox="1"/>
          <p:nvPr/>
        </p:nvSpPr>
        <p:spPr>
          <a:xfrm>
            <a:off x="640080" y="2395728"/>
            <a:ext cx="2542032" cy="1097280"/>
          </a:xfrm>
          <a:prstGeom prst="rect">
            <a:avLst/>
          </a:prstGeom>
          <a:noFill/>
        </p:spPr>
        <p:txBody>
          <a:bodyPr wrap="square" lIns="18288" rIns="18288" tIns="0" bIns="0" anchor="t">
            <a:noAutofit/>
          </a:bodyPr>
          <a:lstStyle/>
          <a:p>
            <a:pPr algn="l">
              <a:lnSpc>
                <a:spcPct val="110000"/>
              </a:lnSpc>
              <a:spcBef>
                <a:spcPts val="0"/>
              </a:spcBef>
              <a:spcAft>
                <a:spcPts val="0"/>
              </a:spcAft>
            </a:pPr>
            <a:r>
              <a:rPr sz="1050" b="0" i="0" lang="id-ID">
                <a:solidFill>
                  <a:srgbClr val="6E7C83"/>
                </a:solidFill>
                <a:latin typeface="Calibri"/>
              </a:rPr>
              <a:t>PROSPERO CRD42021229435, sebelum pencarian dimulai</a:t>
            </a:r>
          </a:p>
        </p:txBody>
      </p:sp>
      <p:sp>
        <p:nvSpPr>
          <p:cNvPr id="14" name="Oval 13"/>
          <p:cNvSpPr/>
          <p:nvPr/>
        </p:nvSpPr>
        <p:spPr>
          <a:xfrm>
            <a:off x="3383280" y="2048256"/>
            <a:ext cx="201168" cy="201168"/>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383280" y="1572768"/>
            <a:ext cx="2542032" cy="402336"/>
          </a:xfrm>
          <a:prstGeom prst="rect">
            <a:avLst/>
          </a:prstGeom>
          <a:noFill/>
        </p:spPr>
        <p:txBody>
          <a:bodyPr wrap="square" lIns="18288" rIns="18288" tIns="0" bIns="0" anchor="t">
            <a:noAutofit/>
          </a:bodyPr>
          <a:lstStyle/>
          <a:p>
            <a:pPr algn="l">
              <a:lnSpc>
                <a:spcPct val="102000"/>
              </a:lnSpc>
              <a:spcBef>
                <a:spcPts val="0"/>
              </a:spcBef>
              <a:spcAft>
                <a:spcPts val="0"/>
              </a:spcAft>
            </a:pPr>
            <a:r>
              <a:rPr sz="1250" b="1" i="0" lang="id-ID">
                <a:solidFill>
                  <a:srgbClr val="141E24"/>
                </a:solidFill>
                <a:latin typeface="Calibri"/>
              </a:rPr>
              <a:t>Pencarian di tujuh basis data</a:t>
            </a:r>
          </a:p>
        </p:txBody>
      </p:sp>
      <p:sp>
        <p:nvSpPr>
          <p:cNvPr id="16" name="TextBox 15"/>
          <p:cNvSpPr txBox="1"/>
          <p:nvPr/>
        </p:nvSpPr>
        <p:spPr>
          <a:xfrm>
            <a:off x="3383280" y="2395728"/>
            <a:ext cx="2542032" cy="1097280"/>
          </a:xfrm>
          <a:prstGeom prst="rect">
            <a:avLst/>
          </a:prstGeom>
          <a:noFill/>
        </p:spPr>
        <p:txBody>
          <a:bodyPr wrap="square" lIns="18288" rIns="18288" tIns="0" bIns="0" anchor="t">
            <a:noAutofit/>
          </a:bodyPr>
          <a:lstStyle/>
          <a:p>
            <a:pPr algn="l">
              <a:lnSpc>
                <a:spcPct val="110000"/>
              </a:lnSpc>
              <a:spcBef>
                <a:spcPts val="0"/>
              </a:spcBef>
              <a:spcAft>
                <a:spcPts val="0"/>
              </a:spcAft>
            </a:pPr>
            <a:r>
              <a:rPr sz="1050" b="0" i="0" lang="id-ID">
                <a:solidFill>
                  <a:srgbClr val="6E7C83"/>
                </a:solidFill>
                <a:latin typeface="Calibri"/>
              </a:rPr>
              <a:t>PubMed, MEDLINE, CENTRAL, Web of Science, SciELO, LILACS, TRIP</a:t>
            </a:r>
          </a:p>
        </p:txBody>
      </p:sp>
      <p:sp>
        <p:nvSpPr>
          <p:cNvPr id="17" name="Oval 16"/>
          <p:cNvSpPr/>
          <p:nvPr/>
        </p:nvSpPr>
        <p:spPr>
          <a:xfrm>
            <a:off x="6126480" y="2048256"/>
            <a:ext cx="201168" cy="201168"/>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126480" y="1572768"/>
            <a:ext cx="2542032" cy="402336"/>
          </a:xfrm>
          <a:prstGeom prst="rect">
            <a:avLst/>
          </a:prstGeom>
          <a:noFill/>
        </p:spPr>
        <p:txBody>
          <a:bodyPr wrap="square" lIns="18288" rIns="18288" tIns="0" bIns="0" anchor="t">
            <a:noAutofit/>
          </a:bodyPr>
          <a:lstStyle/>
          <a:p>
            <a:pPr algn="l">
              <a:lnSpc>
                <a:spcPct val="102000"/>
              </a:lnSpc>
              <a:spcBef>
                <a:spcPts val="0"/>
              </a:spcBef>
              <a:spcAft>
                <a:spcPts val="0"/>
              </a:spcAft>
            </a:pPr>
            <a:r>
              <a:rPr sz="1250" b="1" i="0" lang="id-ID">
                <a:solidFill>
                  <a:srgbClr val="141E24"/>
                </a:solidFill>
                <a:latin typeface="Calibri"/>
              </a:rPr>
              <a:t>Penyaringan dua peneliti</a:t>
            </a:r>
          </a:p>
        </p:txBody>
      </p:sp>
      <p:sp>
        <p:nvSpPr>
          <p:cNvPr id="19" name="TextBox 18"/>
          <p:cNvSpPr txBox="1"/>
          <p:nvPr/>
        </p:nvSpPr>
        <p:spPr>
          <a:xfrm>
            <a:off x="6126480" y="2395728"/>
            <a:ext cx="2542032" cy="1097280"/>
          </a:xfrm>
          <a:prstGeom prst="rect">
            <a:avLst/>
          </a:prstGeom>
          <a:noFill/>
        </p:spPr>
        <p:txBody>
          <a:bodyPr wrap="square" lIns="18288" rIns="18288" tIns="0" bIns="0" anchor="t">
            <a:noAutofit/>
          </a:bodyPr>
          <a:lstStyle/>
          <a:p>
            <a:pPr algn="l">
              <a:lnSpc>
                <a:spcPct val="110000"/>
              </a:lnSpc>
              <a:spcBef>
                <a:spcPts val="0"/>
              </a:spcBef>
              <a:spcAft>
                <a:spcPts val="0"/>
              </a:spcAft>
            </a:pPr>
            <a:r>
              <a:rPr sz="1050" b="0" i="0" lang="id-ID">
                <a:solidFill>
                  <a:srgbClr val="6E7C83"/>
                </a:solidFill>
                <a:latin typeface="Calibri"/>
              </a:rPr>
              <a:t>seleksi independen, kesepakatan κ = 0,885</a:t>
            </a:r>
          </a:p>
        </p:txBody>
      </p:sp>
      <p:sp>
        <p:nvSpPr>
          <p:cNvPr id="20" name="Oval 19"/>
          <p:cNvSpPr/>
          <p:nvPr/>
        </p:nvSpPr>
        <p:spPr>
          <a:xfrm>
            <a:off x="8869680" y="2048256"/>
            <a:ext cx="201168" cy="201168"/>
          </a:xfrm>
          <a:prstGeom prst="ellipse">
            <a:avLst/>
          </a:prstGeom>
          <a:solidFill>
            <a:srgbClr val="155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869680" y="1572768"/>
            <a:ext cx="2542032" cy="402336"/>
          </a:xfrm>
          <a:prstGeom prst="rect">
            <a:avLst/>
          </a:prstGeom>
          <a:noFill/>
        </p:spPr>
        <p:txBody>
          <a:bodyPr wrap="square" lIns="18288" rIns="18288" tIns="0" bIns="0" anchor="t">
            <a:noAutofit/>
          </a:bodyPr>
          <a:lstStyle/>
          <a:p>
            <a:pPr algn="l">
              <a:lnSpc>
                <a:spcPct val="102000"/>
              </a:lnSpc>
              <a:spcBef>
                <a:spcPts val="0"/>
              </a:spcBef>
              <a:spcAft>
                <a:spcPts val="0"/>
              </a:spcAft>
            </a:pPr>
            <a:r>
              <a:rPr sz="1250" b="1" i="0" lang="id-ID">
                <a:solidFill>
                  <a:srgbClr val="141E24"/>
                </a:solidFill>
                <a:latin typeface="Calibri"/>
              </a:rPr>
              <a:t>Analisis random-effects</a:t>
            </a:r>
          </a:p>
        </p:txBody>
      </p:sp>
      <p:sp>
        <p:nvSpPr>
          <p:cNvPr id="22" name="TextBox 21"/>
          <p:cNvSpPr txBox="1"/>
          <p:nvPr/>
        </p:nvSpPr>
        <p:spPr>
          <a:xfrm>
            <a:off x="8869680" y="2395728"/>
            <a:ext cx="2542032" cy="1097280"/>
          </a:xfrm>
          <a:prstGeom prst="rect">
            <a:avLst/>
          </a:prstGeom>
          <a:noFill/>
        </p:spPr>
        <p:txBody>
          <a:bodyPr wrap="square" lIns="18288" rIns="18288" tIns="0" bIns="0" anchor="t">
            <a:noAutofit/>
          </a:bodyPr>
          <a:lstStyle/>
          <a:p>
            <a:pPr algn="l">
              <a:lnSpc>
                <a:spcPct val="110000"/>
              </a:lnSpc>
              <a:spcBef>
                <a:spcPts val="0"/>
              </a:spcBef>
              <a:spcAft>
                <a:spcPts val="0"/>
              </a:spcAft>
            </a:pPr>
            <a:r>
              <a:rPr sz="1050" b="0" i="0" lang="id-ID">
                <a:solidFill>
                  <a:srgbClr val="6E7C83"/>
                </a:solidFill>
                <a:latin typeface="Calibri"/>
              </a:rPr>
              <a:t>heterogenitas I², bias publikasi uji Egger</a:t>
            </a:r>
          </a:p>
        </p:txBody>
      </p:sp>
      <p:sp>
        <p:nvSpPr>
          <p:cNvPr id="23" name="Rectangle 22"/>
          <p:cNvSpPr/>
          <p:nvPr/>
        </p:nvSpPr>
        <p:spPr>
          <a:xfrm>
            <a:off x="640080" y="3840480"/>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968496"/>
            <a:ext cx="4572000" cy="237744"/>
          </a:xfrm>
          <a:prstGeom prst="rect">
            <a:avLst/>
          </a:prstGeom>
          <a:noFill/>
        </p:spPr>
        <p:txBody>
          <a:bodyPr wrap="square" lIns="18288" rIns="18288" tIns="0" bIns="0" anchor="t">
            <a:noAutofit/>
          </a:bodyPr>
          <a:lstStyle/>
          <a:p>
            <a:pPr algn="l">
              <a:spcBef>
                <a:spcPts val="0"/>
              </a:spcBef>
              <a:spcAft>
                <a:spcPts val="0"/>
              </a:spcAft>
            </a:pPr>
            <a:r>
              <a:rPr sz="950" b="1" i="0" spc="120" lang="id-ID">
                <a:solidFill>
                  <a:srgbClr val="6E7C83"/>
                </a:solidFill>
                <a:latin typeface="Calibri"/>
              </a:rPr>
              <a:t>ALGORITMA PENCARIAN</a:t>
            </a:r>
          </a:p>
        </p:txBody>
      </p:sp>
      <p:sp>
        <p:nvSpPr>
          <p:cNvPr id="25" name="TextBox 24"/>
          <p:cNvSpPr txBox="1"/>
          <p:nvPr/>
        </p:nvSpPr>
        <p:spPr>
          <a:xfrm>
            <a:off x="640080" y="4242816"/>
            <a:ext cx="10908792" cy="713232"/>
          </a:xfrm>
          <a:prstGeom prst="rect">
            <a:avLst/>
          </a:prstGeom>
          <a:noFill/>
        </p:spPr>
        <p:txBody>
          <a:bodyPr wrap="square" lIns="18288" rIns="18288" tIns="0" bIns="0" anchor="t">
            <a:noAutofit/>
          </a:bodyPr>
          <a:lstStyle/>
          <a:p>
            <a:pPr algn="l">
              <a:lnSpc>
                <a:spcPct val="110000"/>
              </a:lnSpc>
              <a:spcBef>
                <a:spcPts val="0"/>
              </a:spcBef>
              <a:spcAft>
                <a:spcPts val="0"/>
              </a:spcAft>
            </a:pPr>
            <a:r>
              <a:rPr sz="900" b="0" i="0" lang="id-ID">
                <a:solidFill>
                  <a:srgbClr val="3E4C54"/>
                </a:solidFill>
                <a:latin typeface="Consolas"/>
              </a:rPr>
              <a:t>(hypomineralization OR hypomineralisation OR hypomineralized OR hypoplasia OR demarcated OR opacities OR MIH OR cheese molars) AND (survey OR cross-sectional OR prevalence) AND (molar OR molars OR incisors)</a:t>
            </a:r>
          </a:p>
        </p:txBody>
      </p:sp>
      <p:sp>
        <p:nvSpPr>
          <p:cNvPr id="26" name="TextBox 25"/>
          <p:cNvSpPr txBox="1"/>
          <p:nvPr/>
        </p:nvSpPr>
        <p:spPr>
          <a:xfrm>
            <a:off x="640080" y="5138928"/>
            <a:ext cx="10908792" cy="603504"/>
          </a:xfrm>
          <a:prstGeom prst="rect">
            <a:avLst/>
          </a:prstGeom>
          <a:noFill/>
        </p:spPr>
        <p:txBody>
          <a:bodyPr wrap="square" lIns="18288" rIns="18288" tIns="0" bIns="0" anchor="t">
            <a:noAutofit/>
          </a:bodyPr>
          <a:lstStyle/>
          <a:p>
            <a:pPr algn="l">
              <a:lnSpc>
                <a:spcPct val="112000"/>
              </a:lnSpc>
              <a:spcBef>
                <a:spcPts val="0"/>
              </a:spcBef>
              <a:spcAft>
                <a:spcPts val="0"/>
              </a:spcAft>
            </a:pPr>
            <a:r>
              <a:rPr sz="1050" b="0" i="1" lang="id-ID">
                <a:solidFill>
                  <a:srgbClr val="6E7C83"/>
                </a:solidFill>
                <a:latin typeface="Calibri"/>
              </a:rPr>
              <a:t>Pencarian berhenti pada Juli 2021. PubMed dan MEDLINE disebut sebagai dua entri terpisah, sedangkan EMBASE hanya muncul di bagian strategi; bila hendak direplikasi, angka tujuh basis data sebaiknya dicek ke lampiran artikel.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METODE · PENYARINGAN</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Aturan masuk dan keluar</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07</a:t>
            </a:r>
          </a:p>
        </p:txBody>
      </p:sp>
      <p:sp>
        <p:nvSpPr>
          <p:cNvPr id="10" name="TextBox 9"/>
          <p:cNvSpPr txBox="1"/>
          <p:nvPr/>
        </p:nvSpPr>
        <p:spPr>
          <a:xfrm>
            <a:off x="640080" y="1755648"/>
            <a:ext cx="5120640" cy="292608"/>
          </a:xfrm>
          <a:prstGeom prst="rect">
            <a:avLst/>
          </a:prstGeom>
          <a:noFill/>
        </p:spPr>
        <p:txBody>
          <a:bodyPr wrap="square" lIns="18288" rIns="18288" tIns="0" bIns="0" anchor="t">
            <a:noAutofit/>
          </a:bodyPr>
          <a:lstStyle/>
          <a:p>
            <a:pPr algn="l">
              <a:spcBef>
                <a:spcPts val="0"/>
              </a:spcBef>
              <a:spcAft>
                <a:spcPts val="0"/>
              </a:spcAft>
            </a:pPr>
            <a:r>
              <a:rPr sz="1700" b="0" i="0" lang="id-ID">
                <a:solidFill>
                  <a:srgbClr val="155E75"/>
                </a:solidFill>
                <a:latin typeface="Cambria"/>
              </a:rPr>
              <a:t>Masuk</a:t>
            </a:r>
          </a:p>
        </p:txBody>
      </p:sp>
      <p:sp>
        <p:nvSpPr>
          <p:cNvPr id="11" name="TextBox 10"/>
          <p:cNvSpPr txBox="1"/>
          <p:nvPr/>
        </p:nvSpPr>
        <p:spPr>
          <a:xfrm>
            <a:off x="640080" y="2139696"/>
            <a:ext cx="5120640" cy="2377440"/>
          </a:xfrm>
          <a:prstGeom prst="rect">
            <a:avLst/>
          </a:prstGeom>
          <a:noFill/>
        </p:spPr>
        <p:txBody>
          <a:bodyPr wrap="square" lIns="18288" rIns="18288" tIns="0" bIns="0" anchor="t">
            <a:noAutofit/>
          </a:bodyPr>
          <a:lstStyle/>
          <a:p>
            <a:pPr algn="l">
              <a:lnSpc>
                <a:spcPct val="105000"/>
              </a:lnSpc>
              <a:spcBef>
                <a:spcPts val="0"/>
              </a:spcBef>
              <a:spcAft>
                <a:spcPts val="500"/>
              </a:spcAft>
            </a:pPr>
            <a:r>
              <a:rPr sz="1150" b="0" i="0" lang="id-ID">
                <a:solidFill>
                  <a:srgbClr val="3E4C54"/>
                </a:solidFill>
                <a:latin typeface="Calibri"/>
              </a:rPr>
              <a:t>•  Studi observasional yang melaporkan prevalensi MIH</a:t>
            </a:r>
          </a:p>
          <a:p>
            <a:pPr algn="l">
              <a:lnSpc>
                <a:spcPct val="105000"/>
              </a:lnSpc>
              <a:spcBef>
                <a:spcPts val="0"/>
              </a:spcBef>
              <a:spcAft>
                <a:spcPts val="500"/>
              </a:spcAft>
            </a:pPr>
            <a:r>
              <a:rPr sz="1150" b="0" i="0" lang="id-ID">
                <a:solidFill>
                  <a:srgbClr val="3E4C54"/>
                </a:solidFill>
                <a:latin typeface="Calibri"/>
              </a:rPr>
              <a:t>•  Definisi MIH jelas dan dapat ditelusuri</a:t>
            </a:r>
          </a:p>
          <a:p>
            <a:pPr algn="l">
              <a:lnSpc>
                <a:spcPct val="105000"/>
              </a:lnSpc>
              <a:spcBef>
                <a:spcPts val="0"/>
              </a:spcBef>
              <a:spcAft>
                <a:spcPts val="500"/>
              </a:spcAft>
            </a:pPr>
            <a:r>
              <a:rPr sz="1150" b="0" i="0" lang="id-ID">
                <a:solidFill>
                  <a:srgbClr val="3E4C54"/>
                </a:solidFill>
                <a:latin typeface="Calibri"/>
              </a:rPr>
              <a:t>•  Subjek tanpa kelainan sistemik</a:t>
            </a:r>
          </a:p>
          <a:p>
            <a:pPr algn="l">
              <a:lnSpc>
                <a:spcPct val="105000"/>
              </a:lnSpc>
              <a:spcBef>
                <a:spcPts val="0"/>
              </a:spcBef>
              <a:spcAft>
                <a:spcPts val="500"/>
              </a:spcAft>
            </a:pPr>
            <a:r>
              <a:rPr sz="1150" b="0" i="0" lang="id-ID">
                <a:solidFill>
                  <a:srgbClr val="3E4C54"/>
                </a:solidFill>
                <a:latin typeface="Calibri"/>
              </a:rPr>
              <a:t>•  Kedua jenis kelamin diikutsertakan</a:t>
            </a:r>
          </a:p>
        </p:txBody>
      </p:sp>
      <p:sp>
        <p:nvSpPr>
          <p:cNvPr id="12" name="Rectangle 11"/>
          <p:cNvSpPr/>
          <p:nvPr/>
        </p:nvSpPr>
        <p:spPr>
          <a:xfrm>
            <a:off x="5870448" y="1755648"/>
            <a:ext cx="10972" cy="3840480"/>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45352" y="1755648"/>
            <a:ext cx="5120640" cy="292608"/>
          </a:xfrm>
          <a:prstGeom prst="rect">
            <a:avLst/>
          </a:prstGeom>
          <a:noFill/>
        </p:spPr>
        <p:txBody>
          <a:bodyPr wrap="square" lIns="18288" rIns="18288" tIns="0" bIns="0" anchor="t">
            <a:noAutofit/>
          </a:bodyPr>
          <a:lstStyle/>
          <a:p>
            <a:pPr algn="l">
              <a:spcBef>
                <a:spcPts val="0"/>
              </a:spcBef>
              <a:spcAft>
                <a:spcPts val="0"/>
              </a:spcAft>
            </a:pPr>
            <a:r>
              <a:rPr sz="1700" b="0" i="0" lang="id-ID">
                <a:solidFill>
                  <a:srgbClr val="A16207"/>
                </a:solidFill>
                <a:latin typeface="Cambria"/>
              </a:rPr>
              <a:t>Keluar</a:t>
            </a:r>
          </a:p>
        </p:txBody>
      </p:sp>
      <p:sp>
        <p:nvSpPr>
          <p:cNvPr id="14" name="TextBox 13"/>
          <p:cNvSpPr txBox="1"/>
          <p:nvPr/>
        </p:nvSpPr>
        <p:spPr>
          <a:xfrm>
            <a:off x="6245352" y="2139696"/>
            <a:ext cx="5303520" cy="2377440"/>
          </a:xfrm>
          <a:prstGeom prst="rect">
            <a:avLst/>
          </a:prstGeom>
          <a:noFill/>
        </p:spPr>
        <p:txBody>
          <a:bodyPr wrap="square" lIns="18288" rIns="18288" tIns="0" bIns="0" anchor="t">
            <a:noAutofit/>
          </a:bodyPr>
          <a:lstStyle/>
          <a:p>
            <a:pPr algn="l">
              <a:lnSpc>
                <a:spcPct val="105000"/>
              </a:lnSpc>
              <a:spcBef>
                <a:spcPts val="0"/>
              </a:spcBef>
              <a:spcAft>
                <a:spcPts val="500"/>
              </a:spcAft>
            </a:pPr>
            <a:r>
              <a:rPr sz="1150" b="0" i="0" lang="id-ID">
                <a:solidFill>
                  <a:srgbClr val="3E4C54"/>
                </a:solidFill>
                <a:latin typeface="Calibri"/>
              </a:rPr>
              <a:t>•  Populasi khusus, misalnya anak yang lahir prematur</a:t>
            </a:r>
          </a:p>
          <a:p>
            <a:pPr algn="l">
              <a:lnSpc>
                <a:spcPct val="105000"/>
              </a:lnSpc>
              <a:spcBef>
                <a:spcPts val="0"/>
              </a:spcBef>
              <a:spcAft>
                <a:spcPts val="500"/>
              </a:spcAft>
            </a:pPr>
            <a:r>
              <a:rPr sz="1150" b="0" i="0" lang="id-ID">
                <a:solidFill>
                  <a:srgbClr val="3E4C54"/>
                </a:solidFill>
                <a:latin typeface="Calibri"/>
              </a:rPr>
              <a:t>•  Studi yang hanya melaporkan molar sulung</a:t>
            </a:r>
          </a:p>
          <a:p>
            <a:pPr algn="l">
              <a:lnSpc>
                <a:spcPct val="105000"/>
              </a:lnSpc>
              <a:spcBef>
                <a:spcPts val="0"/>
              </a:spcBef>
              <a:spcAft>
                <a:spcPts val="500"/>
              </a:spcAft>
            </a:pPr>
            <a:r>
              <a:rPr sz="1150" b="0" i="0" lang="id-ID">
                <a:solidFill>
                  <a:srgbClr val="3E4C54"/>
                </a:solidFill>
                <a:latin typeface="Calibri"/>
              </a:rPr>
              <a:t>•  Sampel non-representatif: pasien satu institusi, kelompok profesi tertentu, atau kelompok dengan karies tinggi</a:t>
            </a:r>
          </a:p>
        </p:txBody>
      </p:sp>
      <p:sp>
        <p:nvSpPr>
          <p:cNvPr id="15" name="Rectangle 14"/>
          <p:cNvSpPr/>
          <p:nvPr/>
        </p:nvSpPr>
        <p:spPr>
          <a:xfrm>
            <a:off x="640080" y="4791456"/>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4937760"/>
            <a:ext cx="10908792" cy="822960"/>
          </a:xfrm>
          <a:prstGeom prst="rect">
            <a:avLst/>
          </a:prstGeom>
          <a:noFill/>
        </p:spPr>
        <p:txBody>
          <a:bodyPr wrap="square" lIns="18288" rIns="18288" tIns="0" bIns="0" anchor="t">
            <a:noAutofit/>
          </a:bodyPr>
          <a:lstStyle/>
          <a:p>
            <a:pPr algn="l">
              <a:lnSpc>
                <a:spcPct val="114000"/>
              </a:lnSpc>
              <a:spcBef>
                <a:spcPts val="0"/>
              </a:spcBef>
              <a:spcAft>
                <a:spcPts val="0"/>
              </a:spcAft>
            </a:pPr>
            <a:r>
              <a:rPr sz="1150" b="0" i="0" lang="id-ID">
                <a:solidFill>
                  <a:srgbClr val="3E4C54"/>
                </a:solidFill>
                <a:latin typeface="Calibri"/>
              </a:rPr>
              <a:t>Mutu tiap studi dinilai dengan Newcastle–Ottawa Scale, kepastian bukti dengan SORT, dan hasilnya digabung memakai model random-effects karena populasi antar studi beragam.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HASIL · 1</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116 studi lolos, dan mutunya tinggi</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08</a:t>
            </a:r>
          </a:p>
        </p:txBody>
      </p:sp>
      <p:graphicFrame>
        <p:nvGraphicFramePr>
          <p:cNvPr id="10" name="Chart 9"/>
          <p:cNvGraphicFramePr>
            <a:graphicFrameLocks noGrp="1"/>
          </p:cNvGraphicFramePr>
          <p:nvPr/>
        </p:nvGraphicFramePr>
        <p:xfrm>
          <a:off x="640080" y="1755648"/>
          <a:ext cx="6903720" cy="3017520"/>
        </p:xfrm>
        <a:graphic>
          <a:graphicData uri="http://schemas.openxmlformats.org/drawingml/2006/chart">
            <c:chart xmlns:c="http://schemas.openxmlformats.org/drawingml/2006/chart" r:id="rId2"/>
          </a:graphicData>
        </a:graphic>
      </p:graphicFrame>
      <p:sp>
        <p:nvSpPr>
          <p:cNvPr id="11" name="TextBox 10"/>
          <p:cNvSpPr txBox="1"/>
          <p:nvPr/>
        </p:nvSpPr>
        <p:spPr>
          <a:xfrm>
            <a:off x="640080" y="4828032"/>
            <a:ext cx="6903720" cy="274320"/>
          </a:xfrm>
          <a:prstGeom prst="rect">
            <a:avLst/>
          </a:prstGeom>
          <a:noFill/>
        </p:spPr>
        <p:txBody>
          <a:bodyPr wrap="square" lIns="18288" rIns="18288" tIns="0" bIns="0" anchor="t">
            <a:noAutofit/>
          </a:bodyPr>
          <a:lstStyle/>
          <a:p>
            <a:pPr algn="l">
              <a:spcBef>
                <a:spcPts val="0"/>
              </a:spcBef>
              <a:spcAft>
                <a:spcPts val="0"/>
              </a:spcAft>
            </a:pPr>
            <a:r>
              <a:rPr sz="1000" b="0" i="1" lang="id-ID">
                <a:solidFill>
                  <a:srgbClr val="6E7C83"/>
                </a:solidFill>
                <a:latin typeface="Calibri"/>
              </a:rPr>
              <a:t>Jumlah studi per skor Newcastle–Ottawa</a:t>
            </a:r>
          </a:p>
        </p:txBody>
      </p:sp>
      <p:sp>
        <p:nvSpPr>
          <p:cNvPr id="12" name="TextBox 11"/>
          <p:cNvSpPr txBox="1"/>
          <p:nvPr/>
        </p:nvSpPr>
        <p:spPr>
          <a:xfrm>
            <a:off x="8028431" y="1792224"/>
            <a:ext cx="3520440" cy="457200"/>
          </a:xfrm>
          <a:prstGeom prst="rect">
            <a:avLst/>
          </a:prstGeom>
          <a:noFill/>
        </p:spPr>
        <p:txBody>
          <a:bodyPr wrap="square" lIns="18288" rIns="18288" tIns="0" bIns="0" anchor="t">
            <a:noAutofit/>
          </a:bodyPr>
          <a:lstStyle/>
          <a:p>
            <a:pPr algn="l">
              <a:spcBef>
                <a:spcPts val="0"/>
              </a:spcBef>
              <a:spcAft>
                <a:spcPts val="0"/>
              </a:spcAft>
            </a:pPr>
            <a:r>
              <a:rPr sz="2600" b="0" i="0" lang="id-ID">
                <a:solidFill>
                  <a:srgbClr val="155E75"/>
                </a:solidFill>
                <a:latin typeface="Cambria"/>
              </a:rPr>
              <a:t>116</a:t>
            </a:r>
          </a:p>
        </p:txBody>
      </p:sp>
      <p:sp>
        <p:nvSpPr>
          <p:cNvPr id="13" name="TextBox 12"/>
          <p:cNvSpPr txBox="1"/>
          <p:nvPr/>
        </p:nvSpPr>
        <p:spPr>
          <a:xfrm>
            <a:off x="8028431" y="2267712"/>
            <a:ext cx="3520440"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studi dimasukkan</a:t>
            </a:r>
          </a:p>
        </p:txBody>
      </p:sp>
      <p:sp>
        <p:nvSpPr>
          <p:cNvPr id="14" name="Rectangle 13"/>
          <p:cNvSpPr/>
          <p:nvPr/>
        </p:nvSpPr>
        <p:spPr>
          <a:xfrm>
            <a:off x="8028431" y="2615184"/>
            <a:ext cx="352044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28431" y="2852928"/>
            <a:ext cx="3520440" cy="457200"/>
          </a:xfrm>
          <a:prstGeom prst="rect">
            <a:avLst/>
          </a:prstGeom>
          <a:noFill/>
        </p:spPr>
        <p:txBody>
          <a:bodyPr wrap="square" lIns="18288" rIns="18288" tIns="0" bIns="0" anchor="t">
            <a:noAutofit/>
          </a:bodyPr>
          <a:lstStyle/>
          <a:p>
            <a:pPr algn="l">
              <a:spcBef>
                <a:spcPts val="0"/>
              </a:spcBef>
              <a:spcAft>
                <a:spcPts val="0"/>
              </a:spcAft>
            </a:pPr>
            <a:r>
              <a:rPr sz="2600" b="0" i="0" lang="id-ID">
                <a:solidFill>
                  <a:srgbClr val="155E75"/>
                </a:solidFill>
                <a:latin typeface="Cambria"/>
              </a:rPr>
              <a:t>133.734</a:t>
            </a:r>
          </a:p>
        </p:txBody>
      </p:sp>
      <p:sp>
        <p:nvSpPr>
          <p:cNvPr id="16" name="TextBox 15"/>
          <p:cNvSpPr txBox="1"/>
          <p:nvPr/>
        </p:nvSpPr>
        <p:spPr>
          <a:xfrm>
            <a:off x="8028431" y="3328416"/>
            <a:ext cx="3520440"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peserta pada analisis awal</a:t>
            </a:r>
          </a:p>
        </p:txBody>
      </p:sp>
      <p:sp>
        <p:nvSpPr>
          <p:cNvPr id="17" name="Rectangle 16"/>
          <p:cNvSpPr/>
          <p:nvPr/>
        </p:nvSpPr>
        <p:spPr>
          <a:xfrm>
            <a:off x="8028431" y="3675887"/>
            <a:ext cx="352044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28431" y="3913632"/>
            <a:ext cx="3520440" cy="457200"/>
          </a:xfrm>
          <a:prstGeom prst="rect">
            <a:avLst/>
          </a:prstGeom>
          <a:noFill/>
        </p:spPr>
        <p:txBody>
          <a:bodyPr wrap="square" lIns="18288" rIns="18288" tIns="0" bIns="0" anchor="t">
            <a:noAutofit/>
          </a:bodyPr>
          <a:lstStyle/>
          <a:p>
            <a:pPr algn="l">
              <a:spcBef>
                <a:spcPts val="0"/>
              </a:spcBef>
              <a:spcAft>
                <a:spcPts val="0"/>
              </a:spcAft>
            </a:pPr>
            <a:r>
              <a:rPr sz="2600" b="0" i="0" lang="id-ID">
                <a:solidFill>
                  <a:srgbClr val="155E75"/>
                </a:solidFill>
                <a:latin typeface="Cambria"/>
              </a:rPr>
              <a:t>113.089</a:t>
            </a:r>
          </a:p>
        </p:txBody>
      </p:sp>
      <p:sp>
        <p:nvSpPr>
          <p:cNvPr id="19" name="TextBox 18"/>
          <p:cNvSpPr txBox="1"/>
          <p:nvPr/>
        </p:nvSpPr>
        <p:spPr>
          <a:xfrm>
            <a:off x="8028431" y="4389120"/>
            <a:ext cx="3520440"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peserta pada analisis utama, 98 studi</a:t>
            </a:r>
          </a:p>
        </p:txBody>
      </p:sp>
      <p:sp>
        <p:nvSpPr>
          <p:cNvPr id="20" name="Rectangle 19"/>
          <p:cNvSpPr/>
          <p:nvPr/>
        </p:nvSpPr>
        <p:spPr>
          <a:xfrm>
            <a:off x="8028431" y="4736592"/>
            <a:ext cx="352044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28431" y="4974336"/>
            <a:ext cx="3520440" cy="457200"/>
          </a:xfrm>
          <a:prstGeom prst="rect">
            <a:avLst/>
          </a:prstGeom>
          <a:noFill/>
        </p:spPr>
        <p:txBody>
          <a:bodyPr wrap="square" lIns="18288" rIns="18288" tIns="0" bIns="0" anchor="t">
            <a:noAutofit/>
          </a:bodyPr>
          <a:lstStyle/>
          <a:p>
            <a:pPr algn="l">
              <a:spcBef>
                <a:spcPts val="0"/>
              </a:spcBef>
              <a:spcAft>
                <a:spcPts val="0"/>
              </a:spcAft>
            </a:pPr>
            <a:r>
              <a:rPr sz="2600" b="0" i="0" lang="id-ID">
                <a:solidFill>
                  <a:srgbClr val="155E75"/>
                </a:solidFill>
                <a:latin typeface="Cambria"/>
              </a:rPr>
              <a:t>48,7%</a:t>
            </a:r>
          </a:p>
        </p:txBody>
      </p:sp>
      <p:sp>
        <p:nvSpPr>
          <p:cNvPr id="22" name="TextBox 21"/>
          <p:cNvSpPr txBox="1"/>
          <p:nvPr/>
        </p:nvSpPr>
        <p:spPr>
          <a:xfrm>
            <a:off x="8028431" y="5449824"/>
            <a:ext cx="3520440"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studi gagal pada representativitas sampel</a:t>
            </a:r>
          </a:p>
        </p:txBody>
      </p:sp>
      <p:sp>
        <p:nvSpPr>
          <p:cNvPr id="23" name="Rectangle 22"/>
          <p:cNvSpPr/>
          <p:nvPr/>
        </p:nvSpPr>
        <p:spPr>
          <a:xfrm>
            <a:off x="8028431" y="5797296"/>
            <a:ext cx="352044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HASIL · 2</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Prevalensi global 13,5%</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09</a:t>
            </a:r>
          </a:p>
        </p:txBody>
      </p:sp>
      <p:sp>
        <p:nvSpPr>
          <p:cNvPr id="10" name="TextBox 9"/>
          <p:cNvSpPr txBox="1"/>
          <p:nvPr/>
        </p:nvSpPr>
        <p:spPr>
          <a:xfrm>
            <a:off x="640080" y="1700784"/>
            <a:ext cx="5577840" cy="2103120"/>
          </a:xfrm>
          <a:prstGeom prst="rect">
            <a:avLst/>
          </a:prstGeom>
          <a:noFill/>
        </p:spPr>
        <p:txBody>
          <a:bodyPr wrap="square" lIns="18288" rIns="18288" tIns="0" bIns="0" anchor="t">
            <a:noAutofit/>
          </a:bodyPr>
          <a:lstStyle/>
          <a:p>
            <a:pPr algn="l">
              <a:lnSpc>
                <a:spcPct val="100000"/>
              </a:lnSpc>
              <a:spcBef>
                <a:spcPts val="0"/>
              </a:spcBef>
              <a:spcAft>
                <a:spcPts val="0"/>
              </a:spcAft>
            </a:pPr>
            <a:r>
              <a:rPr sz="11200" b="0" i="0" lang="id-ID">
                <a:solidFill>
                  <a:srgbClr val="141E24"/>
                </a:solidFill>
                <a:latin typeface="Cambria"/>
              </a:rPr>
              <a:t>13,5%</a:t>
            </a:r>
          </a:p>
        </p:txBody>
      </p:sp>
      <p:sp>
        <p:nvSpPr>
          <p:cNvPr id="11" name="TextBox 10"/>
          <p:cNvSpPr txBox="1"/>
          <p:nvPr/>
        </p:nvSpPr>
        <p:spPr>
          <a:xfrm>
            <a:off x="640080" y="3803904"/>
            <a:ext cx="5577840" cy="310896"/>
          </a:xfrm>
          <a:prstGeom prst="rect">
            <a:avLst/>
          </a:prstGeom>
          <a:noFill/>
        </p:spPr>
        <p:txBody>
          <a:bodyPr wrap="square" lIns="18288" rIns="18288" tIns="0" bIns="0" anchor="t">
            <a:noAutofit/>
          </a:bodyPr>
          <a:lstStyle/>
          <a:p>
            <a:pPr algn="l">
              <a:spcBef>
                <a:spcPts val="0"/>
              </a:spcBef>
              <a:spcAft>
                <a:spcPts val="0"/>
              </a:spcAft>
            </a:pPr>
            <a:r>
              <a:rPr sz="1300" b="0" i="0" lang="id-ID">
                <a:solidFill>
                  <a:srgbClr val="3E4C54"/>
                </a:solidFill>
                <a:latin typeface="Cambria"/>
              </a:rPr>
              <a:t>95% CI 12,0–15,1 · p &lt; 0,001 · n = 113.089</a:t>
            </a:r>
          </a:p>
        </p:txBody>
      </p:sp>
      <p:sp>
        <p:nvSpPr>
          <p:cNvPr id="12" name="Rectangle 11"/>
          <p:cNvSpPr/>
          <p:nvPr/>
        </p:nvSpPr>
        <p:spPr>
          <a:xfrm>
            <a:off x="640080" y="4261104"/>
            <a:ext cx="557784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 y="4389120"/>
            <a:ext cx="5577840" cy="749808"/>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Rata-rata tertimbang dari 98 studi berkriteria EAPD 2003. Angka ini menggambarkan beban populasi, bukan presisi satu negara.</a:t>
            </a:r>
          </a:p>
        </p:txBody>
      </p:sp>
      <p:graphicFrame>
        <p:nvGraphicFramePr>
          <p:cNvPr id="14" name="Chart 13"/>
          <p:cNvGraphicFramePr>
            <a:graphicFrameLocks noGrp="1"/>
          </p:cNvGraphicFramePr>
          <p:nvPr/>
        </p:nvGraphicFramePr>
        <p:xfrm>
          <a:off x="6675120" y="1810512"/>
          <a:ext cx="3054096" cy="2395728"/>
        </p:xfrm>
        <a:graphic>
          <a:graphicData uri="http://schemas.openxmlformats.org/drawingml/2006/chart">
            <c:chart xmlns:c="http://schemas.openxmlformats.org/drawingml/2006/chart" r:id="rId2"/>
          </a:graphicData>
        </a:graphic>
      </p:graphicFrame>
      <p:sp>
        <p:nvSpPr>
          <p:cNvPr id="15" name="TextBox 14"/>
          <p:cNvSpPr txBox="1"/>
          <p:nvPr/>
        </p:nvSpPr>
        <p:spPr>
          <a:xfrm>
            <a:off x="7699248" y="2670048"/>
            <a:ext cx="1005840" cy="475488"/>
          </a:xfrm>
          <a:prstGeom prst="rect">
            <a:avLst/>
          </a:prstGeom>
          <a:noFill/>
        </p:spPr>
        <p:txBody>
          <a:bodyPr wrap="square" lIns="18288" rIns="18288" tIns="0" bIns="0" anchor="ctr">
            <a:noAutofit/>
          </a:bodyPr>
          <a:lstStyle/>
          <a:p>
            <a:pPr algn="ctr">
              <a:spcBef>
                <a:spcPts val="0"/>
              </a:spcBef>
              <a:spcAft>
                <a:spcPts val="0"/>
              </a:spcAft>
            </a:pPr>
            <a:r>
              <a:rPr sz="1800" b="1" i="0" lang="id-ID">
                <a:solidFill>
                  <a:srgbClr val="155E75"/>
                </a:solidFill>
                <a:latin typeface="Calibri"/>
              </a:rPr>
              <a:t>13,5%</a:t>
            </a:r>
          </a:p>
        </p:txBody>
      </p:sp>
      <p:sp>
        <p:nvSpPr>
          <p:cNvPr id="16" name="TextBox 15"/>
          <p:cNvSpPr txBox="1"/>
          <p:nvPr/>
        </p:nvSpPr>
        <p:spPr>
          <a:xfrm>
            <a:off x="6675120" y="4315968"/>
            <a:ext cx="3154680" cy="274320"/>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MIH pada 13,5% · tanpa MIH pada 86,5%</a:t>
            </a:r>
          </a:p>
        </p:txBody>
      </p:sp>
      <p:sp>
        <p:nvSpPr>
          <p:cNvPr id="17" name="TextBox 16"/>
          <p:cNvSpPr txBox="1"/>
          <p:nvPr/>
        </p:nvSpPr>
        <p:spPr>
          <a:xfrm>
            <a:off x="640080" y="5230368"/>
            <a:ext cx="3401568" cy="310896"/>
          </a:xfrm>
          <a:prstGeom prst="rect">
            <a:avLst/>
          </a:prstGeom>
          <a:noFill/>
        </p:spPr>
        <p:txBody>
          <a:bodyPr wrap="square" lIns="18288" rIns="18288" tIns="0" bIns="0" anchor="t">
            <a:noAutofit/>
          </a:bodyPr>
          <a:lstStyle/>
          <a:p>
            <a:pPr algn="l">
              <a:spcBef>
                <a:spcPts val="0"/>
              </a:spcBef>
              <a:spcAft>
                <a:spcPts val="0"/>
              </a:spcAft>
            </a:pPr>
            <a:r>
              <a:rPr sz="1500" b="1" i="0" lang="id-ID">
                <a:solidFill>
                  <a:srgbClr val="155E75"/>
                </a:solidFill>
                <a:latin typeface="Cambria"/>
              </a:rPr>
              <a:t>98 studi</a:t>
            </a:r>
          </a:p>
        </p:txBody>
      </p:sp>
      <p:sp>
        <p:nvSpPr>
          <p:cNvPr id="18" name="TextBox 17"/>
          <p:cNvSpPr txBox="1"/>
          <p:nvPr/>
        </p:nvSpPr>
        <p:spPr>
          <a:xfrm>
            <a:off x="640080" y="5559552"/>
            <a:ext cx="3401568" cy="237744"/>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yang memakai kriteria EAPD 2003</a:t>
            </a:r>
          </a:p>
        </p:txBody>
      </p:sp>
      <p:sp>
        <p:nvSpPr>
          <p:cNvPr id="19" name="TextBox 18"/>
          <p:cNvSpPr txBox="1"/>
          <p:nvPr/>
        </p:nvSpPr>
        <p:spPr>
          <a:xfrm>
            <a:off x="4352544" y="5230368"/>
            <a:ext cx="3401568" cy="310896"/>
          </a:xfrm>
          <a:prstGeom prst="rect">
            <a:avLst/>
          </a:prstGeom>
          <a:noFill/>
        </p:spPr>
        <p:txBody>
          <a:bodyPr wrap="square" lIns="18288" rIns="18288" tIns="0" bIns="0" anchor="t">
            <a:noAutofit/>
          </a:bodyPr>
          <a:lstStyle/>
          <a:p>
            <a:pPr algn="l">
              <a:spcBef>
                <a:spcPts val="0"/>
              </a:spcBef>
              <a:spcAft>
                <a:spcPts val="0"/>
              </a:spcAft>
            </a:pPr>
            <a:r>
              <a:rPr sz="1500" b="1" i="0" lang="id-ID">
                <a:solidFill>
                  <a:srgbClr val="155E75"/>
                </a:solidFill>
                <a:latin typeface="Cambria"/>
              </a:rPr>
              <a:t>133.734 peserta</a:t>
            </a:r>
          </a:p>
        </p:txBody>
      </p:sp>
      <p:sp>
        <p:nvSpPr>
          <p:cNvPr id="20" name="TextBox 19"/>
          <p:cNvSpPr txBox="1"/>
          <p:nvPr/>
        </p:nvSpPr>
        <p:spPr>
          <a:xfrm>
            <a:off x="4352544" y="5559552"/>
            <a:ext cx="3401568" cy="237744"/>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pada analisis awal</a:t>
            </a:r>
          </a:p>
        </p:txBody>
      </p:sp>
      <p:sp>
        <p:nvSpPr>
          <p:cNvPr id="21" name="Rectangle 20"/>
          <p:cNvSpPr/>
          <p:nvPr/>
        </p:nvSpPr>
        <p:spPr>
          <a:xfrm>
            <a:off x="4041648" y="5230368"/>
            <a:ext cx="10972" cy="53035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065008" y="5230368"/>
            <a:ext cx="3401568" cy="310896"/>
          </a:xfrm>
          <a:prstGeom prst="rect">
            <a:avLst/>
          </a:prstGeom>
          <a:noFill/>
        </p:spPr>
        <p:txBody>
          <a:bodyPr wrap="square" lIns="18288" rIns="18288" tIns="0" bIns="0" anchor="t">
            <a:noAutofit/>
          </a:bodyPr>
          <a:lstStyle/>
          <a:p>
            <a:pPr algn="l">
              <a:spcBef>
                <a:spcPts val="0"/>
              </a:spcBef>
              <a:spcAft>
                <a:spcPts val="0"/>
              </a:spcAft>
            </a:pPr>
            <a:r>
              <a:rPr sz="1500" b="1" i="0" lang="id-ID">
                <a:solidFill>
                  <a:srgbClr val="155E75"/>
                </a:solidFill>
                <a:latin typeface="Cambria"/>
              </a:rPr>
              <a:t>kepastian bukti SORT A</a:t>
            </a:r>
          </a:p>
        </p:txBody>
      </p:sp>
      <p:sp>
        <p:nvSpPr>
          <p:cNvPr id="23" name="TextBox 22"/>
          <p:cNvSpPr txBox="1"/>
          <p:nvPr/>
        </p:nvSpPr>
        <p:spPr>
          <a:xfrm>
            <a:off x="8065008" y="5559552"/>
            <a:ext cx="3401568" cy="237744"/>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dari penilaian penulis</a:t>
            </a:r>
          </a:p>
        </p:txBody>
      </p:sp>
      <p:sp>
        <p:nvSpPr>
          <p:cNvPr id="24" name="Rectangle 23"/>
          <p:cNvSpPr/>
          <p:nvPr/>
        </p:nvSpPr>
        <p:spPr>
          <a:xfrm>
            <a:off x="7754112" y="5230368"/>
            <a:ext cx="10972" cy="53035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930384" y="1810512"/>
            <a:ext cx="1618488" cy="274320"/>
          </a:xfrm>
          <a:prstGeom prst="rect">
            <a:avLst/>
          </a:prstGeom>
          <a:noFill/>
        </p:spPr>
        <p:txBody>
          <a:bodyPr wrap="square" lIns="18288" rIns="18288" tIns="0" bIns="0" anchor="t">
            <a:noAutofit/>
          </a:bodyPr>
          <a:lstStyle/>
          <a:p>
            <a:pPr algn="r">
              <a:spcBef>
                <a:spcPts val="0"/>
              </a:spcBef>
              <a:spcAft>
                <a:spcPts val="0"/>
              </a:spcAft>
            </a:pPr>
            <a:r>
              <a:rPr sz="1150" b="1" i="0" lang="id-ID">
                <a:solidFill>
                  <a:srgbClr val="141E24"/>
                </a:solidFill>
                <a:latin typeface="Calibri"/>
              </a:rPr>
              <a:t>I² = 98,0%</a:t>
            </a:r>
          </a:p>
        </p:txBody>
      </p:sp>
      <p:sp>
        <p:nvSpPr>
          <p:cNvPr id="26" name="TextBox 25"/>
          <p:cNvSpPr txBox="1"/>
          <p:nvPr/>
        </p:nvSpPr>
        <p:spPr>
          <a:xfrm>
            <a:off x="9930384" y="2084831"/>
            <a:ext cx="1618488" cy="457200"/>
          </a:xfrm>
          <a:prstGeom prst="rect">
            <a:avLst/>
          </a:prstGeom>
          <a:noFill/>
        </p:spPr>
        <p:txBody>
          <a:bodyPr wrap="square" lIns="18288" rIns="18288" tIns="0" bIns="0" anchor="t">
            <a:noAutofit/>
          </a:bodyPr>
          <a:lstStyle/>
          <a:p>
            <a:pPr algn="r">
              <a:lnSpc>
                <a:spcPct val="106000"/>
              </a:lnSpc>
              <a:spcBef>
                <a:spcPts val="0"/>
              </a:spcBef>
              <a:spcAft>
                <a:spcPts val="0"/>
              </a:spcAft>
            </a:pPr>
            <a:r>
              <a:rPr sz="950" b="0" i="0" lang="id-ID">
                <a:solidFill>
                  <a:srgbClr val="6E7C83"/>
                </a:solidFill>
                <a:latin typeface="Calibri"/>
              </a:rPr>
              <a:t>variasi antar studi tinggi dan nyata</a:t>
            </a:r>
          </a:p>
        </p:txBody>
      </p:sp>
      <p:sp>
        <p:nvSpPr>
          <p:cNvPr id="27" name="TextBox 26"/>
          <p:cNvSpPr txBox="1"/>
          <p:nvPr/>
        </p:nvSpPr>
        <p:spPr>
          <a:xfrm>
            <a:off x="9930384" y="2743200"/>
            <a:ext cx="1618488" cy="274320"/>
          </a:xfrm>
          <a:prstGeom prst="rect">
            <a:avLst/>
          </a:prstGeom>
          <a:noFill/>
        </p:spPr>
        <p:txBody>
          <a:bodyPr wrap="square" lIns="18288" rIns="18288" tIns="0" bIns="0" anchor="t">
            <a:noAutofit/>
          </a:bodyPr>
          <a:lstStyle/>
          <a:p>
            <a:pPr algn="r">
              <a:spcBef>
                <a:spcPts val="0"/>
              </a:spcBef>
              <a:spcAft>
                <a:spcPts val="0"/>
              </a:spcAft>
            </a:pPr>
            <a:r>
              <a:rPr sz="1150" b="1" i="0" lang="id-ID">
                <a:solidFill>
                  <a:srgbClr val="141E24"/>
                </a:solidFill>
                <a:latin typeface="Calibri"/>
              </a:rPr>
              <a:t>Uji Egger</a:t>
            </a:r>
          </a:p>
        </p:txBody>
      </p:sp>
      <p:sp>
        <p:nvSpPr>
          <p:cNvPr id="28" name="TextBox 27"/>
          <p:cNvSpPr txBox="1"/>
          <p:nvPr/>
        </p:nvSpPr>
        <p:spPr>
          <a:xfrm>
            <a:off x="9930384" y="3017520"/>
            <a:ext cx="1618488" cy="457200"/>
          </a:xfrm>
          <a:prstGeom prst="rect">
            <a:avLst/>
          </a:prstGeom>
          <a:noFill/>
        </p:spPr>
        <p:txBody>
          <a:bodyPr wrap="square" lIns="18288" rIns="18288" tIns="0" bIns="0" anchor="t">
            <a:noAutofit/>
          </a:bodyPr>
          <a:lstStyle/>
          <a:p>
            <a:pPr algn="r">
              <a:lnSpc>
                <a:spcPct val="106000"/>
              </a:lnSpc>
              <a:spcBef>
                <a:spcPts val="0"/>
              </a:spcBef>
              <a:spcAft>
                <a:spcPts val="0"/>
              </a:spcAft>
            </a:pPr>
            <a:r>
              <a:rPr sz="950" b="0" i="0" lang="id-ID">
                <a:solidFill>
                  <a:srgbClr val="6E7C83"/>
                </a:solidFill>
                <a:latin typeface="Calibri"/>
              </a:rPr>
              <a:t>p = 0,179, tanpa tanda bias publikasi</a:t>
            </a:r>
          </a:p>
        </p:txBody>
      </p:sp>
      <p:sp>
        <p:nvSpPr>
          <p:cNvPr id="29" name="TextBox 28"/>
          <p:cNvSpPr txBox="1"/>
          <p:nvPr/>
        </p:nvSpPr>
        <p:spPr>
          <a:xfrm>
            <a:off x="9930384" y="3675887"/>
            <a:ext cx="1618488" cy="274320"/>
          </a:xfrm>
          <a:prstGeom prst="rect">
            <a:avLst/>
          </a:prstGeom>
          <a:noFill/>
        </p:spPr>
        <p:txBody>
          <a:bodyPr wrap="square" lIns="18288" rIns="18288" tIns="0" bIns="0" anchor="t">
            <a:noAutofit/>
          </a:bodyPr>
          <a:lstStyle/>
          <a:p>
            <a:pPr algn="r">
              <a:spcBef>
                <a:spcPts val="0"/>
              </a:spcBef>
              <a:spcAft>
                <a:spcPts val="0"/>
              </a:spcAft>
            </a:pPr>
            <a:r>
              <a:rPr sz="1150" b="1" i="0" lang="id-ID">
                <a:solidFill>
                  <a:srgbClr val="141E24"/>
                </a:solidFill>
                <a:latin typeface="Calibri"/>
              </a:rPr>
              <a:t>Leave-one-out</a:t>
            </a:r>
          </a:p>
        </p:txBody>
      </p:sp>
      <p:sp>
        <p:nvSpPr>
          <p:cNvPr id="30" name="TextBox 29"/>
          <p:cNvSpPr txBox="1"/>
          <p:nvPr/>
        </p:nvSpPr>
        <p:spPr>
          <a:xfrm>
            <a:off x="9930384" y="3950208"/>
            <a:ext cx="1618488" cy="457200"/>
          </a:xfrm>
          <a:prstGeom prst="rect">
            <a:avLst/>
          </a:prstGeom>
          <a:noFill/>
        </p:spPr>
        <p:txBody>
          <a:bodyPr wrap="square" lIns="18288" rIns="18288" tIns="0" bIns="0" anchor="t">
            <a:noAutofit/>
          </a:bodyPr>
          <a:lstStyle/>
          <a:p>
            <a:pPr algn="r">
              <a:lnSpc>
                <a:spcPct val="106000"/>
              </a:lnSpc>
              <a:spcBef>
                <a:spcPts val="0"/>
              </a:spcBef>
              <a:spcAft>
                <a:spcPts val="0"/>
              </a:spcAft>
            </a:pPr>
            <a:r>
              <a:rPr sz="950" b="0" i="0" lang="id-ID">
                <a:solidFill>
                  <a:srgbClr val="6E7C83"/>
                </a:solidFill>
                <a:latin typeface="Calibri"/>
              </a:rPr>
              <a:t>estimasi tetap stabil</a:t>
            </a:r>
          </a:p>
        </p:txBody>
      </p:sp>
      <p:sp>
        <p:nvSpPr>
          <p:cNvPr id="31" name="TextBox 30"/>
          <p:cNvSpPr txBox="1"/>
          <p:nvPr/>
        </p:nvSpPr>
        <p:spPr>
          <a:xfrm>
            <a:off x="9930384" y="1554480"/>
            <a:ext cx="1618488" cy="237744"/>
          </a:xfrm>
          <a:prstGeom prst="rect">
            <a:avLst/>
          </a:prstGeom>
          <a:noFill/>
        </p:spPr>
        <p:txBody>
          <a:bodyPr wrap="square" lIns="18288" rIns="18288" tIns="0" bIns="0" anchor="t">
            <a:noAutofit/>
          </a:bodyPr>
          <a:lstStyle/>
          <a:p>
            <a:pPr algn="r">
              <a:spcBef>
                <a:spcPts val="0"/>
              </a:spcBef>
              <a:spcAft>
                <a:spcPts val="0"/>
              </a:spcAft>
            </a:pPr>
            <a:r>
              <a:rPr sz="900" b="1" i="0" spc="90" lang="id-ID">
                <a:solidFill>
                  <a:srgbClr val="6E7C83"/>
                </a:solidFill>
                <a:latin typeface="Calibri"/>
              </a:rPr>
              <a:t>CARA MEMBACANYA</a:t>
            </a:r>
          </a:p>
        </p:txBody>
      </p:sp>
      <p:sp>
        <p:nvSpPr>
          <p:cNvPr id="32" name="Rectangle 31"/>
          <p:cNvSpPr/>
          <p:nvPr/>
        </p:nvSpPr>
        <p:spPr>
          <a:xfrm>
            <a:off x="9930384" y="4517136"/>
            <a:ext cx="1618488"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HASIL · 3</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Lebih dari sepertiga kasus sudah sedang sampai berat</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10</a:t>
            </a:r>
          </a:p>
        </p:txBody>
      </p:sp>
      <p:graphicFrame>
        <p:nvGraphicFramePr>
          <p:cNvPr id="10" name="Chart 9"/>
          <p:cNvGraphicFramePr>
            <a:graphicFrameLocks noGrp="1"/>
          </p:cNvGraphicFramePr>
          <p:nvPr/>
        </p:nvGraphicFramePr>
        <p:xfrm>
          <a:off x="640080" y="1755648"/>
          <a:ext cx="6995160" cy="2788920"/>
        </p:xfrm>
        <a:graphic>
          <a:graphicData uri="http://schemas.openxmlformats.org/drawingml/2006/chart">
            <c:chart xmlns:c="http://schemas.openxmlformats.org/drawingml/2006/chart" r:id="rId2"/>
          </a:graphicData>
        </a:graphic>
      </p:graphicFrame>
      <p:sp>
        <p:nvSpPr>
          <p:cNvPr id="11" name="TextBox 10"/>
          <p:cNvSpPr txBox="1"/>
          <p:nvPr/>
        </p:nvSpPr>
        <p:spPr>
          <a:xfrm>
            <a:off x="640080" y="4590288"/>
            <a:ext cx="6995160" cy="274320"/>
          </a:xfrm>
          <a:prstGeom prst="rect">
            <a:avLst/>
          </a:prstGeom>
          <a:noFill/>
        </p:spPr>
        <p:txBody>
          <a:bodyPr wrap="square" lIns="18288" rIns="18288" tIns="0" bIns="0" anchor="t">
            <a:noAutofit/>
          </a:bodyPr>
          <a:lstStyle/>
          <a:p>
            <a:pPr algn="l">
              <a:spcBef>
                <a:spcPts val="0"/>
              </a:spcBef>
              <a:spcAft>
                <a:spcPts val="0"/>
              </a:spcAft>
            </a:pPr>
            <a:r>
              <a:rPr sz="1000" b="0" i="1" lang="id-ID">
                <a:solidFill>
                  <a:srgbClr val="6E7C83"/>
                </a:solidFill>
                <a:latin typeface="Calibri"/>
              </a:rPr>
              <a:t>Jumlah molar pertama permanen yang terkena, dalam persen kasus</a:t>
            </a:r>
          </a:p>
        </p:txBody>
      </p:sp>
      <p:sp>
        <p:nvSpPr>
          <p:cNvPr id="12" name="TextBox 11"/>
          <p:cNvSpPr txBox="1"/>
          <p:nvPr/>
        </p:nvSpPr>
        <p:spPr>
          <a:xfrm>
            <a:off x="8101583" y="1792224"/>
            <a:ext cx="3447288" cy="512064"/>
          </a:xfrm>
          <a:prstGeom prst="rect">
            <a:avLst/>
          </a:prstGeom>
          <a:noFill/>
        </p:spPr>
        <p:txBody>
          <a:bodyPr wrap="square" lIns="18288" rIns="18288" tIns="0" bIns="0" anchor="t">
            <a:noAutofit/>
          </a:bodyPr>
          <a:lstStyle/>
          <a:p>
            <a:pPr algn="l">
              <a:spcBef>
                <a:spcPts val="0"/>
              </a:spcBef>
              <a:spcAft>
                <a:spcPts val="0"/>
              </a:spcAft>
            </a:pPr>
            <a:r>
              <a:rPr sz="2800" b="0" i="0" lang="id-ID">
                <a:solidFill>
                  <a:srgbClr val="155E75"/>
                </a:solidFill>
                <a:latin typeface="Cambria"/>
              </a:rPr>
              <a:t>36,3%</a:t>
            </a:r>
          </a:p>
        </p:txBody>
      </p:sp>
      <p:sp>
        <p:nvSpPr>
          <p:cNvPr id="13" name="TextBox 12"/>
          <p:cNvSpPr txBox="1"/>
          <p:nvPr/>
        </p:nvSpPr>
        <p:spPr>
          <a:xfrm>
            <a:off x="8101583" y="2304288"/>
            <a:ext cx="3447288" cy="256032"/>
          </a:xfrm>
          <a:prstGeom prst="rect">
            <a:avLst/>
          </a:prstGeom>
          <a:noFill/>
        </p:spPr>
        <p:txBody>
          <a:bodyPr wrap="square" lIns="18288" rIns="18288" tIns="0" bIns="0" anchor="t">
            <a:noAutofit/>
          </a:bodyPr>
          <a:lstStyle/>
          <a:p>
            <a:pPr algn="l">
              <a:spcBef>
                <a:spcPts val="0"/>
              </a:spcBef>
              <a:spcAft>
                <a:spcPts val="0"/>
              </a:spcAft>
            </a:pPr>
            <a:r>
              <a:rPr sz="1100" b="1" i="0" lang="id-ID">
                <a:solidFill>
                  <a:srgbClr val="141E24"/>
                </a:solidFill>
                <a:latin typeface="Calibri"/>
              </a:rPr>
              <a:t>sedang sampai berat</a:t>
            </a:r>
          </a:p>
        </p:txBody>
      </p:sp>
      <p:sp>
        <p:nvSpPr>
          <p:cNvPr id="14" name="TextBox 13"/>
          <p:cNvSpPr txBox="1"/>
          <p:nvPr/>
        </p:nvSpPr>
        <p:spPr>
          <a:xfrm>
            <a:off x="8101583" y="2560320"/>
            <a:ext cx="3447288" cy="274320"/>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95% CI 29,9–43,2 · 33 studi · I² = 95,2%</a:t>
            </a:r>
          </a:p>
        </p:txBody>
      </p:sp>
      <p:sp>
        <p:nvSpPr>
          <p:cNvPr id="15" name="Rectangle 14"/>
          <p:cNvSpPr/>
          <p:nvPr/>
        </p:nvSpPr>
        <p:spPr>
          <a:xfrm>
            <a:off x="8101583" y="2907792"/>
            <a:ext cx="3447288"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01583" y="3090672"/>
            <a:ext cx="3447288" cy="512064"/>
          </a:xfrm>
          <a:prstGeom prst="rect">
            <a:avLst/>
          </a:prstGeom>
          <a:noFill/>
        </p:spPr>
        <p:txBody>
          <a:bodyPr wrap="square" lIns="18288" rIns="18288" tIns="0" bIns="0" anchor="t">
            <a:noAutofit/>
          </a:bodyPr>
          <a:lstStyle/>
          <a:p>
            <a:pPr algn="l">
              <a:spcBef>
                <a:spcPts val="0"/>
              </a:spcBef>
              <a:spcAft>
                <a:spcPts val="0"/>
              </a:spcAft>
            </a:pPr>
            <a:r>
              <a:rPr sz="2800" b="0" i="0" lang="id-ID">
                <a:solidFill>
                  <a:srgbClr val="155E75"/>
                </a:solidFill>
                <a:latin typeface="Cambria"/>
              </a:rPr>
              <a:t>38,7%</a:t>
            </a:r>
          </a:p>
        </p:txBody>
      </p:sp>
      <p:sp>
        <p:nvSpPr>
          <p:cNvPr id="17" name="TextBox 16"/>
          <p:cNvSpPr txBox="1"/>
          <p:nvPr/>
        </p:nvSpPr>
        <p:spPr>
          <a:xfrm>
            <a:off x="8101583" y="3602736"/>
            <a:ext cx="3447288" cy="256032"/>
          </a:xfrm>
          <a:prstGeom prst="rect">
            <a:avLst/>
          </a:prstGeom>
          <a:noFill/>
        </p:spPr>
        <p:txBody>
          <a:bodyPr wrap="square" lIns="18288" rIns="18288" tIns="0" bIns="0" anchor="t">
            <a:noAutofit/>
          </a:bodyPr>
          <a:lstStyle/>
          <a:p>
            <a:pPr algn="l">
              <a:spcBef>
                <a:spcPts val="0"/>
              </a:spcBef>
              <a:spcAft>
                <a:spcPts val="0"/>
              </a:spcAft>
            </a:pPr>
            <a:r>
              <a:rPr sz="1100" b="1" i="0" lang="id-ID">
                <a:solidFill>
                  <a:srgbClr val="141E24"/>
                </a:solidFill>
                <a:latin typeface="Calibri"/>
              </a:rPr>
              <a:t>insisivus terkena (Tabel 2)</a:t>
            </a:r>
          </a:p>
        </p:txBody>
      </p:sp>
      <p:sp>
        <p:nvSpPr>
          <p:cNvPr id="18" name="TextBox 17"/>
          <p:cNvSpPr txBox="1"/>
          <p:nvPr/>
        </p:nvSpPr>
        <p:spPr>
          <a:xfrm>
            <a:off x="8101583" y="3858768"/>
            <a:ext cx="3447288" cy="274320"/>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abstrak menulis 36,6%</a:t>
            </a:r>
          </a:p>
        </p:txBody>
      </p:sp>
      <p:sp>
        <p:nvSpPr>
          <p:cNvPr id="19" name="Rectangle 18"/>
          <p:cNvSpPr/>
          <p:nvPr/>
        </p:nvSpPr>
        <p:spPr>
          <a:xfrm>
            <a:off x="8101583" y="4206240"/>
            <a:ext cx="3447288"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01583" y="4389120"/>
            <a:ext cx="3447288" cy="512064"/>
          </a:xfrm>
          <a:prstGeom prst="rect">
            <a:avLst/>
          </a:prstGeom>
          <a:noFill/>
        </p:spPr>
        <p:txBody>
          <a:bodyPr wrap="square" lIns="18288" rIns="18288" tIns="0" bIns="0" anchor="t">
            <a:noAutofit/>
          </a:bodyPr>
          <a:lstStyle/>
          <a:p>
            <a:pPr algn="l">
              <a:spcBef>
                <a:spcPts val="0"/>
              </a:spcBef>
              <a:spcAft>
                <a:spcPts val="0"/>
              </a:spcAft>
            </a:pPr>
            <a:r>
              <a:rPr sz="2800" b="0" i="0" lang="id-ID">
                <a:solidFill>
                  <a:srgbClr val="155E75"/>
                </a:solidFill>
                <a:latin typeface="Cambria"/>
              </a:rPr>
              <a:t>3,6%</a:t>
            </a:r>
          </a:p>
        </p:txBody>
      </p:sp>
      <p:sp>
        <p:nvSpPr>
          <p:cNvPr id="21" name="TextBox 20"/>
          <p:cNvSpPr txBox="1"/>
          <p:nvPr/>
        </p:nvSpPr>
        <p:spPr>
          <a:xfrm>
            <a:off x="8101583" y="4901184"/>
            <a:ext cx="3447288" cy="256032"/>
          </a:xfrm>
          <a:prstGeom prst="rect">
            <a:avLst/>
          </a:prstGeom>
          <a:noFill/>
        </p:spPr>
        <p:txBody>
          <a:bodyPr wrap="square" lIns="18288" rIns="18288" tIns="0" bIns="0" anchor="t">
            <a:noAutofit/>
          </a:bodyPr>
          <a:lstStyle/>
          <a:p>
            <a:pPr algn="l">
              <a:spcBef>
                <a:spcPts val="0"/>
              </a:spcBef>
              <a:spcAft>
                <a:spcPts val="0"/>
              </a:spcAft>
            </a:pPr>
            <a:r>
              <a:rPr sz="1100" b="1" i="0" lang="id-ID">
                <a:solidFill>
                  <a:srgbClr val="141E24"/>
                </a:solidFill>
                <a:latin typeface="Calibri"/>
              </a:rPr>
              <a:t>HSPM menyertai MIH</a:t>
            </a:r>
          </a:p>
        </p:txBody>
      </p:sp>
      <p:sp>
        <p:nvSpPr>
          <p:cNvPr id="22" name="TextBox 21"/>
          <p:cNvSpPr txBox="1"/>
          <p:nvPr/>
        </p:nvSpPr>
        <p:spPr>
          <a:xfrm>
            <a:off x="8101583" y="5157216"/>
            <a:ext cx="3447288" cy="274320"/>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95% CI 1,9–6,8 · hanya 7 studi</a:t>
            </a:r>
          </a:p>
        </p:txBody>
      </p:sp>
      <p:sp>
        <p:nvSpPr>
          <p:cNvPr id="23" name="Rectangle 22"/>
          <p:cNvSpPr/>
          <p:nvPr/>
        </p:nvSpPr>
        <p:spPr>
          <a:xfrm>
            <a:off x="8101583" y="5504688"/>
            <a:ext cx="3447288"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SUB-ANALISIS</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Wilayah berbeda, kriteria lebih menentukan</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11</a:t>
            </a:r>
          </a:p>
        </p:txBody>
      </p:sp>
      <p:sp>
        <p:nvSpPr>
          <p:cNvPr id="10" name="TextBox 9"/>
          <p:cNvSpPr txBox="1"/>
          <p:nvPr/>
        </p:nvSpPr>
        <p:spPr>
          <a:xfrm>
            <a:off x="640080" y="1792224"/>
            <a:ext cx="6766560" cy="237744"/>
          </a:xfrm>
          <a:prstGeom prst="rect">
            <a:avLst/>
          </a:prstGeom>
          <a:noFill/>
        </p:spPr>
        <p:txBody>
          <a:bodyPr wrap="square" lIns="18288" rIns="18288" tIns="0" bIns="0" anchor="t">
            <a:noAutofit/>
          </a:bodyPr>
          <a:lstStyle/>
          <a:p>
            <a:pPr algn="l">
              <a:spcBef>
                <a:spcPts val="0"/>
              </a:spcBef>
              <a:spcAft>
                <a:spcPts val="0"/>
              </a:spcAft>
            </a:pPr>
            <a:r>
              <a:rPr sz="950" b="1" i="0" spc="120" lang="id-ID">
                <a:solidFill>
                  <a:srgbClr val="6E7C83"/>
                </a:solidFill>
                <a:latin typeface="Calibri"/>
              </a:rPr>
              <a:t>PREVALENSI MENURUT WILAYAH</a:t>
            </a:r>
          </a:p>
        </p:txBody>
      </p:sp>
      <p:sp>
        <p:nvSpPr>
          <p:cNvPr id="11" name="TextBox 10"/>
          <p:cNvSpPr txBox="1"/>
          <p:nvPr/>
        </p:nvSpPr>
        <p:spPr>
          <a:xfrm>
            <a:off x="640080" y="2157984"/>
            <a:ext cx="5029200" cy="256032"/>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3E4C54"/>
                </a:solidFill>
                <a:latin typeface="Calibri"/>
              </a:rPr>
              <a:t>Amerika · 95% CI 12,8–18,3 · I² = 96,3%</a:t>
            </a:r>
          </a:p>
        </p:txBody>
      </p:sp>
      <p:sp>
        <p:nvSpPr>
          <p:cNvPr id="12" name="TextBox 11"/>
          <p:cNvSpPr txBox="1"/>
          <p:nvPr/>
        </p:nvSpPr>
        <p:spPr>
          <a:xfrm>
            <a:off x="5760720" y="2103120"/>
            <a:ext cx="1645920" cy="329184"/>
          </a:xfrm>
          <a:prstGeom prst="rect">
            <a:avLst/>
          </a:prstGeom>
          <a:noFill/>
        </p:spPr>
        <p:txBody>
          <a:bodyPr wrap="square" lIns="18288" rIns="18288" tIns="0" bIns="0" anchor="t">
            <a:noAutofit/>
          </a:bodyPr>
          <a:lstStyle/>
          <a:p>
            <a:pPr algn="r">
              <a:spcBef>
                <a:spcPts val="0"/>
              </a:spcBef>
              <a:spcAft>
                <a:spcPts val="0"/>
              </a:spcAft>
            </a:pPr>
            <a:r>
              <a:rPr sz="1700" b="1" i="0" lang="id-ID">
                <a:solidFill>
                  <a:srgbClr val="155E75"/>
                </a:solidFill>
                <a:latin typeface="Cambria"/>
              </a:rPr>
              <a:t>15,3%</a:t>
            </a:r>
          </a:p>
        </p:txBody>
      </p:sp>
      <p:sp>
        <p:nvSpPr>
          <p:cNvPr id="13" name="Rounded Rectangle 12"/>
          <p:cNvSpPr/>
          <p:nvPr/>
        </p:nvSpPr>
        <p:spPr>
          <a:xfrm>
            <a:off x="640080" y="2487168"/>
            <a:ext cx="6766560" cy="146304"/>
          </a:xfrm>
          <a:prstGeom prst="roundRect">
            <a:avLst>
              <a:gd name="adj" fmla="val 50000"/>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40080" y="2487168"/>
            <a:ext cx="5176418" cy="146304"/>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3182112"/>
            <a:ext cx="5029200" cy="256032"/>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3E4C54"/>
                </a:solidFill>
                <a:latin typeface="Calibri"/>
              </a:rPr>
              <a:t>Asia · 95% CI 8,5–13,5 · I² = 98,7%</a:t>
            </a:r>
          </a:p>
        </p:txBody>
      </p:sp>
      <p:sp>
        <p:nvSpPr>
          <p:cNvPr id="16" name="TextBox 15"/>
          <p:cNvSpPr txBox="1"/>
          <p:nvPr/>
        </p:nvSpPr>
        <p:spPr>
          <a:xfrm>
            <a:off x="5760720" y="3127248"/>
            <a:ext cx="1645920" cy="329184"/>
          </a:xfrm>
          <a:prstGeom prst="rect">
            <a:avLst/>
          </a:prstGeom>
          <a:noFill/>
        </p:spPr>
        <p:txBody>
          <a:bodyPr wrap="square" lIns="18288" rIns="18288" tIns="0" bIns="0" anchor="t">
            <a:noAutofit/>
          </a:bodyPr>
          <a:lstStyle/>
          <a:p>
            <a:pPr algn="r">
              <a:spcBef>
                <a:spcPts val="0"/>
              </a:spcBef>
              <a:spcAft>
                <a:spcPts val="0"/>
              </a:spcAft>
            </a:pPr>
            <a:r>
              <a:rPr sz="1700" b="1" i="0" lang="id-ID">
                <a:solidFill>
                  <a:srgbClr val="155E75"/>
                </a:solidFill>
                <a:latin typeface="Cambria"/>
              </a:rPr>
              <a:t>10,7%</a:t>
            </a:r>
          </a:p>
        </p:txBody>
      </p:sp>
      <p:sp>
        <p:nvSpPr>
          <p:cNvPr id="17" name="Rounded Rectangle 16"/>
          <p:cNvSpPr/>
          <p:nvPr/>
        </p:nvSpPr>
        <p:spPr>
          <a:xfrm>
            <a:off x="640080" y="3511296"/>
            <a:ext cx="6766560" cy="146304"/>
          </a:xfrm>
          <a:prstGeom prst="roundRect">
            <a:avLst>
              <a:gd name="adj" fmla="val 50000"/>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0080" y="3511296"/>
            <a:ext cx="3620109" cy="146304"/>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0080" y="3858768"/>
            <a:ext cx="6766560" cy="237744"/>
          </a:xfrm>
          <a:prstGeom prst="rect">
            <a:avLst/>
          </a:prstGeom>
          <a:noFill/>
        </p:spPr>
        <p:txBody>
          <a:bodyPr wrap="square" lIns="18288" rIns="18288" tIns="0" bIns="0" anchor="t">
            <a:noAutofit/>
          </a:bodyPr>
          <a:lstStyle/>
          <a:p>
            <a:pPr algn="r">
              <a:spcBef>
                <a:spcPts val="0"/>
              </a:spcBef>
              <a:spcAft>
                <a:spcPts val="0"/>
              </a:spcAft>
            </a:pPr>
            <a:r>
              <a:rPr sz="900" b="0" i="0" lang="id-ID">
                <a:solidFill>
                  <a:srgbClr val="6E7C83"/>
                </a:solidFill>
                <a:latin typeface="Calibri"/>
              </a:rPr>
              <a:t>Batang digambar pada skala 0–20%</a:t>
            </a:r>
          </a:p>
        </p:txBody>
      </p:sp>
      <p:sp>
        <p:nvSpPr>
          <p:cNvPr id="20" name="Rectangle 19"/>
          <p:cNvSpPr/>
          <p:nvPr/>
        </p:nvSpPr>
        <p:spPr>
          <a:xfrm>
            <a:off x="640080" y="4206240"/>
            <a:ext cx="676656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4334256"/>
            <a:ext cx="6766560" cy="109728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Beda antar wilayah tidak bermakna secara statistik. Afrika yang dulu terendah tidak lagi di posisi itu, dan penulis menyimpulkan wilayah belum cukup menjelaskan variasi angka.</a:t>
            </a:r>
          </a:p>
        </p:txBody>
      </p:sp>
      <p:sp>
        <p:nvSpPr>
          <p:cNvPr id="22" name="Rounded Rectangle 21"/>
          <p:cNvSpPr/>
          <p:nvPr/>
        </p:nvSpPr>
        <p:spPr>
          <a:xfrm>
            <a:off x="7900416" y="1792224"/>
            <a:ext cx="3648456" cy="2395728"/>
          </a:xfrm>
          <a:prstGeom prst="roundRect">
            <a:avLst>
              <a:gd name="adj" fmla="val 3816"/>
            </a:avLst>
          </a:prstGeom>
          <a:solidFill>
            <a:srgbClr val="FDF6E6"/>
          </a:solidFill>
          <a:ln w="9525">
            <a:solidFill>
              <a:srgbClr val="EFDC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101583" y="1938528"/>
            <a:ext cx="3246120" cy="237744"/>
          </a:xfrm>
          <a:prstGeom prst="rect">
            <a:avLst/>
          </a:prstGeom>
          <a:noFill/>
        </p:spPr>
        <p:txBody>
          <a:bodyPr wrap="square" lIns="18288" rIns="18288" tIns="0" bIns="0" anchor="t">
            <a:noAutofit/>
          </a:bodyPr>
          <a:lstStyle/>
          <a:p>
            <a:pPr algn="l">
              <a:spcBef>
                <a:spcPts val="0"/>
              </a:spcBef>
              <a:spcAft>
                <a:spcPts val="0"/>
              </a:spcAft>
            </a:pPr>
            <a:r>
              <a:rPr sz="950" b="1" i="0" spc="120" lang="id-ID">
                <a:solidFill>
                  <a:srgbClr val="A16207"/>
                </a:solidFill>
                <a:latin typeface="Calibri"/>
              </a:rPr>
              <a:t>KRITERIA DIAGNOSTIK</a:t>
            </a:r>
          </a:p>
        </p:txBody>
      </p:sp>
      <p:sp>
        <p:nvSpPr>
          <p:cNvPr id="24" name="TextBox 23"/>
          <p:cNvSpPr txBox="1"/>
          <p:nvPr/>
        </p:nvSpPr>
        <p:spPr>
          <a:xfrm>
            <a:off x="8101583" y="2212848"/>
            <a:ext cx="3246120" cy="713232"/>
          </a:xfrm>
          <a:prstGeom prst="rect">
            <a:avLst/>
          </a:prstGeom>
          <a:noFill/>
        </p:spPr>
        <p:txBody>
          <a:bodyPr wrap="square" lIns="18288" rIns="18288" tIns="0" bIns="0" anchor="t">
            <a:noAutofit/>
          </a:bodyPr>
          <a:lstStyle/>
          <a:p>
            <a:pPr algn="l">
              <a:lnSpc>
                <a:spcPct val="100000"/>
              </a:lnSpc>
              <a:spcBef>
                <a:spcPts val="0"/>
              </a:spcBef>
              <a:spcAft>
                <a:spcPts val="0"/>
              </a:spcAft>
            </a:pPr>
            <a:r>
              <a:rPr sz="3000" b="0" i="0" lang="id-ID">
                <a:solidFill>
                  <a:srgbClr val="A16207"/>
                </a:solidFill>
                <a:latin typeface="Cambria"/>
              </a:rPr>
              <a:t>p = 0,0061</a:t>
            </a:r>
          </a:p>
        </p:txBody>
      </p:sp>
      <p:sp>
        <p:nvSpPr>
          <p:cNvPr id="25" name="TextBox 24"/>
          <p:cNvSpPr txBox="1"/>
          <p:nvPr/>
        </p:nvSpPr>
        <p:spPr>
          <a:xfrm>
            <a:off x="8101583" y="2980944"/>
            <a:ext cx="3246120" cy="1060704"/>
          </a:xfrm>
          <a:prstGeom prst="rect">
            <a:avLst/>
          </a:prstGeom>
          <a:noFill/>
        </p:spPr>
        <p:txBody>
          <a:bodyPr wrap="square" lIns="18288" rIns="18288" tIns="0" bIns="0" anchor="t">
            <a:noAutofit/>
          </a:bodyPr>
          <a:lstStyle/>
          <a:p>
            <a:pPr algn="l">
              <a:lnSpc>
                <a:spcPct val="110000"/>
              </a:lnSpc>
              <a:spcBef>
                <a:spcPts val="0"/>
              </a:spcBef>
              <a:spcAft>
                <a:spcPts val="0"/>
              </a:spcAft>
            </a:pPr>
            <a:r>
              <a:rPr sz="1050" b="0" i="0" lang="id-ID">
                <a:solidFill>
                  <a:srgbClr val="3E4C54"/>
                </a:solidFill>
                <a:latin typeface="Calibri"/>
              </a:rPr>
              <a:t>Studi tanpa definisi kasus EAPD 2003 menghasilkan estimasi yang berbeda bermakna, umumnya lebih rendah. Sub-analisis ini memuat 133.734 peserta.</a:t>
            </a:r>
          </a:p>
        </p:txBody>
      </p:sp>
      <p:sp>
        <p:nvSpPr>
          <p:cNvPr id="26" name="TextBox 25"/>
          <p:cNvSpPr txBox="1"/>
          <p:nvPr/>
        </p:nvSpPr>
        <p:spPr>
          <a:xfrm>
            <a:off x="7900416" y="4425696"/>
            <a:ext cx="3648456" cy="274320"/>
          </a:xfrm>
          <a:prstGeom prst="rect">
            <a:avLst/>
          </a:prstGeom>
          <a:noFill/>
        </p:spPr>
        <p:txBody>
          <a:bodyPr wrap="square" lIns="18288" rIns="18288" tIns="0" bIns="0" anchor="t">
            <a:noAutofit/>
          </a:bodyPr>
          <a:lstStyle/>
          <a:p>
            <a:pPr algn="l">
              <a:spcBef>
                <a:spcPts val="0"/>
              </a:spcBef>
              <a:spcAft>
                <a:spcPts val="0"/>
              </a:spcAft>
            </a:pPr>
            <a:r>
              <a:rPr sz="1300" b="0" i="0" lang="id-ID">
                <a:solidFill>
                  <a:srgbClr val="141E24"/>
                </a:solidFill>
                <a:latin typeface="Cambria"/>
              </a:rPr>
              <a:t>Yang pengaruhnya kecil</a:t>
            </a:r>
          </a:p>
        </p:txBody>
      </p:sp>
      <p:sp>
        <p:nvSpPr>
          <p:cNvPr id="27" name="TextBox 26"/>
          <p:cNvSpPr txBox="1"/>
          <p:nvPr/>
        </p:nvSpPr>
        <p:spPr>
          <a:xfrm>
            <a:off x="7900416" y="4736592"/>
            <a:ext cx="3648456" cy="786384"/>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Ukuran sampel dan tahun publikasi hanya menyumbang sedikit. Meta-regresi lain tidak menunjukkan faktor metodologis yang menonjol.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DISKUSI</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Yang menurut penulis menjelaskan variasi</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12</a:t>
            </a:r>
          </a:p>
        </p:txBody>
      </p:sp>
      <p:sp>
        <p:nvSpPr>
          <p:cNvPr id="10" name="TextBox 9"/>
          <p:cNvSpPr txBox="1"/>
          <p:nvPr/>
        </p:nvSpPr>
        <p:spPr>
          <a:xfrm>
            <a:off x="640080" y="1920240"/>
            <a:ext cx="10908792" cy="1463040"/>
          </a:xfrm>
          <a:prstGeom prst="rect">
            <a:avLst/>
          </a:prstGeom>
          <a:noFill/>
        </p:spPr>
        <p:txBody>
          <a:bodyPr wrap="square" lIns="18288" rIns="18288" tIns="0" bIns="0" anchor="t">
            <a:noAutofit/>
          </a:bodyPr>
          <a:lstStyle/>
          <a:p>
            <a:pPr algn="l">
              <a:lnSpc>
                <a:spcPct val="110000"/>
              </a:lnSpc>
              <a:spcBef>
                <a:spcPts val="0"/>
              </a:spcBef>
              <a:spcAft>
                <a:spcPts val="0"/>
              </a:spcAft>
            </a:pPr>
            <a:r>
              <a:rPr sz="2300" b="0" i="0" lang="id-ID">
                <a:solidFill>
                  <a:srgbClr val="141E24"/>
                </a:solidFill>
                <a:latin typeface="Cambria"/>
              </a:rPr>
              <a:t>Variasi antar wilayah lebih menjelaskan perbedaan angka daripada faktor metodologis yang diuji lewat meta-regresi.</a:t>
            </a:r>
          </a:p>
        </p:txBody>
      </p:sp>
      <p:sp>
        <p:nvSpPr>
          <p:cNvPr id="11" name="Rectangle 10"/>
          <p:cNvSpPr/>
          <p:nvPr/>
        </p:nvSpPr>
        <p:spPr>
          <a:xfrm>
            <a:off x="640080" y="3584448"/>
            <a:ext cx="10908792" cy="2011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0080" y="3840480"/>
            <a:ext cx="2651760" cy="292608"/>
          </a:xfrm>
          <a:prstGeom prst="rect">
            <a:avLst/>
          </a:prstGeom>
          <a:noFill/>
        </p:spPr>
        <p:txBody>
          <a:bodyPr wrap="square" lIns="18288" rIns="18288" tIns="0" bIns="0" anchor="t">
            <a:noAutofit/>
          </a:bodyPr>
          <a:lstStyle/>
          <a:p>
            <a:pPr algn="l">
              <a:spcBef>
                <a:spcPts val="0"/>
              </a:spcBef>
              <a:spcAft>
                <a:spcPts val="0"/>
              </a:spcAft>
            </a:pPr>
            <a:r>
              <a:rPr sz="1250" b="1" i="0" lang="id-ID">
                <a:solidFill>
                  <a:srgbClr val="141E24"/>
                </a:solidFill>
                <a:latin typeface="Cambria"/>
              </a:rPr>
              <a:t>Definisi kasus</a:t>
            </a:r>
          </a:p>
        </p:txBody>
      </p:sp>
      <p:sp>
        <p:nvSpPr>
          <p:cNvPr id="13" name="TextBox 12"/>
          <p:cNvSpPr txBox="1"/>
          <p:nvPr/>
        </p:nvSpPr>
        <p:spPr>
          <a:xfrm>
            <a:off x="3474720" y="3858768"/>
            <a:ext cx="8074152" cy="292608"/>
          </a:xfrm>
          <a:prstGeom prst="rect">
            <a:avLst/>
          </a:prstGeom>
          <a:noFill/>
        </p:spPr>
        <p:txBody>
          <a:bodyPr wrap="square" lIns="18288" rIns="18288" tIns="0" bIns="0" anchor="t">
            <a:noAutofit/>
          </a:bodyPr>
          <a:lstStyle/>
          <a:p>
            <a:pPr algn="l">
              <a:spcBef>
                <a:spcPts val="0"/>
              </a:spcBef>
              <a:spcAft>
                <a:spcPts val="0"/>
              </a:spcAft>
            </a:pPr>
            <a:r>
              <a:rPr sz="1150" b="0" i="0" lang="id-ID">
                <a:solidFill>
                  <a:srgbClr val="3E4C54"/>
                </a:solidFill>
                <a:latin typeface="Calibri"/>
              </a:rPr>
              <a:t>klasifikasi non-EAPD cenderung menurunkan estimasi</a:t>
            </a:r>
          </a:p>
        </p:txBody>
      </p:sp>
      <p:sp>
        <p:nvSpPr>
          <p:cNvPr id="14" name="Rectangle 13"/>
          <p:cNvSpPr/>
          <p:nvPr/>
        </p:nvSpPr>
        <p:spPr>
          <a:xfrm>
            <a:off x="640080" y="4462272"/>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4572000"/>
            <a:ext cx="2651760" cy="292608"/>
          </a:xfrm>
          <a:prstGeom prst="rect">
            <a:avLst/>
          </a:prstGeom>
          <a:noFill/>
        </p:spPr>
        <p:txBody>
          <a:bodyPr wrap="square" lIns="18288" rIns="18288" tIns="0" bIns="0" anchor="t">
            <a:noAutofit/>
          </a:bodyPr>
          <a:lstStyle/>
          <a:p>
            <a:pPr algn="l">
              <a:spcBef>
                <a:spcPts val="0"/>
              </a:spcBef>
              <a:spcAft>
                <a:spcPts val="0"/>
              </a:spcAft>
            </a:pPr>
            <a:r>
              <a:rPr sz="1250" b="1" i="0" lang="id-ID">
                <a:solidFill>
                  <a:srgbClr val="141E24"/>
                </a:solidFill>
                <a:latin typeface="Cambria"/>
              </a:rPr>
              <a:t>Makna keparahan</a:t>
            </a:r>
          </a:p>
        </p:txBody>
      </p:sp>
      <p:sp>
        <p:nvSpPr>
          <p:cNvPr id="16" name="TextBox 15"/>
          <p:cNvSpPr txBox="1"/>
          <p:nvPr/>
        </p:nvSpPr>
        <p:spPr>
          <a:xfrm>
            <a:off x="3474720" y="4590288"/>
            <a:ext cx="8074152" cy="292608"/>
          </a:xfrm>
          <a:prstGeom prst="rect">
            <a:avLst/>
          </a:prstGeom>
          <a:noFill/>
        </p:spPr>
        <p:txBody>
          <a:bodyPr wrap="square" lIns="18288" rIns="18288" tIns="0" bIns="0" anchor="t">
            <a:noAutofit/>
          </a:bodyPr>
          <a:lstStyle/>
          <a:p>
            <a:pPr algn="l">
              <a:spcBef>
                <a:spcPts val="0"/>
              </a:spcBef>
              <a:spcAft>
                <a:spcPts val="0"/>
              </a:spcAft>
            </a:pPr>
            <a:r>
              <a:rPr sz="1150" b="0" i="0" lang="id-ID">
                <a:solidFill>
                  <a:srgbClr val="3E4C54"/>
                </a:solidFill>
                <a:latin typeface="Calibri"/>
              </a:rPr>
              <a:t>sepertiga anak dengan MIH perlu perawatan restoratif nyata</a:t>
            </a:r>
          </a:p>
        </p:txBody>
      </p:sp>
      <p:sp>
        <p:nvSpPr>
          <p:cNvPr id="17" name="Rectangle 16"/>
          <p:cNvSpPr/>
          <p:nvPr/>
        </p:nvSpPr>
        <p:spPr>
          <a:xfrm>
            <a:off x="640080" y="5193792"/>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0080" y="5303520"/>
            <a:ext cx="2651760" cy="292608"/>
          </a:xfrm>
          <a:prstGeom prst="rect">
            <a:avLst/>
          </a:prstGeom>
          <a:noFill/>
        </p:spPr>
        <p:txBody>
          <a:bodyPr wrap="square" lIns="18288" rIns="18288" tIns="0" bIns="0" anchor="t">
            <a:noAutofit/>
          </a:bodyPr>
          <a:lstStyle/>
          <a:p>
            <a:pPr algn="l">
              <a:spcBef>
                <a:spcPts val="0"/>
              </a:spcBef>
              <a:spcAft>
                <a:spcPts val="0"/>
              </a:spcAft>
            </a:pPr>
            <a:r>
              <a:rPr sz="1250" b="1" i="0" lang="id-ID">
                <a:solidFill>
                  <a:srgbClr val="141E24"/>
                </a:solidFill>
                <a:latin typeface="Cambria"/>
              </a:rPr>
              <a:t>Data turunan</a:t>
            </a:r>
          </a:p>
        </p:txBody>
      </p:sp>
      <p:sp>
        <p:nvSpPr>
          <p:cNvPr id="19" name="TextBox 18"/>
          <p:cNvSpPr txBox="1"/>
          <p:nvPr/>
        </p:nvSpPr>
        <p:spPr>
          <a:xfrm>
            <a:off x="3474720" y="5321808"/>
            <a:ext cx="8074152" cy="292608"/>
          </a:xfrm>
          <a:prstGeom prst="rect">
            <a:avLst/>
          </a:prstGeom>
          <a:noFill/>
        </p:spPr>
        <p:txBody>
          <a:bodyPr wrap="square" lIns="18288" rIns="18288" tIns="0" bIns="0" anchor="t">
            <a:noAutofit/>
          </a:bodyPr>
          <a:lstStyle/>
          <a:p>
            <a:pPr algn="l">
              <a:spcBef>
                <a:spcPts val="0"/>
              </a:spcBef>
              <a:spcAft>
                <a:spcPts val="0"/>
              </a:spcAft>
            </a:pPr>
            <a:r>
              <a:rPr sz="1150" b="0" i="0" lang="id-ID">
                <a:solidFill>
                  <a:srgbClr val="3E4C54"/>
                </a:solidFill>
                <a:latin typeface="Calibri"/>
              </a:rPr>
              <a:t>keparahan, gigi terkena, dan HSPM jarang dilaporkan</a:t>
            </a:r>
          </a:p>
        </p:txBody>
      </p:sp>
      <p:sp>
        <p:nvSpPr>
          <p:cNvPr id="20" name="TextBox 19"/>
          <p:cNvSpPr txBox="1"/>
          <p:nvPr/>
        </p:nvSpPr>
        <p:spPr>
          <a:xfrm>
            <a:off x="640080" y="5687568"/>
            <a:ext cx="10908792" cy="256032"/>
          </a:xfrm>
          <a:prstGeom prst="rect">
            <a:avLst/>
          </a:prstGeom>
          <a:noFill/>
        </p:spPr>
        <p:txBody>
          <a:bodyPr wrap="square" lIns="18288" rIns="18288" tIns="0" bIns="0" anchor="t">
            <a:noAutofit/>
          </a:bodyPr>
          <a:lstStyle/>
          <a:p>
            <a:pPr algn="l">
              <a:spcBef>
                <a:spcPts val="0"/>
              </a:spcBef>
              <a:spcAft>
                <a:spcPts val="0"/>
              </a:spcAft>
            </a:pPr>
            <a:r>
              <a:rPr sz="1050" b="0" i="1" lang="id-ID">
                <a:solidFill>
                  <a:srgbClr val="6E7C83"/>
                </a:solidFill>
                <a:latin typeface="Calibri"/>
              </a:rPr>
              <a:t>Artinya, standardisasi kriteria diagnostik lebih mungkin mengubah angka daripada memperluas sampel.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PENILAIAN KRITIS</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Yang kuat dan yang perlu dibaca hati-hati</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13</a:t>
            </a:r>
          </a:p>
        </p:txBody>
      </p:sp>
      <p:sp>
        <p:nvSpPr>
          <p:cNvPr id="10" name="TextBox 9"/>
          <p:cNvSpPr txBox="1"/>
          <p:nvPr/>
        </p:nvSpPr>
        <p:spPr>
          <a:xfrm>
            <a:off x="640080" y="1755648"/>
            <a:ext cx="5120640" cy="292608"/>
          </a:xfrm>
          <a:prstGeom prst="rect">
            <a:avLst/>
          </a:prstGeom>
          <a:noFill/>
        </p:spPr>
        <p:txBody>
          <a:bodyPr wrap="square" lIns="18288" rIns="18288" tIns="0" bIns="0" anchor="t">
            <a:noAutofit/>
          </a:bodyPr>
          <a:lstStyle/>
          <a:p>
            <a:pPr algn="l">
              <a:spcBef>
                <a:spcPts val="0"/>
              </a:spcBef>
              <a:spcAft>
                <a:spcPts val="0"/>
              </a:spcAft>
            </a:pPr>
            <a:r>
              <a:rPr sz="1700" b="0" i="0" lang="id-ID">
                <a:solidFill>
                  <a:srgbClr val="155E75"/>
                </a:solidFill>
                <a:latin typeface="Cambria"/>
              </a:rPr>
              <a:t>Kuat</a:t>
            </a:r>
          </a:p>
        </p:txBody>
      </p:sp>
      <p:sp>
        <p:nvSpPr>
          <p:cNvPr id="11" name="TextBox 10"/>
          <p:cNvSpPr txBox="1"/>
          <p:nvPr/>
        </p:nvSpPr>
        <p:spPr>
          <a:xfrm>
            <a:off x="640080" y="2121408"/>
            <a:ext cx="5120640" cy="2834640"/>
          </a:xfrm>
          <a:prstGeom prst="rect">
            <a:avLst/>
          </a:prstGeom>
          <a:noFill/>
        </p:spPr>
        <p:txBody>
          <a:bodyPr wrap="square" lIns="18288" rIns="18288" tIns="0" bIns="0" anchor="t">
            <a:noAutofit/>
          </a:bodyPr>
          <a:lstStyle/>
          <a:p>
            <a:pPr algn="l">
              <a:lnSpc>
                <a:spcPct val="105000"/>
              </a:lnSpc>
              <a:spcBef>
                <a:spcPts val="0"/>
              </a:spcBef>
              <a:spcAft>
                <a:spcPts val="500"/>
              </a:spcAft>
            </a:pPr>
            <a:r>
              <a:rPr sz="1100" b="0" i="0" lang="id-ID">
                <a:solidFill>
                  <a:srgbClr val="3E4C54"/>
                </a:solidFill>
                <a:latin typeface="Calibri"/>
              </a:rPr>
              <a:t>•  Protokol terdaftar sebelum pencarian dimulai, laporan mengikuti PRISMA</a:t>
            </a:r>
          </a:p>
          <a:p>
            <a:pPr algn="l">
              <a:lnSpc>
                <a:spcPct val="105000"/>
              </a:lnSpc>
              <a:spcBef>
                <a:spcPts val="0"/>
              </a:spcBef>
              <a:spcAft>
                <a:spcPts val="500"/>
              </a:spcAft>
            </a:pPr>
            <a:r>
              <a:rPr sz="1100" b="0" i="0" lang="id-ID">
                <a:solidFill>
                  <a:srgbClr val="3E4C54"/>
                </a:solidFill>
                <a:latin typeface="Calibri"/>
              </a:rPr>
              <a:t>•  Tujuh basis data, rentang tahun luas</a:t>
            </a:r>
          </a:p>
          <a:p>
            <a:pPr algn="l">
              <a:lnSpc>
                <a:spcPct val="105000"/>
              </a:lnSpc>
              <a:spcBef>
                <a:spcPts val="0"/>
              </a:spcBef>
              <a:spcAft>
                <a:spcPts val="500"/>
              </a:spcAft>
            </a:pPr>
            <a:r>
              <a:rPr sz="1100" b="0" i="0" lang="id-ID">
                <a:solidFill>
                  <a:srgbClr val="3E4C54"/>
                </a:solidFill>
                <a:latin typeface="Calibri"/>
              </a:rPr>
              <a:t>•  Penyaringan dan penilaian risiko bias oleh dua peneliti, κ = 0,885</a:t>
            </a:r>
          </a:p>
          <a:p>
            <a:pPr algn="l">
              <a:lnSpc>
                <a:spcPct val="105000"/>
              </a:lnSpc>
              <a:spcBef>
                <a:spcPts val="0"/>
              </a:spcBef>
              <a:spcAft>
                <a:spcPts val="500"/>
              </a:spcAft>
            </a:pPr>
            <a:r>
              <a:rPr sz="1100" b="0" i="0" lang="id-ID">
                <a:solidFill>
                  <a:srgbClr val="3E4C54"/>
                </a:solidFill>
                <a:latin typeface="Calibri"/>
              </a:rPr>
              <a:t>•  Semua studi analisis utama berkualitas tinggi, NOS 7/9 atau lebih</a:t>
            </a:r>
          </a:p>
          <a:p>
            <a:pPr algn="l">
              <a:lnSpc>
                <a:spcPct val="105000"/>
              </a:lnSpc>
              <a:spcBef>
                <a:spcPts val="0"/>
              </a:spcBef>
              <a:spcAft>
                <a:spcPts val="500"/>
              </a:spcAft>
            </a:pPr>
            <a:r>
              <a:rPr sz="1100" b="0" i="0" lang="id-ID">
                <a:solidFill>
                  <a:srgbClr val="3E4C54"/>
                </a:solidFill>
                <a:latin typeface="Calibri"/>
              </a:rPr>
              <a:t>•  Uji kestabilan lengkap: Egger, cumulative, leave-one-out</a:t>
            </a:r>
          </a:p>
          <a:p>
            <a:pPr algn="l">
              <a:lnSpc>
                <a:spcPct val="105000"/>
              </a:lnSpc>
              <a:spcBef>
                <a:spcPts val="0"/>
              </a:spcBef>
              <a:spcAft>
                <a:spcPts val="500"/>
              </a:spcAft>
            </a:pPr>
            <a:r>
              <a:rPr sz="1100" b="0" i="0" lang="id-ID">
                <a:solidFill>
                  <a:srgbClr val="3E4C54"/>
                </a:solidFill>
                <a:latin typeface="Calibri"/>
              </a:rPr>
              <a:t>•  Kriteria EAPD dibandingkan dengan definisi alternatif</a:t>
            </a:r>
          </a:p>
          <a:p>
            <a:pPr algn="l">
              <a:lnSpc>
                <a:spcPct val="105000"/>
              </a:lnSpc>
              <a:spcBef>
                <a:spcPts val="0"/>
              </a:spcBef>
              <a:spcAft>
                <a:spcPts val="500"/>
              </a:spcAft>
            </a:pPr>
            <a:r>
              <a:rPr sz="1100" b="0" i="0" lang="id-ID">
                <a:solidFill>
                  <a:srgbClr val="3E4C54"/>
                </a:solidFill>
                <a:latin typeface="Calibri"/>
              </a:rPr>
              <a:t>•  113.089 peserta dengan kepastian bukti SORT A</a:t>
            </a:r>
          </a:p>
        </p:txBody>
      </p:sp>
      <p:sp>
        <p:nvSpPr>
          <p:cNvPr id="12" name="Rectangle 11"/>
          <p:cNvSpPr/>
          <p:nvPr/>
        </p:nvSpPr>
        <p:spPr>
          <a:xfrm>
            <a:off x="5870448" y="1755648"/>
            <a:ext cx="10972" cy="3803904"/>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45352" y="1755648"/>
            <a:ext cx="5120640" cy="292608"/>
          </a:xfrm>
          <a:prstGeom prst="rect">
            <a:avLst/>
          </a:prstGeom>
          <a:noFill/>
        </p:spPr>
        <p:txBody>
          <a:bodyPr wrap="square" lIns="18288" rIns="18288" tIns="0" bIns="0" anchor="t">
            <a:noAutofit/>
          </a:bodyPr>
          <a:lstStyle/>
          <a:p>
            <a:pPr algn="l">
              <a:spcBef>
                <a:spcPts val="0"/>
              </a:spcBef>
              <a:spcAft>
                <a:spcPts val="0"/>
              </a:spcAft>
            </a:pPr>
            <a:r>
              <a:rPr sz="1700" b="0" i="0" lang="id-ID">
                <a:solidFill>
                  <a:srgbClr val="A16207"/>
                </a:solidFill>
                <a:latin typeface="Cambria"/>
              </a:rPr>
              <a:t>Perlu hati-hati</a:t>
            </a:r>
          </a:p>
        </p:txBody>
      </p:sp>
      <p:sp>
        <p:nvSpPr>
          <p:cNvPr id="14" name="TextBox 13"/>
          <p:cNvSpPr txBox="1"/>
          <p:nvPr/>
        </p:nvSpPr>
        <p:spPr>
          <a:xfrm>
            <a:off x="6245352" y="2121408"/>
            <a:ext cx="5120640" cy="2834640"/>
          </a:xfrm>
          <a:prstGeom prst="rect">
            <a:avLst/>
          </a:prstGeom>
          <a:noFill/>
        </p:spPr>
        <p:txBody>
          <a:bodyPr wrap="square" lIns="18288" rIns="18288" tIns="0" bIns="0" anchor="t">
            <a:noAutofit/>
          </a:bodyPr>
          <a:lstStyle/>
          <a:p>
            <a:pPr algn="l">
              <a:lnSpc>
                <a:spcPct val="105000"/>
              </a:lnSpc>
              <a:spcBef>
                <a:spcPts val="0"/>
              </a:spcBef>
              <a:spcAft>
                <a:spcPts val="500"/>
              </a:spcAft>
            </a:pPr>
            <a:r>
              <a:rPr sz="1100" b="0" i="0" lang="id-ID">
                <a:solidFill>
                  <a:srgbClr val="3E4C54"/>
                </a:solidFill>
                <a:latin typeface="Calibri"/>
              </a:rPr>
              <a:t>•  Heterogenitas tinggi, I² 93–98%, sehingga angka tunggal jangan dibaca sebagai presisi</a:t>
            </a:r>
          </a:p>
          <a:p>
            <a:pPr algn="l">
              <a:lnSpc>
                <a:spcPct val="105000"/>
              </a:lnSpc>
              <a:spcBef>
                <a:spcPts val="0"/>
              </a:spcBef>
              <a:spcAft>
                <a:spcPts val="500"/>
              </a:spcAft>
            </a:pPr>
            <a:r>
              <a:rPr sz="1100" b="0" i="0" lang="id-ID">
                <a:solidFill>
                  <a:srgbClr val="3E4C54"/>
                </a:solidFill>
                <a:latin typeface="Calibri"/>
              </a:rPr>
              <a:t>•  48,7% studi gagal pada representativitas sampel</a:t>
            </a:r>
          </a:p>
          <a:p>
            <a:pPr algn="l">
              <a:lnSpc>
                <a:spcPct val="105000"/>
              </a:lnSpc>
              <a:spcBef>
                <a:spcPts val="0"/>
              </a:spcBef>
              <a:spcAft>
                <a:spcPts val="500"/>
              </a:spcAft>
            </a:pPr>
            <a:r>
              <a:rPr sz="1100" b="0" i="0" lang="id-ID">
                <a:solidFill>
                  <a:srgbClr val="3E4C54"/>
                </a:solidFill>
                <a:latin typeface="Calibri"/>
              </a:rPr>
              <a:t>•  Dari 116 studi, hanya 98 masuk analisis utama</a:t>
            </a:r>
          </a:p>
          <a:p>
            <a:pPr algn="l">
              <a:lnSpc>
                <a:spcPct val="105000"/>
              </a:lnSpc>
              <a:spcBef>
                <a:spcPts val="0"/>
              </a:spcBef>
              <a:spcAft>
                <a:spcPts val="500"/>
              </a:spcAft>
            </a:pPr>
            <a:r>
              <a:rPr sz="1100" b="0" i="0" lang="id-ID">
                <a:solidFill>
                  <a:srgbClr val="3E4C54"/>
                </a:solidFill>
                <a:latin typeface="Calibri"/>
              </a:rPr>
              <a:t>•  Estimasi keparahan dan HSPM hanya dari 7 sampai 33 studi</a:t>
            </a:r>
          </a:p>
          <a:p>
            <a:pPr algn="l">
              <a:lnSpc>
                <a:spcPct val="105000"/>
              </a:lnSpc>
              <a:spcBef>
                <a:spcPts val="0"/>
              </a:spcBef>
              <a:spcAft>
                <a:spcPts val="500"/>
              </a:spcAft>
            </a:pPr>
            <a:r>
              <a:rPr sz="1100" b="0" i="0" lang="id-ID">
                <a:solidFill>
                  <a:srgbClr val="3E4C54"/>
                </a:solidFill>
                <a:latin typeface="Calibri"/>
              </a:rPr>
              <a:t>•  Faktor medis, sosiodemografis, dan lingkungan tidak bisa dianalisis</a:t>
            </a:r>
          </a:p>
          <a:p>
            <a:pPr algn="l">
              <a:lnSpc>
                <a:spcPct val="105000"/>
              </a:lnSpc>
              <a:spcBef>
                <a:spcPts val="0"/>
              </a:spcBef>
              <a:spcAft>
                <a:spcPts val="500"/>
              </a:spcAft>
            </a:pPr>
            <a:r>
              <a:rPr sz="1100" b="0" i="0" lang="id-ID">
                <a:solidFill>
                  <a:srgbClr val="3E4C54"/>
                </a:solidFill>
                <a:latin typeface="Calibri"/>
              </a:rPr>
              <a:t>•  Tanpa penilaian GRADE; kepastian bukti memakai SORT</a:t>
            </a:r>
          </a:p>
        </p:txBody>
      </p:sp>
      <p:sp>
        <p:nvSpPr>
          <p:cNvPr id="15" name="Rectangle 14"/>
          <p:cNvSpPr/>
          <p:nvPr/>
        </p:nvSpPr>
        <p:spPr>
          <a:xfrm>
            <a:off x="640080" y="504748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5193792"/>
            <a:ext cx="10908792" cy="73152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Dua hal kecil yang saya catat sendiri saat membaca: angka insisivus berbeda antara abstrak (36,6%) dan Tabel 2 (38,7%), dan penyebutan basis data tidak seragam di bagian metode.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IMPLIKASI KLINIS</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Langkah praktis di klinik</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14</a:t>
            </a:r>
          </a:p>
        </p:txBody>
      </p:sp>
      <p:sp>
        <p:nvSpPr>
          <p:cNvPr id="10" name="Rectangle 9"/>
          <p:cNvSpPr/>
          <p:nvPr/>
        </p:nvSpPr>
        <p:spPr>
          <a:xfrm>
            <a:off x="640080" y="184708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0080" y="1764792"/>
            <a:ext cx="182880" cy="18288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1719072"/>
            <a:ext cx="365760" cy="274320"/>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55E75"/>
                </a:solidFill>
                <a:latin typeface="Cambria"/>
              </a:rPr>
              <a:t>1</a:t>
            </a:r>
          </a:p>
        </p:txBody>
      </p:sp>
      <p:sp>
        <p:nvSpPr>
          <p:cNvPr id="13" name="TextBox 12"/>
          <p:cNvSpPr txBox="1"/>
          <p:nvPr/>
        </p:nvSpPr>
        <p:spPr>
          <a:xfrm>
            <a:off x="640080" y="2103120"/>
            <a:ext cx="2542032" cy="603504"/>
          </a:xfrm>
          <a:prstGeom prst="rect">
            <a:avLst/>
          </a:prstGeom>
          <a:noFill/>
        </p:spPr>
        <p:txBody>
          <a:bodyPr wrap="square" lIns="18288" rIns="18288" tIns="0" bIns="0" anchor="t">
            <a:noAutofit/>
          </a:bodyPr>
          <a:lstStyle/>
          <a:p>
            <a:pPr algn="l">
              <a:lnSpc>
                <a:spcPct val="104000"/>
              </a:lnSpc>
              <a:spcBef>
                <a:spcPts val="0"/>
              </a:spcBef>
              <a:spcAft>
                <a:spcPts val="0"/>
              </a:spcAft>
            </a:pPr>
            <a:r>
              <a:rPr sz="1350" b="0" i="0" lang="id-ID">
                <a:solidFill>
                  <a:srgbClr val="141E24"/>
                </a:solidFill>
                <a:latin typeface="Cambria"/>
              </a:rPr>
              <a:t>Periksa lebih awal</a:t>
            </a:r>
          </a:p>
        </p:txBody>
      </p:sp>
      <p:sp>
        <p:nvSpPr>
          <p:cNvPr id="14" name="TextBox 13"/>
          <p:cNvSpPr txBox="1"/>
          <p:nvPr/>
        </p:nvSpPr>
        <p:spPr>
          <a:xfrm>
            <a:off x="640080" y="2779776"/>
            <a:ext cx="2542032" cy="118872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Molar pertama permanen diperiksa begitu erupsi, sekitar usia 6 sampai 8 tahun.</a:t>
            </a:r>
          </a:p>
        </p:txBody>
      </p:sp>
      <p:sp>
        <p:nvSpPr>
          <p:cNvPr id="15" name="Oval 14"/>
          <p:cNvSpPr/>
          <p:nvPr/>
        </p:nvSpPr>
        <p:spPr>
          <a:xfrm>
            <a:off x="3383280" y="1764792"/>
            <a:ext cx="182880" cy="18288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75887" y="1719072"/>
            <a:ext cx="365760" cy="274320"/>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55E75"/>
                </a:solidFill>
                <a:latin typeface="Cambria"/>
              </a:rPr>
              <a:t>2</a:t>
            </a:r>
          </a:p>
        </p:txBody>
      </p:sp>
      <p:sp>
        <p:nvSpPr>
          <p:cNvPr id="17" name="TextBox 16"/>
          <p:cNvSpPr txBox="1"/>
          <p:nvPr/>
        </p:nvSpPr>
        <p:spPr>
          <a:xfrm>
            <a:off x="3383280" y="2103120"/>
            <a:ext cx="2542032" cy="603504"/>
          </a:xfrm>
          <a:prstGeom prst="rect">
            <a:avLst/>
          </a:prstGeom>
          <a:noFill/>
        </p:spPr>
        <p:txBody>
          <a:bodyPr wrap="square" lIns="18288" rIns="18288" tIns="0" bIns="0" anchor="t">
            <a:noAutofit/>
          </a:bodyPr>
          <a:lstStyle/>
          <a:p>
            <a:pPr algn="l">
              <a:lnSpc>
                <a:spcPct val="104000"/>
              </a:lnSpc>
              <a:spcBef>
                <a:spcPts val="0"/>
              </a:spcBef>
              <a:spcAft>
                <a:spcPts val="0"/>
              </a:spcAft>
            </a:pPr>
            <a:r>
              <a:rPr sz="1350" b="0" i="0" lang="id-ID">
                <a:solidFill>
                  <a:srgbClr val="141E24"/>
                </a:solidFill>
                <a:latin typeface="Cambria"/>
              </a:rPr>
              <a:t>Pakai kriteria EAPD</a:t>
            </a:r>
          </a:p>
        </p:txBody>
      </p:sp>
      <p:sp>
        <p:nvSpPr>
          <p:cNvPr id="18" name="TextBox 17"/>
          <p:cNvSpPr txBox="1"/>
          <p:nvPr/>
        </p:nvSpPr>
        <p:spPr>
          <a:xfrm>
            <a:off x="3383280" y="2779776"/>
            <a:ext cx="2542032" cy="118872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Satu kriteria untuk semua pasien, disertai foto klinis, supaya catatan kita sebanding.</a:t>
            </a:r>
          </a:p>
        </p:txBody>
      </p:sp>
      <p:sp>
        <p:nvSpPr>
          <p:cNvPr id="19" name="Rectangle 18"/>
          <p:cNvSpPr/>
          <p:nvPr/>
        </p:nvSpPr>
        <p:spPr>
          <a:xfrm>
            <a:off x="3218688" y="2103120"/>
            <a:ext cx="10972" cy="1865376"/>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126480" y="1764792"/>
            <a:ext cx="182880" cy="18288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19088" y="1719072"/>
            <a:ext cx="365760" cy="274320"/>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55E75"/>
                </a:solidFill>
                <a:latin typeface="Cambria"/>
              </a:rPr>
              <a:t>3</a:t>
            </a:r>
          </a:p>
        </p:txBody>
      </p:sp>
      <p:sp>
        <p:nvSpPr>
          <p:cNvPr id="22" name="TextBox 21"/>
          <p:cNvSpPr txBox="1"/>
          <p:nvPr/>
        </p:nvSpPr>
        <p:spPr>
          <a:xfrm>
            <a:off x="6126480" y="2103120"/>
            <a:ext cx="2542032" cy="603504"/>
          </a:xfrm>
          <a:prstGeom prst="rect">
            <a:avLst/>
          </a:prstGeom>
          <a:noFill/>
        </p:spPr>
        <p:txBody>
          <a:bodyPr wrap="square" lIns="18288" rIns="18288" tIns="0" bIns="0" anchor="t">
            <a:noAutofit/>
          </a:bodyPr>
          <a:lstStyle/>
          <a:p>
            <a:pPr algn="l">
              <a:lnSpc>
                <a:spcPct val="104000"/>
              </a:lnSpc>
              <a:spcBef>
                <a:spcPts val="0"/>
              </a:spcBef>
              <a:spcAft>
                <a:spcPts val="0"/>
              </a:spcAft>
            </a:pPr>
            <a:r>
              <a:rPr sz="1350" b="0" i="0" lang="id-ID">
                <a:solidFill>
                  <a:srgbClr val="141E24"/>
                </a:solidFill>
                <a:latin typeface="Cambria"/>
              </a:rPr>
              <a:t>Catat keparahan</a:t>
            </a:r>
          </a:p>
        </p:txBody>
      </p:sp>
      <p:sp>
        <p:nvSpPr>
          <p:cNvPr id="23" name="TextBox 22"/>
          <p:cNvSpPr txBox="1"/>
          <p:nvPr/>
        </p:nvSpPr>
        <p:spPr>
          <a:xfrm>
            <a:off x="6126480" y="2779776"/>
            <a:ext cx="2542032" cy="118872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Keparahan dan jumlah molar yang terkena menentukan intensitas recall.</a:t>
            </a:r>
          </a:p>
        </p:txBody>
      </p:sp>
      <p:sp>
        <p:nvSpPr>
          <p:cNvPr id="24" name="Rectangle 23"/>
          <p:cNvSpPr/>
          <p:nvPr/>
        </p:nvSpPr>
        <p:spPr>
          <a:xfrm>
            <a:off x="5961888" y="2103120"/>
            <a:ext cx="10972" cy="1865376"/>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869680" y="1764792"/>
            <a:ext cx="182880" cy="18288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62288" y="1719072"/>
            <a:ext cx="365760" cy="274320"/>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55E75"/>
                </a:solidFill>
                <a:latin typeface="Cambria"/>
              </a:rPr>
              <a:t>4</a:t>
            </a:r>
          </a:p>
        </p:txBody>
      </p:sp>
      <p:sp>
        <p:nvSpPr>
          <p:cNvPr id="27" name="TextBox 26"/>
          <p:cNvSpPr txBox="1"/>
          <p:nvPr/>
        </p:nvSpPr>
        <p:spPr>
          <a:xfrm>
            <a:off x="8869680" y="2103120"/>
            <a:ext cx="2542032" cy="603504"/>
          </a:xfrm>
          <a:prstGeom prst="rect">
            <a:avLst/>
          </a:prstGeom>
          <a:noFill/>
        </p:spPr>
        <p:txBody>
          <a:bodyPr wrap="square" lIns="18288" rIns="18288" tIns="0" bIns="0" anchor="t">
            <a:noAutofit/>
          </a:bodyPr>
          <a:lstStyle/>
          <a:p>
            <a:pPr algn="l">
              <a:lnSpc>
                <a:spcPct val="104000"/>
              </a:lnSpc>
              <a:spcBef>
                <a:spcPts val="0"/>
              </a:spcBef>
              <a:spcAft>
                <a:spcPts val="0"/>
              </a:spcAft>
            </a:pPr>
            <a:r>
              <a:rPr sz="1350" b="0" i="0" lang="id-ID">
                <a:solidFill>
                  <a:srgbClr val="141E24"/>
                </a:solidFill>
                <a:latin typeface="Cambria"/>
              </a:rPr>
              <a:t>Tangani seminimal mungkin</a:t>
            </a:r>
          </a:p>
        </p:txBody>
      </p:sp>
      <p:sp>
        <p:nvSpPr>
          <p:cNvPr id="28" name="TextBox 27"/>
          <p:cNvSpPr txBox="1"/>
          <p:nvPr/>
        </p:nvSpPr>
        <p:spPr>
          <a:xfrm>
            <a:off x="8869680" y="2779776"/>
            <a:ext cx="2542032" cy="118872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Desensitisasi, sealant, restorasi bila enamel pecah. Hindari preparasi agresif.</a:t>
            </a:r>
          </a:p>
        </p:txBody>
      </p:sp>
      <p:sp>
        <p:nvSpPr>
          <p:cNvPr id="29" name="Rectangle 28"/>
          <p:cNvSpPr/>
          <p:nvPr/>
        </p:nvSpPr>
        <p:spPr>
          <a:xfrm>
            <a:off x="8705088" y="2103120"/>
            <a:ext cx="10972" cy="1865376"/>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40080" y="4370832"/>
            <a:ext cx="10908792" cy="1188720"/>
          </a:xfrm>
          <a:prstGeom prst="roundRect">
            <a:avLst>
              <a:gd name="adj" fmla="val 7692"/>
            </a:avLst>
          </a:prstGeom>
          <a:solidFill>
            <a:srgbClr val="E4F3F5"/>
          </a:solidFill>
          <a:ln w="9525">
            <a:solidFill>
              <a:srgbClr val="BFD9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40080" y="4370832"/>
            <a:ext cx="45720" cy="118872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14400" y="4553712"/>
            <a:ext cx="10241280" cy="822960"/>
          </a:xfrm>
          <a:prstGeom prst="rect">
            <a:avLst/>
          </a:prstGeom>
          <a:noFill/>
        </p:spPr>
        <p:txBody>
          <a:bodyPr wrap="square" lIns="18288" rIns="18288" tIns="0" bIns="0" anchor="ctr">
            <a:noAutofit/>
          </a:bodyPr>
          <a:lstStyle/>
          <a:p>
            <a:pPr algn="l">
              <a:spcBef>
                <a:spcPts val="0"/>
              </a:spcBef>
              <a:spcAft>
                <a:spcPts val="0"/>
              </a:spcAft>
            </a:pPr>
            <a:r>
              <a:rPr sz="1300" b="0" i="0" lang="id-ID">
                <a:solidFill>
                  <a:srgbClr val="141E24"/>
                </a:solidFill>
                <a:latin typeface="Cambria"/>
              </a:rPr>
              <a:t>Untuk program sekolah: angka 13% sampai 15% cukup tinggi untuk menjadikan pemeriksaan MIH bagian dari skrining rutin, bukan temuan yang kebetulan terlihat.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KESIMPULAN</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Kesimpulan</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15</a:t>
            </a:r>
          </a:p>
        </p:txBody>
      </p:sp>
      <p:sp>
        <p:nvSpPr>
          <p:cNvPr id="10" name="TextBox 9"/>
          <p:cNvSpPr txBox="1"/>
          <p:nvPr/>
        </p:nvSpPr>
        <p:spPr>
          <a:xfrm>
            <a:off x="640080" y="1847088"/>
            <a:ext cx="3401568" cy="1097280"/>
          </a:xfrm>
          <a:prstGeom prst="rect">
            <a:avLst/>
          </a:prstGeom>
          <a:noFill/>
        </p:spPr>
        <p:txBody>
          <a:bodyPr wrap="square" lIns="18288" rIns="18288" tIns="0" bIns="0" anchor="t">
            <a:noAutofit/>
          </a:bodyPr>
          <a:lstStyle/>
          <a:p>
            <a:pPr algn="l">
              <a:lnSpc>
                <a:spcPct val="100000"/>
              </a:lnSpc>
              <a:spcBef>
                <a:spcPts val="0"/>
              </a:spcBef>
              <a:spcAft>
                <a:spcPts val="0"/>
              </a:spcAft>
            </a:pPr>
            <a:r>
              <a:rPr sz="5200" b="0" i="0" lang="id-ID">
                <a:solidFill>
                  <a:srgbClr val="155E75"/>
                </a:solidFill>
                <a:latin typeface="Cambria"/>
              </a:rPr>
              <a:t>13,5%</a:t>
            </a:r>
          </a:p>
        </p:txBody>
      </p:sp>
      <p:sp>
        <p:nvSpPr>
          <p:cNvPr id="11" name="TextBox 10"/>
          <p:cNvSpPr txBox="1"/>
          <p:nvPr/>
        </p:nvSpPr>
        <p:spPr>
          <a:xfrm>
            <a:off x="640080" y="2962656"/>
            <a:ext cx="3401568" cy="292608"/>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41E24"/>
                </a:solidFill>
                <a:latin typeface="Calibri"/>
              </a:rPr>
              <a:t>prevalensi global</a:t>
            </a:r>
          </a:p>
        </p:txBody>
      </p:sp>
      <p:sp>
        <p:nvSpPr>
          <p:cNvPr id="12" name="TextBox 11"/>
          <p:cNvSpPr txBox="1"/>
          <p:nvPr/>
        </p:nvSpPr>
        <p:spPr>
          <a:xfrm>
            <a:off x="640080" y="3273552"/>
            <a:ext cx="3401568" cy="658368"/>
          </a:xfrm>
          <a:prstGeom prst="rect">
            <a:avLst/>
          </a:prstGeom>
          <a:noFill/>
        </p:spPr>
        <p:txBody>
          <a:bodyPr wrap="square" lIns="18288" rIns="18288" tIns="0" bIns="0" anchor="t">
            <a:noAutofit/>
          </a:bodyPr>
          <a:lstStyle/>
          <a:p>
            <a:pPr algn="l">
              <a:lnSpc>
                <a:spcPct val="110000"/>
              </a:lnSpc>
              <a:spcBef>
                <a:spcPts val="0"/>
              </a:spcBef>
              <a:spcAft>
                <a:spcPts val="0"/>
              </a:spcAft>
            </a:pPr>
            <a:r>
              <a:rPr sz="1100" b="0" i="0" lang="id-ID">
                <a:solidFill>
                  <a:srgbClr val="3E4C54"/>
                </a:solidFill>
                <a:latin typeface="Calibri"/>
              </a:rPr>
              <a:t>dari 113.089 anak, kepastian bukti SORT A</a:t>
            </a:r>
          </a:p>
        </p:txBody>
      </p:sp>
      <p:sp>
        <p:nvSpPr>
          <p:cNvPr id="13" name="TextBox 12"/>
          <p:cNvSpPr txBox="1"/>
          <p:nvPr/>
        </p:nvSpPr>
        <p:spPr>
          <a:xfrm>
            <a:off x="4352544" y="1847088"/>
            <a:ext cx="3401568" cy="1097280"/>
          </a:xfrm>
          <a:prstGeom prst="rect">
            <a:avLst/>
          </a:prstGeom>
          <a:noFill/>
        </p:spPr>
        <p:txBody>
          <a:bodyPr wrap="square" lIns="18288" rIns="18288" tIns="0" bIns="0" anchor="t">
            <a:noAutofit/>
          </a:bodyPr>
          <a:lstStyle/>
          <a:p>
            <a:pPr algn="l">
              <a:lnSpc>
                <a:spcPct val="100000"/>
              </a:lnSpc>
              <a:spcBef>
                <a:spcPts val="0"/>
              </a:spcBef>
              <a:spcAft>
                <a:spcPts val="0"/>
              </a:spcAft>
            </a:pPr>
            <a:r>
              <a:rPr sz="5200" b="0" i="0" lang="id-ID">
                <a:solidFill>
                  <a:srgbClr val="155E75"/>
                </a:solidFill>
                <a:latin typeface="Cambria"/>
              </a:rPr>
              <a:t>36,3%</a:t>
            </a:r>
          </a:p>
        </p:txBody>
      </p:sp>
      <p:sp>
        <p:nvSpPr>
          <p:cNvPr id="14" name="TextBox 13"/>
          <p:cNvSpPr txBox="1"/>
          <p:nvPr/>
        </p:nvSpPr>
        <p:spPr>
          <a:xfrm>
            <a:off x="4352544" y="2962656"/>
            <a:ext cx="3401568" cy="292608"/>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41E24"/>
                </a:solidFill>
                <a:latin typeface="Calibri"/>
              </a:rPr>
              <a:t>kasus sedang sampai berat</a:t>
            </a:r>
          </a:p>
        </p:txBody>
      </p:sp>
      <p:sp>
        <p:nvSpPr>
          <p:cNvPr id="15" name="TextBox 14"/>
          <p:cNvSpPr txBox="1"/>
          <p:nvPr/>
        </p:nvSpPr>
        <p:spPr>
          <a:xfrm>
            <a:off x="4352544" y="3273552"/>
            <a:ext cx="3401568" cy="658368"/>
          </a:xfrm>
          <a:prstGeom prst="rect">
            <a:avLst/>
          </a:prstGeom>
          <a:noFill/>
        </p:spPr>
        <p:txBody>
          <a:bodyPr wrap="square" lIns="18288" rIns="18288" tIns="0" bIns="0" anchor="t">
            <a:noAutofit/>
          </a:bodyPr>
          <a:lstStyle/>
          <a:p>
            <a:pPr algn="l">
              <a:lnSpc>
                <a:spcPct val="110000"/>
              </a:lnSpc>
              <a:spcBef>
                <a:spcPts val="0"/>
              </a:spcBef>
              <a:spcAft>
                <a:spcPts val="0"/>
              </a:spcAft>
            </a:pPr>
            <a:r>
              <a:rPr sz="1100" b="0" i="0" lang="id-ID">
                <a:solidFill>
                  <a:srgbClr val="3E4C54"/>
                </a:solidFill>
                <a:latin typeface="Calibri"/>
              </a:rPr>
              <a:t>artinya butuh perawatan, bukan pemantauan saja</a:t>
            </a:r>
          </a:p>
        </p:txBody>
      </p:sp>
      <p:sp>
        <p:nvSpPr>
          <p:cNvPr id="16" name="Rectangle 15"/>
          <p:cNvSpPr/>
          <p:nvPr/>
        </p:nvSpPr>
        <p:spPr>
          <a:xfrm>
            <a:off x="4041648" y="1920240"/>
            <a:ext cx="10972" cy="1883664"/>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65008" y="1847088"/>
            <a:ext cx="3401568" cy="1097280"/>
          </a:xfrm>
          <a:prstGeom prst="rect">
            <a:avLst/>
          </a:prstGeom>
          <a:noFill/>
        </p:spPr>
        <p:txBody>
          <a:bodyPr wrap="square" lIns="18288" rIns="18288" tIns="0" bIns="0" anchor="t">
            <a:noAutofit/>
          </a:bodyPr>
          <a:lstStyle/>
          <a:p>
            <a:pPr algn="l">
              <a:lnSpc>
                <a:spcPct val="100000"/>
              </a:lnSpc>
              <a:spcBef>
                <a:spcPts val="0"/>
              </a:spcBef>
              <a:spcAft>
                <a:spcPts val="0"/>
              </a:spcAft>
            </a:pPr>
            <a:r>
              <a:rPr sz="5200" b="0" i="0" lang="id-ID">
                <a:solidFill>
                  <a:srgbClr val="155E75"/>
                </a:solidFill>
                <a:latin typeface="Cambria"/>
              </a:rPr>
              <a:t>3,6%</a:t>
            </a:r>
          </a:p>
        </p:txBody>
      </p:sp>
      <p:sp>
        <p:nvSpPr>
          <p:cNvPr id="18" name="TextBox 17"/>
          <p:cNvSpPr txBox="1"/>
          <p:nvPr/>
        </p:nvSpPr>
        <p:spPr>
          <a:xfrm>
            <a:off x="8065008" y="2962656"/>
            <a:ext cx="3401568" cy="292608"/>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41E24"/>
                </a:solidFill>
                <a:latin typeface="Calibri"/>
              </a:rPr>
              <a:t>HSPM menyertai MIH</a:t>
            </a:r>
          </a:p>
        </p:txBody>
      </p:sp>
      <p:sp>
        <p:nvSpPr>
          <p:cNvPr id="19" name="TextBox 18"/>
          <p:cNvSpPr txBox="1"/>
          <p:nvPr/>
        </p:nvSpPr>
        <p:spPr>
          <a:xfrm>
            <a:off x="8065008" y="3273552"/>
            <a:ext cx="3401568" cy="658368"/>
          </a:xfrm>
          <a:prstGeom prst="rect">
            <a:avLst/>
          </a:prstGeom>
          <a:noFill/>
        </p:spPr>
        <p:txBody>
          <a:bodyPr wrap="square" lIns="18288" rIns="18288" tIns="0" bIns="0" anchor="t">
            <a:noAutofit/>
          </a:bodyPr>
          <a:lstStyle/>
          <a:p>
            <a:pPr algn="l">
              <a:lnSpc>
                <a:spcPct val="110000"/>
              </a:lnSpc>
              <a:spcBef>
                <a:spcPts val="0"/>
              </a:spcBef>
              <a:spcAft>
                <a:spcPts val="0"/>
              </a:spcAft>
            </a:pPr>
            <a:r>
              <a:rPr sz="1100" b="0" i="0" lang="id-ID">
                <a:solidFill>
                  <a:srgbClr val="3E4C54"/>
                </a:solidFill>
                <a:latin typeface="Calibri"/>
              </a:rPr>
              <a:t>molar sulung juga perlu diperiksa</a:t>
            </a:r>
          </a:p>
        </p:txBody>
      </p:sp>
      <p:sp>
        <p:nvSpPr>
          <p:cNvPr id="20" name="Rectangle 19"/>
          <p:cNvSpPr/>
          <p:nvPr/>
        </p:nvSpPr>
        <p:spPr>
          <a:xfrm>
            <a:off x="7754112" y="1920240"/>
            <a:ext cx="10972" cy="1883664"/>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40080" y="4224528"/>
            <a:ext cx="10908792" cy="2011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0080" y="4425696"/>
            <a:ext cx="10908792" cy="731520"/>
          </a:xfrm>
          <a:prstGeom prst="rect">
            <a:avLst/>
          </a:prstGeom>
          <a:noFill/>
        </p:spPr>
        <p:txBody>
          <a:bodyPr wrap="square" lIns="18288" rIns="18288" tIns="0" bIns="0" anchor="t">
            <a:noAutofit/>
          </a:bodyPr>
          <a:lstStyle/>
          <a:p>
            <a:pPr algn="l">
              <a:lnSpc>
                <a:spcPct val="106000"/>
              </a:lnSpc>
              <a:spcBef>
                <a:spcPts val="0"/>
              </a:spcBef>
              <a:spcAft>
                <a:spcPts val="0"/>
              </a:spcAft>
            </a:pPr>
            <a:r>
              <a:rPr sz="1600" b="0" i="0" lang="id-ID">
                <a:solidFill>
                  <a:srgbClr val="141E24"/>
                </a:solidFill>
                <a:latin typeface="Cambria"/>
              </a:rPr>
              <a:t>Dengan kriteria yang sama, catatan klinik kita bisa dibandingkan dengan literatur internasional.</a:t>
            </a:r>
          </a:p>
        </p:txBody>
      </p:sp>
      <p:sp>
        <p:nvSpPr>
          <p:cNvPr id="23" name="TextBox 22"/>
          <p:cNvSpPr txBox="1"/>
          <p:nvPr/>
        </p:nvSpPr>
        <p:spPr>
          <a:xfrm>
            <a:off x="640080" y="5321808"/>
            <a:ext cx="10908792" cy="676656"/>
          </a:xfrm>
          <a:prstGeom prst="rect">
            <a:avLst/>
          </a:prstGeom>
          <a:noFill/>
        </p:spPr>
        <p:txBody>
          <a:bodyPr wrap="square" lIns="18288" rIns="18288" tIns="0" bIns="0" anchor="t">
            <a:noAutofit/>
          </a:bodyPr>
          <a:lstStyle/>
          <a:p>
            <a:pPr algn="l">
              <a:lnSpc>
                <a:spcPct val="118000"/>
              </a:lnSpc>
              <a:spcBef>
                <a:spcPts val="0"/>
              </a:spcBef>
              <a:spcAft>
                <a:spcPts val="0"/>
              </a:spcAft>
            </a:pPr>
            <a:r>
              <a:rPr sz="950" b="0" i="0" lang="id-ID">
                <a:solidFill>
                  <a:srgbClr val="6E7C83"/>
                </a:solidFill>
                <a:latin typeface="Calibri"/>
              </a:rPr>
              <a:t>Lopes LB, dkk. Sci Rep. 2021;11:22405. doi:10.1038/s41598-021-01541-7 (artikel utama)</a:t>
            </a:r>
          </a:p>
          <a:p>
            <a:pPr algn="l">
              <a:lnSpc>
                <a:spcPct val="118000"/>
              </a:lnSpc>
              <a:spcBef>
                <a:spcPts val="0"/>
              </a:spcBef>
              <a:spcAft>
                <a:spcPts val="0"/>
              </a:spcAft>
            </a:pPr>
            <a:r>
              <a:rPr sz="950" b="0" i="0" lang="id-ID">
                <a:solidFill>
                  <a:srgbClr val="6E7C83"/>
                </a:solidFill>
                <a:latin typeface="Calibri"/>
              </a:rPr>
              <a:t>Weerheijm KL, dkk. Eur J Paediatr Dent. 2003;4:110–113 (kriteria EAPD)</a:t>
            </a:r>
          </a:p>
          <a:p>
            <a:pPr algn="l">
              <a:lnSpc>
                <a:spcPct val="118000"/>
              </a:lnSpc>
              <a:spcBef>
                <a:spcPts val="0"/>
              </a:spcBef>
              <a:spcAft>
                <a:spcPts val="0"/>
              </a:spcAft>
            </a:pPr>
            <a:r>
              <a:rPr sz="950" b="0" i="0" lang="id-ID">
                <a:solidFill>
                  <a:srgbClr val="6E7C83"/>
                </a:solidFill>
                <a:latin typeface="Calibri"/>
              </a:rPr>
              <a:t>Schwendicke F, dkk. J Dent. 2018;68:10–18 · Zhao D, dkk. Int J Paediatr Dent. 2018;28:170–179 (tinjauan sebelumnya)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Prevalensi MIH pada Anak dan Remaja</dc:title>
  <dc:subject>Prevalensi MIH pada Anak dan Remaja (Lopes dkk., 2021)</dc:subject>
  <dc:creator>Arena Agent</dc:creator>
  <cp:keywords/>
  <dc:description>Dibangun dari spec.json oleh build_deck.py (skill pptx-deck-creation).</dc:description>
  <cp:lastModifiedBy>Steve Canny</cp:lastModifiedBy>
  <cp:revision>1</cp:revision>
  <dcterms:created xsi:type="dcterms:W3CDTF">2013-01-27T09:14:16Z</dcterms:created>
  <dcterms:modified xsi:type="dcterms:W3CDTF">2013-01-27T09:15:58Z</dcterms:modified>
  <cp:category/>
  <dc:language>id-ID</dc:language>
</cp:coreProperties>
</file>