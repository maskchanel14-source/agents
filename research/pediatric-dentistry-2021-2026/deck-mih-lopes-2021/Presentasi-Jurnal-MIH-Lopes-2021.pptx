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studi</c:v>
                </c:pt>
              </c:strCache>
            </c:strRef>
          </c:tx>
          <c:dPt>
            <c:idx val="0"/>
            <c:spPr>
              <a:solidFill>
                <a:srgbClr val="0E7C8C"/>
              </a:solidFill>
            </c:spPr>
          </c:dPt>
          <c:dPt>
            <c:idx val="1"/>
            <c:spPr>
              <a:solidFill>
                <a:srgbClr val="0E7C8C"/>
              </a:solidFill>
            </c:spPr>
          </c:dPt>
          <c:dPt>
            <c:idx val="2"/>
            <c:spPr>
              <a:solidFill>
                <a:srgbClr val="0E7C8C"/>
              </a:solidFill>
            </c:spPr>
          </c:dPt>
          <c:dPt>
            <c:idx val="3"/>
            <c:spPr>
              <a:solidFill>
                <a:srgbClr val="B26A14"/>
              </a:solidFill>
            </c:spPr>
          </c:dPt>
          <c:cat>
            <c:strRef>
              <c:f>Sheet1!$A$2:$A$5</c:f>
              <c:strCache>
                <c:ptCount val="4"/>
                <c:pt idx="0">
                  <c:v>9/9</c:v>
                </c:pt>
                <c:pt idx="1">
                  <c:v>8/9</c:v>
                </c:pt>
                <c:pt idx="2">
                  <c:v>7/9</c:v>
                </c:pt>
                <c:pt idx="3">
                  <c:v>6/9</c:v>
                </c:pt>
              </c:strCache>
            </c:strRef>
          </c:cat>
          <c:val>
            <c:numRef>
              <c:f>Sheet1!$B$2:$B$5</c:f>
              <c:numCache>
                <c:formatCode>General</c:formatCode>
                <c:ptCount val="4"/>
                <c:pt idx="0">
                  <c:v>48</c:v>
                </c:pt>
                <c:pt idx="1">
                  <c:v>53</c:v>
                </c:pt>
                <c:pt idx="2">
                  <c:v>6</c:v>
                </c:pt>
                <c:pt idx="3">
                  <c:v>1</c:v>
                </c:pt>
              </c:numCache>
            </c:numRef>
          </c:val>
        </c:ser>
        <c:dLbls>
          <c:numFmt formatCode="0" sourceLinked="0"/>
          <c:txPr>
            <a:bodyPr/>
            <a:lstStyle/>
            <a:p>
              <a:pPr>
                <a:defRPr sz="1050" b="1">
                  <a:solidFill>
                    <a:srgbClr val="0F172A"/>
                  </a:solidFill>
                  <a:latin typeface="Calibri"/>
                </a:defRPr>
              </a:pPr>
            </a:p>
          </c:txPr>
          <c:dLblPos val="outEnd"/>
          <c:showLegendKey val="0"/>
          <c:showVal val="1"/>
          <c:showCatName val="0"/>
          <c:showSerName val="0"/>
          <c:showPercent val="0"/>
          <c:showBubbleSize val="0"/>
          <c:showLeaderLines val="1"/>
        </c:dLbls>
        <c:gapWidth val="52"/>
        <c:axId val="-2068027336"/>
        <c:axId val="-2113994440"/>
      </c:barChart>
      <c:catAx>
        <c:axId val="-2068027336"/>
        <c:scaling>
          <c:orientation val="minMax"/>
        </c:scaling>
        <c:delete val="0"/>
        <c:axPos val="b"/>
        <c:majorTickMark val="out"/>
        <c:minorTickMark val="none"/>
        <c:tickLblPos val="nextTo"/>
        <c:txPr>
          <a:bodyPr/>
          <a:lstStyle/>
          <a:p>
            <a:pPr>
              <a:defRPr sz="1050">
                <a:solidFill>
                  <a:srgbClr val="5C757C"/>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050">
          <a:solidFill>
            <a:srgbClr val="5C757C"/>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prevalensi</c:v>
                </c:pt>
              </c:strCache>
            </c:strRef>
          </c:tx>
          <c:dPt>
            <c:idx val="0"/>
            <c:spPr>
              <a:solidFill>
                <a:srgbClr val="0E7C8C"/>
              </a:solidFill>
            </c:spPr>
          </c:dPt>
          <c:dPt>
            <c:idx val="1"/>
            <c:spPr>
              <a:solidFill>
                <a:srgbClr val="D5E5E8"/>
              </a:solidFill>
            </c:spPr>
          </c:dPt>
          <c:cat>
            <c:strRef>
              <c:f>Sheet1!$A$2:$A$3</c:f>
              <c:strCache>
                <c:ptCount val="2"/>
                <c:pt idx="0">
                  <c:v>MIH</c:v>
                </c:pt>
                <c:pt idx="1">
                  <c:v>Tanpa MIH</c:v>
                </c:pt>
              </c:strCache>
            </c:strRef>
          </c:cat>
          <c:val>
            <c:numRef>
              <c:f>Sheet1!$B$2:$B$3</c:f>
              <c:numCache>
                <c:formatCode>General</c:formatCode>
                <c:ptCount val="2"/>
                <c:pt idx="0">
                  <c:v>13.5</c:v>
                </c:pt>
                <c:pt idx="1">
                  <c:v>86.5</c:v>
                </c:pt>
              </c:numCache>
            </c:numRef>
          </c:val>
        </c:ser>
        <c:firstSliceAng val="0"/>
        <c:holeSize val="50"/>
      </c:doughnutChart>
    </c:plotArea>
    <c:plotVisOnly val="1"/>
    <c:dispBlanksAs val="gap"/>
    <c:showDLblsOverMax val="0"/>
  </c:chart>
  <c:txPr>
    <a:bodyPr/>
    <a:lstStyle/>
    <a:p>
      <a:pPr>
        <a:defRPr sz="1000">
          <a:solidFill>
            <a:srgbClr val="5C757C"/>
          </a:solidFill>
          <a:latin typeface="Calibri"/>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persen kasus</c:v>
                </c:pt>
              </c:strCache>
            </c:strRef>
          </c:tx>
          <c:dPt>
            <c:idx val="0"/>
            <c:spPr>
              <a:solidFill>
                <a:srgbClr val="0E7C8C"/>
              </a:solidFill>
            </c:spPr>
          </c:dPt>
          <c:dPt>
            <c:idx val="1"/>
            <c:spPr>
              <a:solidFill>
                <a:srgbClr val="0E7C8C"/>
              </a:solidFill>
            </c:spPr>
          </c:dPt>
          <c:dPt>
            <c:idx val="2"/>
            <c:spPr>
              <a:solidFill>
                <a:srgbClr val="0E7C8C"/>
              </a:solidFill>
            </c:spPr>
          </c:dPt>
          <c:dPt>
            <c:idx val="3"/>
            <c:spPr>
              <a:solidFill>
                <a:srgbClr val="0E7C8C"/>
              </a:solidFill>
            </c:spPr>
          </c:dPt>
          <c:cat>
            <c:strRef>
              <c:f>Sheet1!$A$2:$A$5</c:f>
              <c:strCache>
                <c:ptCount val="4"/>
                <c:pt idx="0">
                  <c:v>4 gigi · 27,4%</c:v>
                </c:pt>
                <c:pt idx="1">
                  <c:v>3 gigi · 18,1%</c:v>
                </c:pt>
                <c:pt idx="2">
                  <c:v>2 gigi · 26,7%</c:v>
                </c:pt>
                <c:pt idx="3">
                  <c:v>1 gigi · 24,3%</c:v>
                </c:pt>
              </c:strCache>
            </c:strRef>
          </c:cat>
          <c:val>
            <c:numRef>
              <c:f>Sheet1!$B$2:$B$5</c:f>
              <c:numCache>
                <c:formatCode>General</c:formatCode>
                <c:ptCount val="4"/>
                <c:pt idx="0">
                  <c:v>27.4</c:v>
                </c:pt>
                <c:pt idx="1">
                  <c:v>18.1</c:v>
                </c:pt>
                <c:pt idx="2">
                  <c:v>26.7</c:v>
                </c:pt>
                <c:pt idx="3">
                  <c:v>24.3</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050">
                <a:solidFill>
                  <a:srgbClr val="5C757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050">
          <a:solidFill>
            <a:srgbClr val="5C757C"/>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persen</c:v>
                </c:pt>
              </c:strCache>
            </c:strRef>
          </c:tx>
          <c:dPt>
            <c:idx val="0"/>
            <c:spPr>
              <a:solidFill>
                <a:srgbClr val="0E7C8C"/>
              </a:solidFill>
            </c:spPr>
          </c:dPt>
          <c:dPt>
            <c:idx val="1"/>
            <c:spPr>
              <a:solidFill>
                <a:srgbClr val="14A0B4"/>
              </a:solidFill>
            </c:spPr>
          </c:dPt>
          <c:cat>
            <c:strRef>
              <c:f>Sheet1!$A$2:$A$3</c:f>
              <c:strCache>
                <c:ptCount val="2"/>
                <c:pt idx="0">
                  <c:v>Amerika · 15,3%</c:v>
                </c:pt>
                <c:pt idx="1">
                  <c:v>Asia · 10,7%</c:v>
                </c:pt>
              </c:strCache>
            </c:strRef>
          </c:cat>
          <c:val>
            <c:numRef>
              <c:f>Sheet1!$B$2:$B$3</c:f>
              <c:numCache>
                <c:formatCode>General</c:formatCode>
                <c:ptCount val="2"/>
                <c:pt idx="0">
                  <c:v>15.3</c:v>
                </c:pt>
                <c:pt idx="1">
                  <c:v>10.7</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100">
                <a:solidFill>
                  <a:srgbClr val="5C757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100">
          <a:solidFill>
            <a:srgbClr val="5C757C"/>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Satu menit untuk sampul. Sebutkan identitas artikelnya: Lopes dkk., Scientific Reports 2021, akses terbuka. Lalu lempar angka besarnya lebih dulu, 13,5%, supaya peserta punya pegangan sejak awal. Kalau ada yang bertanya kenapa artikel ini yang dipilih, jawab: ini meta-analisis terbaru dengan jumlah studi dan peserta terbesar untuk MIH.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Kalau waktu terbatas, seluruh presentasi bisa diringkas dari slide ini. Empat baris angka di kanan adalah intinya: 116 studi, 133.734 peserta, 36,3% kasus berat, dan kepastian bukti SORT A. Artikel ini juga mencatat keparahan dan HSPM, dua hal yang sering dilewatkan tinjauan sebelumnya.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Tunjukkan gambar potongan gigi pelan-pelan, jangan buru-buru. Yang perlu ditekankan: emailnya memang tidak matang sejak awal, jadi rapuh, dan bercaknya punya batas yang tegas. Lesi pada gambar mewakili area hipomineralisasi. Kalau ada peserta yang bertanya soal penyebab, jawab terus terang bahwa sampai artikel ini terbit penyebabnya belum diketahui.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Slide ini alasan kenapa artikel ini ditulis. Tunjuk ujung kiri dan ujung kanan garis. Selisihnya lebih dari empat belas kali lipat, dan itu terjadi pada penyakit yang sama. Penyebab utamanya bukan perbedaan anak, tetapi perbedaan cara menegakkan diagnosis. Dua tinjauan sebelumnya berhenti pada 2017 dan hanya melaporkan prevalensi.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PECO biasanya sudah dikenal peserta, jadi cukup dibaca cepat. Yang layak ditekankan adalah empat luaran di bawah: artikel ini tidak berhenti pada prevalensi, tetapi juga menghitung keparahan, jumlah gigi yang terkena, dan HSPM. Luaran sekunder inilah yang jarang disediakan tinjauan lain.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Empat kartu ini menunjukkan urutan kerjanya. Protokol didaftarkan sebelum pencarian dimulai, itu penting untuk menepis tuduhan memilih hasil. Pencarian berhenti Juli 2021. Soal jumlah basis data, ada catatan kecil: PubMed dan MEDLINE disebut sebagai dua entri terpisah, dan EMBASE hanya muncul di strategi. Untuk replikasi, cek lampiran artikelnya.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Bagian ini yang menentukan apakah hasilnya bisa dipercaya. Kriteria eksklusinya ketat: populasi khusus, molar sulung saja, dan sampel yang tidak representatif dikeluarkan. Efeknya, analisis utama hanya memuat 98 dari 116 studi. Konsekuensinya dibahas lagi di slide keterbatasan.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Tiga angka dulu, lalu grafiknya. Sebanyak 48 studi mendapat skor maksimum, dan hanya satu studi yang berkualitas sedang. Satu hal yang perlu disebut walau tidak enak: 48,7% studi punya kelemahan pada representativitas sampel, dan angka itu akan muncul lagi di slide penilaian kritis.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Slide inti. Baca angkanya lengkap dengan rentang kepercayaan dan jumlah peserta. Kalau ditanya soal I² yang 98%, jawab begini: variasi antar studi memang besar, jadi angka ini paling tepat dibaca sebagai gambaran beban populasi, bukan angka presisi untuk satu kota. Uji Egger dan leave-one-out ditampilkan untuk menunjukkan estimasi ini tidak bergantung pada satu studi.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Dua pesan klinis di slide ini. Pertama, 36,3% kasus sudah sedang sampai berat, artinya lebih dari sepertiga anak perlu perawatan restoratif yang nyata. Kedua, distribusi molarnya hampir merata, 18% sampai 27% di setiap jumlah gigi, jadi tidak ada pola tunggal yang bisa diprediksi. Soal angka insisivus, abstrak menulis 36,6% dan Tabel 2 menulis 38,7%; di deck ini dipakai angka tabel.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Dua temuan yang sifatnya beda. Selisih antar wilayah, Amerika 15,3% dan Asia 10,7%, tidak bermakna secara statistik, dan urutan wilayahnya bergeser dibanding tinjauan 2018. Sebaliknya, pemakaian kriteria non-EAPD menghasilkan estimasi yang berbeda bermakna, p sama dengan 0,0061. Kalau presentasi ini memicu perdebatan, biarkan perdebatannya soal standardisasi diagnosis.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Bagian ini jawaban penulis atas pertanyaan kenapa angkanya berbeda-beda. Pesan utamanya: variasi wilayah lebih menjelaskan dibanding faktor metodologis yang mereka uji. Tiga kolom di bawah adalah alasannya.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Bagian favorit di diskusi jurnal. Sampaikan kekuatannya dengan adil, lalu keterbatasannya tanpa melemahkan artikelnya. Catatan terakhir adalah temuan saya sendiri: angka insisivus berbeda antara abstrak dan tabel, dan penyebutan basis data tidak seragam.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Turunkan ke praktik. Dua langkah pertama bisa dikerjakan besok pagi: periksa molar pertama begitu erupsi, dan pakai kriteria EAPD supaya catatan kita bisa dibandingkan dengan literatur. Kalau audiensnya dari puskesmas atau program sekolah, bagian bawah slide ini yang paling relevan.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Tutup dengan tiga angka, lalu satu kalimat: MIH sering terlewat, dan pencatatan yang rapi membuat data klinik kita sebanding dengan literatur internasional. Dua pertanyaan untuk membuka diskusi: apakah angka di Indonesia mungkin berbeda, dan apakah kriteria EAPD bisa diterapkan di tempat kerja peserta sehari-hari?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kstur batang email gigi, tampilan dekat" descr="cover-enamel.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9098280" cy="6858000"/>
          </a:xfrm>
          <a:prstGeom prst="rect">
            <a:avLst/>
          </a:prstGeom>
          <a:gradFill rotWithShape="1">
            <a:gsLst>
              <a:gs pos="0">
                <a:srgbClr val="08262E">
                  <a:alpha val="93000"/>
                </a:srgbClr>
              </a:gs>
              <a:gs pos="100000">
                <a:srgbClr val="08262E">
                  <a:alpha val="0"/>
                </a:srgbClr>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66928" y="566928"/>
            <a:ext cx="2989173" cy="274320"/>
          </a:xfrm>
          <a:prstGeom prst="roundRect">
            <a:avLst>
              <a:gd name="adj" fmla="val 2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22376" y="629107"/>
            <a:ext cx="2678277" cy="164592"/>
          </a:xfrm>
          <a:prstGeom prst="rect">
            <a:avLst/>
          </a:prstGeom>
          <a:noFill/>
        </p:spPr>
        <p:txBody>
          <a:bodyPr wrap="square" lIns="0" rIns="0" tIns="0" bIns="0" anchor="t">
            <a:noAutofit/>
          </a:bodyPr>
          <a:lstStyle/>
          <a:p>
            <a:pPr algn="l">
              <a:spcBef>
                <a:spcPts val="0"/>
              </a:spcBef>
              <a:spcAft>
                <a:spcPts val="0"/>
              </a:spcAft>
            </a:pPr>
            <a:r>
              <a:rPr sz="950" b="1" i="0" spc="60" lang="id-ID">
                <a:solidFill>
                  <a:srgbClr val="FFFFFF"/>
                </a:solidFill>
                <a:latin typeface="Calibri"/>
              </a:rPr>
              <a:t>DISKUSI JURNAL · KEDOKTERAN GIGI ANAK</a:t>
            </a:r>
          </a:p>
        </p:txBody>
      </p:sp>
      <p:sp>
        <p:nvSpPr>
          <p:cNvPr id="6" name="TextBox 5"/>
          <p:cNvSpPr txBox="1"/>
          <p:nvPr/>
        </p:nvSpPr>
        <p:spPr>
          <a:xfrm>
            <a:off x="566928" y="969264"/>
            <a:ext cx="6053328" cy="1645920"/>
          </a:xfrm>
          <a:prstGeom prst="rect">
            <a:avLst/>
          </a:prstGeom>
          <a:noFill/>
        </p:spPr>
        <p:txBody>
          <a:bodyPr wrap="square" lIns="0" rIns="0" tIns="0" bIns="0" anchor="t">
            <a:noAutofit/>
          </a:bodyPr>
          <a:lstStyle/>
          <a:p>
            <a:pPr algn="l">
              <a:lnSpc>
                <a:spcPct val="102000"/>
              </a:lnSpc>
              <a:spcBef>
                <a:spcPts val="0"/>
              </a:spcBef>
              <a:spcAft>
                <a:spcPts val="0"/>
              </a:spcAft>
            </a:pPr>
            <a:r>
              <a:rPr sz="3100" b="1" i="0" lang="id-ID">
                <a:solidFill>
                  <a:srgbClr val="FFFFFF"/>
                </a:solidFill>
                <a:latin typeface="Cambria"/>
              </a:rPr>
              <a:t>Molar-Incisor Hypomineralization pada anak dan remaja</a:t>
            </a:r>
          </a:p>
        </p:txBody>
      </p:sp>
      <p:sp>
        <p:nvSpPr>
          <p:cNvPr id="7" name="Rectangle 6"/>
          <p:cNvSpPr/>
          <p:nvPr/>
        </p:nvSpPr>
        <p:spPr>
          <a:xfrm>
            <a:off x="566928" y="2724912"/>
            <a:ext cx="841248" cy="50292"/>
          </a:xfrm>
          <a:prstGeom prst="rect">
            <a:avLst/>
          </a:prstGeom>
          <a:solidFill>
            <a:srgbClr val="14A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928" y="2871216"/>
            <a:ext cx="5897880" cy="475488"/>
          </a:xfrm>
          <a:prstGeom prst="rect">
            <a:avLst/>
          </a:prstGeom>
          <a:noFill/>
        </p:spPr>
        <p:txBody>
          <a:bodyPr wrap="square" lIns="0" rIns="0" tIns="0" bIns="0" anchor="t">
            <a:noAutofit/>
          </a:bodyPr>
          <a:lstStyle/>
          <a:p>
            <a:pPr algn="l">
              <a:spcBef>
                <a:spcPts val="0"/>
              </a:spcBef>
              <a:spcAft>
                <a:spcPts val="0"/>
              </a:spcAft>
            </a:pPr>
            <a:r>
              <a:rPr sz="1200" b="0" i="1" lang="id-ID">
                <a:solidFill>
                  <a:srgbClr val="BCDCE2"/>
                </a:solidFill>
                <a:latin typeface="Calibri"/>
              </a:rPr>
              <a:t>The prevalence of molar-incisor hypomineralization: a systematic review and meta-analysis</a:t>
            </a:r>
          </a:p>
        </p:txBody>
      </p:sp>
      <p:sp>
        <p:nvSpPr>
          <p:cNvPr id="9" name="TextBox 8"/>
          <p:cNvSpPr txBox="1"/>
          <p:nvPr/>
        </p:nvSpPr>
        <p:spPr>
          <a:xfrm>
            <a:off x="566928" y="3419856"/>
            <a:ext cx="5989320" cy="640080"/>
          </a:xfrm>
          <a:prstGeom prst="rect">
            <a:avLst/>
          </a:prstGeom>
          <a:noFill/>
        </p:spPr>
        <p:txBody>
          <a:bodyPr wrap="square" lIns="0" rIns="0" tIns="0" bIns="0" anchor="t">
            <a:noAutofit/>
          </a:bodyPr>
          <a:lstStyle/>
          <a:p>
            <a:pPr algn="l">
              <a:lnSpc>
                <a:spcPct val="115000"/>
              </a:lnSpc>
              <a:spcBef>
                <a:spcPts val="0"/>
              </a:spcBef>
              <a:spcAft>
                <a:spcPts val="0"/>
              </a:spcAft>
            </a:pPr>
            <a:r>
              <a:rPr sz="1050" b="0" i="0" lang="id-ID">
                <a:solidFill>
                  <a:srgbClr val="9FC3CA"/>
                </a:solidFill>
                <a:latin typeface="Calibri"/>
              </a:rPr>
              <a:t>Lopes LB, Machado V, Mascarenhas P, Mendes JJ, Botelho J · Egas Moniz, Portugal</a:t>
            </a:r>
          </a:p>
          <a:p>
            <a:pPr algn="l">
              <a:lnSpc>
                <a:spcPct val="115000"/>
              </a:lnSpc>
              <a:spcBef>
                <a:spcPts val="0"/>
              </a:spcBef>
              <a:spcAft>
                <a:spcPts val="0"/>
              </a:spcAft>
            </a:pPr>
            <a:r>
              <a:rPr sz="1050" b="0" i="0" lang="id-ID">
                <a:solidFill>
                  <a:srgbClr val="9FC3CA"/>
                </a:solidFill>
                <a:latin typeface="Calibri"/>
              </a:rPr>
              <a:t>Scientific Reports 2021;11:22405 · akses terbuka CC BY 4.0</a:t>
            </a:r>
          </a:p>
          <a:p>
            <a:pPr algn="l">
              <a:lnSpc>
                <a:spcPct val="115000"/>
              </a:lnSpc>
              <a:spcBef>
                <a:spcPts val="0"/>
              </a:spcBef>
              <a:spcAft>
                <a:spcPts val="0"/>
              </a:spcAft>
            </a:pPr>
            <a:r>
              <a:rPr sz="1050" b="0" i="0" lang="id-ID">
                <a:solidFill>
                  <a:srgbClr val="9FC3CA"/>
                </a:solidFill>
                <a:latin typeface="Calibri"/>
              </a:rPr>
              <a:t>PMID 34789780 · PMC8599453 · PROSPERO CRD42021229435</a:t>
            </a:r>
          </a:p>
        </p:txBody>
      </p:sp>
      <p:sp>
        <p:nvSpPr>
          <p:cNvPr id="10" name="TextBox 9"/>
          <p:cNvSpPr txBox="1"/>
          <p:nvPr/>
        </p:nvSpPr>
        <p:spPr>
          <a:xfrm>
            <a:off x="7370064" y="2395728"/>
            <a:ext cx="4206240" cy="1198778"/>
          </a:xfrm>
          <a:prstGeom prst="rect">
            <a:avLst/>
          </a:prstGeom>
          <a:noFill/>
        </p:spPr>
        <p:txBody>
          <a:bodyPr wrap="square" lIns="0" rIns="0" tIns="0" bIns="0" anchor="t">
            <a:noAutofit/>
          </a:bodyPr>
          <a:lstStyle/>
          <a:p>
            <a:pPr algn="l">
              <a:spcBef>
                <a:spcPts val="0"/>
              </a:spcBef>
              <a:spcAft>
                <a:spcPts val="0"/>
              </a:spcAft>
            </a:pPr>
            <a:r>
              <a:rPr sz="6200" b="1" i="0" lang="id-ID">
                <a:solidFill>
                  <a:srgbClr val="FFFFFF"/>
                </a:solidFill>
                <a:latin typeface="Cambria"/>
              </a:rPr>
              <a:t>13,5%</a:t>
            </a:r>
          </a:p>
        </p:txBody>
      </p:sp>
      <p:sp>
        <p:nvSpPr>
          <p:cNvPr id="11" name="TextBox 10"/>
          <p:cNvSpPr txBox="1"/>
          <p:nvPr/>
        </p:nvSpPr>
        <p:spPr>
          <a:xfrm>
            <a:off x="7424927" y="3639312"/>
            <a:ext cx="3840480" cy="292608"/>
          </a:xfrm>
          <a:prstGeom prst="rect">
            <a:avLst/>
          </a:prstGeom>
          <a:noFill/>
        </p:spPr>
        <p:txBody>
          <a:bodyPr wrap="square" lIns="0" rIns="0" tIns="0" bIns="0" anchor="t">
            <a:noAutofit/>
          </a:bodyPr>
          <a:lstStyle/>
          <a:p>
            <a:pPr algn="l">
              <a:spcBef>
                <a:spcPts val="0"/>
              </a:spcBef>
              <a:spcAft>
                <a:spcPts val="0"/>
              </a:spcAft>
            </a:pPr>
            <a:r>
              <a:rPr sz="1300" b="0" i="0" lang="id-ID">
                <a:solidFill>
                  <a:srgbClr val="DCEFF1"/>
                </a:solidFill>
                <a:latin typeface="Calibri"/>
              </a:rPr>
              <a:t>prevalensi global MIH</a:t>
            </a:r>
          </a:p>
        </p:txBody>
      </p:sp>
      <p:sp>
        <p:nvSpPr>
          <p:cNvPr id="12" name="TextBox 11"/>
          <p:cNvSpPr txBox="1"/>
          <p:nvPr/>
        </p:nvSpPr>
        <p:spPr>
          <a:xfrm>
            <a:off x="7424927" y="3931920"/>
            <a:ext cx="3931920"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9FC3CA"/>
                </a:solidFill>
                <a:latin typeface="Calibri"/>
              </a:rPr>
              <a:t>95% CI 12,0–15,1 · 113.089 anak</a:t>
            </a:r>
          </a:p>
        </p:txBody>
      </p:sp>
      <p:sp>
        <p:nvSpPr>
          <p:cNvPr id="13" name="Rectangle 12"/>
          <p:cNvSpPr/>
          <p:nvPr/>
        </p:nvSpPr>
        <p:spPr>
          <a:xfrm>
            <a:off x="566928"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66928" y="6291072"/>
            <a:ext cx="6903720" cy="256032"/>
          </a:xfrm>
          <a:prstGeom prst="rect">
            <a:avLst/>
          </a:prstGeom>
          <a:noFill/>
        </p:spPr>
        <p:txBody>
          <a:bodyPr wrap="square" lIns="0" rIns="0" tIns="0" bIns="0" anchor="t">
            <a:noAutofit/>
          </a:bodyPr>
          <a:lstStyle/>
          <a:p>
            <a:pPr algn="l">
              <a:spcBef>
                <a:spcPts val="0"/>
              </a:spcBef>
              <a:spcAft>
                <a:spcPts val="0"/>
              </a:spcAft>
            </a:pPr>
            <a:r>
              <a:rPr sz="950" b="0" i="0" lang="id-ID">
                <a:solidFill>
                  <a:srgbClr val="9FC3CA"/>
                </a:solidFill>
                <a:latin typeface="Calibri"/>
              </a:rPr>
              <a:t>Pemateri: ____________________     Tanggal: ____________________</a:t>
            </a:r>
          </a:p>
        </p:txBody>
      </p:sp>
      <p:sp>
        <p:nvSpPr>
          <p:cNvPr id="15" name="TextBox 14"/>
          <p:cNvSpPr txBox="1"/>
          <p:nvPr/>
        </p:nvSpPr>
        <p:spPr>
          <a:xfrm>
            <a:off x="7607808" y="6291072"/>
            <a:ext cx="4041648" cy="256032"/>
          </a:xfrm>
          <a:prstGeom prst="rect">
            <a:avLst/>
          </a:prstGeom>
          <a:noFill/>
        </p:spPr>
        <p:txBody>
          <a:bodyPr wrap="square" lIns="0" rIns="0" tIns="0" bIns="0" anchor="t">
            <a:noAutofit/>
          </a:bodyPr>
          <a:lstStyle/>
          <a:p>
            <a:pPr algn="r">
              <a:spcBef>
                <a:spcPts val="0"/>
              </a:spcBef>
              <a:spcAft>
                <a:spcPts val="0"/>
              </a:spcAft>
            </a:pPr>
            <a:r>
              <a:rPr sz="950" b="0" i="0" lang="id-ID">
                <a:solidFill>
                  <a:srgbClr val="9FC3CA"/>
                </a:solidFill>
                <a:latin typeface="Calibri"/>
              </a:rPr>
              <a:t>Program Studi Kedokteran Gigi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C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732520" y="3520440"/>
            <a:ext cx="5760720" cy="5760720"/>
          </a:xfrm>
          <a:prstGeom prst="ellipse">
            <a:avLst/>
          </a:prstGeom>
          <a:solidFill>
            <a:srgbClr val="D0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3309213"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2647"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8875166"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0"/>
            <a:ext cx="201168" cy="6858000"/>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0" y="1171346"/>
            <a:ext cx="12191695" cy="6400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02  ·  RINGKASAN</a:t>
            </a:r>
          </a:p>
        </p:txBody>
      </p:sp>
      <p:sp>
        <p:nvSpPr>
          <p:cNvPr id="11" name="TextBox 10"/>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13,5% anak dan remaja mengalami MIH</a:t>
            </a:r>
          </a:p>
        </p:txBody>
      </p:sp>
      <p:sp>
        <p:nvSpPr>
          <p:cNvPr id="12" name="Rounded Rectangle 11"/>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Satu dari tujuh sampai delapan anak, dan lebih dari sepertiganya sudah butuh perawatan.</a:t>
            </a:r>
          </a:p>
        </p:txBody>
      </p:sp>
      <p:sp>
        <p:nvSpPr>
          <p:cNvPr id="15" name="Rounded Rectangle 14"/>
          <p:cNvSpPr/>
          <p:nvPr/>
        </p:nvSpPr>
        <p:spPr>
          <a:xfrm>
            <a:off x="530352" y="2048256"/>
            <a:ext cx="3977639" cy="2834640"/>
          </a:xfrm>
          <a:prstGeom prst="roundRect">
            <a:avLst>
              <a:gd name="adj" fmla="val 3225"/>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 y="2267712"/>
            <a:ext cx="3429000" cy="1039672"/>
          </a:xfrm>
          <a:prstGeom prst="rect">
            <a:avLst/>
          </a:prstGeom>
          <a:noFill/>
        </p:spPr>
        <p:txBody>
          <a:bodyPr wrap="square" lIns="0" rIns="0" tIns="0" bIns="0" anchor="t">
            <a:noAutofit/>
          </a:bodyPr>
          <a:lstStyle/>
          <a:p>
            <a:pPr algn="l">
              <a:spcBef>
                <a:spcPts val="0"/>
              </a:spcBef>
              <a:spcAft>
                <a:spcPts val="0"/>
              </a:spcAft>
            </a:pPr>
            <a:r>
              <a:rPr sz="6000" b="1" i="0" lang="id-ID">
                <a:solidFill>
                  <a:srgbClr val="0E7C8C"/>
                </a:solidFill>
                <a:latin typeface="Cambria"/>
              </a:rPr>
              <a:t>13,5%</a:t>
            </a:r>
          </a:p>
        </p:txBody>
      </p:sp>
      <p:sp>
        <p:nvSpPr>
          <p:cNvPr id="17" name="TextBox 16"/>
          <p:cNvSpPr txBox="1"/>
          <p:nvPr/>
        </p:nvSpPr>
        <p:spPr>
          <a:xfrm>
            <a:off x="804672" y="3343960"/>
            <a:ext cx="3429000"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prevalensi global MIH</a:t>
            </a:r>
          </a:p>
        </p:txBody>
      </p:sp>
      <p:sp>
        <p:nvSpPr>
          <p:cNvPr id="18" name="TextBox 17"/>
          <p:cNvSpPr txBox="1"/>
          <p:nvPr/>
        </p:nvSpPr>
        <p:spPr>
          <a:xfrm>
            <a:off x="804672" y="3629253"/>
            <a:ext cx="3429000" cy="398678"/>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95% CI 12,0–15,1 · p &lt; 0,001</a:t>
            </a:r>
          </a:p>
          <a:p>
            <a:pPr algn="l">
              <a:spcBef>
                <a:spcPts val="0"/>
              </a:spcBef>
              <a:spcAft>
                <a:spcPts val="0"/>
              </a:spcAft>
            </a:pPr>
            <a:r>
              <a:rPr sz="1050" b="0" i="0" lang="id-ID">
                <a:solidFill>
                  <a:srgbClr val="5C757C"/>
                </a:solidFill>
                <a:latin typeface="Calibri"/>
              </a:rPr>
              <a:t>Rata-rata tertimbang 98 studi · 113.089 anak</a:t>
            </a:r>
          </a:p>
        </p:txBody>
      </p:sp>
      <p:sp>
        <p:nvSpPr>
          <p:cNvPr id="19" name="TextBox 18"/>
          <p:cNvSpPr txBox="1"/>
          <p:nvPr/>
        </p:nvSpPr>
        <p:spPr>
          <a:xfrm>
            <a:off x="4709160" y="2103120"/>
            <a:ext cx="1874519" cy="445312"/>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116</a:t>
            </a:r>
          </a:p>
        </p:txBody>
      </p:sp>
      <p:sp>
        <p:nvSpPr>
          <p:cNvPr id="20" name="TextBox 19"/>
          <p:cNvSpPr txBox="1"/>
          <p:nvPr/>
        </p:nvSpPr>
        <p:spPr>
          <a:xfrm>
            <a:off x="6729984" y="2084831"/>
            <a:ext cx="4928616" cy="233172"/>
          </a:xfrm>
          <a:prstGeom prst="rect">
            <a:avLst/>
          </a:prstGeom>
          <a:noFill/>
        </p:spPr>
        <p:txBody>
          <a:bodyPr wrap="square" lIns="0" rIns="0" tIns="0" bIns="0" anchor="t">
            <a:noAutofit/>
          </a:bodyPr>
          <a:lstStyle/>
          <a:p>
            <a:pPr algn="l">
              <a:spcBef>
                <a:spcPts val="0"/>
              </a:spcBef>
              <a:spcAft>
                <a:spcPts val="0"/>
              </a:spcAft>
            </a:pPr>
            <a:r>
              <a:rPr sz="1150" b="1" i="0" lang="id-ID">
                <a:solidFill>
                  <a:srgbClr val="08262E"/>
                </a:solidFill>
                <a:latin typeface="Calibri"/>
              </a:rPr>
              <a:t>studi masuk ke tinjauan</a:t>
            </a:r>
          </a:p>
        </p:txBody>
      </p:sp>
      <p:sp>
        <p:nvSpPr>
          <p:cNvPr id="21" name="TextBox 20"/>
          <p:cNvSpPr txBox="1"/>
          <p:nvPr/>
        </p:nvSpPr>
        <p:spPr>
          <a:xfrm>
            <a:off x="6729984" y="2377440"/>
            <a:ext cx="4928616" cy="202082"/>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48 di antaranya berskor NOS 9/9</a:t>
            </a:r>
          </a:p>
        </p:txBody>
      </p:sp>
      <p:sp>
        <p:nvSpPr>
          <p:cNvPr id="22" name="Rectangle 21"/>
          <p:cNvSpPr/>
          <p:nvPr/>
        </p:nvSpPr>
        <p:spPr>
          <a:xfrm>
            <a:off x="4709160" y="2706624"/>
            <a:ext cx="6949440"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709160" y="2816352"/>
            <a:ext cx="1874519" cy="445312"/>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133.734</a:t>
            </a:r>
          </a:p>
        </p:txBody>
      </p:sp>
      <p:sp>
        <p:nvSpPr>
          <p:cNvPr id="24" name="TextBox 23"/>
          <p:cNvSpPr txBox="1"/>
          <p:nvPr/>
        </p:nvSpPr>
        <p:spPr>
          <a:xfrm>
            <a:off x="6729984" y="2798064"/>
            <a:ext cx="4928616" cy="233172"/>
          </a:xfrm>
          <a:prstGeom prst="rect">
            <a:avLst/>
          </a:prstGeom>
          <a:noFill/>
        </p:spPr>
        <p:txBody>
          <a:bodyPr wrap="square" lIns="0" rIns="0" tIns="0" bIns="0" anchor="t">
            <a:noAutofit/>
          </a:bodyPr>
          <a:lstStyle/>
          <a:p>
            <a:pPr algn="l">
              <a:spcBef>
                <a:spcPts val="0"/>
              </a:spcBef>
              <a:spcAft>
                <a:spcPts val="0"/>
              </a:spcAft>
            </a:pPr>
            <a:r>
              <a:rPr sz="1150" b="1" i="0" lang="id-ID">
                <a:solidFill>
                  <a:srgbClr val="08262E"/>
                </a:solidFill>
                <a:latin typeface="Calibri"/>
              </a:rPr>
              <a:t>peserta pada analisis awal</a:t>
            </a:r>
          </a:p>
        </p:txBody>
      </p:sp>
      <p:sp>
        <p:nvSpPr>
          <p:cNvPr id="25" name="TextBox 24"/>
          <p:cNvSpPr txBox="1"/>
          <p:nvPr/>
        </p:nvSpPr>
        <p:spPr>
          <a:xfrm>
            <a:off x="6729984" y="3090672"/>
            <a:ext cx="4928616" cy="202082"/>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113.089 di antaranya masuk analisis utama</a:t>
            </a:r>
          </a:p>
        </p:txBody>
      </p:sp>
      <p:sp>
        <p:nvSpPr>
          <p:cNvPr id="26" name="Rectangle 25"/>
          <p:cNvSpPr/>
          <p:nvPr/>
        </p:nvSpPr>
        <p:spPr>
          <a:xfrm>
            <a:off x="4709160" y="3419856"/>
            <a:ext cx="6949440"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709160" y="3529584"/>
            <a:ext cx="1874519" cy="445312"/>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36,3%</a:t>
            </a:r>
          </a:p>
        </p:txBody>
      </p:sp>
      <p:sp>
        <p:nvSpPr>
          <p:cNvPr id="28" name="TextBox 27"/>
          <p:cNvSpPr txBox="1"/>
          <p:nvPr/>
        </p:nvSpPr>
        <p:spPr>
          <a:xfrm>
            <a:off x="6729984" y="3511296"/>
            <a:ext cx="4928616" cy="233172"/>
          </a:xfrm>
          <a:prstGeom prst="rect">
            <a:avLst/>
          </a:prstGeom>
          <a:noFill/>
        </p:spPr>
        <p:txBody>
          <a:bodyPr wrap="square" lIns="0" rIns="0" tIns="0" bIns="0" anchor="t">
            <a:noAutofit/>
          </a:bodyPr>
          <a:lstStyle/>
          <a:p>
            <a:pPr algn="l">
              <a:spcBef>
                <a:spcPts val="0"/>
              </a:spcBef>
              <a:spcAft>
                <a:spcPts val="0"/>
              </a:spcAft>
            </a:pPr>
            <a:r>
              <a:rPr sz="1150" b="1" i="0" lang="id-ID">
                <a:solidFill>
                  <a:srgbClr val="08262E"/>
                </a:solidFill>
                <a:latin typeface="Calibri"/>
              </a:rPr>
              <a:t>kasus sedang sampai berat</a:t>
            </a:r>
          </a:p>
        </p:txBody>
      </p:sp>
      <p:sp>
        <p:nvSpPr>
          <p:cNvPr id="29" name="TextBox 28"/>
          <p:cNvSpPr txBox="1"/>
          <p:nvPr/>
        </p:nvSpPr>
        <p:spPr>
          <a:xfrm>
            <a:off x="6729984" y="3803904"/>
            <a:ext cx="4928616" cy="202082"/>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95% CI 29,9–43,2 · 33 studi</a:t>
            </a:r>
          </a:p>
        </p:txBody>
      </p:sp>
      <p:sp>
        <p:nvSpPr>
          <p:cNvPr id="30" name="Rectangle 29"/>
          <p:cNvSpPr/>
          <p:nvPr/>
        </p:nvSpPr>
        <p:spPr>
          <a:xfrm>
            <a:off x="4709160" y="4133087"/>
            <a:ext cx="6949440"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709160" y="4242816"/>
            <a:ext cx="1874519" cy="445312"/>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SORT A</a:t>
            </a:r>
          </a:p>
        </p:txBody>
      </p:sp>
      <p:sp>
        <p:nvSpPr>
          <p:cNvPr id="32" name="TextBox 31"/>
          <p:cNvSpPr txBox="1"/>
          <p:nvPr/>
        </p:nvSpPr>
        <p:spPr>
          <a:xfrm>
            <a:off x="6729984" y="4224528"/>
            <a:ext cx="4928616" cy="233172"/>
          </a:xfrm>
          <a:prstGeom prst="rect">
            <a:avLst/>
          </a:prstGeom>
          <a:noFill/>
        </p:spPr>
        <p:txBody>
          <a:bodyPr wrap="square" lIns="0" rIns="0" tIns="0" bIns="0" anchor="t">
            <a:noAutofit/>
          </a:bodyPr>
          <a:lstStyle/>
          <a:p>
            <a:pPr algn="l">
              <a:spcBef>
                <a:spcPts val="0"/>
              </a:spcBef>
              <a:spcAft>
                <a:spcPts val="0"/>
              </a:spcAft>
            </a:pPr>
            <a:r>
              <a:rPr sz="1150" b="1" i="0" lang="id-ID">
                <a:solidFill>
                  <a:srgbClr val="08262E"/>
                </a:solidFill>
                <a:latin typeface="Calibri"/>
              </a:rPr>
              <a:t>kepastian bukti tertinggi</a:t>
            </a:r>
          </a:p>
        </p:txBody>
      </p:sp>
      <p:sp>
        <p:nvSpPr>
          <p:cNvPr id="33" name="TextBox 32"/>
          <p:cNvSpPr txBox="1"/>
          <p:nvPr/>
        </p:nvSpPr>
        <p:spPr>
          <a:xfrm>
            <a:off x="6729984" y="4517136"/>
            <a:ext cx="4928616" cy="202082"/>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tanpa penilaian GRADE</a:t>
            </a:r>
          </a:p>
        </p:txBody>
      </p:sp>
      <p:sp>
        <p:nvSpPr>
          <p:cNvPr id="34" name="Rounded Rectangle 33"/>
          <p:cNvSpPr/>
          <p:nvPr/>
        </p:nvSpPr>
        <p:spPr>
          <a:xfrm>
            <a:off x="530352" y="5029200"/>
            <a:ext cx="11130991" cy="1060704"/>
          </a:xfrm>
          <a:prstGeom prst="roundRect">
            <a:avLst>
              <a:gd name="adj" fmla="val 8620"/>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41248" y="5175504"/>
            <a:ext cx="10509199" cy="402336"/>
          </a:xfrm>
          <a:prstGeom prst="rect">
            <a:avLst/>
          </a:prstGeom>
          <a:noFill/>
        </p:spPr>
        <p:txBody>
          <a:bodyPr wrap="square" lIns="0" rIns="0" tIns="0" bIns="0" anchor="t">
            <a:noAutofit/>
          </a:bodyPr>
          <a:lstStyle/>
          <a:p>
            <a:pPr algn="l">
              <a:spcBef>
                <a:spcPts val="0"/>
              </a:spcBef>
              <a:spcAft>
                <a:spcPts val="0"/>
              </a:spcAft>
            </a:pPr>
            <a:r>
              <a:rPr sz="1500" b="1" i="0" lang="id-ID">
                <a:solidFill>
                  <a:srgbClr val="FFFFFF"/>
                </a:solidFill>
                <a:latin typeface="Cambria"/>
              </a:rPr>
              <a:t>MIH bukan kelainan langka, dan lebih dari sepertiganya butuh perawatan restoratif.</a:t>
            </a:r>
          </a:p>
        </p:txBody>
      </p:sp>
      <p:sp>
        <p:nvSpPr>
          <p:cNvPr id="36" name="TextBox 35"/>
          <p:cNvSpPr txBox="1"/>
          <p:nvPr/>
        </p:nvSpPr>
        <p:spPr>
          <a:xfrm>
            <a:off x="841248" y="5596128"/>
            <a:ext cx="10509199" cy="274320"/>
          </a:xfrm>
          <a:prstGeom prst="rect">
            <a:avLst/>
          </a:prstGeom>
          <a:noFill/>
        </p:spPr>
        <p:txBody>
          <a:bodyPr wrap="square" lIns="0" rIns="0" tIns="0" bIns="0" anchor="t">
            <a:noAutofit/>
          </a:bodyPr>
          <a:lstStyle/>
          <a:p>
            <a:pPr algn="l">
              <a:spcBef>
                <a:spcPts val="0"/>
              </a:spcBef>
              <a:spcAft>
                <a:spcPts val="0"/>
              </a:spcAft>
            </a:pPr>
            <a:r>
              <a:rPr sz="1100" b="0" i="0" lang="id-ID">
                <a:solidFill>
                  <a:srgbClr val="A9CFD6"/>
                </a:solidFill>
                <a:latin typeface="Calibri"/>
              </a:rPr>
              <a:t>Kriteria diagnostik yang seragam membuat angka ini bisa dibandingkan antar negara.</a:t>
            </a:r>
          </a:p>
        </p:txBody>
      </p:sp>
      <p:sp>
        <p:nvSpPr>
          <p:cNvPr id="37" name="Rectangle 36"/>
          <p:cNvSpPr/>
          <p:nvPr/>
        </p:nvSpPr>
        <p:spPr>
          <a:xfrm>
            <a:off x="0" y="6163056"/>
            <a:ext cx="12191695" cy="694944"/>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0" y="6163056"/>
            <a:ext cx="12191695" cy="4114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30352" y="6327648"/>
            <a:ext cx="8595360" cy="256032"/>
          </a:xfrm>
          <a:prstGeom prst="rect">
            <a:avLst/>
          </a:prstGeom>
          <a:noFill/>
        </p:spPr>
        <p:txBody>
          <a:bodyPr wrap="square" lIns="0" rIns="0" tIns="0" bIns="0" anchor="t">
            <a:noAutofit/>
          </a:bodyPr>
          <a:lstStyle/>
          <a:p>
            <a:pPr algn="l">
              <a:spcBef>
                <a:spcPts val="0"/>
              </a:spcBef>
              <a:spcAft>
                <a:spcPts val="0"/>
              </a:spcAft>
            </a:pPr>
            <a:r>
              <a:rPr sz="850" b="0" i="0" lang="id-ID">
                <a:solidFill>
                  <a:srgbClr val="9FC7CF"/>
                </a:solidFill>
                <a:latin typeface="Calibri"/>
              </a:rPr>
              <a:t>Lopes dkk., Sci Rep 2021;11:22405 · DOI 10.1038/s41598-021-01541-7 · CC BY 4.0</a:t>
            </a:r>
          </a:p>
        </p:txBody>
      </p:sp>
      <p:sp>
        <p:nvSpPr>
          <p:cNvPr id="40" name="Rounded Rectangle 39"/>
          <p:cNvSpPr/>
          <p:nvPr/>
        </p:nvSpPr>
        <p:spPr>
          <a:xfrm>
            <a:off x="11204143" y="6291072"/>
            <a:ext cx="457200" cy="256032"/>
          </a:xfrm>
          <a:prstGeom prst="roundRect">
            <a:avLst>
              <a:gd name="adj" fmla="val 17857"/>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11204143" y="6332220"/>
            <a:ext cx="457200"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0B4A5A"/>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F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732520" y="3520440"/>
            <a:ext cx="5760720" cy="5760720"/>
          </a:xfrm>
          <a:prstGeom prst="ellipse">
            <a:avLst/>
          </a:prstGeom>
          <a:solidFill>
            <a:srgbClr val="D2E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3309213"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2647"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8875166"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0"/>
            <a:ext cx="201168" cy="6858000"/>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0" y="1171346"/>
            <a:ext cx="12191695" cy="6400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03  ·  LATAR BELAKANG</a:t>
            </a:r>
          </a:p>
        </p:txBody>
      </p:sp>
      <p:sp>
        <p:nvSpPr>
          <p:cNvPr id="11" name="TextBox 10"/>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Apa itu MIH</a:t>
            </a:r>
          </a:p>
        </p:txBody>
      </p:sp>
      <p:sp>
        <p:nvSpPr>
          <p:cNvPr id="12" name="Rounded Rectangle 11"/>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Email gigi permanen muda gagal matang: opasitas berbatas tegas, dan jaringan yang lebih rapuh daripada email di sebelahnya.</a:t>
            </a:r>
          </a:p>
        </p:txBody>
      </p:sp>
      <p:sp>
        <p:nvSpPr>
          <p:cNvPr id="15" name="Rounded Rectangle 14"/>
          <p:cNvSpPr/>
          <p:nvPr/>
        </p:nvSpPr>
        <p:spPr>
          <a:xfrm>
            <a:off x="530352" y="2048256"/>
            <a:ext cx="5532120" cy="1207008"/>
          </a:xfrm>
          <a:prstGeom prst="roundRect">
            <a:avLst>
              <a:gd name="adj" fmla="val 7575"/>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 y="2212848"/>
            <a:ext cx="4983480" cy="237744"/>
          </a:xfrm>
          <a:prstGeom prst="rect">
            <a:avLst/>
          </a:prstGeom>
          <a:noFill/>
        </p:spPr>
        <p:txBody>
          <a:bodyPr wrap="square" lIns="0" rIns="0" tIns="0" bIns="0" anchor="t">
            <a:noAutofit/>
          </a:bodyPr>
          <a:lstStyle/>
          <a:p>
            <a:pPr algn="l">
              <a:spcBef>
                <a:spcPts val="0"/>
              </a:spcBef>
              <a:spcAft>
                <a:spcPts val="0"/>
              </a:spcAft>
            </a:pPr>
            <a:r>
              <a:rPr sz="1050" b="1" i="0" spc="40" lang="id-ID">
                <a:solidFill>
                  <a:srgbClr val="0E7C8C"/>
                </a:solidFill>
                <a:latin typeface="Calibri"/>
              </a:rPr>
              <a:t>DEFINISI RESMI</a:t>
            </a:r>
          </a:p>
        </p:txBody>
      </p:sp>
      <p:sp>
        <p:nvSpPr>
          <p:cNvPr id="17" name="TextBox 16"/>
          <p:cNvSpPr txBox="1"/>
          <p:nvPr/>
        </p:nvSpPr>
        <p:spPr>
          <a:xfrm>
            <a:off x="804672" y="2505456"/>
            <a:ext cx="4983480" cy="448056"/>
          </a:xfrm>
          <a:prstGeom prst="rect">
            <a:avLst/>
          </a:prstGeom>
          <a:noFill/>
        </p:spPr>
        <p:txBody>
          <a:bodyPr wrap="square" lIns="0" rIns="0" tIns="0" bIns="0" anchor="t">
            <a:noAutofit/>
          </a:bodyPr>
          <a:lstStyle/>
          <a:p>
            <a:pPr algn="l">
              <a:lnSpc>
                <a:spcPct val="112000"/>
              </a:lnSpc>
              <a:spcBef>
                <a:spcPts val="0"/>
              </a:spcBef>
              <a:spcAft>
                <a:spcPts val="0"/>
              </a:spcAft>
            </a:pPr>
            <a:r>
              <a:rPr sz="1150" b="0" i="0" lang="id-ID">
                <a:solidFill>
                  <a:srgbClr val="102A31"/>
                </a:solidFill>
                <a:latin typeface="Calibri"/>
              </a:rPr>
              <a:t>Defek kualitatif email: kandungan mineralnya berkurang, bukan jumlah emailnya.</a:t>
            </a:r>
          </a:p>
        </p:txBody>
      </p:sp>
      <p:sp>
        <p:nvSpPr>
          <p:cNvPr id="18" name="Rounded Rectangle 17"/>
          <p:cNvSpPr/>
          <p:nvPr/>
        </p:nvSpPr>
        <p:spPr>
          <a:xfrm>
            <a:off x="530352" y="3401568"/>
            <a:ext cx="5532120" cy="1207008"/>
          </a:xfrm>
          <a:prstGeom prst="roundRect">
            <a:avLst>
              <a:gd name="adj" fmla="val 7575"/>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04672" y="3566160"/>
            <a:ext cx="4983480" cy="237744"/>
          </a:xfrm>
          <a:prstGeom prst="rect">
            <a:avLst/>
          </a:prstGeom>
          <a:noFill/>
        </p:spPr>
        <p:txBody>
          <a:bodyPr wrap="square" lIns="0" rIns="0" tIns="0" bIns="0" anchor="t">
            <a:noAutofit/>
          </a:bodyPr>
          <a:lstStyle/>
          <a:p>
            <a:pPr algn="l">
              <a:spcBef>
                <a:spcPts val="0"/>
              </a:spcBef>
              <a:spcAft>
                <a:spcPts val="0"/>
              </a:spcAft>
            </a:pPr>
            <a:r>
              <a:rPr sz="1050" b="1" i="0" spc="40" lang="id-ID">
                <a:solidFill>
                  <a:srgbClr val="0E7C8C"/>
                </a:solidFill>
                <a:latin typeface="Calibri"/>
              </a:rPr>
              <a:t>YANG DIRASAKAN ANAK</a:t>
            </a:r>
          </a:p>
        </p:txBody>
      </p:sp>
      <p:sp>
        <p:nvSpPr>
          <p:cNvPr id="20" name="TextBox 19"/>
          <p:cNvSpPr txBox="1"/>
          <p:nvPr/>
        </p:nvSpPr>
        <p:spPr>
          <a:xfrm>
            <a:off x="804672" y="3858768"/>
            <a:ext cx="4983480" cy="448056"/>
          </a:xfrm>
          <a:prstGeom prst="rect">
            <a:avLst/>
          </a:prstGeom>
          <a:noFill/>
        </p:spPr>
        <p:txBody>
          <a:bodyPr wrap="square" lIns="0" rIns="0" tIns="0" bIns="0" anchor="t">
            <a:noAutofit/>
          </a:bodyPr>
          <a:lstStyle/>
          <a:p>
            <a:pPr algn="l">
              <a:lnSpc>
                <a:spcPct val="112000"/>
              </a:lnSpc>
              <a:spcBef>
                <a:spcPts val="0"/>
              </a:spcBef>
              <a:spcAft>
                <a:spcPts val="0"/>
              </a:spcAft>
            </a:pPr>
            <a:r>
              <a:rPr sz="1150" b="0" i="0" lang="id-ID">
                <a:solidFill>
                  <a:srgbClr val="102A31"/>
                </a:solidFill>
                <a:latin typeface="Calibri"/>
              </a:rPr>
              <a:t>Hipersensitivitas dentin, sulit menyikat, dan restorasi yang sering harus diulang.</a:t>
            </a:r>
          </a:p>
        </p:txBody>
      </p:sp>
      <p:sp>
        <p:nvSpPr>
          <p:cNvPr id="21" name="Rounded Rectangle 20"/>
          <p:cNvSpPr/>
          <p:nvPr/>
        </p:nvSpPr>
        <p:spPr>
          <a:xfrm>
            <a:off x="530352" y="4754880"/>
            <a:ext cx="5532120" cy="1207008"/>
          </a:xfrm>
          <a:prstGeom prst="roundRect">
            <a:avLst>
              <a:gd name="adj" fmla="val 7575"/>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04672" y="4919472"/>
            <a:ext cx="4983480" cy="237744"/>
          </a:xfrm>
          <a:prstGeom prst="rect">
            <a:avLst/>
          </a:prstGeom>
          <a:noFill/>
        </p:spPr>
        <p:txBody>
          <a:bodyPr wrap="square" lIns="0" rIns="0" tIns="0" bIns="0" anchor="t">
            <a:noAutofit/>
          </a:bodyPr>
          <a:lstStyle/>
          <a:p>
            <a:pPr algn="l">
              <a:spcBef>
                <a:spcPts val="0"/>
              </a:spcBef>
              <a:spcAft>
                <a:spcPts val="0"/>
              </a:spcAft>
            </a:pPr>
            <a:r>
              <a:rPr sz="1050" b="1" i="0" spc="40" lang="id-ID">
                <a:solidFill>
                  <a:srgbClr val="0E7C8C"/>
                </a:solidFill>
                <a:latin typeface="Calibri"/>
              </a:rPr>
              <a:t>YANG BELUM JELAS</a:t>
            </a:r>
          </a:p>
        </p:txBody>
      </p:sp>
      <p:sp>
        <p:nvSpPr>
          <p:cNvPr id="23" name="TextBox 22"/>
          <p:cNvSpPr txBox="1"/>
          <p:nvPr/>
        </p:nvSpPr>
        <p:spPr>
          <a:xfrm>
            <a:off x="804672" y="5212080"/>
            <a:ext cx="4983480" cy="448056"/>
          </a:xfrm>
          <a:prstGeom prst="rect">
            <a:avLst/>
          </a:prstGeom>
          <a:noFill/>
        </p:spPr>
        <p:txBody>
          <a:bodyPr wrap="square" lIns="0" rIns="0" tIns="0" bIns="0" anchor="t">
            <a:noAutofit/>
          </a:bodyPr>
          <a:lstStyle/>
          <a:p>
            <a:pPr algn="l">
              <a:lnSpc>
                <a:spcPct val="112000"/>
              </a:lnSpc>
              <a:spcBef>
                <a:spcPts val="0"/>
              </a:spcBef>
              <a:spcAft>
                <a:spcPts val="0"/>
              </a:spcAft>
            </a:pPr>
            <a:r>
              <a:rPr sz="1150" b="0" i="0" lang="id-ID">
                <a:solidFill>
                  <a:srgbClr val="102A31"/>
                </a:solidFill>
                <a:latin typeface="Calibri"/>
              </a:rPr>
              <a:t>Penyebabnya belum diketahui, sehingga pencegahan MIH sendiri masih belum bisa dilakukan.</a:t>
            </a:r>
          </a:p>
        </p:txBody>
      </p:sp>
      <p:sp>
        <p:nvSpPr>
          <p:cNvPr id="24" name="Rounded Rectangle 23"/>
          <p:cNvSpPr/>
          <p:nvPr/>
        </p:nvSpPr>
        <p:spPr>
          <a:xfrm>
            <a:off x="6355080" y="2048256"/>
            <a:ext cx="5303520" cy="3913632"/>
          </a:xfrm>
          <a:prstGeom prst="roundRect">
            <a:avLst>
              <a:gd name="adj" fmla="val 2336"/>
            </a:avLst>
          </a:prstGeom>
          <a:solidFill>
            <a:srgbClr val="FBF2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592824" y="2121408"/>
            <a:ext cx="2176272" cy="3236976"/>
          </a:xfrm>
          <a:prstGeom prst="roundRect">
            <a:avLst>
              <a:gd name="adj" fmla="val 2100"/>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otongan molar pertama permanen dengan lesi hipomineralisasi pada email" descr="molar-mih-crop.png"/>
          <p:cNvPicPr>
            <a:picLocks noChangeAspect="1"/>
          </p:cNvPicPr>
          <p:nvPr/>
        </p:nvPicPr>
        <p:blipFill>
          <a:blip r:embed="rId2"/>
          <a:stretch>
            <a:fillRect/>
          </a:stretch>
        </p:blipFill>
        <p:spPr>
          <a:xfrm>
            <a:off x="6702552" y="2231136"/>
            <a:ext cx="1956816" cy="3017520"/>
          </a:xfrm>
          <a:prstGeom prst="rect">
            <a:avLst/>
          </a:prstGeom>
        </p:spPr>
      </p:pic>
      <p:sp>
        <p:nvSpPr>
          <p:cNvPr id="27" name="Rounded Rectangle 26"/>
          <p:cNvSpPr/>
          <p:nvPr/>
        </p:nvSpPr>
        <p:spPr>
          <a:xfrm>
            <a:off x="9006840" y="2487168"/>
            <a:ext cx="128016" cy="128016"/>
          </a:xfrm>
          <a:prstGeom prst="roundRect">
            <a:avLst>
              <a:gd name="adj" fmla="val 50000"/>
            </a:avLst>
          </a:prstGeom>
          <a:solidFill>
            <a:srgbClr val="A8D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6296" y="2446020"/>
            <a:ext cx="2157984" cy="274320"/>
          </a:xfrm>
          <a:prstGeom prst="rect">
            <a:avLst/>
          </a:prstGeom>
          <a:noFill/>
        </p:spPr>
        <p:txBody>
          <a:bodyPr wrap="square" lIns="0" rIns="0" tIns="0" bIns="0" anchor="t">
            <a:noAutofit/>
          </a:bodyPr>
          <a:lstStyle/>
          <a:p>
            <a:pPr algn="l">
              <a:spcBef>
                <a:spcPts val="0"/>
              </a:spcBef>
              <a:spcAft>
                <a:spcPts val="0"/>
              </a:spcAft>
            </a:pPr>
            <a:r>
              <a:rPr sz="1050" b="0" i="0" lang="id-ID">
                <a:solidFill>
                  <a:srgbClr val="102A31"/>
                </a:solidFill>
                <a:latin typeface="Calibri"/>
              </a:rPr>
              <a:t>email sehat</a:t>
            </a:r>
          </a:p>
        </p:txBody>
      </p:sp>
      <p:sp>
        <p:nvSpPr>
          <p:cNvPr id="29" name="Rounded Rectangle 28"/>
          <p:cNvSpPr/>
          <p:nvPr/>
        </p:nvSpPr>
        <p:spPr>
          <a:xfrm>
            <a:off x="9006840" y="2834640"/>
            <a:ext cx="128016" cy="128016"/>
          </a:xfrm>
          <a:prstGeom prst="roundRect">
            <a:avLst>
              <a:gd name="adj" fmla="val 50000"/>
            </a:avLst>
          </a:prstGeom>
          <a:solidFill>
            <a:srgbClr val="D9A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226296" y="2793492"/>
            <a:ext cx="2157984" cy="274320"/>
          </a:xfrm>
          <a:prstGeom prst="rect">
            <a:avLst/>
          </a:prstGeom>
          <a:noFill/>
        </p:spPr>
        <p:txBody>
          <a:bodyPr wrap="square" lIns="0" rIns="0" tIns="0" bIns="0" anchor="t">
            <a:noAutofit/>
          </a:bodyPr>
          <a:lstStyle/>
          <a:p>
            <a:pPr algn="l">
              <a:spcBef>
                <a:spcPts val="0"/>
              </a:spcBef>
              <a:spcAft>
                <a:spcPts val="0"/>
              </a:spcAft>
            </a:pPr>
            <a:r>
              <a:rPr sz="1050" b="0" i="0" lang="id-ID">
                <a:solidFill>
                  <a:srgbClr val="102A31"/>
                </a:solidFill>
                <a:latin typeface="Calibri"/>
              </a:rPr>
              <a:t>dentin</a:t>
            </a:r>
          </a:p>
        </p:txBody>
      </p:sp>
      <p:sp>
        <p:nvSpPr>
          <p:cNvPr id="31" name="Rounded Rectangle 30"/>
          <p:cNvSpPr/>
          <p:nvPr/>
        </p:nvSpPr>
        <p:spPr>
          <a:xfrm>
            <a:off x="9006840" y="3182112"/>
            <a:ext cx="128016" cy="128016"/>
          </a:xfrm>
          <a:prstGeom prst="roundRect">
            <a:avLst>
              <a:gd name="adj" fmla="val 50000"/>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226296" y="3140964"/>
            <a:ext cx="2157984" cy="274320"/>
          </a:xfrm>
          <a:prstGeom prst="rect">
            <a:avLst/>
          </a:prstGeom>
          <a:noFill/>
        </p:spPr>
        <p:txBody>
          <a:bodyPr wrap="square" lIns="0" rIns="0" tIns="0" bIns="0" anchor="t">
            <a:noAutofit/>
          </a:bodyPr>
          <a:lstStyle/>
          <a:p>
            <a:pPr algn="l">
              <a:spcBef>
                <a:spcPts val="0"/>
              </a:spcBef>
              <a:spcAft>
                <a:spcPts val="0"/>
              </a:spcAft>
            </a:pPr>
            <a:r>
              <a:rPr sz="1050" b="0" i="0" lang="id-ID">
                <a:solidFill>
                  <a:srgbClr val="102A31"/>
                </a:solidFill>
                <a:latin typeface="Calibri"/>
              </a:rPr>
              <a:t>pulpa</a:t>
            </a:r>
          </a:p>
        </p:txBody>
      </p:sp>
      <p:sp>
        <p:nvSpPr>
          <p:cNvPr id="33" name="Rounded Rectangle 32"/>
          <p:cNvSpPr/>
          <p:nvPr/>
        </p:nvSpPr>
        <p:spPr>
          <a:xfrm>
            <a:off x="9006840" y="3529584"/>
            <a:ext cx="128016" cy="128016"/>
          </a:xfrm>
          <a:prstGeom prst="roundRect">
            <a:avLst>
              <a:gd name="adj" fmla="val 50000"/>
            </a:avLst>
          </a:prstGeom>
          <a:solidFill>
            <a:srgbClr val="C98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226296" y="3488436"/>
            <a:ext cx="2157984" cy="274320"/>
          </a:xfrm>
          <a:prstGeom prst="rect">
            <a:avLst/>
          </a:prstGeom>
          <a:noFill/>
        </p:spPr>
        <p:txBody>
          <a:bodyPr wrap="square" lIns="0" rIns="0" tIns="0" bIns="0" anchor="t">
            <a:noAutofit/>
          </a:bodyPr>
          <a:lstStyle/>
          <a:p>
            <a:pPr algn="l">
              <a:spcBef>
                <a:spcPts val="0"/>
              </a:spcBef>
              <a:spcAft>
                <a:spcPts val="0"/>
              </a:spcAft>
            </a:pPr>
            <a:r>
              <a:rPr sz="1050" b="0" i="0" lang="id-ID">
                <a:solidFill>
                  <a:srgbClr val="102A31"/>
                </a:solidFill>
                <a:latin typeface="Calibri"/>
              </a:rPr>
              <a:t>lesi hipomineralisasi</a:t>
            </a:r>
          </a:p>
        </p:txBody>
      </p:sp>
      <p:sp>
        <p:nvSpPr>
          <p:cNvPr id="35" name="TextBox 34"/>
          <p:cNvSpPr txBox="1"/>
          <p:nvPr/>
        </p:nvSpPr>
        <p:spPr>
          <a:xfrm>
            <a:off x="9006840" y="3950208"/>
            <a:ext cx="2377440" cy="220370"/>
          </a:xfrm>
          <a:prstGeom prst="rect">
            <a:avLst/>
          </a:prstGeom>
          <a:noFill/>
        </p:spPr>
        <p:txBody>
          <a:bodyPr wrap="square" lIns="0" rIns="0" tIns="0" bIns="0" anchor="t">
            <a:noAutofit/>
          </a:bodyPr>
          <a:lstStyle/>
          <a:p>
            <a:pPr algn="l">
              <a:spcBef>
                <a:spcPts val="0"/>
              </a:spcBef>
              <a:spcAft>
                <a:spcPts val="0"/>
              </a:spcAft>
            </a:pPr>
            <a:r>
              <a:rPr sz="950" b="0" i="1" lang="id-ID">
                <a:solidFill>
                  <a:srgbClr val="5C757C"/>
                </a:solidFill>
                <a:latin typeface="Calibri"/>
              </a:rPr>
              <a:t>Sumber: artikel S1, gambar skematik</a:t>
            </a:r>
          </a:p>
        </p:txBody>
      </p:sp>
      <p:sp>
        <p:nvSpPr>
          <p:cNvPr id="36" name="TextBox 35"/>
          <p:cNvSpPr txBox="1"/>
          <p:nvPr/>
        </p:nvSpPr>
        <p:spPr>
          <a:xfrm>
            <a:off x="6702552" y="5413248"/>
            <a:ext cx="4663440" cy="220370"/>
          </a:xfrm>
          <a:prstGeom prst="rect">
            <a:avLst/>
          </a:prstGeom>
          <a:noFill/>
        </p:spPr>
        <p:txBody>
          <a:bodyPr wrap="square" lIns="0" rIns="0" tIns="0" bIns="0" anchor="t">
            <a:noAutofit/>
          </a:bodyPr>
          <a:lstStyle/>
          <a:p>
            <a:pPr algn="l">
              <a:spcBef>
                <a:spcPts val="0"/>
              </a:spcBef>
              <a:spcAft>
                <a:spcPts val="0"/>
              </a:spcAft>
            </a:pPr>
            <a:r>
              <a:rPr sz="950" b="0" i="1" lang="id-ID">
                <a:solidFill>
                  <a:srgbClr val="5C757C"/>
                </a:solidFill>
                <a:latin typeface="Calibri"/>
              </a:rPr>
              <a:t>Skema, bukan gambaran klinis pasien.</a:t>
            </a:r>
          </a:p>
        </p:txBody>
      </p:sp>
      <p:sp>
        <p:nvSpPr>
          <p:cNvPr id="37" name="Rectangle 36"/>
          <p:cNvSpPr/>
          <p:nvPr/>
        </p:nvSpPr>
        <p:spPr>
          <a:xfrm>
            <a:off x="0" y="6163056"/>
            <a:ext cx="12191695" cy="694944"/>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0" y="6163056"/>
            <a:ext cx="12191695" cy="4114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30352" y="6327648"/>
            <a:ext cx="8595360" cy="256032"/>
          </a:xfrm>
          <a:prstGeom prst="rect">
            <a:avLst/>
          </a:prstGeom>
          <a:noFill/>
        </p:spPr>
        <p:txBody>
          <a:bodyPr wrap="square" lIns="0" rIns="0" tIns="0" bIns="0" anchor="t">
            <a:noAutofit/>
          </a:bodyPr>
          <a:lstStyle/>
          <a:p>
            <a:pPr algn="l">
              <a:spcBef>
                <a:spcPts val="0"/>
              </a:spcBef>
              <a:spcAft>
                <a:spcPts val="0"/>
              </a:spcAft>
            </a:pPr>
            <a:r>
              <a:rPr sz="850" b="0" i="0" lang="id-ID">
                <a:solidFill>
                  <a:srgbClr val="9FC7CF"/>
                </a:solidFill>
                <a:latin typeface="Calibri"/>
              </a:rPr>
              <a:t>Lopes dkk., Sci Rep 2021;11:22405 · DOI 10.1038/s41598-021-01541-7 · CC BY 4.0</a:t>
            </a:r>
          </a:p>
        </p:txBody>
      </p:sp>
      <p:sp>
        <p:nvSpPr>
          <p:cNvPr id="40" name="Rounded Rectangle 39"/>
          <p:cNvSpPr/>
          <p:nvPr/>
        </p:nvSpPr>
        <p:spPr>
          <a:xfrm>
            <a:off x="11204143" y="6291072"/>
            <a:ext cx="457200" cy="256032"/>
          </a:xfrm>
          <a:prstGeom prst="roundRect">
            <a:avLst>
              <a:gd name="adj" fmla="val 17857"/>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11204143" y="6332220"/>
            <a:ext cx="457200"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0B4A5A"/>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F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732520" y="3520440"/>
            <a:ext cx="5760720" cy="5760720"/>
          </a:xfrm>
          <a:prstGeom prst="ellipse">
            <a:avLst/>
          </a:prstGeom>
          <a:solidFill>
            <a:srgbClr val="D2E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3309213"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2647"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8875166"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0"/>
            <a:ext cx="201168" cy="6858000"/>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0" y="1171346"/>
            <a:ext cx="12191695" cy="6400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04  ·  LATAR BELAKANG</a:t>
            </a:r>
          </a:p>
        </p:txBody>
      </p:sp>
      <p:sp>
        <p:nvSpPr>
          <p:cNvPr id="11" name="TextBox 10"/>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Angka laporan tersebar dari 2,8% sampai 40,2%</a:t>
            </a:r>
          </a:p>
        </p:txBody>
      </p:sp>
      <p:sp>
        <p:nvSpPr>
          <p:cNvPr id="12" name="Rounded Rectangle 11"/>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Selisihnya lebih dari empat belas kali lipat, pada penyakit yang sama.</a:t>
            </a:r>
          </a:p>
        </p:txBody>
      </p:sp>
      <p:sp>
        <p:nvSpPr>
          <p:cNvPr id="15" name="Rounded Rectangle 14"/>
          <p:cNvSpPr/>
          <p:nvPr/>
        </p:nvSpPr>
        <p:spPr>
          <a:xfrm>
            <a:off x="530352" y="2048256"/>
            <a:ext cx="11130991" cy="1572768"/>
          </a:xfrm>
          <a:prstGeom prst="roundRect">
            <a:avLst>
              <a:gd name="adj" fmla="val 5813"/>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60" y="2194560"/>
            <a:ext cx="5486400" cy="201168"/>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PREVALENSI YANG DILAPORKAN 116 STUDI</a:t>
            </a:r>
          </a:p>
        </p:txBody>
      </p:sp>
      <p:sp>
        <p:nvSpPr>
          <p:cNvPr id="17" name="Rounded Rectangle 16"/>
          <p:cNvSpPr/>
          <p:nvPr/>
        </p:nvSpPr>
        <p:spPr>
          <a:xfrm>
            <a:off x="1463040" y="2999232"/>
            <a:ext cx="9326880" cy="146304"/>
          </a:xfrm>
          <a:prstGeom prst="roundRect">
            <a:avLst>
              <a:gd name="adj" fmla="val 50000"/>
            </a:avLst>
          </a:prstGeom>
          <a:solidFill>
            <a:srgbClr val="DCE9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121200" y="2743200"/>
            <a:ext cx="20116" cy="21945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4003243" y="2944368"/>
            <a:ext cx="256032" cy="25603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582619" y="2432304"/>
            <a:ext cx="3108960" cy="292608"/>
          </a:xfrm>
          <a:prstGeom prst="rect">
            <a:avLst/>
          </a:prstGeom>
          <a:noFill/>
        </p:spPr>
        <p:txBody>
          <a:bodyPr wrap="square" lIns="0" rIns="0" tIns="0" bIns="0" anchor="t">
            <a:noAutofit/>
          </a:bodyPr>
          <a:lstStyle/>
          <a:p>
            <a:pPr algn="l">
              <a:spcBef>
                <a:spcPts val="0"/>
              </a:spcBef>
              <a:spcAft>
                <a:spcPts val="0"/>
              </a:spcAft>
            </a:pPr>
            <a:r>
              <a:rPr sz="1200" b="1" i="0" lang="id-ID">
                <a:solidFill>
                  <a:srgbClr val="0E7C8C"/>
                </a:solidFill>
                <a:latin typeface="Calibri"/>
              </a:rPr>
              <a:t>13,5% (95% CI 12,0–15,1)</a:t>
            </a:r>
          </a:p>
        </p:txBody>
      </p:sp>
      <p:sp>
        <p:nvSpPr>
          <p:cNvPr id="21" name="TextBox 20"/>
          <p:cNvSpPr txBox="1"/>
          <p:nvPr/>
        </p:nvSpPr>
        <p:spPr>
          <a:xfrm>
            <a:off x="1389888" y="3236976"/>
            <a:ext cx="822960" cy="237744"/>
          </a:xfrm>
          <a:prstGeom prst="rect">
            <a:avLst/>
          </a:prstGeom>
          <a:noFill/>
        </p:spPr>
        <p:txBody>
          <a:bodyPr wrap="square" lIns="0" rIns="0" tIns="0" bIns="0" anchor="t">
            <a:noAutofit/>
          </a:bodyPr>
          <a:lstStyle/>
          <a:p>
            <a:pPr algn="l">
              <a:spcBef>
                <a:spcPts val="0"/>
              </a:spcBef>
              <a:spcAft>
                <a:spcPts val="0"/>
              </a:spcAft>
            </a:pPr>
            <a:r>
              <a:rPr sz="1100" b="0" i="0" lang="id-ID">
                <a:solidFill>
                  <a:srgbClr val="5C757C"/>
                </a:solidFill>
                <a:latin typeface="Calibri"/>
              </a:rPr>
              <a:t>2,8%</a:t>
            </a:r>
          </a:p>
        </p:txBody>
      </p:sp>
      <p:sp>
        <p:nvSpPr>
          <p:cNvPr id="22" name="TextBox 21"/>
          <p:cNvSpPr txBox="1"/>
          <p:nvPr/>
        </p:nvSpPr>
        <p:spPr>
          <a:xfrm>
            <a:off x="10012680" y="3236976"/>
            <a:ext cx="914400" cy="237744"/>
          </a:xfrm>
          <a:prstGeom prst="rect">
            <a:avLst/>
          </a:prstGeom>
          <a:noFill/>
        </p:spPr>
        <p:txBody>
          <a:bodyPr wrap="square" lIns="0" rIns="0" tIns="0" bIns="0" anchor="t">
            <a:noAutofit/>
          </a:bodyPr>
          <a:lstStyle/>
          <a:p>
            <a:pPr algn="r">
              <a:spcBef>
                <a:spcPts val="0"/>
              </a:spcBef>
              <a:spcAft>
                <a:spcPts val="0"/>
              </a:spcAft>
            </a:pPr>
            <a:r>
              <a:rPr sz="1100" b="0" i="0" lang="id-ID">
                <a:solidFill>
                  <a:srgbClr val="5C757C"/>
                </a:solidFill>
                <a:latin typeface="Calibri"/>
              </a:rPr>
              <a:t>40,2%</a:t>
            </a:r>
          </a:p>
        </p:txBody>
      </p:sp>
      <p:sp>
        <p:nvSpPr>
          <p:cNvPr id="23" name="Rounded Rectangle 22"/>
          <p:cNvSpPr/>
          <p:nvPr/>
        </p:nvSpPr>
        <p:spPr>
          <a:xfrm>
            <a:off x="530352" y="3803904"/>
            <a:ext cx="3576218" cy="1828800"/>
          </a:xfrm>
          <a:prstGeom prst="roundRect">
            <a:avLst>
              <a:gd name="adj" fmla="val 5000"/>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04672" y="4059936"/>
            <a:ext cx="566928" cy="50292"/>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04672" y="4206240"/>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Definisi kasus belum seragam</a:t>
            </a:r>
          </a:p>
        </p:txBody>
      </p:sp>
      <p:sp>
        <p:nvSpPr>
          <p:cNvPr id="26" name="TextBox 25"/>
          <p:cNvSpPr txBox="1"/>
          <p:nvPr/>
        </p:nvSpPr>
        <p:spPr>
          <a:xfrm>
            <a:off x="804672" y="4617720"/>
            <a:ext cx="3027578" cy="584301"/>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Kriteria diagnostik berbeda antar studi, sehingga angka sulit disandingkan meski penyakitnya sama.</a:t>
            </a:r>
          </a:p>
        </p:txBody>
      </p:sp>
      <p:sp>
        <p:nvSpPr>
          <p:cNvPr id="27" name="TextBox 26"/>
          <p:cNvSpPr txBox="1"/>
          <p:nvPr/>
        </p:nvSpPr>
        <p:spPr>
          <a:xfrm>
            <a:off x="804672" y="5212080"/>
            <a:ext cx="3027578" cy="256032"/>
          </a:xfrm>
          <a:prstGeom prst="rect">
            <a:avLst/>
          </a:prstGeom>
          <a:noFill/>
        </p:spPr>
        <p:txBody>
          <a:bodyPr wrap="square" lIns="0" rIns="0" tIns="0" bIns="0" anchor="t">
            <a:noAutofit/>
          </a:bodyPr>
          <a:lstStyle/>
          <a:p>
            <a:pPr algn="l">
              <a:spcBef>
                <a:spcPts val="0"/>
              </a:spcBef>
              <a:spcAft>
                <a:spcPts val="0"/>
              </a:spcAft>
            </a:pPr>
            <a:r>
              <a:rPr sz="1050" b="1" i="0" lang="id-ID">
                <a:solidFill>
                  <a:srgbClr val="0E7C8C"/>
                </a:solidFill>
                <a:latin typeface="Calibri"/>
              </a:rPr>
              <a:t>14× selisih</a:t>
            </a:r>
          </a:p>
        </p:txBody>
      </p:sp>
      <p:sp>
        <p:nvSpPr>
          <p:cNvPr id="28" name="Rounded Rectangle 27"/>
          <p:cNvSpPr/>
          <p:nvPr/>
        </p:nvSpPr>
        <p:spPr>
          <a:xfrm>
            <a:off x="4307738" y="3803904"/>
            <a:ext cx="3576218" cy="1828800"/>
          </a:xfrm>
          <a:prstGeom prst="roundRect">
            <a:avLst>
              <a:gd name="adj" fmla="val 5000"/>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582058" y="4059936"/>
            <a:ext cx="566928" cy="50292"/>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582058" y="4206240"/>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Tinjauan sebelumnya berhenti 2017</a:t>
            </a:r>
          </a:p>
        </p:txBody>
      </p:sp>
      <p:sp>
        <p:nvSpPr>
          <p:cNvPr id="31" name="TextBox 30"/>
          <p:cNvSpPr txBox="1"/>
          <p:nvPr/>
        </p:nvSpPr>
        <p:spPr>
          <a:xfrm>
            <a:off x="4582058" y="4617720"/>
            <a:ext cx="3027578" cy="414223"/>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Dua tinjauan sebelumnya hanya melaporkan prevalensi, tanpa keparahan kasus.</a:t>
            </a:r>
          </a:p>
        </p:txBody>
      </p:sp>
      <p:sp>
        <p:nvSpPr>
          <p:cNvPr id="32" name="TextBox 31"/>
          <p:cNvSpPr txBox="1"/>
          <p:nvPr/>
        </p:nvSpPr>
        <p:spPr>
          <a:xfrm>
            <a:off x="4582058" y="5212080"/>
            <a:ext cx="3027578" cy="256032"/>
          </a:xfrm>
          <a:prstGeom prst="rect">
            <a:avLst/>
          </a:prstGeom>
          <a:noFill/>
        </p:spPr>
        <p:txBody>
          <a:bodyPr wrap="square" lIns="0" rIns="0" tIns="0" bIns="0" anchor="t">
            <a:noAutofit/>
          </a:bodyPr>
          <a:lstStyle/>
          <a:p>
            <a:pPr algn="l">
              <a:spcBef>
                <a:spcPts val="0"/>
              </a:spcBef>
              <a:spcAft>
                <a:spcPts val="0"/>
              </a:spcAft>
            </a:pPr>
            <a:r>
              <a:rPr sz="1050" b="1" i="0" lang="id-ID">
                <a:solidFill>
                  <a:srgbClr val="0E7C8C"/>
                </a:solidFill>
                <a:latin typeface="Calibri"/>
              </a:rPr>
              <a:t>2017</a:t>
            </a:r>
          </a:p>
        </p:txBody>
      </p:sp>
      <p:sp>
        <p:nvSpPr>
          <p:cNvPr id="33" name="Rounded Rectangle 32"/>
          <p:cNvSpPr/>
          <p:nvPr/>
        </p:nvSpPr>
        <p:spPr>
          <a:xfrm>
            <a:off x="8085124" y="3803904"/>
            <a:ext cx="3576218" cy="1828800"/>
          </a:xfrm>
          <a:prstGeom prst="roundRect">
            <a:avLst>
              <a:gd name="adj" fmla="val 5000"/>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359444" y="4059936"/>
            <a:ext cx="566928" cy="50292"/>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359444" y="4206240"/>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Keparahan hampir tak dilaporkan</a:t>
            </a:r>
          </a:p>
        </p:txBody>
      </p:sp>
      <p:sp>
        <p:nvSpPr>
          <p:cNvPr id="36" name="TextBox 35"/>
          <p:cNvSpPr txBox="1"/>
          <p:nvPr/>
        </p:nvSpPr>
        <p:spPr>
          <a:xfrm>
            <a:off x="8359444" y="4617720"/>
            <a:ext cx="3027578" cy="414223"/>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Keparahan, jumlah gigi yang terkena, dan HSPM hampir tidak pernah dilaporkan.</a:t>
            </a:r>
          </a:p>
        </p:txBody>
      </p:sp>
      <p:sp>
        <p:nvSpPr>
          <p:cNvPr id="37" name="TextBox 36"/>
          <p:cNvSpPr txBox="1"/>
          <p:nvPr/>
        </p:nvSpPr>
        <p:spPr>
          <a:xfrm>
            <a:off x="8359444" y="5212080"/>
            <a:ext cx="3027578" cy="256032"/>
          </a:xfrm>
          <a:prstGeom prst="rect">
            <a:avLst/>
          </a:prstGeom>
          <a:noFill/>
        </p:spPr>
        <p:txBody>
          <a:bodyPr wrap="square" lIns="0" rIns="0" tIns="0" bIns="0" anchor="t">
            <a:noAutofit/>
          </a:bodyPr>
          <a:lstStyle/>
          <a:p>
            <a:pPr algn="l">
              <a:spcBef>
                <a:spcPts val="0"/>
              </a:spcBef>
              <a:spcAft>
                <a:spcPts val="0"/>
              </a:spcAft>
            </a:pPr>
            <a:r>
              <a:rPr sz="1050" b="1" i="0" lang="id-ID">
                <a:solidFill>
                  <a:srgbClr val="0E7C8C"/>
                </a:solidFill>
                <a:latin typeface="Calibri"/>
              </a:rPr>
              <a:t>3 luaran</a:t>
            </a:r>
          </a:p>
        </p:txBody>
      </p:sp>
      <p:sp>
        <p:nvSpPr>
          <p:cNvPr id="38" name="Rounded Rectangle 37"/>
          <p:cNvSpPr/>
          <p:nvPr/>
        </p:nvSpPr>
        <p:spPr>
          <a:xfrm>
            <a:off x="530352" y="5632704"/>
            <a:ext cx="11130991" cy="457200"/>
          </a:xfrm>
          <a:prstGeom prst="roundRect">
            <a:avLst>
              <a:gd name="adj" fmla="val 16000"/>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04672" y="5733288"/>
            <a:ext cx="10582351" cy="274320"/>
          </a:xfrm>
          <a:prstGeom prst="rect">
            <a:avLst/>
          </a:prstGeom>
          <a:noFill/>
        </p:spPr>
        <p:txBody>
          <a:bodyPr wrap="square" lIns="0" rIns="0" tIns="0" bIns="0" anchor="t">
            <a:noAutofit/>
          </a:bodyPr>
          <a:lstStyle/>
          <a:p>
            <a:pPr algn="l">
              <a:spcBef>
                <a:spcPts val="0"/>
              </a:spcBef>
              <a:spcAft>
                <a:spcPts val="0"/>
              </a:spcAft>
            </a:pPr>
            <a:r>
              <a:rPr sz="1200" b="1" i="0" lang="id-ID">
                <a:solidFill>
                  <a:srgbClr val="0E7C8C"/>
                </a:solidFill>
                <a:latin typeface="Calibri"/>
              </a:rPr>
              <a:t>Artikel ini menjawab dua hal sekaligus: memperbarui estimasi global dengan satu kriteria diagnostik, lalu mengukur keparahan kasusnya.</a:t>
            </a:r>
          </a:p>
        </p:txBody>
      </p:sp>
      <p:sp>
        <p:nvSpPr>
          <p:cNvPr id="40" name="Rectangle 39"/>
          <p:cNvSpPr/>
          <p:nvPr/>
        </p:nvSpPr>
        <p:spPr>
          <a:xfrm>
            <a:off x="0" y="6163056"/>
            <a:ext cx="12191695" cy="694944"/>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0" y="6163056"/>
            <a:ext cx="12191695" cy="4114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30352" y="6327648"/>
            <a:ext cx="8595360" cy="256032"/>
          </a:xfrm>
          <a:prstGeom prst="rect">
            <a:avLst/>
          </a:prstGeom>
          <a:noFill/>
        </p:spPr>
        <p:txBody>
          <a:bodyPr wrap="square" lIns="0" rIns="0" tIns="0" bIns="0" anchor="t">
            <a:noAutofit/>
          </a:bodyPr>
          <a:lstStyle/>
          <a:p>
            <a:pPr algn="l">
              <a:spcBef>
                <a:spcPts val="0"/>
              </a:spcBef>
              <a:spcAft>
                <a:spcPts val="0"/>
              </a:spcAft>
            </a:pPr>
            <a:r>
              <a:rPr sz="850" b="0" i="0" lang="id-ID">
                <a:solidFill>
                  <a:srgbClr val="9FC7CF"/>
                </a:solidFill>
                <a:latin typeface="Calibri"/>
              </a:rPr>
              <a:t>Lopes dkk., Sci Rep 2021;11:22405 · DOI 10.1038/s41598-021-01541-7 · CC BY 4.0</a:t>
            </a:r>
          </a:p>
        </p:txBody>
      </p:sp>
      <p:sp>
        <p:nvSpPr>
          <p:cNvPr id="43" name="Rounded Rectangle 42"/>
          <p:cNvSpPr/>
          <p:nvPr/>
        </p:nvSpPr>
        <p:spPr>
          <a:xfrm>
            <a:off x="11204143" y="6291072"/>
            <a:ext cx="457200" cy="256032"/>
          </a:xfrm>
          <a:prstGeom prst="roundRect">
            <a:avLst>
              <a:gd name="adj" fmla="val 17857"/>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1204143" y="6332220"/>
            <a:ext cx="457200"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0B4A5A"/>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B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732520" y="3520440"/>
            <a:ext cx="5760720" cy="5760720"/>
          </a:xfrm>
          <a:prstGeom prst="ellipse">
            <a:avLst/>
          </a:prstGeom>
          <a:solidFill>
            <a:srgbClr val="CF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3309213"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2647"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8875166"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0"/>
            <a:ext cx="201168" cy="6858000"/>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0" y="1171346"/>
            <a:ext cx="12191695" cy="6400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05  ·  TUJUAN</a:t>
            </a:r>
          </a:p>
        </p:txBody>
      </p:sp>
      <p:sp>
        <p:nvSpPr>
          <p:cNvPr id="11" name="TextBox 10"/>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Pertanyaan penelitian dan empat luaran</a:t>
            </a:r>
          </a:p>
        </p:txBody>
      </p:sp>
      <p:sp>
        <p:nvSpPr>
          <p:cNvPr id="12" name="Rounded Rectangle 11"/>
          <p:cNvSpPr/>
          <p:nvPr/>
        </p:nvSpPr>
        <p:spPr>
          <a:xfrm>
            <a:off x="530352" y="1299362"/>
            <a:ext cx="11130991" cy="470916"/>
          </a:xfrm>
          <a:prstGeom prst="roundRect">
            <a:avLst>
              <a:gd name="adj" fmla="val 15533"/>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0352" y="1299362"/>
            <a:ext cx="54864" cy="470916"/>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FFFFFF"/>
                </a:solidFill>
                <a:latin typeface="Calibri"/>
              </a:rPr>
              <a:t>Berapa prevalensi MIH pada anak dan remaja di seluruh dunia?</a:t>
            </a:r>
          </a:p>
        </p:txBody>
      </p:sp>
      <p:sp>
        <p:nvSpPr>
          <p:cNvPr id="15" name="Rounded Rectangle 14"/>
          <p:cNvSpPr/>
          <p:nvPr/>
        </p:nvSpPr>
        <p:spPr>
          <a:xfrm>
            <a:off x="530352" y="2048256"/>
            <a:ext cx="2631643" cy="1627632"/>
          </a:xfrm>
          <a:prstGeom prst="roundRect">
            <a:avLst>
              <a:gd name="adj" fmla="val 561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86384" y="2267712"/>
            <a:ext cx="822960" cy="566928"/>
          </a:xfrm>
          <a:prstGeom prst="rect">
            <a:avLst/>
          </a:prstGeom>
          <a:noFill/>
        </p:spPr>
        <p:txBody>
          <a:bodyPr wrap="square" lIns="0" rIns="0" tIns="0" bIns="0" anchor="t">
            <a:noAutofit/>
          </a:bodyPr>
          <a:lstStyle/>
          <a:p>
            <a:pPr algn="l">
              <a:spcBef>
                <a:spcPts val="0"/>
              </a:spcBef>
              <a:spcAft>
                <a:spcPts val="0"/>
              </a:spcAft>
            </a:pPr>
            <a:r>
              <a:rPr sz="3400" b="1" i="0" lang="id-ID">
                <a:solidFill>
                  <a:srgbClr val="0E7C8C"/>
                </a:solidFill>
                <a:latin typeface="Cambria"/>
              </a:rPr>
              <a:t>P</a:t>
            </a:r>
          </a:p>
        </p:txBody>
      </p:sp>
      <p:sp>
        <p:nvSpPr>
          <p:cNvPr id="17" name="TextBox 16"/>
          <p:cNvSpPr txBox="1"/>
          <p:nvPr/>
        </p:nvSpPr>
        <p:spPr>
          <a:xfrm>
            <a:off x="1719072" y="2340864"/>
            <a:ext cx="1223467"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POPULASI</a:t>
            </a:r>
          </a:p>
        </p:txBody>
      </p:sp>
      <p:sp>
        <p:nvSpPr>
          <p:cNvPr id="18" name="TextBox 17"/>
          <p:cNvSpPr txBox="1"/>
          <p:nvPr/>
        </p:nvSpPr>
        <p:spPr>
          <a:xfrm>
            <a:off x="786384" y="2944368"/>
            <a:ext cx="2119579" cy="432511"/>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Anak dan remaja 0–19 tahun dengan gigi permanen muda.</a:t>
            </a:r>
          </a:p>
        </p:txBody>
      </p:sp>
      <p:sp>
        <p:nvSpPr>
          <p:cNvPr id="19" name="Rounded Rectangle 18"/>
          <p:cNvSpPr/>
          <p:nvPr/>
        </p:nvSpPr>
        <p:spPr>
          <a:xfrm>
            <a:off x="3363163" y="2048256"/>
            <a:ext cx="2631643" cy="1627632"/>
          </a:xfrm>
          <a:prstGeom prst="roundRect">
            <a:avLst>
              <a:gd name="adj" fmla="val 561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619195" y="2267712"/>
            <a:ext cx="822960" cy="566928"/>
          </a:xfrm>
          <a:prstGeom prst="rect">
            <a:avLst/>
          </a:prstGeom>
          <a:noFill/>
        </p:spPr>
        <p:txBody>
          <a:bodyPr wrap="square" lIns="0" rIns="0" tIns="0" bIns="0" anchor="t">
            <a:noAutofit/>
          </a:bodyPr>
          <a:lstStyle/>
          <a:p>
            <a:pPr algn="l">
              <a:spcBef>
                <a:spcPts val="0"/>
              </a:spcBef>
              <a:spcAft>
                <a:spcPts val="0"/>
              </a:spcAft>
            </a:pPr>
            <a:r>
              <a:rPr sz="3400" b="1" i="0" lang="id-ID">
                <a:solidFill>
                  <a:srgbClr val="0E7C8C"/>
                </a:solidFill>
                <a:latin typeface="Cambria"/>
              </a:rPr>
              <a:t>E</a:t>
            </a:r>
          </a:p>
        </p:txBody>
      </p:sp>
      <p:sp>
        <p:nvSpPr>
          <p:cNvPr id="21" name="TextBox 20"/>
          <p:cNvSpPr txBox="1"/>
          <p:nvPr/>
        </p:nvSpPr>
        <p:spPr>
          <a:xfrm>
            <a:off x="4551883" y="2340864"/>
            <a:ext cx="1223467"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PAPARAN</a:t>
            </a:r>
          </a:p>
        </p:txBody>
      </p:sp>
      <p:sp>
        <p:nvSpPr>
          <p:cNvPr id="22" name="TextBox 21"/>
          <p:cNvSpPr txBox="1"/>
          <p:nvPr/>
        </p:nvSpPr>
        <p:spPr>
          <a:xfrm>
            <a:off x="3619195" y="2944368"/>
            <a:ext cx="2119579" cy="432511"/>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Pemeriksaan klinis MIH memakai kriteria EAPD 2003.</a:t>
            </a:r>
          </a:p>
        </p:txBody>
      </p:sp>
      <p:sp>
        <p:nvSpPr>
          <p:cNvPr id="23" name="Rounded Rectangle 22"/>
          <p:cNvSpPr/>
          <p:nvPr/>
        </p:nvSpPr>
        <p:spPr>
          <a:xfrm>
            <a:off x="6195974" y="2048256"/>
            <a:ext cx="2631643" cy="1627632"/>
          </a:xfrm>
          <a:prstGeom prst="roundRect">
            <a:avLst>
              <a:gd name="adj" fmla="val 561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52006" y="2267712"/>
            <a:ext cx="822960" cy="566928"/>
          </a:xfrm>
          <a:prstGeom prst="rect">
            <a:avLst/>
          </a:prstGeom>
          <a:noFill/>
        </p:spPr>
        <p:txBody>
          <a:bodyPr wrap="square" lIns="0" rIns="0" tIns="0" bIns="0" anchor="t">
            <a:noAutofit/>
          </a:bodyPr>
          <a:lstStyle/>
          <a:p>
            <a:pPr algn="l">
              <a:spcBef>
                <a:spcPts val="0"/>
              </a:spcBef>
              <a:spcAft>
                <a:spcPts val="0"/>
              </a:spcAft>
            </a:pPr>
            <a:r>
              <a:rPr sz="3400" b="1" i="0" lang="id-ID">
                <a:solidFill>
                  <a:srgbClr val="0E7C8C"/>
                </a:solidFill>
                <a:latin typeface="Cambria"/>
              </a:rPr>
              <a:t>C</a:t>
            </a:r>
          </a:p>
        </p:txBody>
      </p:sp>
      <p:sp>
        <p:nvSpPr>
          <p:cNvPr id="25" name="TextBox 24"/>
          <p:cNvSpPr txBox="1"/>
          <p:nvPr/>
        </p:nvSpPr>
        <p:spPr>
          <a:xfrm>
            <a:off x="7384694" y="2340864"/>
            <a:ext cx="1223467"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PEMBANDING</a:t>
            </a:r>
          </a:p>
        </p:txBody>
      </p:sp>
      <p:sp>
        <p:nvSpPr>
          <p:cNvPr id="26" name="TextBox 25"/>
          <p:cNvSpPr txBox="1"/>
          <p:nvPr/>
        </p:nvSpPr>
        <p:spPr>
          <a:xfrm>
            <a:off x="6452006" y="2944368"/>
            <a:ext cx="2119579" cy="432511"/>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Tanpa kelompok pembanding; ini studi prevalensi.</a:t>
            </a:r>
          </a:p>
        </p:txBody>
      </p:sp>
      <p:sp>
        <p:nvSpPr>
          <p:cNvPr id="27" name="Rounded Rectangle 26"/>
          <p:cNvSpPr/>
          <p:nvPr/>
        </p:nvSpPr>
        <p:spPr>
          <a:xfrm>
            <a:off x="9028785" y="2048256"/>
            <a:ext cx="2631643" cy="1627632"/>
          </a:xfrm>
          <a:prstGeom prst="roundRect">
            <a:avLst>
              <a:gd name="adj" fmla="val 561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84817" y="2267712"/>
            <a:ext cx="822960" cy="566928"/>
          </a:xfrm>
          <a:prstGeom prst="rect">
            <a:avLst/>
          </a:prstGeom>
          <a:noFill/>
        </p:spPr>
        <p:txBody>
          <a:bodyPr wrap="square" lIns="0" rIns="0" tIns="0" bIns="0" anchor="t">
            <a:noAutofit/>
          </a:bodyPr>
          <a:lstStyle/>
          <a:p>
            <a:pPr algn="l">
              <a:spcBef>
                <a:spcPts val="0"/>
              </a:spcBef>
              <a:spcAft>
                <a:spcPts val="0"/>
              </a:spcAft>
            </a:pPr>
            <a:r>
              <a:rPr sz="3400" b="1" i="0" lang="id-ID">
                <a:solidFill>
                  <a:srgbClr val="0E7C8C"/>
                </a:solidFill>
                <a:latin typeface="Cambria"/>
              </a:rPr>
              <a:t>O</a:t>
            </a:r>
          </a:p>
        </p:txBody>
      </p:sp>
      <p:sp>
        <p:nvSpPr>
          <p:cNvPr id="29" name="TextBox 28"/>
          <p:cNvSpPr txBox="1"/>
          <p:nvPr/>
        </p:nvSpPr>
        <p:spPr>
          <a:xfrm>
            <a:off x="10217505" y="2340864"/>
            <a:ext cx="1223467"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LUARAN</a:t>
            </a:r>
          </a:p>
        </p:txBody>
      </p:sp>
      <p:sp>
        <p:nvSpPr>
          <p:cNvPr id="30" name="TextBox 29"/>
          <p:cNvSpPr txBox="1"/>
          <p:nvPr/>
        </p:nvSpPr>
        <p:spPr>
          <a:xfrm>
            <a:off x="9284817" y="2944368"/>
            <a:ext cx="2119579" cy="432511"/>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Prevalensi, keparahan, gigi terkena, dan HSPM.</a:t>
            </a:r>
          </a:p>
        </p:txBody>
      </p:sp>
      <p:sp>
        <p:nvSpPr>
          <p:cNvPr id="31" name="Rounded Rectangle 30"/>
          <p:cNvSpPr/>
          <p:nvPr/>
        </p:nvSpPr>
        <p:spPr>
          <a:xfrm>
            <a:off x="530352" y="3858768"/>
            <a:ext cx="11130991" cy="2231136"/>
          </a:xfrm>
          <a:prstGeom prst="roundRect">
            <a:avLst>
              <a:gd name="adj" fmla="val 4098"/>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22960" y="4023360"/>
            <a:ext cx="73152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EMPAT LUARAN YANG DILAPORKAN</a:t>
            </a:r>
          </a:p>
        </p:txBody>
      </p:sp>
      <p:sp>
        <p:nvSpPr>
          <p:cNvPr id="33" name="Rounded Rectangle 32"/>
          <p:cNvSpPr/>
          <p:nvPr/>
        </p:nvSpPr>
        <p:spPr>
          <a:xfrm>
            <a:off x="841248" y="4416552"/>
            <a:ext cx="201168" cy="201168"/>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8" y="4421124"/>
            <a:ext cx="201168"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1</a:t>
            </a:r>
          </a:p>
        </p:txBody>
      </p:sp>
      <p:sp>
        <p:nvSpPr>
          <p:cNvPr id="35" name="TextBox 34"/>
          <p:cNvSpPr txBox="1"/>
          <p:nvPr/>
        </p:nvSpPr>
        <p:spPr>
          <a:xfrm>
            <a:off x="1207008" y="4370832"/>
            <a:ext cx="10125151" cy="274320"/>
          </a:xfrm>
          <a:prstGeom prst="rect">
            <a:avLst/>
          </a:prstGeom>
          <a:noFill/>
        </p:spPr>
        <p:txBody>
          <a:bodyPr wrap="square" lIns="0" rIns="0" tIns="0" bIns="0" anchor="t">
            <a:noAutofit/>
          </a:bodyPr>
          <a:lstStyle/>
          <a:p>
            <a:pPr algn="l">
              <a:spcBef>
                <a:spcPts val="0"/>
              </a:spcBef>
              <a:spcAft>
                <a:spcPts val="0"/>
              </a:spcAft>
            </a:pPr>
            <a:r>
              <a:rPr sz="1200" b="0" i="0" lang="id-ID">
                <a:solidFill>
                  <a:srgbClr val="102A31"/>
                </a:solidFill>
                <a:latin typeface="Calibri"/>
              </a:rPr>
              <a:t>Prevalensi global MIH</a:t>
            </a:r>
          </a:p>
        </p:txBody>
      </p:sp>
      <p:sp>
        <p:nvSpPr>
          <p:cNvPr id="36" name="Rounded Rectangle 35"/>
          <p:cNvSpPr/>
          <p:nvPr/>
        </p:nvSpPr>
        <p:spPr>
          <a:xfrm>
            <a:off x="841248" y="4818888"/>
            <a:ext cx="201168" cy="201168"/>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41248" y="4823460"/>
            <a:ext cx="201168"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2</a:t>
            </a:r>
          </a:p>
        </p:txBody>
      </p:sp>
      <p:sp>
        <p:nvSpPr>
          <p:cNvPr id="38" name="TextBox 37"/>
          <p:cNvSpPr txBox="1"/>
          <p:nvPr/>
        </p:nvSpPr>
        <p:spPr>
          <a:xfrm>
            <a:off x="1207008" y="4773168"/>
            <a:ext cx="10125151" cy="274320"/>
          </a:xfrm>
          <a:prstGeom prst="rect">
            <a:avLst/>
          </a:prstGeom>
          <a:noFill/>
        </p:spPr>
        <p:txBody>
          <a:bodyPr wrap="square" lIns="0" rIns="0" tIns="0" bIns="0" anchor="t">
            <a:noAutofit/>
          </a:bodyPr>
          <a:lstStyle/>
          <a:p>
            <a:pPr algn="l">
              <a:spcBef>
                <a:spcPts val="0"/>
              </a:spcBef>
              <a:spcAft>
                <a:spcPts val="0"/>
              </a:spcAft>
            </a:pPr>
            <a:r>
              <a:rPr sz="1200" b="0" i="0" lang="id-ID">
                <a:solidFill>
                  <a:srgbClr val="102A31"/>
                </a:solidFill>
                <a:latin typeface="Calibri"/>
              </a:rPr>
              <a:t>Prevalensi kasus sedang sampai berat</a:t>
            </a:r>
          </a:p>
        </p:txBody>
      </p:sp>
      <p:sp>
        <p:nvSpPr>
          <p:cNvPr id="39" name="Rounded Rectangle 38"/>
          <p:cNvSpPr/>
          <p:nvPr/>
        </p:nvSpPr>
        <p:spPr>
          <a:xfrm>
            <a:off x="841248" y="5221224"/>
            <a:ext cx="201168" cy="201168"/>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41248" y="5225796"/>
            <a:ext cx="201168"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3</a:t>
            </a:r>
          </a:p>
        </p:txBody>
      </p:sp>
      <p:sp>
        <p:nvSpPr>
          <p:cNvPr id="41" name="TextBox 40"/>
          <p:cNvSpPr txBox="1"/>
          <p:nvPr/>
        </p:nvSpPr>
        <p:spPr>
          <a:xfrm>
            <a:off x="1207008" y="5175504"/>
            <a:ext cx="10125151" cy="274320"/>
          </a:xfrm>
          <a:prstGeom prst="rect">
            <a:avLst/>
          </a:prstGeom>
          <a:noFill/>
        </p:spPr>
        <p:txBody>
          <a:bodyPr wrap="square" lIns="0" rIns="0" tIns="0" bIns="0" anchor="t">
            <a:noAutofit/>
          </a:bodyPr>
          <a:lstStyle/>
          <a:p>
            <a:pPr algn="l">
              <a:spcBef>
                <a:spcPts val="0"/>
              </a:spcBef>
              <a:spcAft>
                <a:spcPts val="0"/>
              </a:spcAft>
            </a:pPr>
            <a:r>
              <a:rPr sz="1200" b="0" i="0" lang="id-ID">
                <a:solidFill>
                  <a:srgbClr val="102A31"/>
                </a:solidFill>
                <a:latin typeface="Calibri"/>
              </a:rPr>
              <a:t>Jumlah molar pertama permanen yang terkena</a:t>
            </a:r>
          </a:p>
        </p:txBody>
      </p:sp>
      <p:sp>
        <p:nvSpPr>
          <p:cNvPr id="42" name="Rounded Rectangle 41"/>
          <p:cNvSpPr/>
          <p:nvPr/>
        </p:nvSpPr>
        <p:spPr>
          <a:xfrm>
            <a:off x="841248" y="5623560"/>
            <a:ext cx="201168" cy="201168"/>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41248" y="5628132"/>
            <a:ext cx="201168"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4</a:t>
            </a:r>
          </a:p>
        </p:txBody>
      </p:sp>
      <p:sp>
        <p:nvSpPr>
          <p:cNvPr id="44" name="TextBox 43"/>
          <p:cNvSpPr txBox="1"/>
          <p:nvPr/>
        </p:nvSpPr>
        <p:spPr>
          <a:xfrm>
            <a:off x="1207008" y="5577840"/>
            <a:ext cx="10125151" cy="274320"/>
          </a:xfrm>
          <a:prstGeom prst="rect">
            <a:avLst/>
          </a:prstGeom>
          <a:noFill/>
        </p:spPr>
        <p:txBody>
          <a:bodyPr wrap="square" lIns="0" rIns="0" tIns="0" bIns="0" anchor="t">
            <a:noAutofit/>
          </a:bodyPr>
          <a:lstStyle/>
          <a:p>
            <a:pPr algn="l">
              <a:spcBef>
                <a:spcPts val="0"/>
              </a:spcBef>
              <a:spcAft>
                <a:spcPts val="0"/>
              </a:spcAft>
            </a:pPr>
            <a:r>
              <a:rPr sz="1200" b="0" i="0" lang="id-ID">
                <a:solidFill>
                  <a:srgbClr val="102A31"/>
                </a:solidFill>
                <a:latin typeface="Calibri"/>
              </a:rPr>
              <a:t>Kasus dengan insisivus terkena, dan prevalensi HSPM</a:t>
            </a:r>
          </a:p>
        </p:txBody>
      </p:sp>
      <p:sp>
        <p:nvSpPr>
          <p:cNvPr id="45" name="Rectangle 44"/>
          <p:cNvSpPr/>
          <p:nvPr/>
        </p:nvSpPr>
        <p:spPr>
          <a:xfrm>
            <a:off x="0" y="6163056"/>
            <a:ext cx="12191695" cy="694944"/>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0" y="6163056"/>
            <a:ext cx="12191695" cy="4114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30352" y="6327648"/>
            <a:ext cx="8595360" cy="256032"/>
          </a:xfrm>
          <a:prstGeom prst="rect">
            <a:avLst/>
          </a:prstGeom>
          <a:noFill/>
        </p:spPr>
        <p:txBody>
          <a:bodyPr wrap="square" lIns="0" rIns="0" tIns="0" bIns="0" anchor="t">
            <a:noAutofit/>
          </a:bodyPr>
          <a:lstStyle/>
          <a:p>
            <a:pPr algn="l">
              <a:spcBef>
                <a:spcPts val="0"/>
              </a:spcBef>
              <a:spcAft>
                <a:spcPts val="0"/>
              </a:spcAft>
            </a:pPr>
            <a:r>
              <a:rPr sz="850" b="0" i="0" lang="id-ID">
                <a:solidFill>
                  <a:srgbClr val="9FC7CF"/>
                </a:solidFill>
                <a:latin typeface="Calibri"/>
              </a:rPr>
              <a:t>Lopes dkk., Sci Rep 2021;11:22405 · DOI 10.1038/s41598-021-01541-7 · CC BY 4.0</a:t>
            </a:r>
          </a:p>
        </p:txBody>
      </p:sp>
      <p:sp>
        <p:nvSpPr>
          <p:cNvPr id="48" name="Rounded Rectangle 47"/>
          <p:cNvSpPr/>
          <p:nvPr/>
        </p:nvSpPr>
        <p:spPr>
          <a:xfrm>
            <a:off x="11204143" y="6291072"/>
            <a:ext cx="457200" cy="256032"/>
          </a:xfrm>
          <a:prstGeom prst="roundRect">
            <a:avLst>
              <a:gd name="adj" fmla="val 17857"/>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1204143" y="6332220"/>
            <a:ext cx="457200"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0B4A5A"/>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9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732520" y="3520440"/>
            <a:ext cx="5760720" cy="5760720"/>
          </a:xfrm>
          <a:prstGeom prst="ellipse">
            <a:avLst/>
          </a:prstGeom>
          <a:solidFill>
            <a:srgbClr val="CDE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3309213"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2647"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8875166"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0"/>
            <a:ext cx="201168" cy="6858000"/>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0" y="1171346"/>
            <a:ext cx="12191695" cy="6400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06  ·  METODE · PENCARIAN</a:t>
            </a:r>
          </a:p>
        </p:txBody>
      </p:sp>
      <p:sp>
        <p:nvSpPr>
          <p:cNvPr id="11" name="TextBox 10"/>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Cara penulis mengumpulkan bukti</a:t>
            </a:r>
          </a:p>
        </p:txBody>
      </p:sp>
      <p:sp>
        <p:nvSpPr>
          <p:cNvPr id="12" name="Rounded Rectangle 11"/>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Protokol didaftarkan sebelum pencarian dimulai, dan pencarian berhenti Juli 2021.</a:t>
            </a:r>
          </a:p>
        </p:txBody>
      </p:sp>
      <p:sp>
        <p:nvSpPr>
          <p:cNvPr id="15" name="Rounded Rectangle 14"/>
          <p:cNvSpPr/>
          <p:nvPr/>
        </p:nvSpPr>
        <p:spPr>
          <a:xfrm>
            <a:off x="530352" y="2048256"/>
            <a:ext cx="2631643" cy="2103120"/>
          </a:xfrm>
          <a:prstGeom prst="roundRect">
            <a:avLst>
              <a:gd name="adj" fmla="val 434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786384"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86384"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1</a:t>
            </a:r>
          </a:p>
        </p:txBody>
      </p:sp>
      <p:sp>
        <p:nvSpPr>
          <p:cNvPr id="18" name="TextBox 17"/>
          <p:cNvSpPr txBox="1"/>
          <p:nvPr/>
        </p:nvSpPr>
        <p:spPr>
          <a:xfrm>
            <a:off x="1335024"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Protokol</a:t>
            </a:r>
          </a:p>
        </p:txBody>
      </p:sp>
      <p:sp>
        <p:nvSpPr>
          <p:cNvPr id="19" name="TextBox 18"/>
          <p:cNvSpPr txBox="1"/>
          <p:nvPr/>
        </p:nvSpPr>
        <p:spPr>
          <a:xfrm>
            <a:off x="786384" y="2871216"/>
            <a:ext cx="2119579" cy="401421"/>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PROSPERO CRD42021229435, didaftarkan sebelum pencarian.</a:t>
            </a:r>
          </a:p>
        </p:txBody>
      </p:sp>
      <p:sp>
        <p:nvSpPr>
          <p:cNvPr id="20" name="Rounded Rectangle 19"/>
          <p:cNvSpPr/>
          <p:nvPr/>
        </p:nvSpPr>
        <p:spPr>
          <a:xfrm>
            <a:off x="3363163" y="2048256"/>
            <a:ext cx="2631643" cy="2103120"/>
          </a:xfrm>
          <a:prstGeom prst="roundRect">
            <a:avLst>
              <a:gd name="adj" fmla="val 434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619195"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619195"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2</a:t>
            </a:r>
          </a:p>
        </p:txBody>
      </p:sp>
      <p:sp>
        <p:nvSpPr>
          <p:cNvPr id="23" name="TextBox 22"/>
          <p:cNvSpPr txBox="1"/>
          <p:nvPr/>
        </p:nvSpPr>
        <p:spPr>
          <a:xfrm>
            <a:off x="4167835"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Pencarian</a:t>
            </a:r>
          </a:p>
        </p:txBody>
      </p:sp>
      <p:sp>
        <p:nvSpPr>
          <p:cNvPr id="24" name="TextBox 23"/>
          <p:cNvSpPr txBox="1"/>
          <p:nvPr/>
        </p:nvSpPr>
        <p:spPr>
          <a:xfrm>
            <a:off x="3619195" y="2871216"/>
            <a:ext cx="2119579" cy="555955"/>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Tujuh basis data: PubMed, MEDLINE, CENTRAL, Web of Science, SciELO, LILACS, TRIP.</a:t>
            </a:r>
          </a:p>
        </p:txBody>
      </p:sp>
      <p:sp>
        <p:nvSpPr>
          <p:cNvPr id="25" name="Rounded Rectangle 24"/>
          <p:cNvSpPr/>
          <p:nvPr/>
        </p:nvSpPr>
        <p:spPr>
          <a:xfrm>
            <a:off x="6195974" y="2048256"/>
            <a:ext cx="2631643" cy="2103120"/>
          </a:xfrm>
          <a:prstGeom prst="roundRect">
            <a:avLst>
              <a:gd name="adj" fmla="val 434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452006"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52006"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3</a:t>
            </a:r>
          </a:p>
        </p:txBody>
      </p:sp>
      <p:sp>
        <p:nvSpPr>
          <p:cNvPr id="28" name="TextBox 27"/>
          <p:cNvSpPr txBox="1"/>
          <p:nvPr/>
        </p:nvSpPr>
        <p:spPr>
          <a:xfrm>
            <a:off x="7000646"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Penyaringan</a:t>
            </a:r>
          </a:p>
        </p:txBody>
      </p:sp>
      <p:sp>
        <p:nvSpPr>
          <p:cNvPr id="29" name="TextBox 28"/>
          <p:cNvSpPr txBox="1"/>
          <p:nvPr/>
        </p:nvSpPr>
        <p:spPr>
          <a:xfrm>
            <a:off x="6452006" y="2871216"/>
            <a:ext cx="2119579" cy="401421"/>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Seleksi independen oleh dua peneliti, kesepakatan κ = 0,885.</a:t>
            </a:r>
          </a:p>
        </p:txBody>
      </p:sp>
      <p:sp>
        <p:nvSpPr>
          <p:cNvPr id="30" name="Rounded Rectangle 29"/>
          <p:cNvSpPr/>
          <p:nvPr/>
        </p:nvSpPr>
        <p:spPr>
          <a:xfrm>
            <a:off x="9028785" y="2048256"/>
            <a:ext cx="2631643" cy="2103120"/>
          </a:xfrm>
          <a:prstGeom prst="roundRect">
            <a:avLst>
              <a:gd name="adj" fmla="val 434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9284817"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284817"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4</a:t>
            </a:r>
          </a:p>
        </p:txBody>
      </p:sp>
      <p:sp>
        <p:nvSpPr>
          <p:cNvPr id="33" name="TextBox 32"/>
          <p:cNvSpPr txBox="1"/>
          <p:nvPr/>
        </p:nvSpPr>
        <p:spPr>
          <a:xfrm>
            <a:off x="9833457"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Analisis</a:t>
            </a:r>
          </a:p>
        </p:txBody>
      </p:sp>
      <p:sp>
        <p:nvSpPr>
          <p:cNvPr id="34" name="TextBox 33"/>
          <p:cNvSpPr txBox="1"/>
          <p:nvPr/>
        </p:nvSpPr>
        <p:spPr>
          <a:xfrm>
            <a:off x="9284817" y="2871216"/>
            <a:ext cx="2119579" cy="555955"/>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Model random-effects; heterogenitas I²; bias publikasi diuji dengan Egger.</a:t>
            </a:r>
          </a:p>
        </p:txBody>
      </p:sp>
      <p:sp>
        <p:nvSpPr>
          <p:cNvPr id="35" name="Rounded Rectangle 34"/>
          <p:cNvSpPr/>
          <p:nvPr/>
        </p:nvSpPr>
        <p:spPr>
          <a:xfrm>
            <a:off x="530352" y="4334256"/>
            <a:ext cx="11130991" cy="1298448"/>
          </a:xfrm>
          <a:prstGeom prst="roundRect">
            <a:avLst>
              <a:gd name="adj" fmla="val 7042"/>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22960" y="4480560"/>
            <a:ext cx="73152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STRATEGI PENCARIAN</a:t>
            </a:r>
          </a:p>
        </p:txBody>
      </p:sp>
      <p:sp>
        <p:nvSpPr>
          <p:cNvPr id="37" name="TextBox 36"/>
          <p:cNvSpPr txBox="1"/>
          <p:nvPr/>
        </p:nvSpPr>
        <p:spPr>
          <a:xfrm>
            <a:off x="822960" y="4773168"/>
            <a:ext cx="10545775" cy="385876"/>
          </a:xfrm>
          <a:prstGeom prst="rect">
            <a:avLst/>
          </a:prstGeom>
          <a:noFill/>
        </p:spPr>
        <p:txBody>
          <a:bodyPr wrap="square" lIns="0" rIns="0" tIns="0" bIns="0" anchor="t">
            <a:noAutofit/>
          </a:bodyPr>
          <a:lstStyle/>
          <a:p>
            <a:pPr algn="l">
              <a:lnSpc>
                <a:spcPct val="115000"/>
              </a:lnSpc>
              <a:spcBef>
                <a:spcPts val="0"/>
              </a:spcBef>
              <a:spcAft>
                <a:spcPts val="0"/>
              </a:spcAft>
            </a:pPr>
            <a:r>
              <a:rPr sz="950" b="0" i="0" lang="id-ID">
                <a:solidFill>
                  <a:srgbClr val="08262E"/>
                </a:solidFill>
                <a:latin typeface="Consolas"/>
              </a:rPr>
              <a:t>(hypomineralization OR hypomineralisation OR hypomineralized OR hypoplasia OR demarcated OR opacities OR MIH OR cheese molars) AND (survey OR cross-sectional OR prevalence) AND (molar OR molars OR incisors)</a:t>
            </a:r>
          </a:p>
        </p:txBody>
      </p:sp>
      <p:sp>
        <p:nvSpPr>
          <p:cNvPr id="38" name="TextBox 37"/>
          <p:cNvSpPr txBox="1"/>
          <p:nvPr/>
        </p:nvSpPr>
        <p:spPr>
          <a:xfrm>
            <a:off x="530352" y="5705856"/>
            <a:ext cx="11130991" cy="202082"/>
          </a:xfrm>
          <a:prstGeom prst="rect">
            <a:avLst/>
          </a:prstGeom>
          <a:noFill/>
        </p:spPr>
        <p:txBody>
          <a:bodyPr wrap="square" lIns="0" rIns="0" tIns="0" bIns="0" anchor="t">
            <a:noAutofit/>
          </a:bodyPr>
          <a:lstStyle/>
          <a:p>
            <a:pPr algn="l">
              <a:spcBef>
                <a:spcPts val="0"/>
              </a:spcBef>
              <a:spcAft>
                <a:spcPts val="0"/>
              </a:spcAft>
            </a:pPr>
            <a:r>
              <a:rPr sz="950" b="0" i="1" lang="id-ID">
                <a:solidFill>
                  <a:srgbClr val="5C757C"/>
                </a:solidFill>
                <a:latin typeface="Calibri"/>
              </a:rPr>
              <a:t>PubMed dan MEDLINE disebut sebagai dua entri terpisah, sedangkan EMBASE hanya muncul di bagian strategi; untuk replikasi, cek lampiran artikelnya.</a:t>
            </a:r>
          </a:p>
        </p:txBody>
      </p:sp>
      <p:sp>
        <p:nvSpPr>
          <p:cNvPr id="39" name="Rectangle 38"/>
          <p:cNvSpPr/>
          <p:nvPr/>
        </p:nvSpPr>
        <p:spPr>
          <a:xfrm>
            <a:off x="0" y="6163056"/>
            <a:ext cx="12191695" cy="694944"/>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0" y="6163056"/>
            <a:ext cx="12191695" cy="4114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30352" y="6327648"/>
            <a:ext cx="8595360" cy="256032"/>
          </a:xfrm>
          <a:prstGeom prst="rect">
            <a:avLst/>
          </a:prstGeom>
          <a:noFill/>
        </p:spPr>
        <p:txBody>
          <a:bodyPr wrap="square" lIns="0" rIns="0" tIns="0" bIns="0" anchor="t">
            <a:noAutofit/>
          </a:bodyPr>
          <a:lstStyle/>
          <a:p>
            <a:pPr algn="l">
              <a:spcBef>
                <a:spcPts val="0"/>
              </a:spcBef>
              <a:spcAft>
                <a:spcPts val="0"/>
              </a:spcAft>
            </a:pPr>
            <a:r>
              <a:rPr sz="850" b="0" i="0" lang="id-ID">
                <a:solidFill>
                  <a:srgbClr val="9FC7CF"/>
                </a:solidFill>
                <a:latin typeface="Calibri"/>
              </a:rPr>
              <a:t>Lopes dkk., Sci Rep 2021;11:22405 · DOI 10.1038/s41598-021-01541-7 · CC BY 4.0</a:t>
            </a:r>
          </a:p>
        </p:txBody>
      </p:sp>
      <p:sp>
        <p:nvSpPr>
          <p:cNvPr id="42" name="Rounded Rectangle 41"/>
          <p:cNvSpPr/>
          <p:nvPr/>
        </p:nvSpPr>
        <p:spPr>
          <a:xfrm>
            <a:off x="11204143" y="6291072"/>
            <a:ext cx="457200" cy="256032"/>
          </a:xfrm>
          <a:prstGeom prst="roundRect">
            <a:avLst>
              <a:gd name="adj" fmla="val 17857"/>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1204143" y="6332220"/>
            <a:ext cx="457200"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0B4A5A"/>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9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732520" y="3520440"/>
            <a:ext cx="5760720" cy="5760720"/>
          </a:xfrm>
          <a:prstGeom prst="ellipse">
            <a:avLst/>
          </a:prstGeom>
          <a:solidFill>
            <a:srgbClr val="CDE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3309213"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2647"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8875166"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0"/>
            <a:ext cx="201168" cy="6858000"/>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0" y="1171346"/>
            <a:ext cx="12191695" cy="6400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07  ·  METODE · PENYARINGAN</a:t>
            </a:r>
          </a:p>
        </p:txBody>
      </p:sp>
      <p:sp>
        <p:nvSpPr>
          <p:cNvPr id="11" name="TextBox 10"/>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Aturan masuk dan keluar</a:t>
            </a:r>
          </a:p>
        </p:txBody>
      </p:sp>
      <p:sp>
        <p:nvSpPr>
          <p:cNvPr id="12" name="Rounded Rectangle 11"/>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Analisis utama hanya memuat 98 dari 116 studi, karena kriterianya ketat.</a:t>
            </a:r>
          </a:p>
        </p:txBody>
      </p:sp>
      <p:sp>
        <p:nvSpPr>
          <p:cNvPr id="15" name="Rounded Rectangle 14"/>
          <p:cNvSpPr/>
          <p:nvPr/>
        </p:nvSpPr>
        <p:spPr>
          <a:xfrm>
            <a:off x="530352" y="2048256"/>
            <a:ext cx="5422392" cy="3566160"/>
          </a:xfrm>
          <a:prstGeom prst="roundRect">
            <a:avLst>
              <a:gd name="adj" fmla="val 2564"/>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41248" y="2286000"/>
            <a:ext cx="3657600" cy="402336"/>
          </a:xfrm>
          <a:prstGeom prst="rect">
            <a:avLst/>
          </a:prstGeom>
          <a:noFill/>
        </p:spPr>
        <p:txBody>
          <a:bodyPr wrap="square" lIns="0" rIns="0" tIns="0" bIns="0" anchor="t">
            <a:noAutofit/>
          </a:bodyPr>
          <a:lstStyle/>
          <a:p>
            <a:pPr algn="l">
              <a:spcBef>
                <a:spcPts val="0"/>
              </a:spcBef>
              <a:spcAft>
                <a:spcPts val="0"/>
              </a:spcAft>
            </a:pPr>
            <a:r>
              <a:rPr sz="2000" b="1" i="0" lang="id-ID">
                <a:solidFill>
                  <a:srgbClr val="0E7C8C"/>
                </a:solidFill>
                <a:latin typeface="Cambria"/>
              </a:rPr>
              <a:t>Masuk</a:t>
            </a:r>
          </a:p>
        </p:txBody>
      </p:sp>
      <p:sp>
        <p:nvSpPr>
          <p:cNvPr id="17" name="Rounded Rectangle 16"/>
          <p:cNvSpPr/>
          <p:nvPr/>
        </p:nvSpPr>
        <p:spPr>
          <a:xfrm>
            <a:off x="841248" y="2958084"/>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15568" y="2889504"/>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Studi observasional yang melaporkan prevalensi MIH</a:t>
            </a:r>
          </a:p>
        </p:txBody>
      </p:sp>
      <p:sp>
        <p:nvSpPr>
          <p:cNvPr id="19" name="Rounded Rectangle 18"/>
          <p:cNvSpPr/>
          <p:nvPr/>
        </p:nvSpPr>
        <p:spPr>
          <a:xfrm>
            <a:off x="841248" y="3433572"/>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15568" y="3364992"/>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Definisi MIH jelas dan dapat ditelusuri</a:t>
            </a:r>
          </a:p>
        </p:txBody>
      </p:sp>
      <p:sp>
        <p:nvSpPr>
          <p:cNvPr id="21" name="Rounded Rectangle 20"/>
          <p:cNvSpPr/>
          <p:nvPr/>
        </p:nvSpPr>
        <p:spPr>
          <a:xfrm>
            <a:off x="841248" y="3909060"/>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115568" y="3840480"/>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Subjek tanpa kelainan sistemik</a:t>
            </a:r>
          </a:p>
        </p:txBody>
      </p:sp>
      <p:sp>
        <p:nvSpPr>
          <p:cNvPr id="23" name="Rounded Rectangle 22"/>
          <p:cNvSpPr/>
          <p:nvPr/>
        </p:nvSpPr>
        <p:spPr>
          <a:xfrm>
            <a:off x="841248" y="4384548"/>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115568" y="4315968"/>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Kedua jenis kelamin diikutsertakan</a:t>
            </a:r>
          </a:p>
        </p:txBody>
      </p:sp>
      <p:sp>
        <p:nvSpPr>
          <p:cNvPr id="25" name="Rounded Rectangle 24"/>
          <p:cNvSpPr/>
          <p:nvPr/>
        </p:nvSpPr>
        <p:spPr>
          <a:xfrm>
            <a:off x="6236208" y="2048256"/>
            <a:ext cx="5422392" cy="3566160"/>
          </a:xfrm>
          <a:prstGeom prst="roundRect">
            <a:avLst>
              <a:gd name="adj" fmla="val 2564"/>
            </a:avLst>
          </a:prstGeom>
          <a:solidFill>
            <a:srgbClr val="FBE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547104" y="2286000"/>
            <a:ext cx="3657600" cy="402336"/>
          </a:xfrm>
          <a:prstGeom prst="rect">
            <a:avLst/>
          </a:prstGeom>
          <a:noFill/>
        </p:spPr>
        <p:txBody>
          <a:bodyPr wrap="square" lIns="0" rIns="0" tIns="0" bIns="0" anchor="t">
            <a:noAutofit/>
          </a:bodyPr>
          <a:lstStyle/>
          <a:p>
            <a:pPr algn="l">
              <a:spcBef>
                <a:spcPts val="0"/>
              </a:spcBef>
              <a:spcAft>
                <a:spcPts val="0"/>
              </a:spcAft>
            </a:pPr>
            <a:r>
              <a:rPr sz="2000" b="1" i="0" lang="id-ID">
                <a:solidFill>
                  <a:srgbClr val="B26A14"/>
                </a:solidFill>
                <a:latin typeface="Cambria"/>
              </a:rPr>
              <a:t>Keluar</a:t>
            </a:r>
          </a:p>
        </p:txBody>
      </p:sp>
      <p:sp>
        <p:nvSpPr>
          <p:cNvPr id="27" name="Rounded Rectangle 26"/>
          <p:cNvSpPr/>
          <p:nvPr/>
        </p:nvSpPr>
        <p:spPr>
          <a:xfrm>
            <a:off x="6547104" y="2958084"/>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821424" y="2889504"/>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Populasi khusus, misalnya anak yang lahir prematur</a:t>
            </a:r>
          </a:p>
        </p:txBody>
      </p:sp>
      <p:sp>
        <p:nvSpPr>
          <p:cNvPr id="29" name="Rounded Rectangle 28"/>
          <p:cNvSpPr/>
          <p:nvPr/>
        </p:nvSpPr>
        <p:spPr>
          <a:xfrm>
            <a:off x="6547104" y="3433572"/>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21424" y="3364992"/>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Studi yang hanya melaporkan molar sulung</a:t>
            </a:r>
          </a:p>
        </p:txBody>
      </p:sp>
      <p:sp>
        <p:nvSpPr>
          <p:cNvPr id="31" name="Rounded Rectangle 30"/>
          <p:cNvSpPr/>
          <p:nvPr/>
        </p:nvSpPr>
        <p:spPr>
          <a:xfrm>
            <a:off x="6547104" y="3909060"/>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821424" y="3840480"/>
            <a:ext cx="4526280" cy="411480"/>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Sampel non-representatif: satu institusi atau kelompok profesi tertentu</a:t>
            </a:r>
          </a:p>
        </p:txBody>
      </p:sp>
      <p:sp>
        <p:nvSpPr>
          <p:cNvPr id="33" name="TextBox 32"/>
          <p:cNvSpPr txBox="1"/>
          <p:nvPr/>
        </p:nvSpPr>
        <p:spPr>
          <a:xfrm>
            <a:off x="6547104" y="4315968"/>
            <a:ext cx="4800600" cy="243230"/>
          </a:xfrm>
          <a:prstGeom prst="rect">
            <a:avLst/>
          </a:prstGeom>
          <a:noFill/>
        </p:spPr>
        <p:txBody>
          <a:bodyPr wrap="square" lIns="0" rIns="0" tIns="0" bIns="0" anchor="t">
            <a:noAutofit/>
          </a:bodyPr>
          <a:lstStyle/>
          <a:p>
            <a:pPr algn="l">
              <a:spcBef>
                <a:spcPts val="0"/>
              </a:spcBef>
              <a:spcAft>
                <a:spcPts val="0"/>
              </a:spcAft>
            </a:pPr>
            <a:r>
              <a:rPr sz="1100" b="1" i="0" lang="id-ID">
                <a:solidFill>
                  <a:srgbClr val="B26A14"/>
                </a:solidFill>
                <a:latin typeface="Calibri"/>
              </a:rPr>
              <a:t>Efeknya, 18 dari 116 studi tidak masuk analisis utama.</a:t>
            </a:r>
          </a:p>
        </p:txBody>
      </p:sp>
      <p:sp>
        <p:nvSpPr>
          <p:cNvPr id="34" name="TextBox 33"/>
          <p:cNvSpPr txBox="1"/>
          <p:nvPr/>
        </p:nvSpPr>
        <p:spPr>
          <a:xfrm>
            <a:off x="530352" y="5742432"/>
            <a:ext cx="11130991" cy="209397"/>
          </a:xfrm>
          <a:prstGeom prst="rect">
            <a:avLst/>
          </a:prstGeom>
          <a:noFill/>
        </p:spPr>
        <p:txBody>
          <a:bodyPr wrap="square" lIns="0" rIns="0" tIns="0" bIns="0" anchor="t">
            <a:noAutofit/>
          </a:bodyPr>
          <a:lstStyle/>
          <a:p>
            <a:pPr algn="l">
              <a:spcBef>
                <a:spcPts val="0"/>
              </a:spcBef>
              <a:spcAft>
                <a:spcPts val="0"/>
              </a:spcAft>
            </a:pPr>
            <a:r>
              <a:rPr sz="1000" b="0" i="1" lang="id-ID">
                <a:solidFill>
                  <a:srgbClr val="5C757C"/>
                </a:solidFill>
                <a:latin typeface="Calibri"/>
              </a:rPr>
              <a:t>Mutu tiap studi dinilai dengan Newcastle–Ottawa Scale, dan kepastian bukti dengan SORT.</a:t>
            </a:r>
          </a:p>
        </p:txBody>
      </p:sp>
      <p:sp>
        <p:nvSpPr>
          <p:cNvPr id="35" name="Rectangle 34"/>
          <p:cNvSpPr/>
          <p:nvPr/>
        </p:nvSpPr>
        <p:spPr>
          <a:xfrm>
            <a:off x="0" y="6163056"/>
            <a:ext cx="12191695" cy="694944"/>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0" y="6163056"/>
            <a:ext cx="12191695" cy="4114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30352" y="6327648"/>
            <a:ext cx="8595360" cy="256032"/>
          </a:xfrm>
          <a:prstGeom prst="rect">
            <a:avLst/>
          </a:prstGeom>
          <a:noFill/>
        </p:spPr>
        <p:txBody>
          <a:bodyPr wrap="square" lIns="0" rIns="0" tIns="0" bIns="0" anchor="t">
            <a:noAutofit/>
          </a:bodyPr>
          <a:lstStyle/>
          <a:p>
            <a:pPr algn="l">
              <a:spcBef>
                <a:spcPts val="0"/>
              </a:spcBef>
              <a:spcAft>
                <a:spcPts val="0"/>
              </a:spcAft>
            </a:pPr>
            <a:r>
              <a:rPr sz="850" b="0" i="0" lang="id-ID">
                <a:solidFill>
                  <a:srgbClr val="9FC7CF"/>
                </a:solidFill>
                <a:latin typeface="Calibri"/>
              </a:rPr>
              <a:t>Lopes dkk., Sci Rep 2021;11:22405 · DOI 10.1038/s41598-021-01541-7 · CC BY 4.0</a:t>
            </a:r>
          </a:p>
        </p:txBody>
      </p:sp>
      <p:sp>
        <p:nvSpPr>
          <p:cNvPr id="38" name="Rounded Rectangle 37"/>
          <p:cNvSpPr/>
          <p:nvPr/>
        </p:nvSpPr>
        <p:spPr>
          <a:xfrm>
            <a:off x="11204143" y="6291072"/>
            <a:ext cx="457200" cy="256032"/>
          </a:xfrm>
          <a:prstGeom prst="roundRect">
            <a:avLst>
              <a:gd name="adj" fmla="val 17857"/>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1204143" y="6332220"/>
            <a:ext cx="457200"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0B4A5A"/>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8E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732520" y="3520440"/>
            <a:ext cx="5760720" cy="5760720"/>
          </a:xfrm>
          <a:prstGeom prst="ellipse">
            <a:avLst/>
          </a:prstGeom>
          <a:solidFill>
            <a:srgbClr val="CCE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3309213"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2647"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8875166"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0"/>
            <a:ext cx="201168" cy="6858000"/>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0" y="1171346"/>
            <a:ext cx="12191695" cy="6400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08  ·  HASIL · 1</a:t>
            </a:r>
          </a:p>
        </p:txBody>
      </p:sp>
      <p:sp>
        <p:nvSpPr>
          <p:cNvPr id="11" name="TextBox 10"/>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116 studi lolos, dan mutunya tinggi</a:t>
            </a:r>
          </a:p>
        </p:txBody>
      </p:sp>
      <p:sp>
        <p:nvSpPr>
          <p:cNvPr id="12" name="Rounded Rectangle 11"/>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Semua studi yang masuk analisis utama berskor NOS 7/9 atau lebih tinggi.</a:t>
            </a:r>
          </a:p>
        </p:txBody>
      </p:sp>
      <p:sp>
        <p:nvSpPr>
          <p:cNvPr id="15" name="Rounded Rectangle 14"/>
          <p:cNvSpPr/>
          <p:nvPr/>
        </p:nvSpPr>
        <p:spPr>
          <a:xfrm>
            <a:off x="530352" y="2048256"/>
            <a:ext cx="6675120" cy="3291840"/>
          </a:xfrm>
          <a:prstGeom prst="roundRect">
            <a:avLst>
              <a:gd name="adj" fmla="val 277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 name="Chart 15"/>
          <p:cNvGraphicFramePr>
            <a:graphicFrameLocks noGrp="1"/>
          </p:cNvGraphicFramePr>
          <p:nvPr/>
        </p:nvGraphicFramePr>
        <p:xfrm>
          <a:off x="786384" y="2249424"/>
          <a:ext cx="6163056" cy="2560320"/>
        </p:xfrm>
        <a:graphic>
          <a:graphicData uri="http://schemas.openxmlformats.org/drawingml/2006/chart">
            <c:chart xmlns:c="http://schemas.openxmlformats.org/drawingml/2006/chart" r:id="rId2"/>
          </a:graphicData>
        </a:graphic>
      </p:graphicFrame>
      <p:sp>
        <p:nvSpPr>
          <p:cNvPr id="17" name="TextBox 16"/>
          <p:cNvSpPr txBox="1"/>
          <p:nvPr/>
        </p:nvSpPr>
        <p:spPr>
          <a:xfrm>
            <a:off x="786384" y="4901184"/>
            <a:ext cx="6163056" cy="256032"/>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Jumlah studi per skor Newcastle–Ottawa (9 = mutu tertinggi)</a:t>
            </a:r>
          </a:p>
        </p:txBody>
      </p:sp>
      <p:sp>
        <p:nvSpPr>
          <p:cNvPr id="18" name="Rounded Rectangle 17"/>
          <p:cNvSpPr/>
          <p:nvPr/>
        </p:nvSpPr>
        <p:spPr>
          <a:xfrm>
            <a:off x="7424927" y="2048256"/>
            <a:ext cx="4233672" cy="3291840"/>
          </a:xfrm>
          <a:prstGeom prst="roundRect">
            <a:avLst>
              <a:gd name="adj" fmla="val 277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699248" y="2231136"/>
            <a:ext cx="36576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ANGKA KUNCI</a:t>
            </a:r>
          </a:p>
        </p:txBody>
      </p:sp>
      <p:sp>
        <p:nvSpPr>
          <p:cNvPr id="20" name="TextBox 19"/>
          <p:cNvSpPr txBox="1"/>
          <p:nvPr/>
        </p:nvSpPr>
        <p:spPr>
          <a:xfrm>
            <a:off x="7699248" y="2542032"/>
            <a:ext cx="3685032" cy="574243"/>
          </a:xfrm>
          <a:prstGeom prst="rect">
            <a:avLst/>
          </a:prstGeom>
          <a:noFill/>
        </p:spPr>
        <p:txBody>
          <a:bodyPr wrap="square" lIns="0" rIns="0" tIns="0" bIns="0" anchor="t">
            <a:noAutofit/>
          </a:bodyPr>
          <a:lstStyle/>
          <a:p>
            <a:pPr algn="l">
              <a:spcBef>
                <a:spcPts val="0"/>
              </a:spcBef>
              <a:spcAft>
                <a:spcPts val="0"/>
              </a:spcAft>
            </a:pPr>
            <a:r>
              <a:rPr sz="3000" b="1" i="0" lang="id-ID">
                <a:solidFill>
                  <a:srgbClr val="0E7C8C"/>
                </a:solidFill>
                <a:latin typeface="Cambria"/>
              </a:rPr>
              <a:t>116</a:t>
            </a:r>
          </a:p>
        </p:txBody>
      </p:sp>
      <p:sp>
        <p:nvSpPr>
          <p:cNvPr id="21" name="TextBox 20"/>
          <p:cNvSpPr txBox="1"/>
          <p:nvPr/>
        </p:nvSpPr>
        <p:spPr>
          <a:xfrm>
            <a:off x="7699248" y="3152851"/>
            <a:ext cx="3685032"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studi dimasukkan</a:t>
            </a:r>
          </a:p>
        </p:txBody>
      </p:sp>
      <p:sp>
        <p:nvSpPr>
          <p:cNvPr id="22" name="TextBox 21"/>
          <p:cNvSpPr txBox="1"/>
          <p:nvPr/>
        </p:nvSpPr>
        <p:spPr>
          <a:xfrm>
            <a:off x="7699248" y="3401568"/>
            <a:ext cx="3685032" cy="574243"/>
          </a:xfrm>
          <a:prstGeom prst="rect">
            <a:avLst/>
          </a:prstGeom>
          <a:noFill/>
        </p:spPr>
        <p:txBody>
          <a:bodyPr wrap="square" lIns="0" rIns="0" tIns="0" bIns="0" anchor="t">
            <a:noAutofit/>
          </a:bodyPr>
          <a:lstStyle/>
          <a:p>
            <a:pPr algn="l">
              <a:spcBef>
                <a:spcPts val="0"/>
              </a:spcBef>
              <a:spcAft>
                <a:spcPts val="0"/>
              </a:spcAft>
            </a:pPr>
            <a:r>
              <a:rPr sz="3000" b="1" i="0" lang="id-ID">
                <a:solidFill>
                  <a:srgbClr val="0E7C8C"/>
                </a:solidFill>
                <a:latin typeface="Cambria"/>
              </a:rPr>
              <a:t>133.734</a:t>
            </a:r>
          </a:p>
        </p:txBody>
      </p:sp>
      <p:sp>
        <p:nvSpPr>
          <p:cNvPr id="23" name="TextBox 22"/>
          <p:cNvSpPr txBox="1"/>
          <p:nvPr/>
        </p:nvSpPr>
        <p:spPr>
          <a:xfrm>
            <a:off x="7699248" y="4012387"/>
            <a:ext cx="3685032"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peserta pada analisis awal</a:t>
            </a:r>
          </a:p>
        </p:txBody>
      </p:sp>
      <p:sp>
        <p:nvSpPr>
          <p:cNvPr id="24" name="TextBox 23"/>
          <p:cNvSpPr txBox="1"/>
          <p:nvPr/>
        </p:nvSpPr>
        <p:spPr>
          <a:xfrm>
            <a:off x="7699248" y="4261104"/>
            <a:ext cx="3685032" cy="574243"/>
          </a:xfrm>
          <a:prstGeom prst="rect">
            <a:avLst/>
          </a:prstGeom>
          <a:noFill/>
        </p:spPr>
        <p:txBody>
          <a:bodyPr wrap="square" lIns="0" rIns="0" tIns="0" bIns="0" anchor="t">
            <a:noAutofit/>
          </a:bodyPr>
          <a:lstStyle/>
          <a:p>
            <a:pPr algn="l">
              <a:spcBef>
                <a:spcPts val="0"/>
              </a:spcBef>
              <a:spcAft>
                <a:spcPts val="0"/>
              </a:spcAft>
            </a:pPr>
            <a:r>
              <a:rPr sz="3000" b="1" i="0" lang="id-ID">
                <a:solidFill>
                  <a:srgbClr val="0E7C8C"/>
                </a:solidFill>
                <a:latin typeface="Cambria"/>
              </a:rPr>
              <a:t>113.089</a:t>
            </a:r>
          </a:p>
        </p:txBody>
      </p:sp>
      <p:sp>
        <p:nvSpPr>
          <p:cNvPr id="25" name="TextBox 24"/>
          <p:cNvSpPr txBox="1"/>
          <p:nvPr/>
        </p:nvSpPr>
        <p:spPr>
          <a:xfrm>
            <a:off x="7699248" y="4871923"/>
            <a:ext cx="3685032"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peserta pada analisis utama, 98 studi</a:t>
            </a:r>
          </a:p>
        </p:txBody>
      </p:sp>
      <p:sp>
        <p:nvSpPr>
          <p:cNvPr id="26" name="Rounded Rectangle 25"/>
          <p:cNvSpPr/>
          <p:nvPr/>
        </p:nvSpPr>
        <p:spPr>
          <a:xfrm>
            <a:off x="530352" y="5486400"/>
            <a:ext cx="11130991" cy="603504"/>
          </a:xfrm>
          <a:prstGeom prst="roundRect">
            <a:avLst>
              <a:gd name="adj" fmla="val 12121"/>
            </a:avLst>
          </a:prstGeom>
          <a:solidFill>
            <a:srgbClr val="FBE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04672" y="5650992"/>
            <a:ext cx="10582351" cy="292608"/>
          </a:xfrm>
          <a:prstGeom prst="rect">
            <a:avLst/>
          </a:prstGeom>
          <a:noFill/>
        </p:spPr>
        <p:txBody>
          <a:bodyPr wrap="square" lIns="0" rIns="0" tIns="0" bIns="0" anchor="t">
            <a:noAutofit/>
          </a:bodyPr>
          <a:lstStyle/>
          <a:p>
            <a:pPr algn="l">
              <a:spcBef>
                <a:spcPts val="0"/>
              </a:spcBef>
              <a:spcAft>
                <a:spcPts val="0"/>
              </a:spcAft>
            </a:pPr>
            <a:r>
              <a:rPr sz="1200" b="1" i="0" lang="id-ID">
                <a:solidFill>
                  <a:srgbClr val="B26A14"/>
                </a:solidFill>
                <a:latin typeface="Calibri"/>
              </a:rPr>
              <a:t>Yang perlu dicatat: 48,7% studi gagal pada butir representativitas sampel.</a:t>
            </a:r>
          </a:p>
        </p:txBody>
      </p:sp>
      <p:sp>
        <p:nvSpPr>
          <p:cNvPr id="28" name="Rectangle 27"/>
          <p:cNvSpPr/>
          <p:nvPr/>
        </p:nvSpPr>
        <p:spPr>
          <a:xfrm>
            <a:off x="0" y="6163056"/>
            <a:ext cx="12191695" cy="694944"/>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0" y="6163056"/>
            <a:ext cx="12191695" cy="4114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30352" y="6327648"/>
            <a:ext cx="8595360" cy="256032"/>
          </a:xfrm>
          <a:prstGeom prst="rect">
            <a:avLst/>
          </a:prstGeom>
          <a:noFill/>
        </p:spPr>
        <p:txBody>
          <a:bodyPr wrap="square" lIns="0" rIns="0" tIns="0" bIns="0" anchor="t">
            <a:noAutofit/>
          </a:bodyPr>
          <a:lstStyle/>
          <a:p>
            <a:pPr algn="l">
              <a:spcBef>
                <a:spcPts val="0"/>
              </a:spcBef>
              <a:spcAft>
                <a:spcPts val="0"/>
              </a:spcAft>
            </a:pPr>
            <a:r>
              <a:rPr sz="850" b="0" i="0" lang="id-ID">
                <a:solidFill>
                  <a:srgbClr val="9FC7CF"/>
                </a:solidFill>
                <a:latin typeface="Calibri"/>
              </a:rPr>
              <a:t>Lopes dkk., Sci Rep 2021;11:22405 · DOI 10.1038/s41598-021-01541-7 · CC BY 4.0</a:t>
            </a:r>
          </a:p>
        </p:txBody>
      </p:sp>
      <p:sp>
        <p:nvSpPr>
          <p:cNvPr id="31" name="Rounded Rectangle 30"/>
          <p:cNvSpPr/>
          <p:nvPr/>
        </p:nvSpPr>
        <p:spPr>
          <a:xfrm>
            <a:off x="11204143" y="6291072"/>
            <a:ext cx="457200" cy="256032"/>
          </a:xfrm>
          <a:prstGeom prst="roundRect">
            <a:avLst>
              <a:gd name="adj" fmla="val 17857"/>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1204143" y="6332220"/>
            <a:ext cx="457200"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0B4A5A"/>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8E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732520" y="3520440"/>
            <a:ext cx="5760720" cy="5760720"/>
          </a:xfrm>
          <a:prstGeom prst="ellipse">
            <a:avLst/>
          </a:prstGeom>
          <a:solidFill>
            <a:srgbClr val="CCE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3309213"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2647"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8875166"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0"/>
            <a:ext cx="201168" cy="6858000"/>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0" y="1171346"/>
            <a:ext cx="12191695" cy="6400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09  ·  HASIL · 2</a:t>
            </a:r>
          </a:p>
        </p:txBody>
      </p:sp>
      <p:sp>
        <p:nvSpPr>
          <p:cNvPr id="11" name="TextBox 10"/>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Prevalensi global 13,5%</a:t>
            </a:r>
          </a:p>
        </p:txBody>
      </p:sp>
      <p:sp>
        <p:nvSpPr>
          <p:cNvPr id="12" name="Rounded Rectangle 11"/>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Rata-rata tertimbang dari 98 studi berkriteria EAPD 2003, mencakup 113.089 anak.</a:t>
            </a:r>
          </a:p>
        </p:txBody>
      </p:sp>
      <p:sp>
        <p:nvSpPr>
          <p:cNvPr id="15" name="Rounded Rectangle 14"/>
          <p:cNvSpPr/>
          <p:nvPr/>
        </p:nvSpPr>
        <p:spPr>
          <a:xfrm>
            <a:off x="530352" y="2048256"/>
            <a:ext cx="4572000" cy="3108960"/>
          </a:xfrm>
          <a:prstGeom prst="roundRect">
            <a:avLst>
              <a:gd name="adj" fmla="val 2941"/>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 name="Chart 15"/>
          <p:cNvGraphicFramePr>
            <a:graphicFrameLocks noGrp="1"/>
          </p:cNvGraphicFramePr>
          <p:nvPr/>
        </p:nvGraphicFramePr>
        <p:xfrm>
          <a:off x="896112" y="2249424"/>
          <a:ext cx="3840480" cy="2377440"/>
        </p:xfrm>
        <a:graphic>
          <a:graphicData uri="http://schemas.openxmlformats.org/drawingml/2006/chart">
            <c:chart xmlns:c="http://schemas.openxmlformats.org/drawingml/2006/chart" r:id="rId2"/>
          </a:graphicData>
        </a:graphic>
      </p:graphicFrame>
      <p:sp>
        <p:nvSpPr>
          <p:cNvPr id="17" name="TextBox 16"/>
          <p:cNvSpPr txBox="1"/>
          <p:nvPr/>
        </p:nvSpPr>
        <p:spPr>
          <a:xfrm>
            <a:off x="2103120" y="3200400"/>
            <a:ext cx="1426464" cy="384048"/>
          </a:xfrm>
          <a:prstGeom prst="rect">
            <a:avLst/>
          </a:prstGeom>
          <a:noFill/>
        </p:spPr>
        <p:txBody>
          <a:bodyPr wrap="square" lIns="0" rIns="0" tIns="0" bIns="0" anchor="t">
            <a:noAutofit/>
          </a:bodyPr>
          <a:lstStyle/>
          <a:p>
            <a:pPr algn="ctr">
              <a:spcBef>
                <a:spcPts val="0"/>
              </a:spcBef>
              <a:spcAft>
                <a:spcPts val="0"/>
              </a:spcAft>
            </a:pPr>
            <a:r>
              <a:rPr sz="2200" b="1" i="0" lang="id-ID">
                <a:solidFill>
                  <a:srgbClr val="0E7C8C"/>
                </a:solidFill>
                <a:latin typeface="Cambria"/>
              </a:rPr>
              <a:t>13,5%</a:t>
            </a:r>
          </a:p>
        </p:txBody>
      </p:sp>
      <p:sp>
        <p:nvSpPr>
          <p:cNvPr id="18" name="TextBox 17"/>
          <p:cNvSpPr txBox="1"/>
          <p:nvPr/>
        </p:nvSpPr>
        <p:spPr>
          <a:xfrm>
            <a:off x="896112" y="4718304"/>
            <a:ext cx="3840480" cy="274320"/>
          </a:xfrm>
          <a:prstGeom prst="rect">
            <a:avLst/>
          </a:prstGeom>
          <a:noFill/>
        </p:spPr>
        <p:txBody>
          <a:bodyPr wrap="square" lIns="0" rIns="0" tIns="0" bIns="0" anchor="t">
            <a:noAutofit/>
          </a:bodyPr>
          <a:lstStyle/>
          <a:p>
            <a:pPr algn="ctr">
              <a:spcBef>
                <a:spcPts val="0"/>
              </a:spcBef>
              <a:spcAft>
                <a:spcPts val="0"/>
              </a:spcAft>
            </a:pPr>
            <a:r>
              <a:rPr sz="1000" b="0" i="0" lang="id-ID">
                <a:solidFill>
                  <a:srgbClr val="5C757C"/>
                </a:solidFill>
                <a:latin typeface="Calibri"/>
              </a:rPr>
              <a:t>MIH pada 13,5% anak · tanpa MIH pada 86,5%</a:t>
            </a:r>
          </a:p>
        </p:txBody>
      </p:sp>
      <p:sp>
        <p:nvSpPr>
          <p:cNvPr id="19" name="Rounded Rectangle 18"/>
          <p:cNvSpPr/>
          <p:nvPr/>
        </p:nvSpPr>
        <p:spPr>
          <a:xfrm>
            <a:off x="5285232" y="2048256"/>
            <a:ext cx="2002536" cy="1417320"/>
          </a:xfrm>
          <a:prstGeom prst="roundRect">
            <a:avLst>
              <a:gd name="adj" fmla="val 645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522976" y="2231136"/>
            <a:ext cx="1527048" cy="481888"/>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98 studi</a:t>
            </a:r>
          </a:p>
        </p:txBody>
      </p:sp>
      <p:sp>
        <p:nvSpPr>
          <p:cNvPr id="21" name="TextBox 20"/>
          <p:cNvSpPr txBox="1"/>
          <p:nvPr/>
        </p:nvSpPr>
        <p:spPr>
          <a:xfrm>
            <a:off x="5522976" y="2749600"/>
            <a:ext cx="1527048" cy="460857"/>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memakai kriteria EAPD 2003</a:t>
            </a:r>
          </a:p>
        </p:txBody>
      </p:sp>
      <p:sp>
        <p:nvSpPr>
          <p:cNvPr id="22" name="Rounded Rectangle 21"/>
          <p:cNvSpPr/>
          <p:nvPr/>
        </p:nvSpPr>
        <p:spPr>
          <a:xfrm>
            <a:off x="7470648" y="2048256"/>
            <a:ext cx="2002536" cy="1417320"/>
          </a:xfrm>
          <a:prstGeom prst="roundRect">
            <a:avLst>
              <a:gd name="adj" fmla="val 645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708392" y="2231136"/>
            <a:ext cx="1527048" cy="481888"/>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133.734</a:t>
            </a:r>
          </a:p>
        </p:txBody>
      </p:sp>
      <p:sp>
        <p:nvSpPr>
          <p:cNvPr id="24" name="TextBox 23"/>
          <p:cNvSpPr txBox="1"/>
          <p:nvPr/>
        </p:nvSpPr>
        <p:spPr>
          <a:xfrm>
            <a:off x="7708392" y="2749600"/>
            <a:ext cx="1527048" cy="460857"/>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peserta pada analisis awal</a:t>
            </a:r>
          </a:p>
        </p:txBody>
      </p:sp>
      <p:sp>
        <p:nvSpPr>
          <p:cNvPr id="25" name="Rounded Rectangle 24"/>
          <p:cNvSpPr/>
          <p:nvPr/>
        </p:nvSpPr>
        <p:spPr>
          <a:xfrm>
            <a:off x="9656064" y="2048256"/>
            <a:ext cx="2002536" cy="1417320"/>
          </a:xfrm>
          <a:prstGeom prst="roundRect">
            <a:avLst>
              <a:gd name="adj" fmla="val 645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893808" y="2231136"/>
            <a:ext cx="1527048" cy="481888"/>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SORT A</a:t>
            </a:r>
          </a:p>
        </p:txBody>
      </p:sp>
      <p:sp>
        <p:nvSpPr>
          <p:cNvPr id="27" name="TextBox 26"/>
          <p:cNvSpPr txBox="1"/>
          <p:nvPr/>
        </p:nvSpPr>
        <p:spPr>
          <a:xfrm>
            <a:off x="9893808" y="2749600"/>
            <a:ext cx="152704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kepastian bukti</a:t>
            </a:r>
          </a:p>
        </p:txBody>
      </p:sp>
      <p:sp>
        <p:nvSpPr>
          <p:cNvPr id="28" name="Rounded Rectangle 27"/>
          <p:cNvSpPr/>
          <p:nvPr/>
        </p:nvSpPr>
        <p:spPr>
          <a:xfrm>
            <a:off x="5285232" y="3648456"/>
            <a:ext cx="6373368" cy="1508760"/>
          </a:xfrm>
          <a:prstGeom prst="roundRect">
            <a:avLst>
              <a:gd name="adj" fmla="val 6060"/>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559552" y="3785615"/>
            <a:ext cx="54864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UJI KESTABILAN</a:t>
            </a:r>
          </a:p>
        </p:txBody>
      </p:sp>
      <p:sp>
        <p:nvSpPr>
          <p:cNvPr id="30" name="TextBox 29"/>
          <p:cNvSpPr txBox="1"/>
          <p:nvPr/>
        </p:nvSpPr>
        <p:spPr>
          <a:xfrm>
            <a:off x="5559552" y="4114800"/>
            <a:ext cx="1691640" cy="256032"/>
          </a:xfrm>
          <a:prstGeom prst="rect">
            <a:avLst/>
          </a:prstGeom>
          <a:noFill/>
        </p:spPr>
        <p:txBody>
          <a:bodyPr wrap="square" lIns="0" rIns="0" tIns="0" bIns="0" anchor="t">
            <a:noAutofit/>
          </a:bodyPr>
          <a:lstStyle/>
          <a:p>
            <a:pPr algn="l">
              <a:spcBef>
                <a:spcPts val="0"/>
              </a:spcBef>
              <a:spcAft>
                <a:spcPts val="0"/>
              </a:spcAft>
            </a:pPr>
            <a:r>
              <a:rPr sz="1100" b="1" i="0" lang="id-ID">
                <a:solidFill>
                  <a:srgbClr val="08262E"/>
                </a:solidFill>
                <a:latin typeface="Calibri"/>
              </a:rPr>
              <a:t>I² = 98,0%</a:t>
            </a:r>
          </a:p>
        </p:txBody>
      </p:sp>
      <p:sp>
        <p:nvSpPr>
          <p:cNvPr id="31" name="TextBox 30"/>
          <p:cNvSpPr txBox="1"/>
          <p:nvPr/>
        </p:nvSpPr>
        <p:spPr>
          <a:xfrm>
            <a:off x="7360920" y="4114800"/>
            <a:ext cx="4023360" cy="256032"/>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variasi antar studi tinggi dan nyata</a:t>
            </a:r>
          </a:p>
        </p:txBody>
      </p:sp>
      <p:sp>
        <p:nvSpPr>
          <p:cNvPr id="32" name="TextBox 31"/>
          <p:cNvSpPr txBox="1"/>
          <p:nvPr/>
        </p:nvSpPr>
        <p:spPr>
          <a:xfrm>
            <a:off x="5559552" y="4443984"/>
            <a:ext cx="1691640" cy="256032"/>
          </a:xfrm>
          <a:prstGeom prst="rect">
            <a:avLst/>
          </a:prstGeom>
          <a:noFill/>
        </p:spPr>
        <p:txBody>
          <a:bodyPr wrap="square" lIns="0" rIns="0" tIns="0" bIns="0" anchor="t">
            <a:noAutofit/>
          </a:bodyPr>
          <a:lstStyle/>
          <a:p>
            <a:pPr algn="l">
              <a:spcBef>
                <a:spcPts val="0"/>
              </a:spcBef>
              <a:spcAft>
                <a:spcPts val="0"/>
              </a:spcAft>
            </a:pPr>
            <a:r>
              <a:rPr sz="1100" b="1" i="0" lang="id-ID">
                <a:solidFill>
                  <a:srgbClr val="08262E"/>
                </a:solidFill>
                <a:latin typeface="Calibri"/>
              </a:rPr>
              <a:t>Uji Egger</a:t>
            </a:r>
          </a:p>
        </p:txBody>
      </p:sp>
      <p:sp>
        <p:nvSpPr>
          <p:cNvPr id="33" name="TextBox 32"/>
          <p:cNvSpPr txBox="1"/>
          <p:nvPr/>
        </p:nvSpPr>
        <p:spPr>
          <a:xfrm>
            <a:off x="7360920" y="4443984"/>
            <a:ext cx="4023360" cy="256032"/>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p = 0,179, tanpa tanda bias publikasi</a:t>
            </a:r>
          </a:p>
        </p:txBody>
      </p:sp>
      <p:sp>
        <p:nvSpPr>
          <p:cNvPr id="34" name="TextBox 33"/>
          <p:cNvSpPr txBox="1"/>
          <p:nvPr/>
        </p:nvSpPr>
        <p:spPr>
          <a:xfrm>
            <a:off x="5559552" y="4773168"/>
            <a:ext cx="1691640" cy="256032"/>
          </a:xfrm>
          <a:prstGeom prst="rect">
            <a:avLst/>
          </a:prstGeom>
          <a:noFill/>
        </p:spPr>
        <p:txBody>
          <a:bodyPr wrap="square" lIns="0" rIns="0" tIns="0" bIns="0" anchor="t">
            <a:noAutofit/>
          </a:bodyPr>
          <a:lstStyle/>
          <a:p>
            <a:pPr algn="l">
              <a:spcBef>
                <a:spcPts val="0"/>
              </a:spcBef>
              <a:spcAft>
                <a:spcPts val="0"/>
              </a:spcAft>
            </a:pPr>
            <a:r>
              <a:rPr sz="1100" b="1" i="0" lang="id-ID">
                <a:solidFill>
                  <a:srgbClr val="08262E"/>
                </a:solidFill>
                <a:latin typeface="Calibri"/>
              </a:rPr>
              <a:t>Leave-one-out</a:t>
            </a:r>
          </a:p>
        </p:txBody>
      </p:sp>
      <p:sp>
        <p:nvSpPr>
          <p:cNvPr id="35" name="TextBox 34"/>
          <p:cNvSpPr txBox="1"/>
          <p:nvPr/>
        </p:nvSpPr>
        <p:spPr>
          <a:xfrm>
            <a:off x="7360920" y="4773168"/>
            <a:ext cx="4023360" cy="256032"/>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estimasi tetap stabil</a:t>
            </a:r>
          </a:p>
        </p:txBody>
      </p:sp>
      <p:sp>
        <p:nvSpPr>
          <p:cNvPr id="36" name="Rounded Rectangle 35"/>
          <p:cNvSpPr/>
          <p:nvPr/>
        </p:nvSpPr>
        <p:spPr>
          <a:xfrm>
            <a:off x="530352" y="5340096"/>
            <a:ext cx="11130991" cy="749808"/>
          </a:xfrm>
          <a:prstGeom prst="roundRect">
            <a:avLst>
              <a:gd name="adj" fmla="val 12195"/>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41248" y="5477256"/>
            <a:ext cx="10509199" cy="475488"/>
          </a:xfrm>
          <a:prstGeom prst="rect">
            <a:avLst/>
          </a:prstGeom>
          <a:noFill/>
        </p:spPr>
        <p:txBody>
          <a:bodyPr wrap="square" lIns="0" rIns="0" tIns="0" bIns="0" anchor="t">
            <a:noAutofit/>
          </a:bodyPr>
          <a:lstStyle/>
          <a:p>
            <a:pPr algn="l">
              <a:spcBef>
                <a:spcPts val="0"/>
              </a:spcBef>
              <a:spcAft>
                <a:spcPts val="0"/>
              </a:spcAft>
            </a:pPr>
            <a:r>
              <a:rPr sz="1400" b="1" i="0" lang="id-ID">
                <a:solidFill>
                  <a:srgbClr val="FFFFFF"/>
                </a:solidFill>
                <a:latin typeface="Cambria"/>
              </a:rPr>
              <a:t>Setara satu dari tujuh sampai delapan anak. Angka ini menggambarkan beban populasi, bukan presisi satu kota.</a:t>
            </a:r>
          </a:p>
        </p:txBody>
      </p:sp>
      <p:sp>
        <p:nvSpPr>
          <p:cNvPr id="38" name="Rectangle 37"/>
          <p:cNvSpPr/>
          <p:nvPr/>
        </p:nvSpPr>
        <p:spPr>
          <a:xfrm>
            <a:off x="0" y="6163056"/>
            <a:ext cx="12191695" cy="694944"/>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0" y="6163056"/>
            <a:ext cx="12191695" cy="4114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530352" y="6327648"/>
            <a:ext cx="8595360" cy="256032"/>
          </a:xfrm>
          <a:prstGeom prst="rect">
            <a:avLst/>
          </a:prstGeom>
          <a:noFill/>
        </p:spPr>
        <p:txBody>
          <a:bodyPr wrap="square" lIns="0" rIns="0" tIns="0" bIns="0" anchor="t">
            <a:noAutofit/>
          </a:bodyPr>
          <a:lstStyle/>
          <a:p>
            <a:pPr algn="l">
              <a:spcBef>
                <a:spcPts val="0"/>
              </a:spcBef>
              <a:spcAft>
                <a:spcPts val="0"/>
              </a:spcAft>
            </a:pPr>
            <a:r>
              <a:rPr sz="850" b="0" i="0" lang="id-ID">
                <a:solidFill>
                  <a:srgbClr val="9FC7CF"/>
                </a:solidFill>
                <a:latin typeface="Calibri"/>
              </a:rPr>
              <a:t>Lopes dkk., Sci Rep 2021;11:22405 · DOI 10.1038/s41598-021-01541-7 · CC BY 4.0</a:t>
            </a:r>
          </a:p>
        </p:txBody>
      </p:sp>
      <p:sp>
        <p:nvSpPr>
          <p:cNvPr id="41" name="Rounded Rectangle 40"/>
          <p:cNvSpPr/>
          <p:nvPr/>
        </p:nvSpPr>
        <p:spPr>
          <a:xfrm>
            <a:off x="11204143" y="6291072"/>
            <a:ext cx="457200" cy="256032"/>
          </a:xfrm>
          <a:prstGeom prst="roundRect">
            <a:avLst>
              <a:gd name="adj" fmla="val 17857"/>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1204143" y="6332220"/>
            <a:ext cx="457200"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0B4A5A"/>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8E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732520" y="3520440"/>
            <a:ext cx="5760720" cy="5760720"/>
          </a:xfrm>
          <a:prstGeom prst="ellipse">
            <a:avLst/>
          </a:prstGeom>
          <a:solidFill>
            <a:srgbClr val="CCE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3309213"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2647"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8875166"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0"/>
            <a:ext cx="201168" cy="6858000"/>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0" y="1171346"/>
            <a:ext cx="12191695" cy="6400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10  ·  HASIL · 3</a:t>
            </a:r>
          </a:p>
        </p:txBody>
      </p:sp>
      <p:sp>
        <p:nvSpPr>
          <p:cNvPr id="11" name="TextBox 10"/>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Lebih dari sepertiga kasus sudah sedang sampai berat</a:t>
            </a:r>
          </a:p>
        </p:txBody>
      </p:sp>
      <p:sp>
        <p:nvSpPr>
          <p:cNvPr id="12" name="Rounded Rectangle 11"/>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Sebaran gigi yang terkena hampir merata, jadi tidak ada pola tunggal yang bisa diprediksi.</a:t>
            </a:r>
          </a:p>
        </p:txBody>
      </p:sp>
      <p:sp>
        <p:nvSpPr>
          <p:cNvPr id="15" name="Rounded Rectangle 14"/>
          <p:cNvSpPr/>
          <p:nvPr/>
        </p:nvSpPr>
        <p:spPr>
          <a:xfrm>
            <a:off x="530352" y="2048256"/>
            <a:ext cx="6675120" cy="3108960"/>
          </a:xfrm>
          <a:prstGeom prst="roundRect">
            <a:avLst>
              <a:gd name="adj" fmla="val 294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 name="Chart 15"/>
          <p:cNvGraphicFramePr>
            <a:graphicFrameLocks noGrp="1"/>
          </p:cNvGraphicFramePr>
          <p:nvPr/>
        </p:nvGraphicFramePr>
        <p:xfrm>
          <a:off x="786384" y="2249424"/>
          <a:ext cx="6163056" cy="2359152"/>
        </p:xfrm>
        <a:graphic>
          <a:graphicData uri="http://schemas.openxmlformats.org/drawingml/2006/chart">
            <c:chart xmlns:c="http://schemas.openxmlformats.org/drawingml/2006/chart" r:id="rId2"/>
          </a:graphicData>
        </a:graphic>
      </p:graphicFrame>
      <p:sp>
        <p:nvSpPr>
          <p:cNvPr id="17" name="TextBox 16"/>
          <p:cNvSpPr txBox="1"/>
          <p:nvPr/>
        </p:nvSpPr>
        <p:spPr>
          <a:xfrm>
            <a:off x="786384" y="4700016"/>
            <a:ext cx="6163056" cy="256032"/>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Jumlah molar pertama permanen yang terkena, dalam persen kasus</a:t>
            </a:r>
          </a:p>
        </p:txBody>
      </p:sp>
      <p:sp>
        <p:nvSpPr>
          <p:cNvPr id="18" name="TextBox 17"/>
          <p:cNvSpPr txBox="1"/>
          <p:nvPr/>
        </p:nvSpPr>
        <p:spPr>
          <a:xfrm>
            <a:off x="7424927" y="2011680"/>
            <a:ext cx="4233672" cy="543153"/>
          </a:xfrm>
          <a:prstGeom prst="rect">
            <a:avLst/>
          </a:prstGeom>
          <a:noFill/>
        </p:spPr>
        <p:txBody>
          <a:bodyPr wrap="square" lIns="0" rIns="0" tIns="0" bIns="0" anchor="t">
            <a:noAutofit/>
          </a:bodyPr>
          <a:lstStyle/>
          <a:p>
            <a:pPr algn="l">
              <a:spcBef>
                <a:spcPts val="0"/>
              </a:spcBef>
              <a:spcAft>
                <a:spcPts val="0"/>
              </a:spcAft>
            </a:pPr>
            <a:r>
              <a:rPr sz="2800" b="1" i="0" lang="id-ID">
                <a:solidFill>
                  <a:srgbClr val="0E7C8C"/>
                </a:solidFill>
                <a:latin typeface="Cambria"/>
              </a:rPr>
              <a:t>36,3%</a:t>
            </a:r>
          </a:p>
        </p:txBody>
      </p:sp>
      <p:sp>
        <p:nvSpPr>
          <p:cNvPr id="19" name="TextBox 18"/>
          <p:cNvSpPr txBox="1"/>
          <p:nvPr/>
        </p:nvSpPr>
        <p:spPr>
          <a:xfrm>
            <a:off x="7424927" y="2591409"/>
            <a:ext cx="4233672"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sedang sampai berat</a:t>
            </a:r>
          </a:p>
        </p:txBody>
      </p:sp>
      <p:sp>
        <p:nvSpPr>
          <p:cNvPr id="20" name="TextBox 19"/>
          <p:cNvSpPr txBox="1"/>
          <p:nvPr/>
        </p:nvSpPr>
        <p:spPr>
          <a:xfrm>
            <a:off x="7424927" y="2876702"/>
            <a:ext cx="4233672"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95% CI 29,9–43,2 · 33 studi · I² = 95,2%</a:t>
            </a:r>
          </a:p>
        </p:txBody>
      </p:sp>
      <p:sp>
        <p:nvSpPr>
          <p:cNvPr id="21" name="TextBox 20"/>
          <p:cNvSpPr txBox="1"/>
          <p:nvPr/>
        </p:nvSpPr>
        <p:spPr>
          <a:xfrm>
            <a:off x="7424927" y="3108960"/>
            <a:ext cx="4233672" cy="543153"/>
          </a:xfrm>
          <a:prstGeom prst="rect">
            <a:avLst/>
          </a:prstGeom>
          <a:noFill/>
        </p:spPr>
        <p:txBody>
          <a:bodyPr wrap="square" lIns="0" rIns="0" tIns="0" bIns="0" anchor="t">
            <a:noAutofit/>
          </a:bodyPr>
          <a:lstStyle/>
          <a:p>
            <a:pPr algn="l">
              <a:spcBef>
                <a:spcPts val="0"/>
              </a:spcBef>
              <a:spcAft>
                <a:spcPts val="0"/>
              </a:spcAft>
            </a:pPr>
            <a:r>
              <a:rPr sz="2800" b="1" i="0" lang="id-ID">
                <a:solidFill>
                  <a:srgbClr val="0E7C8C"/>
                </a:solidFill>
                <a:latin typeface="Cambria"/>
              </a:rPr>
              <a:t>38,7%</a:t>
            </a:r>
          </a:p>
        </p:txBody>
      </p:sp>
      <p:sp>
        <p:nvSpPr>
          <p:cNvPr id="22" name="TextBox 21"/>
          <p:cNvSpPr txBox="1"/>
          <p:nvPr/>
        </p:nvSpPr>
        <p:spPr>
          <a:xfrm>
            <a:off x="7424927" y="3688689"/>
            <a:ext cx="4233672"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insisivus terkena (Tabel 2)</a:t>
            </a:r>
          </a:p>
        </p:txBody>
      </p:sp>
      <p:sp>
        <p:nvSpPr>
          <p:cNvPr id="23" name="TextBox 22"/>
          <p:cNvSpPr txBox="1"/>
          <p:nvPr/>
        </p:nvSpPr>
        <p:spPr>
          <a:xfrm>
            <a:off x="7424927" y="3973982"/>
            <a:ext cx="4233672"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MIH tipe molar-insisivus; abstrak menulis 36,6%</a:t>
            </a:r>
          </a:p>
        </p:txBody>
      </p:sp>
      <p:sp>
        <p:nvSpPr>
          <p:cNvPr id="24" name="TextBox 23"/>
          <p:cNvSpPr txBox="1"/>
          <p:nvPr/>
        </p:nvSpPr>
        <p:spPr>
          <a:xfrm>
            <a:off x="7424927" y="4206240"/>
            <a:ext cx="4233672" cy="543153"/>
          </a:xfrm>
          <a:prstGeom prst="rect">
            <a:avLst/>
          </a:prstGeom>
          <a:noFill/>
        </p:spPr>
        <p:txBody>
          <a:bodyPr wrap="square" lIns="0" rIns="0" tIns="0" bIns="0" anchor="t">
            <a:noAutofit/>
          </a:bodyPr>
          <a:lstStyle/>
          <a:p>
            <a:pPr algn="l">
              <a:spcBef>
                <a:spcPts val="0"/>
              </a:spcBef>
              <a:spcAft>
                <a:spcPts val="0"/>
              </a:spcAft>
            </a:pPr>
            <a:r>
              <a:rPr sz="2800" b="1" i="0" lang="id-ID">
                <a:solidFill>
                  <a:srgbClr val="B26A14"/>
                </a:solidFill>
                <a:latin typeface="Cambria"/>
              </a:rPr>
              <a:t>3,6%</a:t>
            </a:r>
          </a:p>
        </p:txBody>
      </p:sp>
      <p:sp>
        <p:nvSpPr>
          <p:cNvPr id="25" name="TextBox 24"/>
          <p:cNvSpPr txBox="1"/>
          <p:nvPr/>
        </p:nvSpPr>
        <p:spPr>
          <a:xfrm>
            <a:off x="7424927" y="4785969"/>
            <a:ext cx="4233672"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HSPM menyertai MIH</a:t>
            </a:r>
          </a:p>
        </p:txBody>
      </p:sp>
      <p:sp>
        <p:nvSpPr>
          <p:cNvPr id="26" name="TextBox 25"/>
          <p:cNvSpPr txBox="1"/>
          <p:nvPr/>
        </p:nvSpPr>
        <p:spPr>
          <a:xfrm>
            <a:off x="7424927" y="5071262"/>
            <a:ext cx="4233672"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95% CI 1,9–6,8 · hanya 7 studi</a:t>
            </a:r>
          </a:p>
        </p:txBody>
      </p:sp>
      <p:sp>
        <p:nvSpPr>
          <p:cNvPr id="27" name="Rounded Rectangle 26"/>
          <p:cNvSpPr/>
          <p:nvPr/>
        </p:nvSpPr>
        <p:spPr>
          <a:xfrm>
            <a:off x="530352" y="5340096"/>
            <a:ext cx="11130991" cy="749808"/>
          </a:xfrm>
          <a:prstGeom prst="roundRect">
            <a:avLst>
              <a:gd name="adj" fmla="val 12195"/>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41248" y="5477256"/>
            <a:ext cx="10509199" cy="475488"/>
          </a:xfrm>
          <a:prstGeom prst="rect">
            <a:avLst/>
          </a:prstGeom>
          <a:noFill/>
        </p:spPr>
        <p:txBody>
          <a:bodyPr wrap="square" lIns="0" rIns="0" tIns="0" bIns="0" anchor="t">
            <a:noAutofit/>
          </a:bodyPr>
          <a:lstStyle/>
          <a:p>
            <a:pPr algn="l">
              <a:spcBef>
                <a:spcPts val="0"/>
              </a:spcBef>
              <a:spcAft>
                <a:spcPts val="0"/>
              </a:spcAft>
            </a:pPr>
            <a:r>
              <a:rPr sz="1400" b="1" i="0" lang="id-ID">
                <a:solidFill>
                  <a:srgbClr val="0E7C8C"/>
                </a:solidFill>
                <a:latin typeface="Cambria"/>
              </a:rPr>
              <a:t>36,3% kasus berarti lebih dari sepertiga anak perlu perawatan restoratif yang nyata.</a:t>
            </a:r>
          </a:p>
        </p:txBody>
      </p:sp>
      <p:sp>
        <p:nvSpPr>
          <p:cNvPr id="29" name="Rectangle 28"/>
          <p:cNvSpPr/>
          <p:nvPr/>
        </p:nvSpPr>
        <p:spPr>
          <a:xfrm>
            <a:off x="0" y="6163056"/>
            <a:ext cx="12191695" cy="694944"/>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0" y="6163056"/>
            <a:ext cx="12191695" cy="4114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30352" y="6327648"/>
            <a:ext cx="8595360" cy="256032"/>
          </a:xfrm>
          <a:prstGeom prst="rect">
            <a:avLst/>
          </a:prstGeom>
          <a:noFill/>
        </p:spPr>
        <p:txBody>
          <a:bodyPr wrap="square" lIns="0" rIns="0" tIns="0" bIns="0" anchor="t">
            <a:noAutofit/>
          </a:bodyPr>
          <a:lstStyle/>
          <a:p>
            <a:pPr algn="l">
              <a:spcBef>
                <a:spcPts val="0"/>
              </a:spcBef>
              <a:spcAft>
                <a:spcPts val="0"/>
              </a:spcAft>
            </a:pPr>
            <a:r>
              <a:rPr sz="850" b="0" i="0" lang="id-ID">
                <a:solidFill>
                  <a:srgbClr val="9FC7CF"/>
                </a:solidFill>
                <a:latin typeface="Calibri"/>
              </a:rPr>
              <a:t>Lopes dkk., Sci Rep 2021;11:22405 · DOI 10.1038/s41598-021-01541-7 · CC BY 4.0</a:t>
            </a:r>
          </a:p>
        </p:txBody>
      </p:sp>
      <p:sp>
        <p:nvSpPr>
          <p:cNvPr id="32" name="Rounded Rectangle 31"/>
          <p:cNvSpPr/>
          <p:nvPr/>
        </p:nvSpPr>
        <p:spPr>
          <a:xfrm>
            <a:off x="11204143" y="6291072"/>
            <a:ext cx="457200" cy="256032"/>
          </a:xfrm>
          <a:prstGeom prst="roundRect">
            <a:avLst>
              <a:gd name="adj" fmla="val 17857"/>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1204143" y="6332220"/>
            <a:ext cx="457200"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0B4A5A"/>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E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732520" y="3520440"/>
            <a:ext cx="5760720" cy="5760720"/>
          </a:xfrm>
          <a:prstGeom prst="ellipse">
            <a:avLst/>
          </a:prstGeom>
          <a:solidFill>
            <a:srgbClr val="D1D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3309213"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2647"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8875166"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0"/>
            <a:ext cx="201168" cy="6858000"/>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0" y="1171346"/>
            <a:ext cx="12191695" cy="6400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11  ·  SUB-ANALISIS</a:t>
            </a:r>
          </a:p>
        </p:txBody>
      </p:sp>
      <p:sp>
        <p:nvSpPr>
          <p:cNvPr id="11" name="TextBox 10"/>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Wilayah berbeda, kriteria lebih menentukan</a:t>
            </a:r>
          </a:p>
        </p:txBody>
      </p:sp>
      <p:sp>
        <p:nvSpPr>
          <p:cNvPr id="12" name="Rounded Rectangle 11"/>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Beda antar wilayah tidak bermakna; pemakaian kriteria non-EAPD bermakna, p = 0,0061.</a:t>
            </a:r>
          </a:p>
        </p:txBody>
      </p:sp>
      <p:sp>
        <p:nvSpPr>
          <p:cNvPr id="15" name="Rounded Rectangle 14"/>
          <p:cNvSpPr/>
          <p:nvPr/>
        </p:nvSpPr>
        <p:spPr>
          <a:xfrm>
            <a:off x="530352" y="2048256"/>
            <a:ext cx="6675120" cy="3108960"/>
          </a:xfrm>
          <a:prstGeom prst="roundRect">
            <a:avLst>
              <a:gd name="adj" fmla="val 294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86384" y="2212848"/>
            <a:ext cx="54864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PREVALENSI MENURUT WILAYAH</a:t>
            </a:r>
          </a:p>
        </p:txBody>
      </p:sp>
      <p:graphicFrame>
        <p:nvGraphicFramePr>
          <p:cNvPr id="17" name="Chart 16"/>
          <p:cNvGraphicFramePr>
            <a:graphicFrameLocks noGrp="1"/>
          </p:cNvGraphicFramePr>
          <p:nvPr/>
        </p:nvGraphicFramePr>
        <p:xfrm>
          <a:off x="786384" y="2487168"/>
          <a:ext cx="6163056" cy="1920240"/>
        </p:xfrm>
        <a:graphic>
          <a:graphicData uri="http://schemas.openxmlformats.org/drawingml/2006/chart">
            <c:chart xmlns:c="http://schemas.openxmlformats.org/drawingml/2006/chart" r:id="rId2"/>
          </a:graphicData>
        </a:graphic>
      </p:graphicFrame>
      <p:sp>
        <p:nvSpPr>
          <p:cNvPr id="18" name="TextBox 17"/>
          <p:cNvSpPr txBox="1"/>
          <p:nvPr/>
        </p:nvSpPr>
        <p:spPr>
          <a:xfrm>
            <a:off x="786384" y="4480560"/>
            <a:ext cx="6163056" cy="220370"/>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Amerika · 95% CI 12,8–18,3 · I² = 96,3%   |   Asia · 95% CI 8,5–13,5 · I² = 98,7%</a:t>
            </a:r>
          </a:p>
        </p:txBody>
      </p:sp>
      <p:sp>
        <p:nvSpPr>
          <p:cNvPr id="19" name="Rounded Rectangle 18"/>
          <p:cNvSpPr/>
          <p:nvPr/>
        </p:nvSpPr>
        <p:spPr>
          <a:xfrm>
            <a:off x="7424927" y="2048256"/>
            <a:ext cx="4233672" cy="3108960"/>
          </a:xfrm>
          <a:prstGeom prst="roundRect">
            <a:avLst>
              <a:gd name="adj" fmla="val 2941"/>
            </a:avLst>
          </a:prstGeom>
          <a:solidFill>
            <a:srgbClr val="FBE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99248" y="2249424"/>
            <a:ext cx="36576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B26A14"/>
                </a:solidFill>
                <a:latin typeface="Calibri"/>
              </a:rPr>
              <a:t>KRITERIA DIAGNOSTIK</a:t>
            </a:r>
          </a:p>
        </p:txBody>
      </p:sp>
      <p:sp>
        <p:nvSpPr>
          <p:cNvPr id="21" name="TextBox 20"/>
          <p:cNvSpPr txBox="1"/>
          <p:nvPr/>
        </p:nvSpPr>
        <p:spPr>
          <a:xfrm>
            <a:off x="7699248" y="2523744"/>
            <a:ext cx="3685032" cy="640080"/>
          </a:xfrm>
          <a:prstGeom prst="rect">
            <a:avLst/>
          </a:prstGeom>
          <a:noFill/>
        </p:spPr>
        <p:txBody>
          <a:bodyPr wrap="square" lIns="0" rIns="0" tIns="0" bIns="0" anchor="t">
            <a:noAutofit/>
          </a:bodyPr>
          <a:lstStyle/>
          <a:p>
            <a:pPr algn="l">
              <a:spcBef>
                <a:spcPts val="0"/>
              </a:spcBef>
              <a:spcAft>
                <a:spcPts val="0"/>
              </a:spcAft>
            </a:pPr>
            <a:r>
              <a:rPr sz="3000" b="1" i="0" lang="id-ID">
                <a:solidFill>
                  <a:srgbClr val="B26A14"/>
                </a:solidFill>
                <a:latin typeface="Cambria"/>
              </a:rPr>
              <a:t>p = 0,0061</a:t>
            </a:r>
          </a:p>
        </p:txBody>
      </p:sp>
      <p:sp>
        <p:nvSpPr>
          <p:cNvPr id="22" name="TextBox 21"/>
          <p:cNvSpPr txBox="1"/>
          <p:nvPr/>
        </p:nvSpPr>
        <p:spPr>
          <a:xfrm>
            <a:off x="7699248" y="3255264"/>
            <a:ext cx="3685032" cy="416966"/>
          </a:xfrm>
          <a:prstGeom prst="rect">
            <a:avLst/>
          </a:prstGeom>
          <a:noFill/>
        </p:spPr>
        <p:txBody>
          <a:bodyPr wrap="square" lIns="0" rIns="0" tIns="0" bIns="0" anchor="t">
            <a:noAutofit/>
          </a:bodyPr>
          <a:lstStyle/>
          <a:p>
            <a:pPr algn="l">
              <a:lnSpc>
                <a:spcPct val="112000"/>
              </a:lnSpc>
              <a:spcBef>
                <a:spcPts val="0"/>
              </a:spcBef>
              <a:spcAft>
                <a:spcPts val="0"/>
              </a:spcAft>
            </a:pPr>
            <a:r>
              <a:rPr sz="1050" b="0" i="0" lang="id-ID">
                <a:solidFill>
                  <a:srgbClr val="102A31"/>
                </a:solidFill>
                <a:latin typeface="Calibri"/>
              </a:rPr>
              <a:t>Studi tanpa definisi kasus EAPD 2003 menghasilkan estimasi yang berbeda bermakna, umumnya lebih rendah.</a:t>
            </a:r>
          </a:p>
        </p:txBody>
      </p:sp>
      <p:sp>
        <p:nvSpPr>
          <p:cNvPr id="23" name="Rectangle 22"/>
          <p:cNvSpPr/>
          <p:nvPr/>
        </p:nvSpPr>
        <p:spPr>
          <a:xfrm>
            <a:off x="7699248" y="4224528"/>
            <a:ext cx="3685032"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699248" y="4334256"/>
            <a:ext cx="3685032" cy="292608"/>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Sub-analisis ini memuat 133.734 peserta.</a:t>
            </a:r>
          </a:p>
        </p:txBody>
      </p:sp>
      <p:sp>
        <p:nvSpPr>
          <p:cNvPr id="25" name="Rounded Rectangle 24"/>
          <p:cNvSpPr/>
          <p:nvPr/>
        </p:nvSpPr>
        <p:spPr>
          <a:xfrm>
            <a:off x="530352" y="5340096"/>
            <a:ext cx="11130991" cy="749808"/>
          </a:xfrm>
          <a:prstGeom prst="roundRect">
            <a:avLst>
              <a:gd name="adj" fmla="val 12195"/>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8" y="5449824"/>
            <a:ext cx="5120640" cy="512064"/>
          </a:xfrm>
          <a:prstGeom prst="rect">
            <a:avLst/>
          </a:prstGeom>
          <a:noFill/>
        </p:spPr>
        <p:txBody>
          <a:bodyPr wrap="square" lIns="0" rIns="0" tIns="0" bIns="0" anchor="t">
            <a:noAutofit/>
          </a:bodyPr>
          <a:lstStyle/>
          <a:p>
            <a:pPr algn="l">
              <a:lnSpc>
                <a:spcPct val="112000"/>
              </a:lnSpc>
              <a:spcBef>
                <a:spcPts val="0"/>
              </a:spcBef>
              <a:spcAft>
                <a:spcPts val="0"/>
              </a:spcAft>
            </a:pPr>
            <a:r>
              <a:rPr sz="1050" b="0" i="0" lang="id-ID">
                <a:solidFill>
                  <a:srgbClr val="102A31"/>
                </a:solidFill>
                <a:latin typeface="Calibri"/>
              </a:rPr>
              <a:t>Afrika yang dulu terendah tidak lagi di posisi itu; wilayah belum cukup menjelaskan variasi angka.</a:t>
            </a:r>
          </a:p>
        </p:txBody>
      </p:sp>
      <p:sp>
        <p:nvSpPr>
          <p:cNvPr id="27" name="TextBox 26"/>
          <p:cNvSpPr txBox="1"/>
          <p:nvPr/>
        </p:nvSpPr>
        <p:spPr>
          <a:xfrm>
            <a:off x="6126480" y="5449824"/>
            <a:ext cx="5303520" cy="512064"/>
          </a:xfrm>
          <a:prstGeom prst="rect">
            <a:avLst/>
          </a:prstGeom>
          <a:noFill/>
        </p:spPr>
        <p:txBody>
          <a:bodyPr wrap="square" lIns="0" rIns="0" tIns="0" bIns="0" anchor="t">
            <a:noAutofit/>
          </a:bodyPr>
          <a:lstStyle/>
          <a:p>
            <a:pPr algn="l">
              <a:lnSpc>
                <a:spcPct val="112000"/>
              </a:lnSpc>
              <a:spcBef>
                <a:spcPts val="0"/>
              </a:spcBef>
              <a:spcAft>
                <a:spcPts val="0"/>
              </a:spcAft>
            </a:pPr>
            <a:r>
              <a:rPr sz="1050" b="0" i="0" lang="id-ID">
                <a:solidFill>
                  <a:srgbClr val="102A31"/>
                </a:solidFill>
                <a:latin typeface="Calibri"/>
              </a:rPr>
              <a:t>Ukuran sampel dan tahun publikasi hanya menyumbang sedikit pada variasi.</a:t>
            </a:r>
          </a:p>
        </p:txBody>
      </p:sp>
      <p:sp>
        <p:nvSpPr>
          <p:cNvPr id="28" name="Rectangle 27"/>
          <p:cNvSpPr/>
          <p:nvPr/>
        </p:nvSpPr>
        <p:spPr>
          <a:xfrm>
            <a:off x="0" y="6163056"/>
            <a:ext cx="12191695" cy="694944"/>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0" y="6163056"/>
            <a:ext cx="12191695" cy="4114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30352" y="6327648"/>
            <a:ext cx="8595360" cy="256032"/>
          </a:xfrm>
          <a:prstGeom prst="rect">
            <a:avLst/>
          </a:prstGeom>
          <a:noFill/>
        </p:spPr>
        <p:txBody>
          <a:bodyPr wrap="square" lIns="0" rIns="0" tIns="0" bIns="0" anchor="t">
            <a:noAutofit/>
          </a:bodyPr>
          <a:lstStyle/>
          <a:p>
            <a:pPr algn="l">
              <a:spcBef>
                <a:spcPts val="0"/>
              </a:spcBef>
              <a:spcAft>
                <a:spcPts val="0"/>
              </a:spcAft>
            </a:pPr>
            <a:r>
              <a:rPr sz="850" b="0" i="0" lang="id-ID">
                <a:solidFill>
                  <a:srgbClr val="9FC7CF"/>
                </a:solidFill>
                <a:latin typeface="Calibri"/>
              </a:rPr>
              <a:t>Lopes dkk., Sci Rep 2021;11:22405 · DOI 10.1038/s41598-021-01541-7 · CC BY 4.0</a:t>
            </a:r>
          </a:p>
        </p:txBody>
      </p:sp>
      <p:sp>
        <p:nvSpPr>
          <p:cNvPr id="31" name="Rounded Rectangle 30"/>
          <p:cNvSpPr/>
          <p:nvPr/>
        </p:nvSpPr>
        <p:spPr>
          <a:xfrm>
            <a:off x="11204143" y="6291072"/>
            <a:ext cx="457200" cy="256032"/>
          </a:xfrm>
          <a:prstGeom prst="roundRect">
            <a:avLst>
              <a:gd name="adj" fmla="val 17857"/>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1204143" y="6332220"/>
            <a:ext cx="457200"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0B4A5A"/>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FE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732520" y="3520440"/>
            <a:ext cx="5760720" cy="5760720"/>
          </a:xfrm>
          <a:prstGeom prst="ellipse">
            <a:avLst/>
          </a:prstGeom>
          <a:solidFill>
            <a:srgbClr val="E0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3309213"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2647"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8875166"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0"/>
            <a:ext cx="201168" cy="6858000"/>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0" y="1171346"/>
            <a:ext cx="12191695" cy="6400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12  ·  DISKUSI · 1</a:t>
            </a:r>
          </a:p>
        </p:txBody>
      </p:sp>
      <p:sp>
        <p:nvSpPr>
          <p:cNvPr id="11" name="TextBox 10"/>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Yang menurut penulis menjelaskan variasi</a:t>
            </a:r>
          </a:p>
        </p:txBody>
      </p:sp>
      <p:sp>
        <p:nvSpPr>
          <p:cNvPr id="12" name="Rounded Rectangle 11"/>
          <p:cNvSpPr/>
          <p:nvPr/>
        </p:nvSpPr>
        <p:spPr>
          <a:xfrm>
            <a:off x="530352" y="1299362"/>
            <a:ext cx="11130991" cy="470916"/>
          </a:xfrm>
          <a:prstGeom prst="roundRect">
            <a:avLst>
              <a:gd name="adj" fmla="val 15533"/>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0352" y="1299362"/>
            <a:ext cx="54864" cy="470916"/>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FFFFFF"/>
                </a:solidFill>
                <a:latin typeface="Calibri"/>
              </a:rPr>
              <a:t>Variasi wilayah lebih menjelaskan perbedaan angka daripada faktor metodologis yang diuji lewat meta-regresi.</a:t>
            </a:r>
          </a:p>
        </p:txBody>
      </p:sp>
      <p:sp>
        <p:nvSpPr>
          <p:cNvPr id="15" name="Rounded Rectangle 14"/>
          <p:cNvSpPr/>
          <p:nvPr/>
        </p:nvSpPr>
        <p:spPr>
          <a:xfrm>
            <a:off x="530352" y="2048256"/>
            <a:ext cx="3576218" cy="2240280"/>
          </a:xfrm>
          <a:prstGeom prst="roundRect">
            <a:avLst>
              <a:gd name="adj" fmla="val 408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4672" y="2322576"/>
            <a:ext cx="566928" cy="50292"/>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2468880"/>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Kriteria diagnostik</a:t>
            </a:r>
          </a:p>
        </p:txBody>
      </p:sp>
      <p:sp>
        <p:nvSpPr>
          <p:cNvPr id="18" name="TextBox 17"/>
          <p:cNvSpPr txBox="1"/>
          <p:nvPr/>
        </p:nvSpPr>
        <p:spPr>
          <a:xfrm>
            <a:off x="804672" y="2834640"/>
            <a:ext cx="3027578" cy="414223"/>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Klasifikasi non-EAPD cenderung menurunkan estimasi prevalensi.</a:t>
            </a:r>
          </a:p>
        </p:txBody>
      </p:sp>
      <p:sp>
        <p:nvSpPr>
          <p:cNvPr id="19" name="TextBox 18"/>
          <p:cNvSpPr txBox="1"/>
          <p:nvPr/>
        </p:nvSpPr>
        <p:spPr>
          <a:xfrm>
            <a:off x="804672" y="3803904"/>
            <a:ext cx="3027578" cy="256032"/>
          </a:xfrm>
          <a:prstGeom prst="rect">
            <a:avLst/>
          </a:prstGeom>
          <a:noFill/>
        </p:spPr>
        <p:txBody>
          <a:bodyPr wrap="square" lIns="0" rIns="0" tIns="0" bIns="0" anchor="t">
            <a:noAutofit/>
          </a:bodyPr>
          <a:lstStyle/>
          <a:p>
            <a:pPr algn="l">
              <a:spcBef>
                <a:spcPts val="0"/>
              </a:spcBef>
              <a:spcAft>
                <a:spcPts val="0"/>
              </a:spcAft>
            </a:pPr>
            <a:r>
              <a:rPr sz="1050" b="1" i="0" lang="id-ID">
                <a:solidFill>
                  <a:srgbClr val="0E7C8C"/>
                </a:solidFill>
                <a:latin typeface="Calibri"/>
              </a:rPr>
              <a:t>p = 0,0061</a:t>
            </a:r>
          </a:p>
        </p:txBody>
      </p:sp>
      <p:sp>
        <p:nvSpPr>
          <p:cNvPr id="20" name="Rounded Rectangle 19"/>
          <p:cNvSpPr/>
          <p:nvPr/>
        </p:nvSpPr>
        <p:spPr>
          <a:xfrm>
            <a:off x="4307738" y="2048256"/>
            <a:ext cx="3576218" cy="2240280"/>
          </a:xfrm>
          <a:prstGeom prst="roundRect">
            <a:avLst>
              <a:gd name="adj" fmla="val 408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582058" y="2322576"/>
            <a:ext cx="566928" cy="50292"/>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582058" y="2468880"/>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Beban perawatan</a:t>
            </a:r>
          </a:p>
        </p:txBody>
      </p:sp>
      <p:sp>
        <p:nvSpPr>
          <p:cNvPr id="23" name="TextBox 22"/>
          <p:cNvSpPr txBox="1"/>
          <p:nvPr/>
        </p:nvSpPr>
        <p:spPr>
          <a:xfrm>
            <a:off x="4582058" y="2834640"/>
            <a:ext cx="3027578" cy="414223"/>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Sepertiga anak dengan MIH perlu perawatan restoratif yang nyata.</a:t>
            </a:r>
          </a:p>
        </p:txBody>
      </p:sp>
      <p:sp>
        <p:nvSpPr>
          <p:cNvPr id="24" name="TextBox 23"/>
          <p:cNvSpPr txBox="1"/>
          <p:nvPr/>
        </p:nvSpPr>
        <p:spPr>
          <a:xfrm>
            <a:off x="4582058" y="3803904"/>
            <a:ext cx="3027578" cy="256032"/>
          </a:xfrm>
          <a:prstGeom prst="rect">
            <a:avLst/>
          </a:prstGeom>
          <a:noFill/>
        </p:spPr>
        <p:txBody>
          <a:bodyPr wrap="square" lIns="0" rIns="0" tIns="0" bIns="0" anchor="t">
            <a:noAutofit/>
          </a:bodyPr>
          <a:lstStyle/>
          <a:p>
            <a:pPr algn="l">
              <a:spcBef>
                <a:spcPts val="0"/>
              </a:spcBef>
              <a:spcAft>
                <a:spcPts val="0"/>
              </a:spcAft>
            </a:pPr>
            <a:r>
              <a:rPr sz="1050" b="1" i="0" lang="id-ID">
                <a:solidFill>
                  <a:srgbClr val="0E7C8C"/>
                </a:solidFill>
                <a:latin typeface="Calibri"/>
              </a:rPr>
              <a:t>36,3% kasus</a:t>
            </a:r>
          </a:p>
        </p:txBody>
      </p:sp>
      <p:sp>
        <p:nvSpPr>
          <p:cNvPr id="25" name="Rounded Rectangle 24"/>
          <p:cNvSpPr/>
          <p:nvPr/>
        </p:nvSpPr>
        <p:spPr>
          <a:xfrm>
            <a:off x="8085124" y="2048256"/>
            <a:ext cx="3576218" cy="2240280"/>
          </a:xfrm>
          <a:prstGeom prst="roundRect">
            <a:avLst>
              <a:gd name="adj" fmla="val 408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359444" y="2322576"/>
            <a:ext cx="566928" cy="50292"/>
          </a:xfrm>
          <a:prstGeom prst="rect">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359444" y="2468880"/>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Pelaporan yang belum lengkap</a:t>
            </a:r>
          </a:p>
        </p:txBody>
      </p:sp>
      <p:sp>
        <p:nvSpPr>
          <p:cNvPr id="28" name="TextBox 27"/>
          <p:cNvSpPr txBox="1"/>
          <p:nvPr/>
        </p:nvSpPr>
        <p:spPr>
          <a:xfrm>
            <a:off x="8359444" y="2834640"/>
            <a:ext cx="3027578" cy="414223"/>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Keparahan, gigi terkena, dan HSPM jarang dilaporkan.</a:t>
            </a:r>
          </a:p>
        </p:txBody>
      </p:sp>
      <p:sp>
        <p:nvSpPr>
          <p:cNvPr id="29" name="TextBox 28"/>
          <p:cNvSpPr txBox="1"/>
          <p:nvPr/>
        </p:nvSpPr>
        <p:spPr>
          <a:xfrm>
            <a:off x="8359444" y="3803904"/>
            <a:ext cx="3027578" cy="256032"/>
          </a:xfrm>
          <a:prstGeom prst="rect">
            <a:avLst/>
          </a:prstGeom>
          <a:noFill/>
        </p:spPr>
        <p:txBody>
          <a:bodyPr wrap="square" lIns="0" rIns="0" tIns="0" bIns="0" anchor="t">
            <a:noAutofit/>
          </a:bodyPr>
          <a:lstStyle/>
          <a:p>
            <a:pPr algn="l">
              <a:spcBef>
                <a:spcPts val="0"/>
              </a:spcBef>
              <a:spcAft>
                <a:spcPts val="0"/>
              </a:spcAft>
            </a:pPr>
            <a:r>
              <a:rPr sz="1050" b="1" i="0" lang="id-ID">
                <a:solidFill>
                  <a:srgbClr val="B26A14"/>
                </a:solidFill>
                <a:latin typeface="Calibri"/>
              </a:rPr>
              <a:t>7–33 studi</a:t>
            </a:r>
          </a:p>
        </p:txBody>
      </p:sp>
      <p:sp>
        <p:nvSpPr>
          <p:cNvPr id="30" name="Rounded Rectangle 29"/>
          <p:cNvSpPr/>
          <p:nvPr/>
        </p:nvSpPr>
        <p:spPr>
          <a:xfrm>
            <a:off x="530352" y="4471416"/>
            <a:ext cx="11130991" cy="1618488"/>
          </a:xfrm>
          <a:prstGeom prst="roundRect">
            <a:avLst>
              <a:gd name="adj" fmla="val 5649"/>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22960" y="4626864"/>
            <a:ext cx="73152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0E7C8C"/>
                </a:solidFill>
                <a:latin typeface="Calibri"/>
              </a:rPr>
              <a:t>IMPLIKASINYA</a:t>
            </a:r>
          </a:p>
        </p:txBody>
      </p:sp>
      <p:sp>
        <p:nvSpPr>
          <p:cNvPr id="32" name="TextBox 31"/>
          <p:cNvSpPr txBox="1"/>
          <p:nvPr/>
        </p:nvSpPr>
        <p:spPr>
          <a:xfrm>
            <a:off x="822960" y="4901184"/>
            <a:ext cx="10545775"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8262E"/>
                </a:solidFill>
                <a:latin typeface="Calibri"/>
              </a:rPr>
              <a:t>Standardisasi kriteria diagnostik lebih mungkin mengubah angka daripada memperluas sampel.</a:t>
            </a:r>
          </a:p>
        </p:txBody>
      </p:sp>
      <p:sp>
        <p:nvSpPr>
          <p:cNvPr id="33" name="TextBox 32"/>
          <p:cNvSpPr txBox="1"/>
          <p:nvPr/>
        </p:nvSpPr>
        <p:spPr>
          <a:xfrm>
            <a:off x="822960" y="5321808"/>
            <a:ext cx="10545775" cy="243230"/>
          </a:xfrm>
          <a:prstGeom prst="rect">
            <a:avLst/>
          </a:prstGeom>
          <a:noFill/>
        </p:spPr>
        <p:txBody>
          <a:bodyPr wrap="square" lIns="0" rIns="0" tIns="0" bIns="0" anchor="t">
            <a:noAutofit/>
          </a:bodyPr>
          <a:lstStyle/>
          <a:p>
            <a:pPr algn="l">
              <a:spcBef>
                <a:spcPts val="0"/>
              </a:spcBef>
              <a:spcAft>
                <a:spcPts val="0"/>
              </a:spcAft>
            </a:pPr>
            <a:r>
              <a:rPr sz="1100" b="0" i="0" lang="id-ID">
                <a:solidFill>
                  <a:srgbClr val="102A31"/>
                </a:solidFill>
                <a:latin typeface="Calibri"/>
              </a:rPr>
              <a:t>Penulis meminta studi berikutnya melaporkan keparahan dan HSPM, tidak hanya prevalensi.</a:t>
            </a:r>
          </a:p>
        </p:txBody>
      </p:sp>
      <p:sp>
        <p:nvSpPr>
          <p:cNvPr id="34" name="Rectangle 33"/>
          <p:cNvSpPr/>
          <p:nvPr/>
        </p:nvSpPr>
        <p:spPr>
          <a:xfrm>
            <a:off x="0" y="6163056"/>
            <a:ext cx="12191695" cy="694944"/>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0" y="6163056"/>
            <a:ext cx="12191695" cy="4114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30352" y="6327648"/>
            <a:ext cx="8595360" cy="256032"/>
          </a:xfrm>
          <a:prstGeom prst="rect">
            <a:avLst/>
          </a:prstGeom>
          <a:noFill/>
        </p:spPr>
        <p:txBody>
          <a:bodyPr wrap="square" lIns="0" rIns="0" tIns="0" bIns="0" anchor="t">
            <a:noAutofit/>
          </a:bodyPr>
          <a:lstStyle/>
          <a:p>
            <a:pPr algn="l">
              <a:spcBef>
                <a:spcPts val="0"/>
              </a:spcBef>
              <a:spcAft>
                <a:spcPts val="0"/>
              </a:spcAft>
            </a:pPr>
            <a:r>
              <a:rPr sz="850" b="0" i="0" lang="id-ID">
                <a:solidFill>
                  <a:srgbClr val="9FC7CF"/>
                </a:solidFill>
                <a:latin typeface="Calibri"/>
              </a:rPr>
              <a:t>Lopes dkk., Sci Rep 2021;11:22405 · DOI 10.1038/s41598-021-01541-7 · CC BY 4.0</a:t>
            </a:r>
          </a:p>
        </p:txBody>
      </p:sp>
      <p:sp>
        <p:nvSpPr>
          <p:cNvPr id="37" name="Rounded Rectangle 36"/>
          <p:cNvSpPr/>
          <p:nvPr/>
        </p:nvSpPr>
        <p:spPr>
          <a:xfrm>
            <a:off x="11204143" y="6291072"/>
            <a:ext cx="457200" cy="256032"/>
          </a:xfrm>
          <a:prstGeom prst="roundRect">
            <a:avLst>
              <a:gd name="adj" fmla="val 17857"/>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1204143" y="6332220"/>
            <a:ext cx="457200"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0B4A5A"/>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FE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732520" y="3520440"/>
            <a:ext cx="5760720" cy="5760720"/>
          </a:xfrm>
          <a:prstGeom prst="ellipse">
            <a:avLst/>
          </a:prstGeom>
          <a:solidFill>
            <a:srgbClr val="E0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3309213"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2647"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8875166"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0"/>
            <a:ext cx="201168" cy="6858000"/>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0" y="1171346"/>
            <a:ext cx="12191695" cy="6400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13  ·  DISKUSI · 2</a:t>
            </a:r>
          </a:p>
        </p:txBody>
      </p:sp>
      <p:sp>
        <p:nvSpPr>
          <p:cNvPr id="11" name="TextBox 10"/>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Yang kuat dan yang perlu dibaca hati-hati</a:t>
            </a:r>
          </a:p>
        </p:txBody>
      </p:sp>
      <p:sp>
        <p:nvSpPr>
          <p:cNvPr id="12" name="Rounded Rectangle 11"/>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Kekuatan metodologisnya nyata, dan keterbatasannya perlu disebut apa adanya.</a:t>
            </a:r>
          </a:p>
        </p:txBody>
      </p:sp>
      <p:sp>
        <p:nvSpPr>
          <p:cNvPr id="15" name="Rounded Rectangle 14"/>
          <p:cNvSpPr/>
          <p:nvPr/>
        </p:nvSpPr>
        <p:spPr>
          <a:xfrm>
            <a:off x="530352" y="2048256"/>
            <a:ext cx="5422392" cy="4041648"/>
          </a:xfrm>
          <a:prstGeom prst="roundRect">
            <a:avLst>
              <a:gd name="adj" fmla="val 2262"/>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41248" y="2286000"/>
            <a:ext cx="3657600" cy="402336"/>
          </a:xfrm>
          <a:prstGeom prst="rect">
            <a:avLst/>
          </a:prstGeom>
          <a:noFill/>
        </p:spPr>
        <p:txBody>
          <a:bodyPr wrap="square" lIns="0" rIns="0" tIns="0" bIns="0" anchor="t">
            <a:noAutofit/>
          </a:bodyPr>
          <a:lstStyle/>
          <a:p>
            <a:pPr algn="l">
              <a:spcBef>
                <a:spcPts val="0"/>
              </a:spcBef>
              <a:spcAft>
                <a:spcPts val="0"/>
              </a:spcAft>
            </a:pPr>
            <a:r>
              <a:rPr sz="2000" b="1" i="0" lang="id-ID">
                <a:solidFill>
                  <a:srgbClr val="0E7C8C"/>
                </a:solidFill>
                <a:latin typeface="Cambria"/>
              </a:rPr>
              <a:t>Yang kuat</a:t>
            </a:r>
          </a:p>
        </p:txBody>
      </p:sp>
      <p:sp>
        <p:nvSpPr>
          <p:cNvPr id="17" name="Rounded Rectangle 16"/>
          <p:cNvSpPr/>
          <p:nvPr/>
        </p:nvSpPr>
        <p:spPr>
          <a:xfrm>
            <a:off x="841248" y="2958084"/>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15568" y="2889504"/>
            <a:ext cx="4526280" cy="411480"/>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Protokol terdaftar sebelum pencarian dimulai, laporan mengikuti PRISMA</a:t>
            </a:r>
          </a:p>
        </p:txBody>
      </p:sp>
      <p:sp>
        <p:nvSpPr>
          <p:cNvPr id="19" name="Rounded Rectangle 18"/>
          <p:cNvSpPr/>
          <p:nvPr/>
        </p:nvSpPr>
        <p:spPr>
          <a:xfrm>
            <a:off x="841248" y="3396996"/>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15568" y="3328416"/>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Tujuh basis data, rentang tahun luas</a:t>
            </a:r>
          </a:p>
        </p:txBody>
      </p:sp>
      <p:sp>
        <p:nvSpPr>
          <p:cNvPr id="21" name="Rounded Rectangle 20"/>
          <p:cNvSpPr/>
          <p:nvPr/>
        </p:nvSpPr>
        <p:spPr>
          <a:xfrm>
            <a:off x="841248" y="3835908"/>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115568" y="3767328"/>
            <a:ext cx="4526280" cy="411480"/>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Penyaringan dan penilaian risiko bias oleh dua peneliti, κ = 0,885</a:t>
            </a:r>
          </a:p>
        </p:txBody>
      </p:sp>
      <p:sp>
        <p:nvSpPr>
          <p:cNvPr id="23" name="Rounded Rectangle 22"/>
          <p:cNvSpPr/>
          <p:nvPr/>
        </p:nvSpPr>
        <p:spPr>
          <a:xfrm>
            <a:off x="841248" y="4274820"/>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115568" y="4206240"/>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Semua studi analisis utama berkualitas tinggi, NOS 7/9 atau lebih</a:t>
            </a:r>
          </a:p>
        </p:txBody>
      </p:sp>
      <p:sp>
        <p:nvSpPr>
          <p:cNvPr id="25" name="Rounded Rectangle 24"/>
          <p:cNvSpPr/>
          <p:nvPr/>
        </p:nvSpPr>
        <p:spPr>
          <a:xfrm>
            <a:off x="841248" y="4713732"/>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115568" y="4645152"/>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Uji kestabilan lengkap: Egger, cumulative, leave-one-out</a:t>
            </a:r>
          </a:p>
        </p:txBody>
      </p:sp>
      <p:sp>
        <p:nvSpPr>
          <p:cNvPr id="27" name="Rounded Rectangle 26"/>
          <p:cNvSpPr/>
          <p:nvPr/>
        </p:nvSpPr>
        <p:spPr>
          <a:xfrm>
            <a:off x="841248" y="5152644"/>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115568" y="5084064"/>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Kriteria EAPD dibandingkan dengan definisi alternatif</a:t>
            </a:r>
          </a:p>
        </p:txBody>
      </p:sp>
      <p:sp>
        <p:nvSpPr>
          <p:cNvPr id="29" name="Rounded Rectangle 28"/>
          <p:cNvSpPr/>
          <p:nvPr/>
        </p:nvSpPr>
        <p:spPr>
          <a:xfrm>
            <a:off x="841248" y="5591556"/>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115568" y="5522976"/>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113.089 peserta dengan kepastian bukti SORT A</a:t>
            </a:r>
          </a:p>
        </p:txBody>
      </p:sp>
      <p:sp>
        <p:nvSpPr>
          <p:cNvPr id="31" name="Rounded Rectangle 30"/>
          <p:cNvSpPr/>
          <p:nvPr/>
        </p:nvSpPr>
        <p:spPr>
          <a:xfrm>
            <a:off x="6236208" y="2048256"/>
            <a:ext cx="5422392" cy="4041648"/>
          </a:xfrm>
          <a:prstGeom prst="roundRect">
            <a:avLst>
              <a:gd name="adj" fmla="val 2262"/>
            </a:avLst>
          </a:prstGeom>
          <a:solidFill>
            <a:srgbClr val="FBE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547104" y="2286000"/>
            <a:ext cx="4023360" cy="402336"/>
          </a:xfrm>
          <a:prstGeom prst="rect">
            <a:avLst/>
          </a:prstGeom>
          <a:noFill/>
        </p:spPr>
        <p:txBody>
          <a:bodyPr wrap="square" lIns="0" rIns="0" tIns="0" bIns="0" anchor="t">
            <a:noAutofit/>
          </a:bodyPr>
          <a:lstStyle/>
          <a:p>
            <a:pPr algn="l">
              <a:spcBef>
                <a:spcPts val="0"/>
              </a:spcBef>
              <a:spcAft>
                <a:spcPts val="0"/>
              </a:spcAft>
            </a:pPr>
            <a:r>
              <a:rPr sz="2000" b="1" i="0" lang="id-ID">
                <a:solidFill>
                  <a:srgbClr val="B26A14"/>
                </a:solidFill>
                <a:latin typeface="Cambria"/>
              </a:rPr>
              <a:t>Perlu dibaca hati-hati</a:t>
            </a:r>
          </a:p>
        </p:txBody>
      </p:sp>
      <p:sp>
        <p:nvSpPr>
          <p:cNvPr id="33" name="Rounded Rectangle 32"/>
          <p:cNvSpPr/>
          <p:nvPr/>
        </p:nvSpPr>
        <p:spPr>
          <a:xfrm>
            <a:off x="6547104" y="2958084"/>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821424" y="2889504"/>
            <a:ext cx="4526280" cy="411480"/>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Heterogenitas tinggi, I² 93–98%, sehingga angka tunggal bukan angka pasti</a:t>
            </a:r>
          </a:p>
        </p:txBody>
      </p:sp>
      <p:sp>
        <p:nvSpPr>
          <p:cNvPr id="35" name="Rounded Rectangle 34"/>
          <p:cNvSpPr/>
          <p:nvPr/>
        </p:nvSpPr>
        <p:spPr>
          <a:xfrm>
            <a:off x="6547104" y="3396996"/>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21424" y="3328416"/>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48,7% studi gagal pada representativitas sampel</a:t>
            </a:r>
          </a:p>
        </p:txBody>
      </p:sp>
      <p:sp>
        <p:nvSpPr>
          <p:cNvPr id="37" name="Rounded Rectangle 36"/>
          <p:cNvSpPr/>
          <p:nvPr/>
        </p:nvSpPr>
        <p:spPr>
          <a:xfrm>
            <a:off x="6547104" y="3835908"/>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821424" y="3767328"/>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Dari 116 studi, hanya 98 masuk analisis utama</a:t>
            </a:r>
          </a:p>
        </p:txBody>
      </p:sp>
      <p:sp>
        <p:nvSpPr>
          <p:cNvPr id="39" name="Rounded Rectangle 38"/>
          <p:cNvSpPr/>
          <p:nvPr/>
        </p:nvSpPr>
        <p:spPr>
          <a:xfrm>
            <a:off x="6547104" y="4274820"/>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821424" y="4206240"/>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Estimasi keparahan dan HSPM hanya dari 7 sampai 33 studi</a:t>
            </a:r>
          </a:p>
        </p:txBody>
      </p:sp>
      <p:sp>
        <p:nvSpPr>
          <p:cNvPr id="41" name="Rounded Rectangle 40"/>
          <p:cNvSpPr/>
          <p:nvPr/>
        </p:nvSpPr>
        <p:spPr>
          <a:xfrm>
            <a:off x="6547104" y="4713732"/>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21424" y="4645152"/>
            <a:ext cx="4526280" cy="411480"/>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Faktor medis, sosiodemografis, dan lingkungan tidak bisa dianalisis</a:t>
            </a:r>
          </a:p>
        </p:txBody>
      </p:sp>
      <p:sp>
        <p:nvSpPr>
          <p:cNvPr id="43" name="Rounded Rectangle 42"/>
          <p:cNvSpPr/>
          <p:nvPr/>
        </p:nvSpPr>
        <p:spPr>
          <a:xfrm>
            <a:off x="6547104" y="5152644"/>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821424" y="5084064"/>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Tanpa penilaian GRADE; kepastian bukti memakai SORT</a:t>
            </a:r>
          </a:p>
        </p:txBody>
      </p:sp>
      <p:sp>
        <p:nvSpPr>
          <p:cNvPr id="45" name="Rectangle 44"/>
          <p:cNvSpPr/>
          <p:nvPr/>
        </p:nvSpPr>
        <p:spPr>
          <a:xfrm>
            <a:off x="6547104" y="5285232"/>
            <a:ext cx="4800600" cy="12801"/>
          </a:xfrm>
          <a:prstGeom prst="rect">
            <a:avLst/>
          </a:prstGeom>
          <a:solidFill>
            <a:srgbClr val="E4CB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547104" y="5376672"/>
            <a:ext cx="4800600" cy="367588"/>
          </a:xfrm>
          <a:prstGeom prst="rect">
            <a:avLst/>
          </a:prstGeom>
          <a:noFill/>
        </p:spPr>
        <p:txBody>
          <a:bodyPr wrap="square" lIns="0" rIns="0" tIns="0" bIns="0" anchor="t">
            <a:noAutofit/>
          </a:bodyPr>
          <a:lstStyle/>
          <a:p>
            <a:pPr algn="l">
              <a:spcBef>
                <a:spcPts val="0"/>
              </a:spcBef>
              <a:spcAft>
                <a:spcPts val="0"/>
              </a:spcAft>
            </a:pPr>
            <a:r>
              <a:rPr sz="950" b="0" i="1" lang="id-ID">
                <a:solidFill>
                  <a:srgbClr val="5C757C"/>
                </a:solidFill>
                <a:latin typeface="Calibri"/>
              </a:rPr>
              <a:t>Catatan pembaca: angka insisivus berbeda antara abstrak (36,6%) dan Tabel 2 (38,7%).</a:t>
            </a:r>
          </a:p>
        </p:txBody>
      </p:sp>
      <p:sp>
        <p:nvSpPr>
          <p:cNvPr id="47" name="Rectangle 46"/>
          <p:cNvSpPr/>
          <p:nvPr/>
        </p:nvSpPr>
        <p:spPr>
          <a:xfrm>
            <a:off x="0" y="6163056"/>
            <a:ext cx="12191695" cy="694944"/>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0" y="6163056"/>
            <a:ext cx="12191695" cy="4114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530352" y="6327648"/>
            <a:ext cx="8595360" cy="256032"/>
          </a:xfrm>
          <a:prstGeom prst="rect">
            <a:avLst/>
          </a:prstGeom>
          <a:noFill/>
        </p:spPr>
        <p:txBody>
          <a:bodyPr wrap="square" lIns="0" rIns="0" tIns="0" bIns="0" anchor="t">
            <a:noAutofit/>
          </a:bodyPr>
          <a:lstStyle/>
          <a:p>
            <a:pPr algn="l">
              <a:spcBef>
                <a:spcPts val="0"/>
              </a:spcBef>
              <a:spcAft>
                <a:spcPts val="0"/>
              </a:spcAft>
            </a:pPr>
            <a:r>
              <a:rPr sz="850" b="0" i="0" lang="id-ID">
                <a:solidFill>
                  <a:srgbClr val="9FC7CF"/>
                </a:solidFill>
                <a:latin typeface="Calibri"/>
              </a:rPr>
              <a:t>Lopes dkk., Sci Rep 2021;11:22405 · DOI 10.1038/s41598-021-01541-7 · CC BY 4.0</a:t>
            </a:r>
          </a:p>
        </p:txBody>
      </p:sp>
      <p:sp>
        <p:nvSpPr>
          <p:cNvPr id="50" name="Rounded Rectangle 49"/>
          <p:cNvSpPr/>
          <p:nvPr/>
        </p:nvSpPr>
        <p:spPr>
          <a:xfrm>
            <a:off x="11204143" y="6291072"/>
            <a:ext cx="457200" cy="256032"/>
          </a:xfrm>
          <a:prstGeom prst="roundRect">
            <a:avLst>
              <a:gd name="adj" fmla="val 17857"/>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11204143" y="6332220"/>
            <a:ext cx="457200"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0B4A5A"/>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E8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732520" y="3520440"/>
            <a:ext cx="5760720" cy="5760720"/>
          </a:xfrm>
          <a:prstGeom prst="ellipse">
            <a:avLst/>
          </a:prstGeom>
          <a:solidFill>
            <a:srgbClr val="DE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3309213"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2647"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8875166"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0"/>
            <a:ext cx="201168" cy="6858000"/>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0" y="1171346"/>
            <a:ext cx="12191695" cy="6400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14  ·  IMPLIKASI</a:t>
            </a:r>
          </a:p>
        </p:txBody>
      </p:sp>
      <p:sp>
        <p:nvSpPr>
          <p:cNvPr id="11" name="TextBox 10"/>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Langkah praktis di klinik</a:t>
            </a:r>
          </a:p>
        </p:txBody>
      </p:sp>
      <p:sp>
        <p:nvSpPr>
          <p:cNvPr id="12" name="Rounded Rectangle 11"/>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Dua langkah pertama bisa dikerjakan besok: periksa lebih awal, dan pakai kriteria yang sama.</a:t>
            </a:r>
          </a:p>
        </p:txBody>
      </p:sp>
      <p:sp>
        <p:nvSpPr>
          <p:cNvPr id="15" name="Rounded Rectangle 14"/>
          <p:cNvSpPr/>
          <p:nvPr/>
        </p:nvSpPr>
        <p:spPr>
          <a:xfrm>
            <a:off x="530352" y="2048256"/>
            <a:ext cx="2631643" cy="2377440"/>
          </a:xfrm>
          <a:prstGeom prst="roundRect">
            <a:avLst>
              <a:gd name="adj" fmla="val 3846"/>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786384"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86384"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1</a:t>
            </a:r>
          </a:p>
        </p:txBody>
      </p:sp>
      <p:sp>
        <p:nvSpPr>
          <p:cNvPr id="18" name="TextBox 17"/>
          <p:cNvSpPr txBox="1"/>
          <p:nvPr/>
        </p:nvSpPr>
        <p:spPr>
          <a:xfrm>
            <a:off x="1335024"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Periksa lebih awal</a:t>
            </a:r>
          </a:p>
        </p:txBody>
      </p:sp>
      <p:sp>
        <p:nvSpPr>
          <p:cNvPr id="19" name="TextBox 18"/>
          <p:cNvSpPr txBox="1"/>
          <p:nvPr/>
        </p:nvSpPr>
        <p:spPr>
          <a:xfrm>
            <a:off x="786384" y="2871216"/>
            <a:ext cx="2119579" cy="555955"/>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Molar pertama permanen diperiksa begitu erupsi, sekitar usia 6 sampai 8 tahun.</a:t>
            </a:r>
          </a:p>
        </p:txBody>
      </p:sp>
      <p:sp>
        <p:nvSpPr>
          <p:cNvPr id="20" name="Rounded Rectangle 19"/>
          <p:cNvSpPr/>
          <p:nvPr/>
        </p:nvSpPr>
        <p:spPr>
          <a:xfrm>
            <a:off x="3363163" y="2048256"/>
            <a:ext cx="2631643" cy="2377440"/>
          </a:xfrm>
          <a:prstGeom prst="roundRect">
            <a:avLst>
              <a:gd name="adj" fmla="val 3846"/>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619195"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619195"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2</a:t>
            </a:r>
          </a:p>
        </p:txBody>
      </p:sp>
      <p:sp>
        <p:nvSpPr>
          <p:cNvPr id="23" name="TextBox 22"/>
          <p:cNvSpPr txBox="1"/>
          <p:nvPr/>
        </p:nvSpPr>
        <p:spPr>
          <a:xfrm>
            <a:off x="4167835"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Pakai kriteria EAPD</a:t>
            </a:r>
          </a:p>
        </p:txBody>
      </p:sp>
      <p:sp>
        <p:nvSpPr>
          <p:cNvPr id="24" name="TextBox 23"/>
          <p:cNvSpPr txBox="1"/>
          <p:nvPr/>
        </p:nvSpPr>
        <p:spPr>
          <a:xfrm>
            <a:off x="3619195" y="2871216"/>
            <a:ext cx="2119579" cy="555955"/>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Satu kriteria untuk semua pasien, disertai foto klinis, supaya catatan kita sebanding.</a:t>
            </a:r>
          </a:p>
        </p:txBody>
      </p:sp>
      <p:sp>
        <p:nvSpPr>
          <p:cNvPr id="25" name="Rounded Rectangle 24"/>
          <p:cNvSpPr/>
          <p:nvPr/>
        </p:nvSpPr>
        <p:spPr>
          <a:xfrm>
            <a:off x="6195974" y="2048256"/>
            <a:ext cx="2631643" cy="2377440"/>
          </a:xfrm>
          <a:prstGeom prst="roundRect">
            <a:avLst>
              <a:gd name="adj" fmla="val 3846"/>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452006"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52006"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3</a:t>
            </a:r>
          </a:p>
        </p:txBody>
      </p:sp>
      <p:sp>
        <p:nvSpPr>
          <p:cNvPr id="28" name="TextBox 27"/>
          <p:cNvSpPr txBox="1"/>
          <p:nvPr/>
        </p:nvSpPr>
        <p:spPr>
          <a:xfrm>
            <a:off x="7000646"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Catat keparahan</a:t>
            </a:r>
          </a:p>
        </p:txBody>
      </p:sp>
      <p:sp>
        <p:nvSpPr>
          <p:cNvPr id="29" name="TextBox 28"/>
          <p:cNvSpPr txBox="1"/>
          <p:nvPr/>
        </p:nvSpPr>
        <p:spPr>
          <a:xfrm>
            <a:off x="6452006" y="2871216"/>
            <a:ext cx="2119579" cy="555955"/>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Keparahan dan jumlah molar yang terkena menentukan intensitas recall.</a:t>
            </a:r>
          </a:p>
        </p:txBody>
      </p:sp>
      <p:sp>
        <p:nvSpPr>
          <p:cNvPr id="30" name="Rounded Rectangle 29"/>
          <p:cNvSpPr/>
          <p:nvPr/>
        </p:nvSpPr>
        <p:spPr>
          <a:xfrm>
            <a:off x="9028785" y="2048256"/>
            <a:ext cx="2631643" cy="2377440"/>
          </a:xfrm>
          <a:prstGeom prst="roundRect">
            <a:avLst>
              <a:gd name="adj" fmla="val 3846"/>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9284817"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284817"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4</a:t>
            </a:r>
          </a:p>
        </p:txBody>
      </p:sp>
      <p:sp>
        <p:nvSpPr>
          <p:cNvPr id="33" name="TextBox 32"/>
          <p:cNvSpPr txBox="1"/>
          <p:nvPr/>
        </p:nvSpPr>
        <p:spPr>
          <a:xfrm>
            <a:off x="9833457" y="2340864"/>
            <a:ext cx="1662379" cy="494690"/>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Tangani seminimal mungkin</a:t>
            </a:r>
          </a:p>
        </p:txBody>
      </p:sp>
      <p:sp>
        <p:nvSpPr>
          <p:cNvPr id="34" name="TextBox 33"/>
          <p:cNvSpPr txBox="1"/>
          <p:nvPr/>
        </p:nvSpPr>
        <p:spPr>
          <a:xfrm>
            <a:off x="9284817" y="2871216"/>
            <a:ext cx="2119579" cy="711403"/>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Desensitisasi, sealant pada molar berisiko, restorasi atau SSC bila enamel pecah. Hindari preparasi agresif.</a:t>
            </a:r>
          </a:p>
        </p:txBody>
      </p:sp>
      <p:sp>
        <p:nvSpPr>
          <p:cNvPr id="35" name="Rounded Rectangle 34"/>
          <p:cNvSpPr/>
          <p:nvPr/>
        </p:nvSpPr>
        <p:spPr>
          <a:xfrm>
            <a:off x="530352" y="4608576"/>
            <a:ext cx="11130991" cy="1481328"/>
          </a:xfrm>
          <a:prstGeom prst="roundRect">
            <a:avLst>
              <a:gd name="adj" fmla="val 6172"/>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59536" y="4773168"/>
            <a:ext cx="73152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BCDCE2"/>
                </a:solidFill>
                <a:latin typeface="Calibri"/>
              </a:rPr>
              <a:t>UNTUK PROGRAM SEKOLAH</a:t>
            </a:r>
          </a:p>
        </p:txBody>
      </p:sp>
      <p:sp>
        <p:nvSpPr>
          <p:cNvPr id="37" name="TextBox 36"/>
          <p:cNvSpPr txBox="1"/>
          <p:nvPr/>
        </p:nvSpPr>
        <p:spPr>
          <a:xfrm>
            <a:off x="859536" y="5047488"/>
            <a:ext cx="10472623" cy="543153"/>
          </a:xfrm>
          <a:prstGeom prst="rect">
            <a:avLst/>
          </a:prstGeom>
          <a:noFill/>
        </p:spPr>
        <p:txBody>
          <a:bodyPr wrap="square" lIns="0" rIns="0" tIns="0" bIns="0" anchor="t">
            <a:noAutofit/>
          </a:bodyPr>
          <a:lstStyle/>
          <a:p>
            <a:pPr algn="l">
              <a:lnSpc>
                <a:spcPct val="112000"/>
              </a:lnSpc>
              <a:spcBef>
                <a:spcPts val="0"/>
              </a:spcBef>
              <a:spcAft>
                <a:spcPts val="0"/>
              </a:spcAft>
            </a:pPr>
            <a:r>
              <a:rPr sz="1400" b="1" i="0" lang="id-ID">
                <a:solidFill>
                  <a:srgbClr val="FFFFFF"/>
                </a:solidFill>
                <a:latin typeface="Cambria"/>
              </a:rPr>
              <a:t>Angka 13% sampai 15% cukup tinggi untuk menjadikan pemeriksaan MIH bagian dari skrining rutin, bukan temuan yang kebetulan terlihat.</a:t>
            </a:r>
          </a:p>
        </p:txBody>
      </p:sp>
      <p:sp>
        <p:nvSpPr>
          <p:cNvPr id="38" name="Rectangle 37"/>
          <p:cNvSpPr/>
          <p:nvPr/>
        </p:nvSpPr>
        <p:spPr>
          <a:xfrm>
            <a:off x="0" y="6163056"/>
            <a:ext cx="12191695" cy="694944"/>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0" y="6163056"/>
            <a:ext cx="12191695" cy="4114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530352" y="6327648"/>
            <a:ext cx="8595360" cy="256032"/>
          </a:xfrm>
          <a:prstGeom prst="rect">
            <a:avLst/>
          </a:prstGeom>
          <a:noFill/>
        </p:spPr>
        <p:txBody>
          <a:bodyPr wrap="square" lIns="0" rIns="0" tIns="0" bIns="0" anchor="t">
            <a:noAutofit/>
          </a:bodyPr>
          <a:lstStyle/>
          <a:p>
            <a:pPr algn="l">
              <a:spcBef>
                <a:spcPts val="0"/>
              </a:spcBef>
              <a:spcAft>
                <a:spcPts val="0"/>
              </a:spcAft>
            </a:pPr>
            <a:r>
              <a:rPr sz="850" b="0" i="0" lang="id-ID">
                <a:solidFill>
                  <a:srgbClr val="9FC7CF"/>
                </a:solidFill>
                <a:latin typeface="Calibri"/>
              </a:rPr>
              <a:t>Lopes dkk., Sci Rep 2021;11:22405 · DOI 10.1038/s41598-021-01541-7 · CC BY 4.0</a:t>
            </a:r>
          </a:p>
        </p:txBody>
      </p:sp>
      <p:sp>
        <p:nvSpPr>
          <p:cNvPr id="41" name="Rounded Rectangle 40"/>
          <p:cNvSpPr/>
          <p:nvPr/>
        </p:nvSpPr>
        <p:spPr>
          <a:xfrm>
            <a:off x="11204143" y="6291072"/>
            <a:ext cx="457200" cy="256032"/>
          </a:xfrm>
          <a:prstGeom prst="roundRect">
            <a:avLst>
              <a:gd name="adj" fmla="val 17857"/>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1204143" y="6332220"/>
            <a:ext cx="457200"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0B4A5A"/>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C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732520" y="3520440"/>
            <a:ext cx="5760720" cy="5760720"/>
          </a:xfrm>
          <a:prstGeom prst="ellipse">
            <a:avLst/>
          </a:prstGeom>
          <a:solidFill>
            <a:srgbClr val="D0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3309213"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2647"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8875166" y="1417320"/>
            <a:ext cx="7315" cy="4663440"/>
          </a:xfrm>
          <a:prstGeom prst="rect">
            <a:avLst/>
          </a:prstGeom>
          <a:solidFill>
            <a:srgbClr val="C7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0"/>
            <a:ext cx="201168" cy="6858000"/>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0" y="1171346"/>
            <a:ext cx="12191695" cy="6400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15  ·  KESIMPULAN</a:t>
            </a:r>
          </a:p>
        </p:txBody>
      </p:sp>
      <p:sp>
        <p:nvSpPr>
          <p:cNvPr id="11" name="TextBox 10"/>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Tiga angka, satu pesan</a:t>
            </a:r>
          </a:p>
        </p:txBody>
      </p:sp>
      <p:sp>
        <p:nvSpPr>
          <p:cNvPr id="12" name="Rounded Rectangle 11"/>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MIH sering terlewat, dan pencatatan yang rapi membuat data kita sebanding.</a:t>
            </a:r>
          </a:p>
        </p:txBody>
      </p:sp>
      <p:sp>
        <p:nvSpPr>
          <p:cNvPr id="15" name="Rounded Rectangle 14"/>
          <p:cNvSpPr/>
          <p:nvPr/>
        </p:nvSpPr>
        <p:spPr>
          <a:xfrm>
            <a:off x="530352" y="2048256"/>
            <a:ext cx="3576218" cy="2286000"/>
          </a:xfrm>
          <a:prstGeom prst="roundRect">
            <a:avLst>
              <a:gd name="adj" fmla="val 4000"/>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 y="2304288"/>
            <a:ext cx="3027578" cy="822045"/>
          </a:xfrm>
          <a:prstGeom prst="rect">
            <a:avLst/>
          </a:prstGeom>
          <a:noFill/>
        </p:spPr>
        <p:txBody>
          <a:bodyPr wrap="square" lIns="0" rIns="0" tIns="0" bIns="0" anchor="t">
            <a:noAutofit/>
          </a:bodyPr>
          <a:lstStyle/>
          <a:p>
            <a:pPr algn="l">
              <a:spcBef>
                <a:spcPts val="0"/>
              </a:spcBef>
              <a:spcAft>
                <a:spcPts val="0"/>
              </a:spcAft>
            </a:pPr>
            <a:r>
              <a:rPr sz="4600" b="1" i="0" lang="id-ID">
                <a:solidFill>
                  <a:srgbClr val="0E7C8C"/>
                </a:solidFill>
                <a:latin typeface="Cambria"/>
              </a:rPr>
              <a:t>13,5%</a:t>
            </a:r>
          </a:p>
        </p:txBody>
      </p:sp>
      <p:sp>
        <p:nvSpPr>
          <p:cNvPr id="17" name="TextBox 16"/>
          <p:cNvSpPr txBox="1"/>
          <p:nvPr/>
        </p:nvSpPr>
        <p:spPr>
          <a:xfrm>
            <a:off x="804672" y="3162909"/>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prevalensi global</a:t>
            </a:r>
          </a:p>
        </p:txBody>
      </p:sp>
      <p:sp>
        <p:nvSpPr>
          <p:cNvPr id="18" name="TextBox 17"/>
          <p:cNvSpPr txBox="1"/>
          <p:nvPr/>
        </p:nvSpPr>
        <p:spPr>
          <a:xfrm>
            <a:off x="804672" y="3448202"/>
            <a:ext cx="3027578"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95% CI 12,0–15,1 · 113.089 anak · SORT A</a:t>
            </a:r>
          </a:p>
        </p:txBody>
      </p:sp>
      <p:sp>
        <p:nvSpPr>
          <p:cNvPr id="19" name="Rounded Rectangle 18"/>
          <p:cNvSpPr/>
          <p:nvPr/>
        </p:nvSpPr>
        <p:spPr>
          <a:xfrm>
            <a:off x="4307738" y="2048256"/>
            <a:ext cx="3576218" cy="2286000"/>
          </a:xfrm>
          <a:prstGeom prst="roundRect">
            <a:avLst>
              <a:gd name="adj" fmla="val 4000"/>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582058" y="2304288"/>
            <a:ext cx="3027578" cy="822045"/>
          </a:xfrm>
          <a:prstGeom prst="rect">
            <a:avLst/>
          </a:prstGeom>
          <a:noFill/>
        </p:spPr>
        <p:txBody>
          <a:bodyPr wrap="square" lIns="0" rIns="0" tIns="0" bIns="0" anchor="t">
            <a:noAutofit/>
          </a:bodyPr>
          <a:lstStyle/>
          <a:p>
            <a:pPr algn="l">
              <a:spcBef>
                <a:spcPts val="0"/>
              </a:spcBef>
              <a:spcAft>
                <a:spcPts val="0"/>
              </a:spcAft>
            </a:pPr>
            <a:r>
              <a:rPr sz="4600" b="1" i="0" lang="id-ID">
                <a:solidFill>
                  <a:srgbClr val="0E7C8C"/>
                </a:solidFill>
                <a:latin typeface="Cambria"/>
              </a:rPr>
              <a:t>36,3%</a:t>
            </a:r>
          </a:p>
        </p:txBody>
      </p:sp>
      <p:sp>
        <p:nvSpPr>
          <p:cNvPr id="21" name="TextBox 20"/>
          <p:cNvSpPr txBox="1"/>
          <p:nvPr/>
        </p:nvSpPr>
        <p:spPr>
          <a:xfrm>
            <a:off x="4582058" y="3162909"/>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kasus sedang sampai berat</a:t>
            </a:r>
          </a:p>
        </p:txBody>
      </p:sp>
      <p:sp>
        <p:nvSpPr>
          <p:cNvPr id="22" name="TextBox 21"/>
          <p:cNvSpPr txBox="1"/>
          <p:nvPr/>
        </p:nvSpPr>
        <p:spPr>
          <a:xfrm>
            <a:off x="4582058" y="3448202"/>
            <a:ext cx="3027578"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artinya butuh perawatan, bukan hanya pemantauan</a:t>
            </a:r>
          </a:p>
        </p:txBody>
      </p:sp>
      <p:sp>
        <p:nvSpPr>
          <p:cNvPr id="23" name="Rounded Rectangle 22"/>
          <p:cNvSpPr/>
          <p:nvPr/>
        </p:nvSpPr>
        <p:spPr>
          <a:xfrm>
            <a:off x="8085124" y="2048256"/>
            <a:ext cx="3576218" cy="2286000"/>
          </a:xfrm>
          <a:prstGeom prst="roundRect">
            <a:avLst>
              <a:gd name="adj" fmla="val 4000"/>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359444" y="2304288"/>
            <a:ext cx="3027578" cy="822045"/>
          </a:xfrm>
          <a:prstGeom prst="rect">
            <a:avLst/>
          </a:prstGeom>
          <a:noFill/>
        </p:spPr>
        <p:txBody>
          <a:bodyPr wrap="square" lIns="0" rIns="0" tIns="0" bIns="0" anchor="t">
            <a:noAutofit/>
          </a:bodyPr>
          <a:lstStyle/>
          <a:p>
            <a:pPr algn="l">
              <a:spcBef>
                <a:spcPts val="0"/>
              </a:spcBef>
              <a:spcAft>
                <a:spcPts val="0"/>
              </a:spcAft>
            </a:pPr>
            <a:r>
              <a:rPr sz="4600" b="1" i="0" lang="id-ID">
                <a:solidFill>
                  <a:srgbClr val="0E7C8C"/>
                </a:solidFill>
                <a:latin typeface="Cambria"/>
              </a:rPr>
              <a:t>3,6%</a:t>
            </a:r>
          </a:p>
        </p:txBody>
      </p:sp>
      <p:sp>
        <p:nvSpPr>
          <p:cNvPr id="25" name="TextBox 24"/>
          <p:cNvSpPr txBox="1"/>
          <p:nvPr/>
        </p:nvSpPr>
        <p:spPr>
          <a:xfrm>
            <a:off x="8359444" y="3162909"/>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HSPM menyertai MIH</a:t>
            </a:r>
          </a:p>
        </p:txBody>
      </p:sp>
      <p:sp>
        <p:nvSpPr>
          <p:cNvPr id="26" name="TextBox 25"/>
          <p:cNvSpPr txBox="1"/>
          <p:nvPr/>
        </p:nvSpPr>
        <p:spPr>
          <a:xfrm>
            <a:off x="8359444" y="3448202"/>
            <a:ext cx="3027578"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molar sulung juga perlu diperiksa</a:t>
            </a:r>
          </a:p>
        </p:txBody>
      </p:sp>
      <p:sp>
        <p:nvSpPr>
          <p:cNvPr id="27" name="Rounded Rectangle 26"/>
          <p:cNvSpPr/>
          <p:nvPr/>
        </p:nvSpPr>
        <p:spPr>
          <a:xfrm>
            <a:off x="530352" y="4517136"/>
            <a:ext cx="11130991" cy="1572768"/>
          </a:xfrm>
          <a:prstGeom prst="roundRect">
            <a:avLst>
              <a:gd name="adj" fmla="val 5813"/>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60" y="4663440"/>
            <a:ext cx="73152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SUMBER</a:t>
            </a:r>
          </a:p>
        </p:txBody>
      </p:sp>
      <p:sp>
        <p:nvSpPr>
          <p:cNvPr id="29" name="TextBox 28"/>
          <p:cNvSpPr txBox="1"/>
          <p:nvPr/>
        </p:nvSpPr>
        <p:spPr>
          <a:xfrm>
            <a:off x="822960" y="4919472"/>
            <a:ext cx="10545775" cy="237744"/>
          </a:xfrm>
          <a:prstGeom prst="rect">
            <a:avLst/>
          </a:prstGeom>
          <a:noFill/>
        </p:spPr>
        <p:txBody>
          <a:bodyPr wrap="square" lIns="0" rIns="0" tIns="0" bIns="0" anchor="t">
            <a:noAutofit/>
          </a:bodyPr>
          <a:lstStyle/>
          <a:p>
            <a:pPr algn="l">
              <a:spcBef>
                <a:spcPts val="0"/>
              </a:spcBef>
              <a:spcAft>
                <a:spcPts val="0"/>
              </a:spcAft>
            </a:pPr>
            <a:r>
              <a:rPr sz="900" b="0" i="0" lang="id-ID">
                <a:solidFill>
                  <a:srgbClr val="102A31"/>
                </a:solidFill>
                <a:latin typeface="Calibri"/>
              </a:rPr>
              <a:t>Lopes LB, dkk. Sci Rep. 2021;11:22405. doi:10.1038/s41598-021-01541-7 (artikel utama)</a:t>
            </a:r>
          </a:p>
        </p:txBody>
      </p:sp>
      <p:sp>
        <p:nvSpPr>
          <p:cNvPr id="30" name="TextBox 29"/>
          <p:cNvSpPr txBox="1"/>
          <p:nvPr/>
        </p:nvSpPr>
        <p:spPr>
          <a:xfrm>
            <a:off x="822960" y="5193792"/>
            <a:ext cx="10545775" cy="237744"/>
          </a:xfrm>
          <a:prstGeom prst="rect">
            <a:avLst/>
          </a:prstGeom>
          <a:noFill/>
        </p:spPr>
        <p:txBody>
          <a:bodyPr wrap="square" lIns="0" rIns="0" tIns="0" bIns="0" anchor="t">
            <a:noAutofit/>
          </a:bodyPr>
          <a:lstStyle/>
          <a:p>
            <a:pPr algn="l">
              <a:spcBef>
                <a:spcPts val="0"/>
              </a:spcBef>
              <a:spcAft>
                <a:spcPts val="0"/>
              </a:spcAft>
            </a:pPr>
            <a:r>
              <a:rPr sz="900" b="0" i="0" lang="id-ID">
                <a:solidFill>
                  <a:srgbClr val="102A31"/>
                </a:solidFill>
                <a:latin typeface="Calibri"/>
              </a:rPr>
              <a:t>Weerheijm KL, dkk. Eur J Paediatr Dent. 2003;4:110–113 (kriteria EAPD)</a:t>
            </a:r>
          </a:p>
        </p:txBody>
      </p:sp>
      <p:sp>
        <p:nvSpPr>
          <p:cNvPr id="31" name="TextBox 30"/>
          <p:cNvSpPr txBox="1"/>
          <p:nvPr/>
        </p:nvSpPr>
        <p:spPr>
          <a:xfrm>
            <a:off x="822960" y="5468112"/>
            <a:ext cx="10545775" cy="237744"/>
          </a:xfrm>
          <a:prstGeom prst="rect">
            <a:avLst/>
          </a:prstGeom>
          <a:noFill/>
        </p:spPr>
        <p:txBody>
          <a:bodyPr wrap="square" lIns="0" rIns="0" tIns="0" bIns="0" anchor="t">
            <a:noAutofit/>
          </a:bodyPr>
          <a:lstStyle/>
          <a:p>
            <a:pPr algn="l">
              <a:spcBef>
                <a:spcPts val="0"/>
              </a:spcBef>
              <a:spcAft>
                <a:spcPts val="0"/>
              </a:spcAft>
            </a:pPr>
            <a:r>
              <a:rPr sz="900" b="0" i="0" lang="id-ID">
                <a:solidFill>
                  <a:srgbClr val="102A31"/>
                </a:solidFill>
                <a:latin typeface="Calibri"/>
              </a:rPr>
              <a:t>Schwendicke F, dkk. J Dent. 2018;68:10–18 · pembanding tinjauan sebelumnya (13,1%)</a:t>
            </a:r>
          </a:p>
        </p:txBody>
      </p:sp>
      <p:sp>
        <p:nvSpPr>
          <p:cNvPr id="32" name="TextBox 31"/>
          <p:cNvSpPr txBox="1"/>
          <p:nvPr/>
        </p:nvSpPr>
        <p:spPr>
          <a:xfrm>
            <a:off x="822960" y="5742432"/>
            <a:ext cx="10545775" cy="237744"/>
          </a:xfrm>
          <a:prstGeom prst="rect">
            <a:avLst/>
          </a:prstGeom>
          <a:noFill/>
        </p:spPr>
        <p:txBody>
          <a:bodyPr wrap="square" lIns="0" rIns="0" tIns="0" bIns="0" anchor="t">
            <a:noAutofit/>
          </a:bodyPr>
          <a:lstStyle/>
          <a:p>
            <a:pPr algn="l">
              <a:spcBef>
                <a:spcPts val="0"/>
              </a:spcBef>
              <a:spcAft>
                <a:spcPts val="0"/>
              </a:spcAft>
            </a:pPr>
            <a:r>
              <a:rPr sz="900" b="0" i="0" lang="id-ID">
                <a:solidFill>
                  <a:srgbClr val="102A31"/>
                </a:solidFill>
                <a:latin typeface="Calibri"/>
              </a:rPr>
              <a:t>Zhao D, dkk. Int J Paediatr Dent. 2018;28:170–179 · pembanding tinjauan (14,2%)</a:t>
            </a:r>
          </a:p>
        </p:txBody>
      </p:sp>
      <p:sp>
        <p:nvSpPr>
          <p:cNvPr id="33" name="Rectangle 32"/>
          <p:cNvSpPr/>
          <p:nvPr/>
        </p:nvSpPr>
        <p:spPr>
          <a:xfrm>
            <a:off x="0" y="6163056"/>
            <a:ext cx="12191695" cy="694944"/>
          </a:xfrm>
          <a:prstGeom prst="rect">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0" y="6163056"/>
            <a:ext cx="12191695" cy="41148"/>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30352" y="6327648"/>
            <a:ext cx="8595360" cy="256032"/>
          </a:xfrm>
          <a:prstGeom prst="rect">
            <a:avLst/>
          </a:prstGeom>
          <a:noFill/>
        </p:spPr>
        <p:txBody>
          <a:bodyPr wrap="square" lIns="0" rIns="0" tIns="0" bIns="0" anchor="t">
            <a:noAutofit/>
          </a:bodyPr>
          <a:lstStyle/>
          <a:p>
            <a:pPr algn="l">
              <a:spcBef>
                <a:spcPts val="0"/>
              </a:spcBef>
              <a:spcAft>
                <a:spcPts val="0"/>
              </a:spcAft>
            </a:pPr>
            <a:r>
              <a:rPr sz="850" b="0" i="0" lang="id-ID">
                <a:solidFill>
                  <a:srgbClr val="9FC7CF"/>
                </a:solidFill>
                <a:latin typeface="Calibri"/>
              </a:rPr>
              <a:t>Lopes dkk., Sci Rep 2021;11:22405 · DOI 10.1038/s41598-021-01541-7 · CC BY 4.0</a:t>
            </a:r>
          </a:p>
        </p:txBody>
      </p:sp>
      <p:sp>
        <p:nvSpPr>
          <p:cNvPr id="36" name="Rounded Rectangle 35"/>
          <p:cNvSpPr/>
          <p:nvPr/>
        </p:nvSpPr>
        <p:spPr>
          <a:xfrm>
            <a:off x="11204143" y="6291072"/>
            <a:ext cx="457200" cy="256032"/>
          </a:xfrm>
          <a:prstGeom prst="roundRect">
            <a:avLst>
              <a:gd name="adj" fmla="val 17857"/>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1204143" y="6332220"/>
            <a:ext cx="457200"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0B4A5A"/>
                </a:solidFill>
                <a:latin typeface="Calibr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Prevalensi MIH pada Anak dan Remaja</dc:title>
  <dc:subject>Prevalensi MIH pada Anak dan Remaja (Lopes dkk., 2021)</dc:subject>
  <dc:creator>Arena Agent</dc:creator>
  <cp:keywords/>
  <dc:description>Dibangun dari spec.json oleh build_deck.py (skill pptx-deck-creation).</dc:description>
  <cp:lastModifiedBy>Steve Canny</cp:lastModifiedBy>
  <cp:revision>1</cp:revision>
  <dcterms:created xsi:type="dcterms:W3CDTF">2013-01-27T09:14:16Z</dcterms:created>
  <dcterms:modified xsi:type="dcterms:W3CDTF">2013-01-27T09:15:58Z</dcterms:modified>
  <cp:category/>
  <dc:language>id-ID</dc:language>
</cp:coreProperties>
</file>