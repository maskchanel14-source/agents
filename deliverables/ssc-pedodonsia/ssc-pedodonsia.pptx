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Selamat pagi. Dalam sepuluh menit saya akan membahas satu restorasi yang sering dianggap kuno, padahal buktinya justru kuat: stainless steel crown. Fokusnya tiga hal praktis. Kapan memilih SSC, bagaimana memasangnya dengan dua teknik, dan apa yang membuatnya gagal. Saya akan memakai angka dari Cochrane, meta-analisis, dan RCT, dengan sitasi di tiap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Alurnya dari masalah ke solusi, lalu ke teknik dan bukti. Bagian lima adalah inti keterampilan: sepuluh langkah konvensional yang bisa dibuka satu per satu. Bagian enam membahas Hall Technique, bagian tujuh penyulit yang paling sering muncul. Saya akan berhenti di bagian kasus untuk keputusan bersama, jadi sisakan waktu di sana.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Mulai dari pola yang kita semua lihat. Gigi desidui ditambal, beberapa bulan kemudian tepinya terbuka, ditambal lagi, dan akhirnya pulpanya terlibat. Setiap kali kita mengulang, dinding gigi makin tipis. Pada gigi desidui, enamelnya hanya sekitar satu milimeter dan tanduk pulpanya tinggi. Jadi pertanyaannya bergeser: kapan kita berhenti menambal sebagian dan mulai menutup seluruh gigi.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angka ini cukup untuk membawa pesan utama. Chisini melaporkan success 96,1 persen dari 31 studi, dengan lama follow-up yang berbeda-beda. Cochrane 2015 memberi angka yang lebih kuat: risiko kegagalan mayor 0,18 dibanding tambalan, artinya sekitar seperlima. Dan pada RCT lima tahun, Hall mencapai 92 persen dibanding 52 persen pada restorasi rutin. Perhatikan, angka-angka ini memakai definisi berbeda, jadi jangan disatukan.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Alur ini dipakai untuk memilih teknik. Kalau karies sudah lebih dari dua permukaan atau melewati line angle, restorasi langsung mulai sulit dipertahankan, jadi arahnya ke SSC. Sebelum memilih Hall, periksa tanda pulpa ireversibel: nyeri spontan, abses, fistula. Kalau ada, Hall berhenti di situ, dan gigi perlu pulpektomi atau ekstraksi lebih dulu. Kontraindikasi yang sering terlupa adalah resorpsi akar lebih dari setengah dan alergi nikel.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yang sering salah pada preparasi. Kita cenderung mengurangi bukal dan lingual karena ingin crown mudah masuk, padahal retensi SSC justru berasal dari undercut servikal. Jadi pertahankan bulbositas, potong proksimal sampai kontak putus, dan berhenti dengan feather edge. Perhatikan juga angka reduksi oklusal: sumber UK memakai satu sampai satu setengah milimeter, sedangkan StatPearls dan Randall untuk molar permanen memakai satu setengah sampai dua milimeter.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Sepuluh langkah ini yang akan saya uji di kuis nanti. Klik tiap langkah di kiri. Yang perlu ditekankan: nomor tiga, ekskavasi karies, harus selesai sebelum crown dipilih ulang, karena dinding yang hilang mengubah retensi. Nomor tujuh, try-in, adalah tempat kita berhenti dan memeriksa, bukan memaksa. Kalau crown belum duduk, hampir selalu ada ledge atau sisa kontak, bukan crown yang kurang besar.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Hall membalik logika kita. Karies tidak dibuang, gigi tidak dikurangi, dan tidak ada anestesi. Yang menentukan keberhasilan adalah seal margin. Dua hal yang harus disampaikan ke orang tua: crown akan terasa tinggi beberapa hari, dan bila kontak ketat, perlu kunjungan kedua untuk melepas separator setelah tiga sampai lima hari. Yang tidak boleh: memakai Hall pada gigi dengan nyeri spontan atau abses.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Perbandingan ini jangan dibaca sebagai siapa yang menang. Hall menang di waktu dan penerimaan: tujuh koma satu menit dibanding tujuh belas koma empat menit. Konvensional menang di kontrol: kita bisa melihat dan mengobati pulpa, serta membentuk margin sendiri. Yang penting, sampai sekarang belum ada RCT yang membandingkan Hall dengan SSC konvensional. Jadi pilihan ditentukan oleh kondisi gigi, perilaku anak, dan kemampuan operator.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Enam penyulit ini hampir semuanya bisa dilacak ke preparasi atau pemilihan ukuran. Crown longgar berarti crimping kurang, bukan semen kurang. Crown tidak duduk hampir selalu karena ledge atau kontak yang belum putus. Perdarahan saat try-in berarti margin terlalu panjang. Soal alergi nikel, angkanya sering ditakutkan berlebihan: sensitisasi pada anak Eropa sekitar delapan sampai sepuluh persen, tetapi reaksi klinis terhadap SSC jarang. Yang perlu diingat: jangan menambal masalah adaptasi dengan semen lebih banyak, dan jangan recement gigi yang sudah tidak restorable. Pencegahan paling murah ada di preparasi: putuskan kontak sepenuhnya, haluskan ledge, dan verifikasi dengan probe sebelum crown dicoba. Pada tiap kontrol, periksa margin, oklusi, kontak, gingiva, mobilitas, dan tanda perforasi oklusal.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Dua grafik ini sengaja dipisah. Kiri, RCT lima tahun: Hall 92 persen, kontrol 52 persen. Kanan, meta-analisis 2025 tentang retensi lima tahun: SSC tertinggi, 97,88 persen. Perhatikan sumbu kanan dipotong pada 80 persen, jadi perbedaan tiga sampai empat persen terlihat besar. Dan retensi bukan success. Sebuah crown bisa masih terpasang tetapi sudah gagal secara klinis karena pulpanya nekrotik.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Kalau orang tua keberatan dengan logam, ini pilihannya. Zirkonia punya gingiva yang lebih baik, tetapi angka kegagalan klinisnya belum terbukti lebih rendah: RR nol koma empat delapan dengan rentang kepercayaan yang lebar. Pre-veneered SSC bagus pada retensi enam bulan, tetapi veneernya bisa fraktur. Strip crown paling rendah retensinya. Untuk molar posterior dengan karies luas, SSC masih standar pembandingnya.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Sekarang kita putuskan bersama. Anak tujuh tahun, gigi 85, karies oklusal-distal, vital, tanpa nyeri spontan, dan dentine bridge terlihat. Tanyakan ke audiens: Hall, konvensional, atau komposit? Setelah mereka memilih, lanjut ke pertanyaan kedua. Crown belum duduk di distal. Di sinilah kebanyakan orang langsung memilih crown lebih besar, padahal masalahnya biasanya ledge atau sisa kontak. Kunci: Hall atau SSC konvensional sama-sama dapat diterima. Bila crown tidak duduk, periksa ledge dan sisa kontak, jangan memaksa.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Lima soal ini menguji empat hal: kontraindikasi Hall, angka reduksi oklusal, penanganan crown yang tidak duduk, dan faktor retensi. Kalau waktu habis, cukup kerjakan soal satu dan tiga. Jawaban yang salah tetap menampilkan penjelasan, jadi bisa dipakai untuk diskusi. Kunci jawaban: 1 SSC konvensional setelah pulpotomi; 2 1,0–1,5 mm; 3 periksa ledge dan sisa kontak; 4 kontur dan crimping margin; 5 SSC.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hal. Satu, SSC adalah restorasi coverage penuh, dan retensinya ditentukan margin serta undercut, bukan semen. Dua, Hall hanya untuk gigi vital dengan dentine bridge jelas. Tiga, angka success, survival, dan retention tidak boleh dicampur. Kalau tiga hal ini terbawa pulang, presentasi ini berhasil. Protokol lengkap ada di dokumen pendamping. Terima kasih, saya buka sesi tanya jawab.</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Daftar pustaka ini memakai Vancouver. Nomor lengkap dengan DOI ada di dokumen research_notes.md yang menyertai presentasi. Sumber yang dipakai untuk angka di slide selalu dicantumkan juga di footer tiap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Referensi 16 sampai 33 melengkapi bagian kasus khusus, alternatif estetik, perilaku, dan epidemiologi Indonesia. Bila ada pertanyaan tentang satu angka, saya bisa tunjukkan halaman atau abstrak sumbernya.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Halaman ini bisa dicetak dan dibawa ke klinik. Semua langkah, kontraindikasi, penyulit, dan kriteria kontrol ada di satu halaman. Versi lengkap dengan tujuan, cara, instrumen, kesalahan, dan tanda benar ada di protokol_klinis.md.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8.xml"/><Relationship Id="rId9" Type="http://schemas.openxmlformats.org/officeDocument/2006/relationships/slide" Target="slide9.xml"/><Relationship Id="rId10" Type="http://schemas.openxmlformats.org/officeDocument/2006/relationships/slide" Target="slide11.xml"/><Relationship Id="rId11" Type="http://schemas.openxmlformats.org/officeDocument/2006/relationships/slide" Target="slide13.xml"/><Relationship Id="rId12" Type="http://schemas.openxmlformats.org/officeDocument/2006/relationships/slide" Target="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 Id="rId4"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 Id="rId4"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slide" Target="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 Id="rId4"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slide" Target="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2.xml"/><Relationship Id="rId4"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slide" Target="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slide" Target="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slide" Target="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slide" Target="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868680"/>
            <a:ext cx="6400800" cy="228600"/>
          </a:xfrm>
          <a:prstGeom prst="rect">
            <a:avLst/>
          </a:prstGeom>
          <a:noFill/>
        </p:spPr>
        <p:txBody>
          <a:bodyPr wrap="square" lIns="0" rIns="0" tIns="0" bIns="0" anchor="t">
            <a:spAutoFit/>
          </a:bodyPr>
          <a:lstStyle/>
          <a:p>
            <a:pPr algn="l">
              <a:lnSpc>
                <a:spcPct val="112000"/>
              </a:lnSpc>
              <a:spcAft>
                <a:spcPts val="0"/>
              </a:spcAft>
            </a:pPr>
            <a:r>
              <a:rPr sz="950" b="1" i="0" spc="200">
                <a:solidFill>
                  <a:srgbClr val="2C6E6A"/>
                </a:solidFill>
                <a:latin typeface="Calibri"/>
              </a:rPr>
              <a:t>IIK BHAKTIWIYATA, PROGRAM STUDI KEDOKTERAN GIGI</a:t>
            </a:r>
          </a:p>
        </p:txBody>
      </p:sp>
      <p:sp>
        <p:nvSpPr>
          <p:cNvPr id="5" name="Rectangle 4"/>
          <p:cNvSpPr/>
          <p:nvPr/>
        </p:nvSpPr>
        <p:spPr>
          <a:xfrm>
            <a:off x="566928" y="1207008"/>
            <a:ext cx="822960" cy="3175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17320"/>
            <a:ext cx="7406640" cy="1920240"/>
          </a:xfrm>
          <a:prstGeom prst="rect">
            <a:avLst/>
          </a:prstGeom>
          <a:noFill/>
        </p:spPr>
        <p:txBody>
          <a:bodyPr wrap="square" lIns="0" rIns="0" tIns="0" bIns="0" anchor="t">
            <a:spAutoFit/>
          </a:bodyPr>
          <a:lstStyle/>
          <a:p>
            <a:pPr algn="l">
              <a:lnSpc>
                <a:spcPct val="102000"/>
              </a:lnSpc>
              <a:spcAft>
                <a:spcPts val="0"/>
              </a:spcAft>
            </a:pPr>
            <a:r>
              <a:rPr sz="3800" b="0" i="0">
                <a:solidFill>
                  <a:srgbClr val="15323A"/>
                </a:solidFill>
                <a:latin typeface="Georgia"/>
              </a:rPr>
              <a:t>Stainless steel crown pada gigi desidui dan gigi permanen muda</a:t>
            </a:r>
          </a:p>
        </p:txBody>
      </p:sp>
      <p:sp>
        <p:nvSpPr>
          <p:cNvPr id="7" name="TextBox 6"/>
          <p:cNvSpPr txBox="1"/>
          <p:nvPr/>
        </p:nvSpPr>
        <p:spPr>
          <a:xfrm>
            <a:off x="566928" y="3401568"/>
            <a:ext cx="6766560" cy="685800"/>
          </a:xfrm>
          <a:prstGeom prst="rect">
            <a:avLst/>
          </a:prstGeom>
          <a:noFill/>
        </p:spPr>
        <p:txBody>
          <a:bodyPr wrap="square" lIns="0" rIns="0" tIns="0" bIns="0" anchor="t">
            <a:spAutoFit/>
          </a:bodyPr>
          <a:lstStyle/>
          <a:p>
            <a:pPr algn="l">
              <a:lnSpc>
                <a:spcPct val="112000"/>
              </a:lnSpc>
              <a:spcAft>
                <a:spcPts val="0"/>
              </a:spcAft>
            </a:pPr>
            <a:r>
              <a:rPr sz="1500" b="0" i="0">
                <a:solidFill>
                  <a:srgbClr val="47646C"/>
                </a:solidFill>
                <a:latin typeface="Calibri"/>
              </a:rPr>
              <a:t>Indikasi, preparasi, Hall Technique, dan bukti klinis dalam sepuluh menit</a:t>
            </a:r>
          </a:p>
        </p:txBody>
      </p:sp>
      <p:sp>
        <p:nvSpPr>
          <p:cNvPr id="8" name="Rounded Rectangle 7"/>
          <p:cNvSpPr/>
          <p:nvPr/>
        </p:nvSpPr>
        <p:spPr>
          <a:xfrm>
            <a:off x="566928" y="4224528"/>
            <a:ext cx="96012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261104"/>
            <a:ext cx="96012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10 menit</a:t>
            </a:r>
          </a:p>
        </p:txBody>
      </p:sp>
      <p:sp>
        <p:nvSpPr>
          <p:cNvPr id="10" name="Rounded Rectangle 9"/>
          <p:cNvSpPr/>
          <p:nvPr/>
        </p:nvSpPr>
        <p:spPr>
          <a:xfrm>
            <a:off x="1636776" y="4224528"/>
            <a:ext cx="160020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36776" y="4261104"/>
            <a:ext cx="160020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Pemateri: [nama]</a:t>
            </a:r>
          </a:p>
        </p:txBody>
      </p:sp>
      <p:sp>
        <p:nvSpPr>
          <p:cNvPr id="12" name="Rounded Rectangle 11"/>
          <p:cNvSpPr/>
          <p:nvPr/>
        </p:nvSpPr>
        <p:spPr>
          <a:xfrm>
            <a:off x="3346704" y="4224528"/>
            <a:ext cx="1005840" cy="310896"/>
          </a:xfrm>
          <a:prstGeom prst="roundRect">
            <a:avLst>
              <a:gd name="adj" fmla="val 50000"/>
            </a:avLst>
          </a:prstGeom>
          <a:solidFill>
            <a:srgbClr val="FDF1EC"/>
          </a:solidFill>
          <a:ln w="12700">
            <a:solidFill>
              <a:srgbClr val="E7C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46704" y="4261104"/>
            <a:ext cx="1005840" cy="237744"/>
          </a:xfrm>
          <a:prstGeom prst="rect">
            <a:avLst/>
          </a:prstGeom>
          <a:noFill/>
        </p:spPr>
        <p:txBody>
          <a:bodyPr wrap="square" lIns="0" rIns="0" tIns="0" bIns="0" anchor="t">
            <a:spAutoFit/>
          </a:bodyPr>
          <a:lstStyle/>
          <a:p>
            <a:pPr algn="ctr">
              <a:lnSpc>
                <a:spcPct val="112000"/>
              </a:lnSpc>
              <a:spcAft>
                <a:spcPts val="0"/>
              </a:spcAft>
            </a:pPr>
            <a:r>
              <a:rPr sz="950" b="0" i="0">
                <a:solidFill>
                  <a:srgbClr val="A3462F"/>
                </a:solidFill>
                <a:latin typeface="Calibri"/>
              </a:rPr>
              <a:t>[tanggal]</a:t>
            </a:r>
          </a:p>
        </p:txBody>
      </p:sp>
      <p:sp>
        <p:nvSpPr>
          <p:cNvPr id="14" name="TextBox 13"/>
          <p:cNvSpPr txBox="1"/>
          <p:nvPr/>
        </p:nvSpPr>
        <p:spPr>
          <a:xfrm>
            <a:off x="566928" y="4736592"/>
            <a:ext cx="6583680" cy="457200"/>
          </a:xfrm>
          <a:prstGeom prst="rect">
            <a:avLst/>
          </a:prstGeom>
          <a:noFill/>
        </p:spPr>
        <p:txBody>
          <a:bodyPr wrap="square" lIns="0" rIns="0" tIns="0" bIns="0" anchor="t">
            <a:spAutoFit/>
          </a:bodyPr>
          <a:lstStyle/>
          <a:p>
            <a:pPr algn="l">
              <a:lnSpc>
                <a:spcPct val="112000"/>
              </a:lnSpc>
              <a:spcAft>
                <a:spcPts val="0"/>
              </a:spcAft>
            </a:pPr>
            <a:r>
              <a:rPr sz="950" b="0" i="0">
                <a:solidFill>
                  <a:srgbClr val="7D8F93"/>
                </a:solidFill>
                <a:latin typeface="Calibri"/>
              </a:rPr>
              <a:t>Materi edukasi. Bukan pengganti pertimbangan klinis pada pasien tertentu.</a:t>
            </a:r>
          </a:p>
        </p:txBody>
      </p:sp>
      <p:pic>
        <p:nvPicPr>
          <p:cNvPr id="15" name="Picture 14" descr="fig-cover.jpg"/>
          <p:cNvPicPr>
            <a:picLocks noChangeAspect="1"/>
          </p:cNvPicPr>
          <p:nvPr/>
        </p:nvPicPr>
        <p:blipFill>
          <a:blip r:embed="rId2"/>
          <a:stretch>
            <a:fillRect/>
          </a:stretch>
        </p:blipFill>
        <p:spPr>
          <a:xfrm>
            <a:off x="8458200" y="868680"/>
            <a:ext cx="3200400" cy="3635022"/>
          </a:xfrm>
          <a:prstGeom prst="rect">
            <a:avLst/>
          </a:prstGeom>
        </p:spPr>
      </p:pic>
      <p:sp>
        <p:nvSpPr>
          <p:cNvPr id="16" name="Rectangle 1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Sumber angka dan sitasi ada di tiap slide serta di research_notes.md</a:t>
            </a:r>
          </a:p>
        </p:txBody>
      </p:sp>
      <p:sp>
        <p:nvSpPr>
          <p:cNvPr id="18" name="TextBox 1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AGENDA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Sembilan bagian, sepuluh menit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2</a:t>
            </a:r>
          </a:p>
        </p:txBody>
      </p:sp>
      <p:sp>
        <p:nvSpPr>
          <p:cNvPr id="7" name="Rounded Rectangle 6">
            <a:hlinkClick action="ppaction://hlinksldjump" r:id="rId12"/>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ectangle 7">
            <a:hlinkClick action="ppaction://hlinksldjump" r:id="rId3"/>
          </p:cNvPr>
          <p:cNvSpPr/>
          <p:nvPr/>
        </p:nvSpPr>
        <p:spPr>
          <a:xfrm>
            <a:off x="56692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1</a:t>
            </a:r>
          </a:p>
        </p:txBody>
      </p:sp>
      <p:sp>
        <p:nvSpPr>
          <p:cNvPr id="10" name="TextBox 9"/>
          <p:cNvSpPr txBox="1"/>
          <p:nvPr/>
        </p:nvSpPr>
        <p:spPr>
          <a:xfrm>
            <a:off x="95097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Restorasi yang gagal berulang</a:t>
            </a:r>
          </a:p>
        </p:txBody>
      </p:sp>
      <p:sp>
        <p:nvSpPr>
          <p:cNvPr id="11" name="TextBox 10"/>
          <p:cNvSpPr txBox="1"/>
          <p:nvPr/>
        </p:nvSpPr>
        <p:spPr>
          <a:xfrm>
            <a:off x="486460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2" name="Rectangle 11"/>
          <p:cNvSpPr/>
          <p:nvPr/>
        </p:nvSpPr>
        <p:spPr>
          <a:xfrm>
            <a:off x="56692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a:hlinkClick action="ppaction://hlinksldjump" r:id="rId4"/>
          </p:cNvPr>
          <p:cNvSpPr/>
          <p:nvPr/>
        </p:nvSpPr>
        <p:spPr>
          <a:xfrm>
            <a:off x="56692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2</a:t>
            </a:r>
          </a:p>
        </p:txBody>
      </p:sp>
      <p:sp>
        <p:nvSpPr>
          <p:cNvPr id="15" name="TextBox 14"/>
          <p:cNvSpPr txBox="1"/>
          <p:nvPr/>
        </p:nvSpPr>
        <p:spPr>
          <a:xfrm>
            <a:off x="95097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Mengapa SSC</a:t>
            </a:r>
          </a:p>
        </p:txBody>
      </p:sp>
      <p:sp>
        <p:nvSpPr>
          <p:cNvPr id="16" name="TextBox 15"/>
          <p:cNvSpPr txBox="1"/>
          <p:nvPr/>
        </p:nvSpPr>
        <p:spPr>
          <a:xfrm>
            <a:off x="486460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17" name="Rectangle 16"/>
          <p:cNvSpPr/>
          <p:nvPr/>
        </p:nvSpPr>
        <p:spPr>
          <a:xfrm>
            <a:off x="56692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hlinkClick action="ppaction://hlinksldjump" r:id="rId5"/>
          </p:cNvPr>
          <p:cNvSpPr/>
          <p:nvPr/>
        </p:nvSpPr>
        <p:spPr>
          <a:xfrm>
            <a:off x="56692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3</a:t>
            </a:r>
          </a:p>
        </p:txBody>
      </p:sp>
      <p:sp>
        <p:nvSpPr>
          <p:cNvPr id="20" name="TextBox 19"/>
          <p:cNvSpPr txBox="1"/>
          <p:nvPr/>
        </p:nvSpPr>
        <p:spPr>
          <a:xfrm>
            <a:off x="95097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Indikasi dan batas</a:t>
            </a:r>
          </a:p>
        </p:txBody>
      </p:sp>
      <p:sp>
        <p:nvSpPr>
          <p:cNvPr id="21" name="TextBox 20"/>
          <p:cNvSpPr txBox="1"/>
          <p:nvPr/>
        </p:nvSpPr>
        <p:spPr>
          <a:xfrm>
            <a:off x="486460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1:00</a:t>
            </a:r>
          </a:p>
        </p:txBody>
      </p:sp>
      <p:sp>
        <p:nvSpPr>
          <p:cNvPr id="22" name="Rectangle 21"/>
          <p:cNvSpPr/>
          <p:nvPr/>
        </p:nvSpPr>
        <p:spPr>
          <a:xfrm>
            <a:off x="56692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a:hlinkClick action="ppaction://hlinksldjump" r:id="rId6"/>
          </p:cNvPr>
          <p:cNvSpPr/>
          <p:nvPr/>
        </p:nvSpPr>
        <p:spPr>
          <a:xfrm>
            <a:off x="566928" y="4050791"/>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105655"/>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4</a:t>
            </a:r>
          </a:p>
        </p:txBody>
      </p:sp>
      <p:sp>
        <p:nvSpPr>
          <p:cNvPr id="25" name="TextBox 24"/>
          <p:cNvSpPr txBox="1"/>
          <p:nvPr/>
        </p:nvSpPr>
        <p:spPr>
          <a:xfrm>
            <a:off x="950976" y="4105655"/>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Gigi desidui dan preparasi</a:t>
            </a:r>
          </a:p>
        </p:txBody>
      </p:sp>
      <p:sp>
        <p:nvSpPr>
          <p:cNvPr id="26" name="TextBox 25"/>
          <p:cNvSpPr txBox="1"/>
          <p:nvPr/>
        </p:nvSpPr>
        <p:spPr>
          <a:xfrm>
            <a:off x="4864608" y="4123944"/>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27" name="Rectangle 26"/>
          <p:cNvSpPr/>
          <p:nvPr/>
        </p:nvSpPr>
        <p:spPr>
          <a:xfrm>
            <a:off x="566928" y="4709159"/>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a:hlinkClick action="ppaction://hlinksldjump" r:id="rId7"/>
          </p:cNvPr>
          <p:cNvSpPr/>
          <p:nvPr/>
        </p:nvSpPr>
        <p:spPr>
          <a:xfrm>
            <a:off x="566928" y="4837176"/>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892040"/>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5</a:t>
            </a:r>
          </a:p>
        </p:txBody>
      </p:sp>
      <p:sp>
        <p:nvSpPr>
          <p:cNvPr id="30" name="TextBox 29"/>
          <p:cNvSpPr txBox="1"/>
          <p:nvPr/>
        </p:nvSpPr>
        <p:spPr>
          <a:xfrm>
            <a:off x="950976" y="4892040"/>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Sepuluh langkah konvensional</a:t>
            </a:r>
          </a:p>
        </p:txBody>
      </p:sp>
      <p:sp>
        <p:nvSpPr>
          <p:cNvPr id="31" name="TextBox 30"/>
          <p:cNvSpPr txBox="1"/>
          <p:nvPr/>
        </p:nvSpPr>
        <p:spPr>
          <a:xfrm>
            <a:off x="4864608" y="4910328"/>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1:45</a:t>
            </a:r>
          </a:p>
        </p:txBody>
      </p:sp>
      <p:sp>
        <p:nvSpPr>
          <p:cNvPr id="32" name="Rectangle 31"/>
          <p:cNvSpPr/>
          <p:nvPr/>
        </p:nvSpPr>
        <p:spPr>
          <a:xfrm>
            <a:off x="566928" y="5495544"/>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a:hlinkClick action="ppaction://hlinksldjump" r:id="rId8"/>
          </p:cNvPr>
          <p:cNvSpPr/>
          <p:nvPr/>
        </p:nvSpPr>
        <p:spPr>
          <a:xfrm>
            <a:off x="6144768" y="1691640"/>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44768" y="1746504"/>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6</a:t>
            </a:r>
          </a:p>
        </p:txBody>
      </p:sp>
      <p:sp>
        <p:nvSpPr>
          <p:cNvPr id="35" name="TextBox 34"/>
          <p:cNvSpPr txBox="1"/>
          <p:nvPr/>
        </p:nvSpPr>
        <p:spPr>
          <a:xfrm>
            <a:off x="6528816" y="1746504"/>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Hall Technique</a:t>
            </a:r>
          </a:p>
        </p:txBody>
      </p:sp>
      <p:sp>
        <p:nvSpPr>
          <p:cNvPr id="36" name="TextBox 35"/>
          <p:cNvSpPr txBox="1"/>
          <p:nvPr/>
        </p:nvSpPr>
        <p:spPr>
          <a:xfrm>
            <a:off x="10442448" y="1764792"/>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1:00</a:t>
            </a:r>
          </a:p>
        </p:txBody>
      </p:sp>
      <p:sp>
        <p:nvSpPr>
          <p:cNvPr id="37" name="Rectangle 36"/>
          <p:cNvSpPr/>
          <p:nvPr/>
        </p:nvSpPr>
        <p:spPr>
          <a:xfrm>
            <a:off x="6144768" y="2350008"/>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a:hlinkClick action="ppaction://hlinksldjump" r:id="rId9"/>
          </p:cNvPr>
          <p:cNvSpPr/>
          <p:nvPr/>
        </p:nvSpPr>
        <p:spPr>
          <a:xfrm>
            <a:off x="6144768" y="2478024"/>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44768" y="2532888"/>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7</a:t>
            </a:r>
          </a:p>
        </p:txBody>
      </p:sp>
      <p:sp>
        <p:nvSpPr>
          <p:cNvPr id="40" name="TextBox 39"/>
          <p:cNvSpPr txBox="1"/>
          <p:nvPr/>
        </p:nvSpPr>
        <p:spPr>
          <a:xfrm>
            <a:off x="6528816" y="2532888"/>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Perbandingan dan penyulit</a:t>
            </a:r>
          </a:p>
        </p:txBody>
      </p:sp>
      <p:sp>
        <p:nvSpPr>
          <p:cNvPr id="41" name="TextBox 40"/>
          <p:cNvSpPr txBox="1"/>
          <p:nvPr/>
        </p:nvSpPr>
        <p:spPr>
          <a:xfrm>
            <a:off x="10442448" y="2551176"/>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1:00</a:t>
            </a:r>
          </a:p>
        </p:txBody>
      </p:sp>
      <p:sp>
        <p:nvSpPr>
          <p:cNvPr id="42" name="Rectangle 41"/>
          <p:cNvSpPr/>
          <p:nvPr/>
        </p:nvSpPr>
        <p:spPr>
          <a:xfrm>
            <a:off x="6144768" y="3136391"/>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a:hlinkClick action="ppaction://hlinksldjump" r:id="rId10"/>
          </p:cNvPr>
          <p:cNvSpPr/>
          <p:nvPr/>
        </p:nvSpPr>
        <p:spPr>
          <a:xfrm>
            <a:off x="6144768" y="3264408"/>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44768" y="3319272"/>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8</a:t>
            </a:r>
          </a:p>
        </p:txBody>
      </p:sp>
      <p:sp>
        <p:nvSpPr>
          <p:cNvPr id="45" name="TextBox 44"/>
          <p:cNvSpPr txBox="1"/>
          <p:nvPr/>
        </p:nvSpPr>
        <p:spPr>
          <a:xfrm>
            <a:off x="6528816" y="3319272"/>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Bukti dan alternatif</a:t>
            </a:r>
          </a:p>
        </p:txBody>
      </p:sp>
      <p:sp>
        <p:nvSpPr>
          <p:cNvPr id="46" name="TextBox 45"/>
          <p:cNvSpPr txBox="1"/>
          <p:nvPr/>
        </p:nvSpPr>
        <p:spPr>
          <a:xfrm>
            <a:off x="10442448" y="3337560"/>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1:30</a:t>
            </a:r>
          </a:p>
        </p:txBody>
      </p:sp>
      <p:sp>
        <p:nvSpPr>
          <p:cNvPr id="47" name="Rectangle 46"/>
          <p:cNvSpPr/>
          <p:nvPr/>
        </p:nvSpPr>
        <p:spPr>
          <a:xfrm>
            <a:off x="6144768" y="3922776"/>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a:hlinkClick action="ppaction://hlinksldjump" r:id="rId11"/>
          </p:cNvPr>
          <p:cNvSpPr/>
          <p:nvPr/>
        </p:nvSpPr>
        <p:spPr>
          <a:xfrm>
            <a:off x="6144768" y="4050791"/>
            <a:ext cx="5257800" cy="67665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44768" y="4105655"/>
            <a:ext cx="365760" cy="365760"/>
          </a:xfrm>
          <a:prstGeom prst="rect">
            <a:avLst/>
          </a:prstGeom>
          <a:noFill/>
        </p:spPr>
        <p:txBody>
          <a:bodyPr wrap="square" lIns="0" rIns="0" tIns="0" bIns="0" anchor="t">
            <a:spAutoFit/>
          </a:bodyPr>
          <a:lstStyle/>
          <a:p>
            <a:pPr algn="l">
              <a:lnSpc>
                <a:spcPct val="112000"/>
              </a:lnSpc>
              <a:spcAft>
                <a:spcPts val="0"/>
              </a:spcAft>
            </a:pPr>
            <a:r>
              <a:rPr sz="1700" b="0" i="0">
                <a:solidFill>
                  <a:srgbClr val="C65B45"/>
                </a:solidFill>
                <a:latin typeface="Georgia"/>
              </a:rPr>
              <a:t>9</a:t>
            </a:r>
          </a:p>
        </p:txBody>
      </p:sp>
      <p:sp>
        <p:nvSpPr>
          <p:cNvPr id="50" name="TextBox 49"/>
          <p:cNvSpPr txBox="1"/>
          <p:nvPr/>
        </p:nvSpPr>
        <p:spPr>
          <a:xfrm>
            <a:off x="6528816" y="4105655"/>
            <a:ext cx="3931920" cy="365760"/>
          </a:xfrm>
          <a:prstGeom prst="rect">
            <a:avLst/>
          </a:prstGeom>
          <a:noFill/>
        </p:spPr>
        <p:txBody>
          <a:bodyPr wrap="square" lIns="0" rIns="0" tIns="0" bIns="0" anchor="t">
            <a:spAutoFit/>
          </a:bodyPr>
          <a:lstStyle/>
          <a:p>
            <a:pPr algn="l">
              <a:lnSpc>
                <a:spcPct val="112000"/>
              </a:lnSpc>
              <a:spcAft>
                <a:spcPts val="0"/>
              </a:spcAft>
            </a:pPr>
            <a:r>
              <a:rPr sz="1350" b="0" i="0">
                <a:solidFill>
                  <a:srgbClr val="15323A"/>
                </a:solidFill>
                <a:latin typeface="Calibri"/>
              </a:rPr>
              <a:t>Kasus, kuis, penutup</a:t>
            </a:r>
          </a:p>
        </p:txBody>
      </p:sp>
      <p:sp>
        <p:nvSpPr>
          <p:cNvPr id="51" name="TextBox 50"/>
          <p:cNvSpPr txBox="1"/>
          <p:nvPr/>
        </p:nvSpPr>
        <p:spPr>
          <a:xfrm>
            <a:off x="10442448" y="4123944"/>
            <a:ext cx="822960" cy="274320"/>
          </a:xfrm>
          <a:prstGeom prst="rect">
            <a:avLst/>
          </a:prstGeom>
          <a:noFill/>
        </p:spPr>
        <p:txBody>
          <a:bodyPr wrap="square" lIns="0" rIns="0" tIns="0" bIns="0" anchor="t">
            <a:spAutoFit/>
          </a:bodyPr>
          <a:lstStyle/>
          <a:p>
            <a:pPr algn="r">
              <a:lnSpc>
                <a:spcPct val="112000"/>
              </a:lnSpc>
              <a:spcAft>
                <a:spcPts val="0"/>
              </a:spcAft>
            </a:pPr>
            <a:r>
              <a:rPr sz="900" b="0" i="0">
                <a:solidFill>
                  <a:srgbClr val="7D8F93"/>
                </a:solidFill>
                <a:latin typeface="Calibri"/>
              </a:rPr>
              <a:t>0:45</a:t>
            </a:r>
          </a:p>
        </p:txBody>
      </p:sp>
      <p:sp>
        <p:nvSpPr>
          <p:cNvPr id="52" name="Rectangle 51"/>
          <p:cNvSpPr/>
          <p:nvPr/>
        </p:nvSpPr>
        <p:spPr>
          <a:xfrm>
            <a:off x="6144768" y="4709159"/>
            <a:ext cx="525780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6928" y="5715000"/>
            <a:ext cx="10515600" cy="54864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Klik bagian mana pun untuk melompat. Tombol Agenda di kanan atas mengembalikan ke halaman ini. Bagian kasus dan kuis dapat dilewati bila waktu tersisa kurang dari dua menit.</a:t>
            </a:r>
          </a:p>
        </p:txBody>
      </p:sp>
      <p:sp>
        <p:nvSpPr>
          <p:cNvPr id="54" name="Rectangle 53"/>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Total 9 menit 15 detik konten, sekitar 10 menit dengan perpindahan</a:t>
            </a:r>
          </a:p>
        </p:txBody>
      </p:sp>
      <p:sp>
        <p:nvSpPr>
          <p:cNvPr id="56" name="TextBox 55"/>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MASALAH KLINIS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Tambalan berulang gagal pada gigi yang sama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60" y="211226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191109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pertama</a:t>
            </a:r>
          </a:p>
        </p:txBody>
      </p:sp>
      <p:sp>
        <p:nvSpPr>
          <p:cNvPr id="11" name="TextBox 10"/>
          <p:cNvSpPr txBox="1"/>
          <p:nvPr/>
        </p:nvSpPr>
        <p:spPr>
          <a:xfrm>
            <a:off x="1097280" y="219456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Tepi terbuka, karies kembali</a:t>
            </a:r>
          </a:p>
        </p:txBody>
      </p:sp>
      <p:sp>
        <p:nvSpPr>
          <p:cNvPr id="12" name="Rounded Rectangle 11"/>
          <p:cNvSpPr/>
          <p:nvPr/>
        </p:nvSpPr>
        <p:spPr>
          <a:xfrm>
            <a:off x="566928" y="274320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307238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871216"/>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kedua</a:t>
            </a:r>
          </a:p>
        </p:txBody>
      </p:sp>
      <p:sp>
        <p:nvSpPr>
          <p:cNvPr id="15" name="TextBox 14"/>
          <p:cNvSpPr txBox="1"/>
          <p:nvPr/>
        </p:nvSpPr>
        <p:spPr>
          <a:xfrm>
            <a:off x="1097280" y="315468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Karies sekunder</a:t>
            </a:r>
          </a:p>
        </p:txBody>
      </p:sp>
      <p:sp>
        <p:nvSpPr>
          <p:cNvPr id="16" name="Rounded Rectangle 15"/>
          <p:cNvSpPr/>
          <p:nvPr/>
        </p:nvSpPr>
        <p:spPr>
          <a:xfrm>
            <a:off x="566928" y="3703320"/>
            <a:ext cx="5394960" cy="786384"/>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4032504"/>
            <a:ext cx="118872" cy="118872"/>
          </a:xfrm>
          <a:prstGeom prst="ellipse">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831335"/>
            <a:ext cx="19202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Tambalan ketiga</a:t>
            </a:r>
          </a:p>
        </p:txBody>
      </p:sp>
      <p:sp>
        <p:nvSpPr>
          <p:cNvPr id="19" name="TextBox 18"/>
          <p:cNvSpPr txBox="1"/>
          <p:nvPr/>
        </p:nvSpPr>
        <p:spPr>
          <a:xfrm>
            <a:off x="1097280" y="4114800"/>
            <a:ext cx="4480560" cy="274320"/>
          </a:xfrm>
          <a:prstGeom prst="rect">
            <a:avLst/>
          </a:prstGeom>
          <a:noFill/>
        </p:spPr>
        <p:txBody>
          <a:bodyPr wrap="square" lIns="0" rIns="0" tIns="0" bIns="0" anchor="t">
            <a:spAutoFit/>
          </a:bodyPr>
          <a:lstStyle/>
          <a:p>
            <a:pPr algn="l">
              <a:lnSpc>
                <a:spcPct val="112000"/>
              </a:lnSpc>
              <a:spcAft>
                <a:spcPts val="0"/>
              </a:spcAft>
            </a:pPr>
            <a:r>
              <a:rPr sz="1150" b="0" i="0">
                <a:solidFill>
                  <a:srgbClr val="47646C"/>
                </a:solidFill>
                <a:latin typeface="Calibri"/>
              </a:rPr>
              <a:t>Nyeri, pulpa terlibat</a:t>
            </a:r>
          </a:p>
        </p:txBody>
      </p:sp>
      <p:sp>
        <p:nvSpPr>
          <p:cNvPr id="20" name="TextBox 19"/>
          <p:cNvSpPr txBox="1"/>
          <p:nvPr/>
        </p:nvSpPr>
        <p:spPr>
          <a:xfrm>
            <a:off x="566928" y="4800600"/>
            <a:ext cx="512064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Kasus ilustratif, bukan data penelitian.</a:t>
            </a:r>
          </a:p>
        </p:txBody>
      </p:sp>
      <p:sp>
        <p:nvSpPr>
          <p:cNvPr id="21" name="TextBox 20"/>
          <p:cNvSpPr txBox="1"/>
          <p:nvPr/>
        </p:nvSpPr>
        <p:spPr>
          <a:xfrm>
            <a:off x="6355080" y="1600200"/>
            <a:ext cx="5212080" cy="1188720"/>
          </a:xfrm>
          <a:prstGeom prst="rect">
            <a:avLst/>
          </a:prstGeom>
          <a:noFill/>
        </p:spPr>
        <p:txBody>
          <a:bodyPr wrap="square" lIns="0" rIns="0" tIns="0" bIns="0" anchor="t">
            <a:spAutoFit/>
          </a:bodyPr>
          <a:lstStyle/>
          <a:p>
            <a:pPr algn="l">
              <a:lnSpc>
                <a:spcPct val="105000"/>
              </a:lnSpc>
              <a:spcAft>
                <a:spcPts val="0"/>
              </a:spcAft>
            </a:pPr>
            <a:r>
              <a:rPr sz="2500" b="0" i="0">
                <a:solidFill>
                  <a:srgbClr val="15323A"/>
                </a:solidFill>
                <a:latin typeface="Georgia"/>
              </a:rPr>
              <a:t>Setiap pengulangan menghilangkan lebih banyak dentin.</a:t>
            </a:r>
          </a:p>
        </p:txBody>
      </p:sp>
      <p:sp>
        <p:nvSpPr>
          <p:cNvPr id="22" name="TextBox 21"/>
          <p:cNvSpPr txBox="1"/>
          <p:nvPr/>
        </p:nvSpPr>
        <p:spPr>
          <a:xfrm>
            <a:off x="6355080" y="2971800"/>
            <a:ext cx="5074920" cy="1097280"/>
          </a:xfrm>
          <a:prstGeom prst="rect">
            <a:avLst/>
          </a:prstGeom>
          <a:noFill/>
        </p:spPr>
        <p:txBody>
          <a:bodyPr wrap="square" lIns="0" rIns="0" tIns="0" bIns="0" anchor="t">
            <a:spAutoFit/>
          </a:bodyPr>
          <a:lstStyle/>
          <a:p>
            <a:pPr algn="l">
              <a:lnSpc>
                <a:spcPct val="112000"/>
              </a:lnSpc>
              <a:spcAft>
                <a:spcPts val="0"/>
              </a:spcAft>
            </a:pPr>
            <a:r>
              <a:rPr sz="1300" b="0" i="0">
                <a:solidFill>
                  <a:srgbClr val="47646C"/>
                </a:solidFill>
                <a:latin typeface="Calibri"/>
              </a:rPr>
              <a:t>Enamel gigi desidui sekitar 1 mm, dentin tipis, tanduk pulpa tinggi. Kapan berhenti menambal dan menutup seluruh gigi?</a:t>
            </a:r>
          </a:p>
        </p:txBody>
      </p:sp>
      <p:sp>
        <p:nvSpPr>
          <p:cNvPr id="23" name="Rounded Rectangle 22"/>
          <p:cNvSpPr/>
          <p:nvPr/>
        </p:nvSpPr>
        <p:spPr>
          <a:xfrm>
            <a:off x="6355080" y="4279392"/>
            <a:ext cx="3520440" cy="402336"/>
          </a:xfrm>
          <a:prstGeom prst="roundRect">
            <a:avLst>
              <a:gd name="adj" fmla="val 50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352544"/>
            <a:ext cx="3383280" cy="274320"/>
          </a:xfrm>
          <a:prstGeom prst="rect">
            <a:avLst/>
          </a:prstGeom>
          <a:noFill/>
        </p:spPr>
        <p:txBody>
          <a:bodyPr wrap="square" lIns="0" rIns="0" tIns="0" bIns="0" anchor="t">
            <a:spAutoFit/>
          </a:bodyPr>
          <a:lstStyle/>
          <a:p>
            <a:pPr algn="l">
              <a:lnSpc>
                <a:spcPct val="112000"/>
              </a:lnSpc>
              <a:spcAft>
                <a:spcPts val="0"/>
              </a:spcAft>
            </a:pPr>
            <a:r>
              <a:rPr sz="1000" b="0" i="0">
                <a:solidFill>
                  <a:srgbClr val="22605C"/>
                </a:solidFill>
                <a:latin typeface="Calibri"/>
              </a:rPr>
              <a:t>Karies usia 5–6 tahun: 93%</a:t>
            </a:r>
          </a:p>
        </p:txBody>
      </p:sp>
      <p:sp>
        <p:nvSpPr>
          <p:cNvPr id="25" name="Rectangle 2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Cochrane 2015; Innes 2011; Riskesdas 2018</a:t>
            </a:r>
          </a:p>
        </p:txBody>
      </p:sp>
      <p:sp>
        <p:nvSpPr>
          <p:cNvPr id="27" name="TextBox 2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PRINSIP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menutup seluruh mahkota dan tidak bergantung pada dinding yang tersisa</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4</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96,1%</a:t>
            </a:r>
          </a:p>
        </p:txBody>
      </p:sp>
      <p:sp>
        <p:nvSpPr>
          <p:cNvPr id="10" name="TextBox 9"/>
          <p:cNvSpPr txBox="1"/>
          <p:nvPr/>
        </p:nvSpPr>
        <p:spPr>
          <a:xfrm>
            <a:off x="731520"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success SSC pada 12 bulan, 31 studi</a:t>
            </a:r>
          </a:p>
        </p:txBody>
      </p:sp>
      <p:sp>
        <p:nvSpPr>
          <p:cNvPr id="11" name="TextBox 10"/>
          <p:cNvSpPr txBox="1"/>
          <p:nvPr/>
        </p:nvSpPr>
        <p:spPr>
          <a:xfrm>
            <a:off x="731520"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SR/MA, I</a:t>
            </a:r>
          </a:p>
        </p:txBody>
      </p:sp>
      <p:sp>
        <p:nvSpPr>
          <p:cNvPr id="12" name="Rounded Rectangle 11"/>
          <p:cNvSpPr/>
          <p:nvPr/>
        </p:nvSpPr>
        <p:spPr>
          <a:xfrm>
            <a:off x="4334256"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0,18</a:t>
            </a:r>
          </a:p>
        </p:txBody>
      </p:sp>
      <p:sp>
        <p:nvSpPr>
          <p:cNvPr id="14" name="TextBox 13"/>
          <p:cNvSpPr txBox="1"/>
          <p:nvPr/>
        </p:nvSpPr>
        <p:spPr>
          <a:xfrm>
            <a:off x="4498848"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RR kegagalan mayor vs tambalan (95% CI 0,06–0,56)</a:t>
            </a:r>
          </a:p>
        </p:txBody>
      </p:sp>
      <p:sp>
        <p:nvSpPr>
          <p:cNvPr id="15" name="TextBox 14"/>
          <p:cNvSpPr txBox="1"/>
          <p:nvPr/>
        </p:nvSpPr>
        <p:spPr>
          <a:xfrm>
            <a:off x="4498848"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Cochrane 2015; I</a:t>
            </a:r>
          </a:p>
        </p:txBody>
      </p:sp>
      <p:sp>
        <p:nvSpPr>
          <p:cNvPr id="16" name="Rounded Rectangle 15"/>
          <p:cNvSpPr/>
          <p:nvPr/>
        </p:nvSpPr>
        <p:spPr>
          <a:xfrm>
            <a:off x="8101583" y="1783080"/>
            <a:ext cx="3520440" cy="117043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66175" y="1901952"/>
            <a:ext cx="3246120" cy="475488"/>
          </a:xfrm>
          <a:prstGeom prst="rect">
            <a:avLst/>
          </a:prstGeom>
          <a:noFill/>
        </p:spPr>
        <p:txBody>
          <a:bodyPr wrap="square" lIns="0" rIns="0" tIns="0" bIns="0" anchor="t">
            <a:spAutoFit/>
          </a:bodyPr>
          <a:lstStyle/>
          <a:p>
            <a:pPr algn="l">
              <a:lnSpc>
                <a:spcPct val="112000"/>
              </a:lnSpc>
              <a:spcAft>
                <a:spcPts val="0"/>
              </a:spcAft>
            </a:pPr>
            <a:r>
              <a:rPr sz="3000" b="0" i="0">
                <a:solidFill>
                  <a:srgbClr val="15323A"/>
                </a:solidFill>
                <a:latin typeface="Georgia"/>
              </a:rPr>
              <a:t>92%</a:t>
            </a:r>
          </a:p>
        </p:txBody>
      </p:sp>
      <p:sp>
        <p:nvSpPr>
          <p:cNvPr id="18" name="TextBox 17"/>
          <p:cNvSpPr txBox="1"/>
          <p:nvPr/>
        </p:nvSpPr>
        <p:spPr>
          <a:xfrm>
            <a:off x="8266175" y="2386584"/>
            <a:ext cx="3209544" cy="384048"/>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success Hall vs 52% kontrol pada 60 bulan</a:t>
            </a:r>
          </a:p>
        </p:txBody>
      </p:sp>
      <p:sp>
        <p:nvSpPr>
          <p:cNvPr id="19" name="TextBox 18"/>
          <p:cNvSpPr txBox="1"/>
          <p:nvPr/>
        </p:nvSpPr>
        <p:spPr>
          <a:xfrm>
            <a:off x="8266175" y="2724912"/>
            <a:ext cx="3209544" cy="18288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Innes 2011; RCT, II</a:t>
            </a:r>
          </a:p>
        </p:txBody>
      </p:sp>
      <p:pic>
        <p:nvPicPr>
          <p:cNvPr id="20" name="Picture 19" descr="fig-why.jpg"/>
          <p:cNvPicPr>
            <a:picLocks noChangeAspect="1"/>
          </p:cNvPicPr>
          <p:nvPr/>
        </p:nvPicPr>
        <p:blipFill>
          <a:blip r:embed="rId2"/>
          <a:stretch>
            <a:fillRect/>
          </a:stretch>
        </p:blipFill>
        <p:spPr>
          <a:xfrm>
            <a:off x="566928" y="3108960"/>
            <a:ext cx="4297680" cy="2817368"/>
          </a:xfrm>
          <a:prstGeom prst="rect">
            <a:avLst/>
          </a:prstGeom>
        </p:spPr>
      </p:pic>
      <p:sp>
        <p:nvSpPr>
          <p:cNvPr id="21" name="TextBox 20"/>
          <p:cNvSpPr txBox="1"/>
          <p:nvPr/>
        </p:nvSpPr>
        <p:spPr>
          <a:xfrm>
            <a:off x="566928" y="5999480"/>
            <a:ext cx="4297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Penampang molar desidui dengan crown terpasang.</a:t>
            </a:r>
          </a:p>
        </p:txBody>
      </p:sp>
      <p:sp>
        <p:nvSpPr>
          <p:cNvPr id="22" name="Rounded Rectangle 21"/>
          <p:cNvSpPr/>
          <p:nvPr/>
        </p:nvSpPr>
        <p:spPr>
          <a:xfrm>
            <a:off x="5623560" y="3127248"/>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06440" y="3255264"/>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Retensi dari servikal</a:t>
            </a:r>
          </a:p>
        </p:txBody>
      </p:sp>
      <p:sp>
        <p:nvSpPr>
          <p:cNvPr id="24" name="TextBox 23"/>
          <p:cNvSpPr txBox="1"/>
          <p:nvPr/>
        </p:nvSpPr>
        <p:spPr>
          <a:xfrm>
            <a:off x="5806440" y="3566160"/>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Undercut di bawah bulbositas menahan crown, bukan semen.</a:t>
            </a:r>
          </a:p>
        </p:txBody>
      </p:sp>
      <p:sp>
        <p:nvSpPr>
          <p:cNvPr id="25" name="Rounded Rectangle 24"/>
          <p:cNvSpPr/>
          <p:nvPr/>
        </p:nvSpPr>
        <p:spPr>
          <a:xfrm>
            <a:off x="5623560" y="4160520"/>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06440" y="4288536"/>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Tahan fraktur</a:t>
            </a:r>
          </a:p>
        </p:txBody>
      </p:sp>
      <p:sp>
        <p:nvSpPr>
          <p:cNvPr id="27" name="TextBox 26"/>
          <p:cNvSpPr txBox="1"/>
          <p:nvPr/>
        </p:nvSpPr>
        <p:spPr>
          <a:xfrm>
            <a:off x="5806440" y="4599431"/>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Logam menahan gaya oklusal pada dinding tipis.</a:t>
            </a:r>
          </a:p>
        </p:txBody>
      </p:sp>
      <p:sp>
        <p:nvSpPr>
          <p:cNvPr id="28" name="Rounded Rectangle 27"/>
          <p:cNvSpPr/>
          <p:nvPr/>
        </p:nvSpPr>
        <p:spPr>
          <a:xfrm>
            <a:off x="5623560" y="5193792"/>
            <a:ext cx="5532120" cy="9144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06440" y="5321807"/>
            <a:ext cx="512064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Lebih sedikit pengulangan</a:t>
            </a:r>
          </a:p>
        </p:txBody>
      </p:sp>
      <p:sp>
        <p:nvSpPr>
          <p:cNvPr id="30" name="TextBox 29"/>
          <p:cNvSpPr txBox="1"/>
          <p:nvPr/>
        </p:nvSpPr>
        <p:spPr>
          <a:xfrm>
            <a:off x="5806440" y="5632704"/>
            <a:ext cx="5166360" cy="402336"/>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Biaya awal lebih tinggi, retreatment lebih rendah.</a:t>
            </a:r>
          </a:p>
        </p:txBody>
      </p:sp>
      <p:sp>
        <p:nvSpPr>
          <p:cNvPr id="31" name="Rectangle 3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Chisini 2018; Innes 2015 Cochrane; Innes 2011; AAPD 2025</a:t>
            </a:r>
          </a:p>
        </p:txBody>
      </p:sp>
      <p:sp>
        <p:nvSpPr>
          <p:cNvPr id="33" name="TextBox 3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SELEKSI KASUS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SSC dipilih saat karies melewati line angle atau pulpa sudah diterapi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669280" cy="20116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56231"/>
            <a:ext cx="5212080" cy="274320"/>
          </a:xfrm>
          <a:prstGeom prst="rect">
            <a:avLst/>
          </a:prstGeom>
          <a:noFill/>
        </p:spPr>
        <p:txBody>
          <a:bodyPr wrap="square" lIns="0" rIns="0" tIns="0" bIns="0" anchor="t">
            <a:spAutoFit/>
          </a:bodyPr>
          <a:lstStyle/>
          <a:p>
            <a:pPr algn="l">
              <a:lnSpc>
                <a:spcPct val="112000"/>
              </a:lnSpc>
              <a:spcAft>
                <a:spcPts val="0"/>
              </a:spcAft>
            </a:pPr>
            <a:r>
              <a:rPr sz="1200" b="1" i="0">
                <a:solidFill>
                  <a:srgbClr val="C65B45"/>
                </a:solidFill>
                <a:latin typeface="Calibri"/>
              </a:rPr>
              <a:t>Pilih SSC</a:t>
            </a:r>
          </a:p>
        </p:txBody>
      </p:sp>
      <p:sp>
        <p:nvSpPr>
          <p:cNvPr id="10" name="TextBox 9"/>
          <p:cNvSpPr txBox="1"/>
          <p:nvPr/>
        </p:nvSpPr>
        <p:spPr>
          <a:xfrm>
            <a:off x="768096" y="2176272"/>
            <a:ext cx="5257800" cy="1463040"/>
          </a:xfrm>
          <a:prstGeom prst="rect">
            <a:avLst/>
          </a:prstGeom>
          <a:noFill/>
        </p:spPr>
        <p:txBody>
          <a:bodyPr wrap="square" lIns="0" rIns="0" tIns="0" bIns="0" anchor="t">
            <a:spAutoFit/>
          </a:bodyPr>
          <a:lstStyle/>
          <a:p>
            <a:pPr algn="l">
              <a:lnSpc>
                <a:spcPct val="120000"/>
              </a:lnSpc>
              <a:spcAft>
                <a:spcPts val="0"/>
              </a:spcAft>
            </a:pPr>
            <a:r>
              <a:rPr sz="1050" b="0" i="0">
                <a:solidFill>
                  <a:srgbClr val="47646C"/>
                </a:solidFill>
                <a:latin typeface="Calibri"/>
              </a:rPr>
              <a:t>•  Lebih dari 2 permukaan, atau melewati line angle</a:t>
            </a:r>
          </a:p>
          <a:p>
            <a:pPr algn="l">
              <a:lnSpc>
                <a:spcPct val="120000"/>
              </a:lnSpc>
              <a:spcAft>
                <a:spcPts val="0"/>
              </a:spcAft>
            </a:pPr>
            <a:r>
              <a:rPr sz="1050" b="0" i="0">
                <a:solidFill>
                  <a:srgbClr val="47646C"/>
                </a:solidFill>
                <a:latin typeface="Calibri"/>
              </a:rPr>
              <a:t>•  Setelah pulpotomi atau pulpektomi</a:t>
            </a:r>
          </a:p>
          <a:p>
            <a:pPr algn="l">
              <a:lnSpc>
                <a:spcPct val="120000"/>
              </a:lnSpc>
              <a:spcAft>
                <a:spcPts val="0"/>
              </a:spcAft>
            </a:pPr>
            <a:r>
              <a:rPr sz="1050" b="0" i="0">
                <a:solidFill>
                  <a:srgbClr val="47646C"/>
                </a:solidFill>
                <a:latin typeface="Calibri"/>
              </a:rPr>
              <a:t>•  Hipoplasia, MIH, fraktur, atrisi</a:t>
            </a:r>
          </a:p>
          <a:p>
            <a:pPr algn="l">
              <a:lnSpc>
                <a:spcPct val="120000"/>
              </a:lnSpc>
              <a:spcAft>
                <a:spcPts val="0"/>
              </a:spcAft>
            </a:pPr>
            <a:r>
              <a:rPr sz="1050" b="0" i="0">
                <a:solidFill>
                  <a:srgbClr val="47646C"/>
                </a:solidFill>
                <a:latin typeface="Calibri"/>
              </a:rPr>
              <a:t>•  Abutment space maintainer, risiko karies tinggi</a:t>
            </a:r>
          </a:p>
        </p:txBody>
      </p:sp>
      <p:sp>
        <p:nvSpPr>
          <p:cNvPr id="11" name="Rounded Rectangle 10"/>
          <p:cNvSpPr/>
          <p:nvPr/>
        </p:nvSpPr>
        <p:spPr>
          <a:xfrm>
            <a:off x="566928" y="3886200"/>
            <a:ext cx="56692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4005072"/>
            <a:ext cx="5212080" cy="274320"/>
          </a:xfrm>
          <a:prstGeom prst="rect">
            <a:avLst/>
          </a:prstGeom>
          <a:noFill/>
        </p:spPr>
        <p:txBody>
          <a:bodyPr wrap="square" lIns="0" rIns="0" tIns="0" bIns="0" anchor="t">
            <a:spAutoFit/>
          </a:bodyPr>
          <a:lstStyle/>
          <a:p>
            <a:pPr algn="l">
              <a:lnSpc>
                <a:spcPct val="112000"/>
              </a:lnSpc>
              <a:spcAft>
                <a:spcPts val="0"/>
              </a:spcAft>
            </a:pPr>
            <a:r>
              <a:rPr sz="1200" b="1" i="0">
                <a:solidFill>
                  <a:srgbClr val="2C6E6A"/>
                </a:solidFill>
                <a:latin typeface="Calibri"/>
              </a:rPr>
              <a:t>Batas dan kontraindikasi</a:t>
            </a:r>
          </a:p>
        </p:txBody>
      </p:sp>
      <p:sp>
        <p:nvSpPr>
          <p:cNvPr id="13" name="TextBox 12"/>
          <p:cNvSpPr txBox="1"/>
          <p:nvPr/>
        </p:nvSpPr>
        <p:spPr>
          <a:xfrm>
            <a:off x="768096" y="4315968"/>
            <a:ext cx="5257800" cy="914400"/>
          </a:xfrm>
          <a:prstGeom prst="rect">
            <a:avLst/>
          </a:prstGeom>
          <a:noFill/>
        </p:spPr>
        <p:txBody>
          <a:bodyPr wrap="square" lIns="0" rIns="0" tIns="0" bIns="0" anchor="t">
            <a:spAutoFit/>
          </a:bodyPr>
          <a:lstStyle/>
          <a:p>
            <a:pPr algn="l">
              <a:lnSpc>
                <a:spcPct val="120000"/>
              </a:lnSpc>
              <a:spcAft>
                <a:spcPts val="0"/>
              </a:spcAft>
            </a:pPr>
            <a:r>
              <a:rPr sz="1050" b="0" i="0">
                <a:solidFill>
                  <a:srgbClr val="47646C"/>
                </a:solidFill>
                <a:latin typeface="Calibri"/>
              </a:rPr>
              <a:t>•  Lebih dari setengah akar teresorpsi, alergi nikel</a:t>
            </a:r>
          </a:p>
          <a:p>
            <a:pPr algn="l">
              <a:lnSpc>
                <a:spcPct val="120000"/>
              </a:lnSpc>
              <a:spcAft>
                <a:spcPts val="0"/>
              </a:spcAft>
            </a:pPr>
            <a:r>
              <a:rPr sz="1050" b="0" i="0">
                <a:solidFill>
                  <a:srgbClr val="47646C"/>
                </a:solidFill>
                <a:latin typeface="Calibri"/>
              </a:rPr>
              <a:t>•  Gigi tidak restorable</a:t>
            </a:r>
          </a:p>
          <a:p>
            <a:pPr algn="l">
              <a:lnSpc>
                <a:spcPct val="120000"/>
              </a:lnSpc>
              <a:spcAft>
                <a:spcPts val="0"/>
              </a:spcAft>
            </a:pPr>
            <a:r>
              <a:rPr sz="1050" b="0" i="0">
                <a:solidFill>
                  <a:srgbClr val="47646C"/>
                </a:solidFill>
                <a:latin typeface="Calibri"/>
              </a:rPr>
              <a:t>•  Hall: nyeri spontan, abses, fistula, tanpa dentine bridge</a:t>
            </a:r>
          </a:p>
        </p:txBody>
      </p:sp>
      <p:sp>
        <p:nvSpPr>
          <p:cNvPr id="14" name="TextBox 13"/>
          <p:cNvSpPr txBox="1"/>
          <p:nvPr/>
        </p:nvSpPr>
        <p:spPr>
          <a:xfrm>
            <a:off x="6720840" y="1700784"/>
            <a:ext cx="4572000" cy="274320"/>
          </a:xfrm>
          <a:prstGeom prst="rect">
            <a:avLst/>
          </a:prstGeom>
          <a:noFill/>
        </p:spPr>
        <p:txBody>
          <a:bodyPr wrap="square" lIns="0" rIns="0" tIns="0" bIns="0" anchor="t">
            <a:spAutoFit/>
          </a:bodyPr>
          <a:lstStyle/>
          <a:p>
            <a:pPr algn="l">
              <a:lnSpc>
                <a:spcPct val="112000"/>
              </a:lnSpc>
              <a:spcAft>
                <a:spcPts val="0"/>
              </a:spcAft>
            </a:pPr>
            <a:r>
              <a:rPr sz="850" b="1" i="0" spc="80">
                <a:solidFill>
                  <a:srgbClr val="C65B45"/>
                </a:solidFill>
                <a:latin typeface="Calibri"/>
              </a:rPr>
              <a:t>ALUR KEPUTUSAN</a:t>
            </a:r>
          </a:p>
        </p:txBody>
      </p:sp>
      <p:sp>
        <p:nvSpPr>
          <p:cNvPr id="15" name="Rounded Rectangle 14"/>
          <p:cNvSpPr/>
          <p:nvPr/>
        </p:nvSpPr>
        <p:spPr>
          <a:xfrm>
            <a:off x="6720840" y="201168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9712" y="210312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Karies luas, lebih dari 2 permukaan, atau melewati line angle?</a:t>
            </a:r>
          </a:p>
        </p:txBody>
      </p:sp>
      <p:sp>
        <p:nvSpPr>
          <p:cNvPr id="17" name="Down Arrow 16"/>
          <p:cNvSpPr/>
          <p:nvPr/>
        </p:nvSpPr>
        <p:spPr>
          <a:xfrm>
            <a:off x="9070848" y="265176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720840" y="2788920"/>
            <a:ext cx="4892040" cy="621792"/>
          </a:xfrm>
          <a:prstGeom prst="roundRect">
            <a:avLst>
              <a:gd name="adj" fmla="val 9000"/>
            </a:avLst>
          </a:prstGeom>
          <a:solidFill>
            <a:srgbClr val="F7F0E0"/>
          </a:solidFill>
          <a:ln w="12700">
            <a:solidFill>
              <a:srgbClr val="DDC9A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9712" y="288036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Tanda pulpa ireversibel?  Ya: pulpektomi atau ekstraksi, lalu SSC bila gigi dipertahankan.</a:t>
            </a:r>
          </a:p>
        </p:txBody>
      </p:sp>
      <p:sp>
        <p:nvSpPr>
          <p:cNvPr id="20" name="Down Arrow 19"/>
          <p:cNvSpPr/>
          <p:nvPr/>
        </p:nvSpPr>
        <p:spPr>
          <a:xfrm>
            <a:off x="9070848" y="342900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720840" y="3566160"/>
            <a:ext cx="4892040" cy="621792"/>
          </a:xfrm>
          <a:prstGeom prst="roundRect">
            <a:avLst>
              <a:gd name="adj" fmla="val 9000"/>
            </a:avLst>
          </a:prstGeom>
          <a:solidFill>
            <a:srgbClr val="EEF6F4"/>
          </a:solidFill>
          <a:ln w="12700">
            <a:solidFill>
              <a:srgbClr val="BCD4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39712" y="365760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Tidak: Hall bila dentine bridge jelas, atau SSC konvensional.</a:t>
            </a:r>
          </a:p>
        </p:txBody>
      </p:sp>
      <p:sp>
        <p:nvSpPr>
          <p:cNvPr id="23" name="Down Arrow 22"/>
          <p:cNvSpPr/>
          <p:nvPr/>
        </p:nvSpPr>
        <p:spPr>
          <a:xfrm>
            <a:off x="9070848" y="4206240"/>
            <a:ext cx="164592" cy="128016"/>
          </a:xfrm>
          <a:prstGeom prst="downArrow">
            <a:avLst/>
          </a:prstGeom>
          <a:solidFill>
            <a:srgbClr val="8FA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720840" y="4343400"/>
            <a:ext cx="4892040" cy="62179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9712" y="4434840"/>
            <a:ext cx="4663440" cy="457200"/>
          </a:xfrm>
          <a:prstGeom prst="rect">
            <a:avLst/>
          </a:prstGeom>
          <a:noFill/>
        </p:spPr>
        <p:txBody>
          <a:bodyPr wrap="square" lIns="0" rIns="0" tIns="0" bIns="0" anchor="t">
            <a:spAutoFit/>
          </a:bodyPr>
          <a:lstStyle/>
          <a:p>
            <a:pPr algn="l">
              <a:lnSpc>
                <a:spcPct val="105000"/>
              </a:lnSpc>
              <a:spcAft>
                <a:spcPts val="0"/>
              </a:spcAft>
            </a:pPr>
            <a:r>
              <a:rPr sz="840" b="0" i="0">
                <a:solidFill>
                  <a:srgbClr val="15323A"/>
                </a:solidFill>
                <a:latin typeface="Calibri"/>
              </a:rPr>
              <a:t>Bukan kandidat SSC: gigi tidak restorable, akar teresorpsi, alergi nikel.</a:t>
            </a:r>
          </a:p>
        </p:txBody>
      </p:sp>
      <p:sp>
        <p:nvSpPr>
          <p:cNvPr id="26" name="Rectangle 25"/>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SDCEP 2025; Hall Technique Guide 2015</a:t>
            </a:r>
          </a:p>
        </p:txBody>
      </p:sp>
      <p:sp>
        <p:nvSpPr>
          <p:cNvPr id="28" name="TextBox 27"/>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ANATOMI DAN PREPARASI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Bentuk gigi desidui menentukan arah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6</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92807"/>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Retensi ada di servikal</a:t>
            </a:r>
          </a:p>
        </p:txBody>
      </p:sp>
      <p:sp>
        <p:nvSpPr>
          <p:cNvPr id="10" name="TextBox 9"/>
          <p:cNvSpPr txBox="1"/>
          <p:nvPr/>
        </p:nvSpPr>
        <p:spPr>
          <a:xfrm>
            <a:off x="749808" y="2185416"/>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Undercut di bawah bulbositas menahan crown.</a:t>
            </a:r>
          </a:p>
        </p:txBody>
      </p:sp>
      <p:sp>
        <p:nvSpPr>
          <p:cNvPr id="11" name="Rounded Rectangle 10"/>
          <p:cNvSpPr/>
          <p:nvPr/>
        </p:nvSpPr>
        <p:spPr>
          <a:xfrm>
            <a:off x="566928" y="2807208"/>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916936"/>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Bukal dan lingual tidak rutin</a:t>
            </a:r>
          </a:p>
        </p:txBody>
      </p:sp>
      <p:sp>
        <p:nvSpPr>
          <p:cNvPr id="13" name="TextBox 12"/>
          <p:cNvSpPr txBox="1"/>
          <p:nvPr/>
        </p:nvSpPr>
        <p:spPr>
          <a:xfrm>
            <a:off x="749808" y="3209544"/>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Hanya bila kontur menghalangi seating.</a:t>
            </a:r>
          </a:p>
        </p:txBody>
      </p:sp>
      <p:sp>
        <p:nvSpPr>
          <p:cNvPr id="14" name="Rounded Rectangle 13"/>
          <p:cNvSpPr/>
          <p:nvPr/>
        </p:nvSpPr>
        <p:spPr>
          <a:xfrm>
            <a:off x="566928" y="3831336"/>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941064"/>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Enamel 1 mm</a:t>
            </a:r>
          </a:p>
        </p:txBody>
      </p:sp>
      <p:sp>
        <p:nvSpPr>
          <p:cNvPr id="16" name="TextBox 15"/>
          <p:cNvSpPr txBox="1"/>
          <p:nvPr/>
        </p:nvSpPr>
        <p:spPr>
          <a:xfrm>
            <a:off x="749808" y="4233672"/>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Reduksi oklusal 1,0–1,5 mm, atau 1,5–2,0 mm menurut sumber lain.</a:t>
            </a:r>
          </a:p>
        </p:txBody>
      </p:sp>
      <p:sp>
        <p:nvSpPr>
          <p:cNvPr id="17" name="Rounded Rectangle 16"/>
          <p:cNvSpPr/>
          <p:nvPr/>
        </p:nvSpPr>
        <p:spPr>
          <a:xfrm>
            <a:off x="566928" y="4855464"/>
            <a:ext cx="5440680" cy="896112"/>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965192"/>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Kontak harus putus</a:t>
            </a:r>
          </a:p>
        </p:txBody>
      </p:sp>
      <p:sp>
        <p:nvSpPr>
          <p:cNvPr id="19" name="TextBox 18"/>
          <p:cNvSpPr txBox="1"/>
          <p:nvPr/>
        </p:nvSpPr>
        <p:spPr>
          <a:xfrm>
            <a:off x="749808" y="5257800"/>
            <a:ext cx="5074920" cy="45720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Probe melewati kontak mesial dan distal.</a:t>
            </a:r>
          </a:p>
        </p:txBody>
      </p:sp>
      <p:pic>
        <p:nvPicPr>
          <p:cNvPr id="20" name="Picture 19" descr="fig-prep.jpg"/>
          <p:cNvPicPr>
            <a:picLocks noChangeAspect="1"/>
          </p:cNvPicPr>
          <p:nvPr/>
        </p:nvPicPr>
        <p:blipFill>
          <a:blip r:embed="rId2"/>
          <a:stretch>
            <a:fillRect/>
          </a:stretch>
        </p:blipFill>
        <p:spPr>
          <a:xfrm>
            <a:off x="5989320" y="1719072"/>
            <a:ext cx="5623560" cy="3929374"/>
          </a:xfrm>
          <a:prstGeom prst="rect">
            <a:avLst/>
          </a:prstGeom>
        </p:spPr>
      </p:pic>
      <p:sp>
        <p:nvSpPr>
          <p:cNvPr id="21" name="TextBox 20"/>
          <p:cNvSpPr txBox="1"/>
          <p:nvPr/>
        </p:nvSpPr>
        <p:spPr>
          <a:xfrm>
            <a:off x="5989320" y="5721598"/>
            <a:ext cx="562356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Garis dan angka untuk orientasi, bukan skala.</a:t>
            </a:r>
          </a:p>
        </p:txBody>
      </p:sp>
      <p:sp>
        <p:nvSpPr>
          <p:cNvPr id="22" name="Rectangle 21"/>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Amlani &amp; Brizuela 2023</a:t>
            </a:r>
          </a:p>
        </p:txBody>
      </p:sp>
      <p:sp>
        <p:nvSpPr>
          <p:cNvPr id="24" name="TextBox 23"/>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SSC KONVENSIONAL</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Urutan sepuluh langkah menentukan adaptasi akhir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7</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a:t>
            </a:r>
          </a:p>
        </p:txBody>
      </p:sp>
      <p:sp>
        <p:nvSpPr>
          <p:cNvPr id="10" name="TextBox 9"/>
          <p:cNvSpPr txBox="1"/>
          <p:nvPr/>
        </p:nvSpPr>
        <p:spPr>
          <a:xfrm>
            <a:off x="111556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Anestesi dan isolasi</a:t>
            </a:r>
          </a:p>
        </p:txBody>
      </p:sp>
      <p:sp>
        <p:nvSpPr>
          <p:cNvPr id="11" name="Rounded Rectangle 10"/>
          <p:cNvSpPr/>
          <p:nvPr/>
        </p:nvSpPr>
        <p:spPr>
          <a:xfrm>
            <a:off x="56692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2</a:t>
            </a:r>
          </a:p>
        </p:txBody>
      </p:sp>
      <p:sp>
        <p:nvSpPr>
          <p:cNvPr id="13" name="TextBox 12"/>
          <p:cNvSpPr txBox="1"/>
          <p:nvPr/>
        </p:nvSpPr>
        <p:spPr>
          <a:xfrm>
            <a:off x="111556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Ukur dan pilih ukuran</a:t>
            </a:r>
          </a:p>
        </p:txBody>
      </p:sp>
      <p:sp>
        <p:nvSpPr>
          <p:cNvPr id="14" name="Rounded Rectangle 13"/>
          <p:cNvSpPr/>
          <p:nvPr/>
        </p:nvSpPr>
        <p:spPr>
          <a:xfrm>
            <a:off x="56692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3</a:t>
            </a:r>
          </a:p>
        </p:txBody>
      </p:sp>
      <p:sp>
        <p:nvSpPr>
          <p:cNvPr id="16" name="TextBox 15"/>
          <p:cNvSpPr txBox="1"/>
          <p:nvPr/>
        </p:nvSpPr>
        <p:spPr>
          <a:xfrm>
            <a:off x="111556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Ekskavasi dan pulp therapy</a:t>
            </a:r>
          </a:p>
        </p:txBody>
      </p:sp>
      <p:sp>
        <p:nvSpPr>
          <p:cNvPr id="17" name="Rounded Rectangle 16"/>
          <p:cNvSpPr/>
          <p:nvPr/>
        </p:nvSpPr>
        <p:spPr>
          <a:xfrm>
            <a:off x="56692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4</a:t>
            </a:r>
          </a:p>
        </p:txBody>
      </p:sp>
      <p:sp>
        <p:nvSpPr>
          <p:cNvPr id="19" name="TextBox 18"/>
          <p:cNvSpPr txBox="1"/>
          <p:nvPr/>
        </p:nvSpPr>
        <p:spPr>
          <a:xfrm>
            <a:off x="111556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oklusal</a:t>
            </a:r>
          </a:p>
        </p:txBody>
      </p:sp>
      <p:sp>
        <p:nvSpPr>
          <p:cNvPr id="20" name="Rounded Rectangle 19"/>
          <p:cNvSpPr/>
          <p:nvPr/>
        </p:nvSpPr>
        <p:spPr>
          <a:xfrm>
            <a:off x="56692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5</a:t>
            </a:r>
          </a:p>
        </p:txBody>
      </p:sp>
      <p:sp>
        <p:nvSpPr>
          <p:cNvPr id="22" name="TextBox 21"/>
          <p:cNvSpPr txBox="1"/>
          <p:nvPr/>
        </p:nvSpPr>
        <p:spPr>
          <a:xfrm>
            <a:off x="111556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Reduksi proksimal</a:t>
            </a:r>
          </a:p>
        </p:txBody>
      </p:sp>
      <p:sp>
        <p:nvSpPr>
          <p:cNvPr id="23" name="Rounded Rectangle 22"/>
          <p:cNvSpPr/>
          <p:nvPr/>
        </p:nvSpPr>
        <p:spPr>
          <a:xfrm>
            <a:off x="6099048" y="1783080"/>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81928" y="1929384"/>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6</a:t>
            </a:r>
          </a:p>
        </p:txBody>
      </p:sp>
      <p:sp>
        <p:nvSpPr>
          <p:cNvPr id="25" name="TextBox 24"/>
          <p:cNvSpPr txBox="1"/>
          <p:nvPr/>
        </p:nvSpPr>
        <p:spPr>
          <a:xfrm>
            <a:off x="6647688" y="1947672"/>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Haluskan line angle</a:t>
            </a:r>
          </a:p>
        </p:txBody>
      </p:sp>
      <p:sp>
        <p:nvSpPr>
          <p:cNvPr id="26" name="Rounded Rectangle 25"/>
          <p:cNvSpPr/>
          <p:nvPr/>
        </p:nvSpPr>
        <p:spPr>
          <a:xfrm>
            <a:off x="6099048" y="2532888"/>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1928" y="2679192"/>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7</a:t>
            </a:r>
          </a:p>
        </p:txBody>
      </p:sp>
      <p:sp>
        <p:nvSpPr>
          <p:cNvPr id="28" name="TextBox 27"/>
          <p:cNvSpPr txBox="1"/>
          <p:nvPr/>
        </p:nvSpPr>
        <p:spPr>
          <a:xfrm>
            <a:off x="6647688" y="2697480"/>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Try-in</a:t>
            </a:r>
          </a:p>
        </p:txBody>
      </p:sp>
      <p:sp>
        <p:nvSpPr>
          <p:cNvPr id="29" name="Rounded Rectangle 28"/>
          <p:cNvSpPr/>
          <p:nvPr/>
        </p:nvSpPr>
        <p:spPr>
          <a:xfrm>
            <a:off x="6099048" y="3282696"/>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81928" y="3429000"/>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8</a:t>
            </a:r>
          </a:p>
        </p:txBody>
      </p:sp>
      <p:sp>
        <p:nvSpPr>
          <p:cNvPr id="31" name="TextBox 30"/>
          <p:cNvSpPr txBox="1"/>
          <p:nvPr/>
        </p:nvSpPr>
        <p:spPr>
          <a:xfrm>
            <a:off x="6647688" y="3447288"/>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Trim, crimp, contour</a:t>
            </a:r>
          </a:p>
        </p:txBody>
      </p:sp>
      <p:sp>
        <p:nvSpPr>
          <p:cNvPr id="32" name="Rounded Rectangle 31"/>
          <p:cNvSpPr/>
          <p:nvPr/>
        </p:nvSpPr>
        <p:spPr>
          <a:xfrm>
            <a:off x="6099048" y="4032504"/>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4178808"/>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9</a:t>
            </a:r>
          </a:p>
        </p:txBody>
      </p:sp>
      <p:sp>
        <p:nvSpPr>
          <p:cNvPr id="34" name="TextBox 33"/>
          <p:cNvSpPr txBox="1"/>
          <p:nvPr/>
        </p:nvSpPr>
        <p:spPr>
          <a:xfrm>
            <a:off x="6647688" y="4197096"/>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Sementasi</a:t>
            </a:r>
          </a:p>
        </p:txBody>
      </p:sp>
      <p:sp>
        <p:nvSpPr>
          <p:cNvPr id="35" name="Rounded Rectangle 34"/>
          <p:cNvSpPr/>
          <p:nvPr/>
        </p:nvSpPr>
        <p:spPr>
          <a:xfrm>
            <a:off x="6099048" y="4782312"/>
            <a:ext cx="521208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81928" y="4928616"/>
            <a:ext cx="384048" cy="329184"/>
          </a:xfrm>
          <a:prstGeom prst="rect">
            <a:avLst/>
          </a:prstGeom>
          <a:noFill/>
        </p:spPr>
        <p:txBody>
          <a:bodyPr wrap="square" lIns="0" rIns="0" tIns="0" bIns="0" anchor="t">
            <a:spAutoFit/>
          </a:bodyPr>
          <a:lstStyle/>
          <a:p>
            <a:pPr algn="l">
              <a:lnSpc>
                <a:spcPct val="112000"/>
              </a:lnSpc>
              <a:spcAft>
                <a:spcPts val="0"/>
              </a:spcAft>
            </a:pPr>
            <a:r>
              <a:rPr sz="1400" b="1" i="0">
                <a:solidFill>
                  <a:srgbClr val="C65B45"/>
                </a:solidFill>
                <a:latin typeface="Calibri"/>
              </a:rPr>
              <a:t>10</a:t>
            </a:r>
          </a:p>
        </p:txBody>
      </p:sp>
      <p:sp>
        <p:nvSpPr>
          <p:cNvPr id="37" name="TextBox 36"/>
          <p:cNvSpPr txBox="1"/>
          <p:nvPr/>
        </p:nvSpPr>
        <p:spPr>
          <a:xfrm>
            <a:off x="6647688" y="4946903"/>
            <a:ext cx="4480560" cy="310896"/>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Cek akhir dan instruksi</a:t>
            </a:r>
          </a:p>
        </p:txBody>
      </p:sp>
      <p:sp>
        <p:nvSpPr>
          <p:cNvPr id="38" name="TextBox 37"/>
          <p:cNvSpPr txBox="1"/>
          <p:nvPr/>
        </p:nvSpPr>
        <p:spPr>
          <a:xfrm>
            <a:off x="566928" y="5623560"/>
            <a:ext cx="1088136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Rincian tujuan, cara, instrumen, kesalahan, dan tanda benar ada di versi HTML dan protokol_klinis.md.</a:t>
            </a:r>
          </a:p>
        </p:txBody>
      </p:sp>
      <p:sp>
        <p:nvSpPr>
          <p:cNvPr id="39" name="Rectangle 3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AAPD VPT 2024; AAPD 2023 anestesi</a:t>
            </a:r>
          </a:p>
        </p:txBody>
      </p:sp>
      <p:sp>
        <p:nvSpPr>
          <p:cNvPr id="41" name="TextBox 4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HALL TECHNIQUE</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Hall menutup karies tanpa anestesi dan tanpa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8</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737360"/>
            <a:ext cx="365760" cy="320040"/>
          </a:xfrm>
          <a:prstGeom prst="rect">
            <a:avLst/>
          </a:prstGeom>
          <a:noFill/>
        </p:spPr>
        <p:txBody>
          <a:bodyPr wrap="square" lIns="0" rIns="0" tIns="0" bIns="0" anchor="t">
            <a:spAutoFit/>
          </a:bodyPr>
          <a:lstStyle/>
          <a:p>
            <a:pPr algn="l">
              <a:lnSpc>
                <a:spcPct val="112000"/>
              </a:lnSpc>
              <a:spcAft>
                <a:spcPts val="0"/>
              </a:spcAft>
            </a:pPr>
            <a:r>
              <a:rPr sz="1500" b="0" i="0">
                <a:solidFill>
                  <a:srgbClr val="C65B45"/>
                </a:solidFill>
                <a:latin typeface="Georgia"/>
              </a:rPr>
              <a:t>1</a:t>
            </a:r>
          </a:p>
        </p:txBody>
      </p:sp>
      <p:sp>
        <p:nvSpPr>
          <p:cNvPr id="9" name="TextBox 8"/>
          <p:cNvSpPr txBox="1"/>
          <p:nvPr/>
        </p:nvSpPr>
        <p:spPr>
          <a:xfrm>
            <a:off x="914400" y="1737360"/>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Nilai dan radiograf</a:t>
            </a:r>
          </a:p>
        </p:txBody>
      </p:sp>
      <p:sp>
        <p:nvSpPr>
          <p:cNvPr id="10" name="TextBox 9"/>
          <p:cNvSpPr txBox="1"/>
          <p:nvPr/>
        </p:nvSpPr>
        <p:spPr>
          <a:xfrm>
            <a:off x="914400" y="2029967"/>
            <a:ext cx="5029200" cy="365760"/>
          </a:xfrm>
          <a:prstGeom prst="rect">
            <a:avLst/>
          </a:prstGeom>
          <a:noFill/>
        </p:spPr>
        <p:txBody>
          <a:bodyPr wrap="square" lIns="0" rIns="0" tIns="0" bIns="0" anchor="t">
            <a:spAutoFit/>
          </a:bodyPr>
          <a:lstStyle/>
          <a:p>
            <a:pPr algn="l">
              <a:lnSpc>
                <a:spcPct val="112000"/>
              </a:lnSpc>
              <a:spcAft>
                <a:spcPts val="0"/>
              </a:spcAft>
            </a:pPr>
            <a:r>
              <a:rPr sz="980" b="0" i="0">
                <a:solidFill>
                  <a:srgbClr val="47646C"/>
                </a:solidFill>
                <a:latin typeface="Calibri"/>
              </a:rPr>
              <a:t>Vital, dentine bridge jelas. Karies tidak dibuang.</a:t>
            </a:r>
          </a:p>
        </p:txBody>
      </p:sp>
      <p:sp>
        <p:nvSpPr>
          <p:cNvPr id="11" name="Rectangle 10"/>
          <p:cNvSpPr/>
          <p:nvPr/>
        </p:nvSpPr>
        <p:spPr>
          <a:xfrm>
            <a:off x="566928" y="2487168"/>
            <a:ext cx="539496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60320"/>
            <a:ext cx="365760" cy="320040"/>
          </a:xfrm>
          <a:prstGeom prst="rect">
            <a:avLst/>
          </a:prstGeom>
          <a:noFill/>
        </p:spPr>
        <p:txBody>
          <a:bodyPr wrap="square" lIns="0" rIns="0" tIns="0" bIns="0" anchor="t">
            <a:spAutoFit/>
          </a:bodyPr>
          <a:lstStyle/>
          <a:p>
            <a:pPr algn="l">
              <a:lnSpc>
                <a:spcPct val="112000"/>
              </a:lnSpc>
              <a:spcAft>
                <a:spcPts val="0"/>
              </a:spcAft>
            </a:pPr>
            <a:r>
              <a:rPr sz="1500" b="0" i="0">
                <a:solidFill>
                  <a:srgbClr val="C65B45"/>
                </a:solidFill>
                <a:latin typeface="Georgia"/>
              </a:rPr>
              <a:t>2</a:t>
            </a:r>
          </a:p>
        </p:txBody>
      </p:sp>
      <p:sp>
        <p:nvSpPr>
          <p:cNvPr id="13" name="TextBox 12"/>
          <p:cNvSpPr txBox="1"/>
          <p:nvPr/>
        </p:nvSpPr>
        <p:spPr>
          <a:xfrm>
            <a:off x="914400" y="2560320"/>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Separator bila kontak ketat</a:t>
            </a:r>
          </a:p>
        </p:txBody>
      </p:sp>
      <p:sp>
        <p:nvSpPr>
          <p:cNvPr id="14" name="TextBox 13"/>
          <p:cNvSpPr txBox="1"/>
          <p:nvPr/>
        </p:nvSpPr>
        <p:spPr>
          <a:xfrm>
            <a:off x="914400" y="2852927"/>
            <a:ext cx="5029200" cy="365760"/>
          </a:xfrm>
          <a:prstGeom prst="rect">
            <a:avLst/>
          </a:prstGeom>
          <a:noFill/>
        </p:spPr>
        <p:txBody>
          <a:bodyPr wrap="square" lIns="0" rIns="0" tIns="0" bIns="0" anchor="t">
            <a:spAutoFit/>
          </a:bodyPr>
          <a:lstStyle/>
          <a:p>
            <a:pPr algn="l">
              <a:lnSpc>
                <a:spcPct val="112000"/>
              </a:lnSpc>
              <a:spcAft>
                <a:spcPts val="0"/>
              </a:spcAft>
            </a:pPr>
            <a:r>
              <a:rPr sz="980" b="0" i="0">
                <a:solidFill>
                  <a:srgbClr val="47646C"/>
                </a:solidFill>
                <a:latin typeface="Calibri"/>
              </a:rPr>
              <a:t>Mesial dan distal, 3–5 hari.</a:t>
            </a:r>
          </a:p>
        </p:txBody>
      </p:sp>
      <p:sp>
        <p:nvSpPr>
          <p:cNvPr id="15" name="Rectangle 14"/>
          <p:cNvSpPr/>
          <p:nvPr/>
        </p:nvSpPr>
        <p:spPr>
          <a:xfrm>
            <a:off x="566928" y="3310127"/>
            <a:ext cx="539496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3383280"/>
            <a:ext cx="365760" cy="320040"/>
          </a:xfrm>
          <a:prstGeom prst="rect">
            <a:avLst/>
          </a:prstGeom>
          <a:noFill/>
        </p:spPr>
        <p:txBody>
          <a:bodyPr wrap="square" lIns="0" rIns="0" tIns="0" bIns="0" anchor="t">
            <a:spAutoFit/>
          </a:bodyPr>
          <a:lstStyle/>
          <a:p>
            <a:pPr algn="l">
              <a:lnSpc>
                <a:spcPct val="112000"/>
              </a:lnSpc>
              <a:spcAft>
                <a:spcPts val="0"/>
              </a:spcAft>
            </a:pPr>
            <a:r>
              <a:rPr sz="1500" b="0" i="0">
                <a:solidFill>
                  <a:srgbClr val="C65B45"/>
                </a:solidFill>
                <a:latin typeface="Georgia"/>
              </a:rPr>
              <a:t>3</a:t>
            </a:r>
          </a:p>
        </p:txBody>
      </p:sp>
      <p:sp>
        <p:nvSpPr>
          <p:cNvPr id="17" name="TextBox 16"/>
          <p:cNvSpPr txBox="1"/>
          <p:nvPr/>
        </p:nvSpPr>
        <p:spPr>
          <a:xfrm>
            <a:off x="914400" y="3383280"/>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Pilih crown</a:t>
            </a:r>
          </a:p>
        </p:txBody>
      </p:sp>
      <p:sp>
        <p:nvSpPr>
          <p:cNvPr id="18" name="TextBox 17"/>
          <p:cNvSpPr txBox="1"/>
          <p:nvPr/>
        </p:nvSpPr>
        <p:spPr>
          <a:xfrm>
            <a:off x="914400" y="3675888"/>
            <a:ext cx="5029200" cy="365760"/>
          </a:xfrm>
          <a:prstGeom prst="rect">
            <a:avLst/>
          </a:prstGeom>
          <a:noFill/>
        </p:spPr>
        <p:txBody>
          <a:bodyPr wrap="square" lIns="0" rIns="0" tIns="0" bIns="0" anchor="t">
            <a:spAutoFit/>
          </a:bodyPr>
          <a:lstStyle/>
          <a:p>
            <a:pPr algn="l">
              <a:lnSpc>
                <a:spcPct val="112000"/>
              </a:lnSpc>
              <a:spcAft>
                <a:spcPts val="0"/>
              </a:spcAft>
            </a:pPr>
            <a:r>
              <a:rPr sz="980" b="0" i="0">
                <a:solidFill>
                  <a:srgbClr val="47646C"/>
                </a:solidFill>
                <a:latin typeface="Calibri"/>
              </a:rPr>
              <a:t>Terkecil, menutup seluruh gigi, spring-back.</a:t>
            </a:r>
          </a:p>
        </p:txBody>
      </p:sp>
      <p:sp>
        <p:nvSpPr>
          <p:cNvPr id="19" name="Rectangle 18"/>
          <p:cNvSpPr/>
          <p:nvPr/>
        </p:nvSpPr>
        <p:spPr>
          <a:xfrm>
            <a:off x="566928" y="4133088"/>
            <a:ext cx="539496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4206240"/>
            <a:ext cx="365760" cy="320040"/>
          </a:xfrm>
          <a:prstGeom prst="rect">
            <a:avLst/>
          </a:prstGeom>
          <a:noFill/>
        </p:spPr>
        <p:txBody>
          <a:bodyPr wrap="square" lIns="0" rIns="0" tIns="0" bIns="0" anchor="t">
            <a:spAutoFit/>
          </a:bodyPr>
          <a:lstStyle/>
          <a:p>
            <a:pPr algn="l">
              <a:lnSpc>
                <a:spcPct val="112000"/>
              </a:lnSpc>
              <a:spcAft>
                <a:spcPts val="0"/>
              </a:spcAft>
            </a:pPr>
            <a:r>
              <a:rPr sz="1500" b="0" i="0">
                <a:solidFill>
                  <a:srgbClr val="C65B45"/>
                </a:solidFill>
                <a:latin typeface="Georgia"/>
              </a:rPr>
              <a:t>4</a:t>
            </a:r>
          </a:p>
        </p:txBody>
      </p:sp>
      <p:sp>
        <p:nvSpPr>
          <p:cNvPr id="21" name="TextBox 20"/>
          <p:cNvSpPr txBox="1"/>
          <p:nvPr/>
        </p:nvSpPr>
        <p:spPr>
          <a:xfrm>
            <a:off x="914400" y="4206240"/>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Isi semen dua pertiga</a:t>
            </a:r>
          </a:p>
        </p:txBody>
      </p:sp>
      <p:sp>
        <p:nvSpPr>
          <p:cNvPr id="22" name="TextBox 21"/>
          <p:cNvSpPr txBox="1"/>
          <p:nvPr/>
        </p:nvSpPr>
        <p:spPr>
          <a:xfrm>
            <a:off x="914400" y="4498848"/>
            <a:ext cx="5029200" cy="365760"/>
          </a:xfrm>
          <a:prstGeom prst="rect">
            <a:avLst/>
          </a:prstGeom>
          <a:noFill/>
        </p:spPr>
        <p:txBody>
          <a:bodyPr wrap="square" lIns="0" rIns="0" tIns="0" bIns="0" anchor="t">
            <a:spAutoFit/>
          </a:bodyPr>
          <a:lstStyle/>
          <a:p>
            <a:pPr algn="l">
              <a:lnSpc>
                <a:spcPct val="112000"/>
              </a:lnSpc>
              <a:spcAft>
                <a:spcPts val="0"/>
              </a:spcAft>
            </a:pPr>
            <a:r>
              <a:rPr sz="980" b="0" i="0">
                <a:solidFill>
                  <a:srgbClr val="47646C"/>
                </a:solidFill>
                <a:latin typeface="Calibri"/>
              </a:rPr>
              <a:t>GIC atau RMGIC, semua dinding terlapisi.</a:t>
            </a:r>
          </a:p>
        </p:txBody>
      </p:sp>
      <p:sp>
        <p:nvSpPr>
          <p:cNvPr id="23" name="Rectangle 22"/>
          <p:cNvSpPr/>
          <p:nvPr/>
        </p:nvSpPr>
        <p:spPr>
          <a:xfrm>
            <a:off x="566928" y="4956048"/>
            <a:ext cx="539496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5029200"/>
            <a:ext cx="365760" cy="320040"/>
          </a:xfrm>
          <a:prstGeom prst="rect">
            <a:avLst/>
          </a:prstGeom>
          <a:noFill/>
        </p:spPr>
        <p:txBody>
          <a:bodyPr wrap="square" lIns="0" rIns="0" tIns="0" bIns="0" anchor="t">
            <a:spAutoFit/>
          </a:bodyPr>
          <a:lstStyle/>
          <a:p>
            <a:pPr algn="l">
              <a:lnSpc>
                <a:spcPct val="112000"/>
              </a:lnSpc>
              <a:spcAft>
                <a:spcPts val="0"/>
              </a:spcAft>
            </a:pPr>
            <a:r>
              <a:rPr sz="1500" b="0" i="0">
                <a:solidFill>
                  <a:srgbClr val="C65B45"/>
                </a:solidFill>
                <a:latin typeface="Georgia"/>
              </a:rPr>
              <a:t>5</a:t>
            </a:r>
          </a:p>
        </p:txBody>
      </p:sp>
      <p:sp>
        <p:nvSpPr>
          <p:cNvPr id="25" name="TextBox 24"/>
          <p:cNvSpPr txBox="1"/>
          <p:nvPr/>
        </p:nvSpPr>
        <p:spPr>
          <a:xfrm>
            <a:off x="914400" y="5029200"/>
            <a:ext cx="502920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Seating dan bite</a:t>
            </a:r>
          </a:p>
        </p:txBody>
      </p:sp>
      <p:sp>
        <p:nvSpPr>
          <p:cNvPr id="26" name="TextBox 25"/>
          <p:cNvSpPr txBox="1"/>
          <p:nvPr/>
        </p:nvSpPr>
        <p:spPr>
          <a:xfrm>
            <a:off x="914400" y="5321808"/>
            <a:ext cx="5029200" cy="365760"/>
          </a:xfrm>
          <a:prstGeom prst="rect">
            <a:avLst/>
          </a:prstGeom>
          <a:noFill/>
        </p:spPr>
        <p:txBody>
          <a:bodyPr wrap="square" lIns="0" rIns="0" tIns="0" bIns="0" anchor="t">
            <a:spAutoFit/>
          </a:bodyPr>
          <a:lstStyle/>
          <a:p>
            <a:pPr algn="l">
              <a:lnSpc>
                <a:spcPct val="112000"/>
              </a:lnSpc>
              <a:spcAft>
                <a:spcPts val="0"/>
              </a:spcAft>
            </a:pPr>
            <a:r>
              <a:rPr sz="980" b="0" i="0">
                <a:solidFill>
                  <a:srgbClr val="47646C"/>
                </a:solidFill>
                <a:latin typeface="Calibri"/>
              </a:rPr>
              <a:t>Lindungi airway, gigit 2–3 menit.</a:t>
            </a:r>
          </a:p>
        </p:txBody>
      </p:sp>
      <p:sp>
        <p:nvSpPr>
          <p:cNvPr id="27" name="Rectangle 26"/>
          <p:cNvSpPr/>
          <p:nvPr/>
        </p:nvSpPr>
        <p:spPr>
          <a:xfrm>
            <a:off x="566928" y="5779008"/>
            <a:ext cx="5394960"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66928" y="5532120"/>
            <a:ext cx="5394960" cy="566928"/>
          </a:xfrm>
          <a:prstGeom prst="roundRect">
            <a:avLst>
              <a:gd name="adj" fmla="val 9000"/>
            </a:avLst>
          </a:prstGeom>
          <a:solidFill>
            <a:srgbClr val="F7F0E0"/>
          </a:solidFill>
          <a:ln w="12700">
            <a:solidFill>
              <a:srgbClr val="E8D9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4944" y="5614416"/>
            <a:ext cx="5120640" cy="411480"/>
          </a:xfrm>
          <a:prstGeom prst="rect">
            <a:avLst/>
          </a:prstGeom>
          <a:noFill/>
        </p:spPr>
        <p:txBody>
          <a:bodyPr wrap="square" lIns="0" rIns="0" tIns="0" bIns="0" anchor="t">
            <a:spAutoFit/>
          </a:bodyPr>
          <a:lstStyle/>
          <a:p>
            <a:pPr algn="l">
              <a:lnSpc>
                <a:spcPct val="112000"/>
              </a:lnSpc>
              <a:spcAft>
                <a:spcPts val="0"/>
              </a:spcAft>
            </a:pPr>
            <a:r>
              <a:rPr sz="880" b="0" i="0">
                <a:solidFill>
                  <a:srgbClr val="6B5A3E"/>
                </a:solidFill>
                <a:latin typeface="Calibri"/>
              </a:rPr>
              <a:t>Batas Hall: bukan untuk pulpitis ireversibel, abses, fistula, atau tanpa dentine bridge.</a:t>
            </a:r>
          </a:p>
        </p:txBody>
      </p:sp>
      <p:pic>
        <p:nvPicPr>
          <p:cNvPr id="30" name="Picture 29" descr="fig-hall.jpg"/>
          <p:cNvPicPr>
            <a:picLocks noChangeAspect="1"/>
          </p:cNvPicPr>
          <p:nvPr/>
        </p:nvPicPr>
        <p:blipFill>
          <a:blip r:embed="rId2"/>
          <a:stretch>
            <a:fillRect/>
          </a:stretch>
        </p:blipFill>
        <p:spPr>
          <a:xfrm>
            <a:off x="5989320" y="1828800"/>
            <a:ext cx="5577840" cy="3546934"/>
          </a:xfrm>
          <a:prstGeom prst="rect">
            <a:avLst/>
          </a:prstGeom>
        </p:spPr>
      </p:pic>
      <p:sp>
        <p:nvSpPr>
          <p:cNvPr id="31" name="TextBox 30"/>
          <p:cNvSpPr txBox="1"/>
          <p:nvPr/>
        </p:nvSpPr>
        <p:spPr>
          <a:xfrm>
            <a:off x="5989320" y="5448886"/>
            <a:ext cx="557784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Karies tetap di tempatnya, tertutup dari substrat oral.</a:t>
            </a:r>
          </a:p>
        </p:txBody>
      </p:sp>
      <p:sp>
        <p:nvSpPr>
          <p:cNvPr id="32" name="Rectangle 31"/>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Innes 2007; Hall Technique Guide 2015; SDCEP 2025</a:t>
            </a:r>
          </a:p>
        </p:txBody>
      </p:sp>
      <p:sp>
        <p:nvSpPr>
          <p:cNvPr id="34" name="TextBox 33"/>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DUA TEKNIK</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Hall lebih cepat, konvensional lebih terkontrol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9</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303520" cy="36576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1874519"/>
            <a:ext cx="4754880" cy="365760"/>
          </a:xfrm>
          <a:prstGeom prst="rect">
            <a:avLst/>
          </a:prstGeom>
          <a:noFill/>
        </p:spPr>
        <p:txBody>
          <a:bodyPr wrap="square" lIns="0" rIns="0" tIns="0" bIns="0" anchor="t">
            <a:spAutoFit/>
          </a:bodyPr>
          <a:lstStyle/>
          <a:p>
            <a:pPr algn="l">
              <a:lnSpc>
                <a:spcPct val="112000"/>
              </a:lnSpc>
              <a:spcAft>
                <a:spcPts val="0"/>
              </a:spcAft>
            </a:pPr>
            <a:r>
              <a:rPr sz="1600" b="0" i="0">
                <a:solidFill>
                  <a:srgbClr val="15323A"/>
                </a:solidFill>
                <a:latin typeface="Georgia"/>
              </a:rPr>
              <a:t>SSC konvensional</a:t>
            </a:r>
          </a:p>
        </p:txBody>
      </p:sp>
      <p:sp>
        <p:nvSpPr>
          <p:cNvPr id="10" name="TextBox 9"/>
          <p:cNvSpPr txBox="1"/>
          <p:nvPr/>
        </p:nvSpPr>
        <p:spPr>
          <a:xfrm>
            <a:off x="786384" y="2286000"/>
            <a:ext cx="4754880" cy="274320"/>
          </a:xfrm>
          <a:prstGeom prst="rect">
            <a:avLst/>
          </a:prstGeom>
          <a:noFill/>
        </p:spPr>
        <p:txBody>
          <a:bodyPr wrap="square" lIns="0" rIns="0" tIns="0" bIns="0" anchor="t">
            <a:spAutoFit/>
          </a:bodyPr>
          <a:lstStyle/>
          <a:p>
            <a:pPr algn="l">
              <a:lnSpc>
                <a:spcPct val="112000"/>
              </a:lnSpc>
              <a:spcAft>
                <a:spcPts val="0"/>
              </a:spcAft>
            </a:pPr>
            <a:r>
              <a:rPr sz="950" b="0" i="0">
                <a:solidFill>
                  <a:srgbClr val="7D8F93"/>
                </a:solidFill>
                <a:latin typeface="Calibri"/>
              </a:rPr>
              <a:t>Anestesi, preparasi, ekskavasi</a:t>
            </a:r>
          </a:p>
        </p:txBody>
      </p:sp>
      <p:sp>
        <p:nvSpPr>
          <p:cNvPr id="11" name="TextBox 10"/>
          <p:cNvSpPr txBox="1"/>
          <p:nvPr/>
        </p:nvSpPr>
        <p:spPr>
          <a:xfrm>
            <a:off x="786384" y="2697480"/>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WAKTU KURSI</a:t>
            </a:r>
          </a:p>
        </p:txBody>
      </p:sp>
      <p:sp>
        <p:nvSpPr>
          <p:cNvPr id="12" name="TextBox 11"/>
          <p:cNvSpPr txBox="1"/>
          <p:nvPr/>
        </p:nvSpPr>
        <p:spPr>
          <a:xfrm>
            <a:off x="2350008" y="2660904"/>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17,4 ± 2,9 menit</a:t>
            </a:r>
          </a:p>
        </p:txBody>
      </p:sp>
      <p:sp>
        <p:nvSpPr>
          <p:cNvPr id="13" name="TextBox 12"/>
          <p:cNvSpPr txBox="1"/>
          <p:nvPr/>
        </p:nvSpPr>
        <p:spPr>
          <a:xfrm>
            <a:off x="786384" y="3227832"/>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ANESTESI</a:t>
            </a:r>
          </a:p>
        </p:txBody>
      </p:sp>
      <p:sp>
        <p:nvSpPr>
          <p:cNvPr id="14" name="TextBox 13"/>
          <p:cNvSpPr txBox="1"/>
          <p:nvPr/>
        </p:nvSpPr>
        <p:spPr>
          <a:xfrm>
            <a:off x="2350008" y="3191256"/>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Ya</a:t>
            </a:r>
          </a:p>
        </p:txBody>
      </p:sp>
      <p:sp>
        <p:nvSpPr>
          <p:cNvPr id="15" name="TextBox 14"/>
          <p:cNvSpPr txBox="1"/>
          <p:nvPr/>
        </p:nvSpPr>
        <p:spPr>
          <a:xfrm>
            <a:off x="786384" y="3758184"/>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PREPARASI</a:t>
            </a:r>
          </a:p>
        </p:txBody>
      </p:sp>
      <p:sp>
        <p:nvSpPr>
          <p:cNvPr id="16" name="TextBox 15"/>
          <p:cNvSpPr txBox="1"/>
          <p:nvPr/>
        </p:nvSpPr>
        <p:spPr>
          <a:xfrm>
            <a:off x="2350008" y="3721608"/>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Ya</a:t>
            </a:r>
          </a:p>
        </p:txBody>
      </p:sp>
      <p:sp>
        <p:nvSpPr>
          <p:cNvPr id="17" name="TextBox 16"/>
          <p:cNvSpPr txBox="1"/>
          <p:nvPr/>
        </p:nvSpPr>
        <p:spPr>
          <a:xfrm>
            <a:off x="786384" y="4288536"/>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KARIES</a:t>
            </a:r>
          </a:p>
        </p:txBody>
      </p:sp>
      <p:sp>
        <p:nvSpPr>
          <p:cNvPr id="18" name="TextBox 17"/>
          <p:cNvSpPr txBox="1"/>
          <p:nvPr/>
        </p:nvSpPr>
        <p:spPr>
          <a:xfrm>
            <a:off x="2350008" y="4251959"/>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Dibuang</a:t>
            </a:r>
          </a:p>
        </p:txBody>
      </p:sp>
      <p:sp>
        <p:nvSpPr>
          <p:cNvPr id="19" name="Rounded Rectangle 18"/>
          <p:cNvSpPr/>
          <p:nvPr/>
        </p:nvSpPr>
        <p:spPr>
          <a:xfrm>
            <a:off x="786384" y="4846320"/>
            <a:ext cx="4389120" cy="146304"/>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86384" y="4846320"/>
            <a:ext cx="4389120" cy="146304"/>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074920"/>
            <a:ext cx="4754880" cy="27432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Waktu prosedur (Mohamed 2026)</a:t>
            </a:r>
          </a:p>
        </p:txBody>
      </p:sp>
      <p:sp>
        <p:nvSpPr>
          <p:cNvPr id="22" name="Rounded Rectangle 21"/>
          <p:cNvSpPr/>
          <p:nvPr/>
        </p:nvSpPr>
        <p:spPr>
          <a:xfrm>
            <a:off x="6144768" y="1737360"/>
            <a:ext cx="5303520" cy="365760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64224" y="1874519"/>
            <a:ext cx="4754880" cy="365760"/>
          </a:xfrm>
          <a:prstGeom prst="rect">
            <a:avLst/>
          </a:prstGeom>
          <a:noFill/>
        </p:spPr>
        <p:txBody>
          <a:bodyPr wrap="square" lIns="0" rIns="0" tIns="0" bIns="0" anchor="t">
            <a:spAutoFit/>
          </a:bodyPr>
          <a:lstStyle/>
          <a:p>
            <a:pPr algn="l">
              <a:lnSpc>
                <a:spcPct val="112000"/>
              </a:lnSpc>
              <a:spcAft>
                <a:spcPts val="0"/>
              </a:spcAft>
            </a:pPr>
            <a:r>
              <a:rPr sz="1600" b="0" i="0">
                <a:solidFill>
                  <a:srgbClr val="15323A"/>
                </a:solidFill>
                <a:latin typeface="Georgia"/>
              </a:rPr>
              <a:t>Hall Technique</a:t>
            </a:r>
          </a:p>
        </p:txBody>
      </p:sp>
      <p:sp>
        <p:nvSpPr>
          <p:cNvPr id="24" name="TextBox 23"/>
          <p:cNvSpPr txBox="1"/>
          <p:nvPr/>
        </p:nvSpPr>
        <p:spPr>
          <a:xfrm>
            <a:off x="6364224" y="2286000"/>
            <a:ext cx="4754880" cy="274320"/>
          </a:xfrm>
          <a:prstGeom prst="rect">
            <a:avLst/>
          </a:prstGeom>
          <a:noFill/>
        </p:spPr>
        <p:txBody>
          <a:bodyPr wrap="square" lIns="0" rIns="0" tIns="0" bIns="0" anchor="t">
            <a:spAutoFit/>
          </a:bodyPr>
          <a:lstStyle/>
          <a:p>
            <a:pPr algn="l">
              <a:lnSpc>
                <a:spcPct val="112000"/>
              </a:lnSpc>
              <a:spcAft>
                <a:spcPts val="0"/>
              </a:spcAft>
            </a:pPr>
            <a:r>
              <a:rPr sz="950" b="0" i="0">
                <a:solidFill>
                  <a:srgbClr val="7D8F93"/>
                </a:solidFill>
                <a:latin typeface="Calibri"/>
              </a:rPr>
              <a:t>Tanpa anestesi, tanpa preparasi</a:t>
            </a:r>
          </a:p>
        </p:txBody>
      </p:sp>
      <p:sp>
        <p:nvSpPr>
          <p:cNvPr id="25" name="TextBox 24"/>
          <p:cNvSpPr txBox="1"/>
          <p:nvPr/>
        </p:nvSpPr>
        <p:spPr>
          <a:xfrm>
            <a:off x="6364224" y="2697480"/>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WAKTU KURSI</a:t>
            </a:r>
          </a:p>
        </p:txBody>
      </p:sp>
      <p:sp>
        <p:nvSpPr>
          <p:cNvPr id="26" name="TextBox 25"/>
          <p:cNvSpPr txBox="1"/>
          <p:nvPr/>
        </p:nvSpPr>
        <p:spPr>
          <a:xfrm>
            <a:off x="7927848" y="2660904"/>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7,1 ± 2,8 menit</a:t>
            </a:r>
          </a:p>
        </p:txBody>
      </p:sp>
      <p:sp>
        <p:nvSpPr>
          <p:cNvPr id="27" name="TextBox 26"/>
          <p:cNvSpPr txBox="1"/>
          <p:nvPr/>
        </p:nvSpPr>
        <p:spPr>
          <a:xfrm>
            <a:off x="6364224" y="3227832"/>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ANESTESI</a:t>
            </a:r>
          </a:p>
        </p:txBody>
      </p:sp>
      <p:sp>
        <p:nvSpPr>
          <p:cNvPr id="28" name="TextBox 27"/>
          <p:cNvSpPr txBox="1"/>
          <p:nvPr/>
        </p:nvSpPr>
        <p:spPr>
          <a:xfrm>
            <a:off x="7927848" y="3191256"/>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Tidak</a:t>
            </a:r>
          </a:p>
        </p:txBody>
      </p:sp>
      <p:sp>
        <p:nvSpPr>
          <p:cNvPr id="29" name="TextBox 28"/>
          <p:cNvSpPr txBox="1"/>
          <p:nvPr/>
        </p:nvSpPr>
        <p:spPr>
          <a:xfrm>
            <a:off x="6364224" y="3758184"/>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PREPARASI</a:t>
            </a:r>
          </a:p>
        </p:txBody>
      </p:sp>
      <p:sp>
        <p:nvSpPr>
          <p:cNvPr id="30" name="TextBox 29"/>
          <p:cNvSpPr txBox="1"/>
          <p:nvPr/>
        </p:nvSpPr>
        <p:spPr>
          <a:xfrm>
            <a:off x="7927848" y="3721608"/>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Tidak</a:t>
            </a:r>
          </a:p>
        </p:txBody>
      </p:sp>
      <p:sp>
        <p:nvSpPr>
          <p:cNvPr id="31" name="TextBox 30"/>
          <p:cNvSpPr txBox="1"/>
          <p:nvPr/>
        </p:nvSpPr>
        <p:spPr>
          <a:xfrm>
            <a:off x="6364224" y="4288536"/>
            <a:ext cx="1554480" cy="274320"/>
          </a:xfrm>
          <a:prstGeom prst="rect">
            <a:avLst/>
          </a:prstGeom>
          <a:noFill/>
        </p:spPr>
        <p:txBody>
          <a:bodyPr wrap="square" lIns="0" rIns="0" tIns="0" bIns="0" anchor="t">
            <a:spAutoFit/>
          </a:bodyPr>
          <a:lstStyle/>
          <a:p>
            <a:pPr algn="l">
              <a:lnSpc>
                <a:spcPct val="112000"/>
              </a:lnSpc>
              <a:spcAft>
                <a:spcPts val="0"/>
              </a:spcAft>
            </a:pPr>
            <a:r>
              <a:rPr sz="800" b="1" i="0">
                <a:solidFill>
                  <a:srgbClr val="7D8F93"/>
                </a:solidFill>
                <a:latin typeface="Calibri"/>
              </a:rPr>
              <a:t>KARIES</a:t>
            </a:r>
          </a:p>
        </p:txBody>
      </p:sp>
      <p:sp>
        <p:nvSpPr>
          <p:cNvPr id="32" name="TextBox 31"/>
          <p:cNvSpPr txBox="1"/>
          <p:nvPr/>
        </p:nvSpPr>
        <p:spPr>
          <a:xfrm>
            <a:off x="7927848" y="4251959"/>
            <a:ext cx="3291840" cy="329184"/>
          </a:xfrm>
          <a:prstGeom prst="rect">
            <a:avLst/>
          </a:prstGeom>
          <a:noFill/>
        </p:spPr>
        <p:txBody>
          <a:bodyPr wrap="square" lIns="0" rIns="0" tIns="0" bIns="0" anchor="t">
            <a:spAutoFit/>
          </a:bodyPr>
          <a:lstStyle/>
          <a:p>
            <a:pPr algn="l">
              <a:lnSpc>
                <a:spcPct val="112000"/>
              </a:lnSpc>
              <a:spcAft>
                <a:spcPts val="0"/>
              </a:spcAft>
            </a:pPr>
            <a:r>
              <a:rPr sz="1200" b="0" i="0">
                <a:solidFill>
                  <a:srgbClr val="15323A"/>
                </a:solidFill>
                <a:latin typeface="Calibri"/>
              </a:rPr>
              <a:t>Disegel</a:t>
            </a:r>
          </a:p>
        </p:txBody>
      </p:sp>
      <p:sp>
        <p:nvSpPr>
          <p:cNvPr id="33" name="Rounded Rectangle 32"/>
          <p:cNvSpPr/>
          <p:nvPr/>
        </p:nvSpPr>
        <p:spPr>
          <a:xfrm>
            <a:off x="6364224" y="4846320"/>
            <a:ext cx="4389120" cy="146304"/>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364224" y="4846320"/>
            <a:ext cx="1790962" cy="146304"/>
          </a:xfrm>
          <a:prstGeom prst="roundRect">
            <a:avLst>
              <a:gd name="adj" fmla="val 50000"/>
            </a:avLst>
          </a:prstGeom>
          <a:solidFill>
            <a:srgbClr val="BD9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64224" y="5074920"/>
            <a:ext cx="4754880" cy="27432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Waktu prosedur (Mohamed 2026)</a:t>
            </a:r>
          </a:p>
        </p:txBody>
      </p:sp>
      <p:sp>
        <p:nvSpPr>
          <p:cNvPr id="36" name="TextBox 35"/>
          <p:cNvSpPr txBox="1"/>
          <p:nvPr/>
        </p:nvSpPr>
        <p:spPr>
          <a:xfrm>
            <a:off x="566928" y="5596128"/>
            <a:ext cx="1088136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Tidak ada RCT yang membandingkan Hall dengan SSC konvensional (Cochrane 2015). Penerimaan anak dan orang tua lebih baik pada Hall (Innes 2007).</a:t>
            </a:r>
          </a:p>
        </p:txBody>
      </p:sp>
      <p:sp>
        <p:nvSpPr>
          <p:cNvPr id="37" name="Rectangle 36"/>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Mohamed 2026; Innes 2007; Innes 2015 Cochrane</a:t>
            </a:r>
          </a:p>
        </p:txBody>
      </p:sp>
      <p:sp>
        <p:nvSpPr>
          <p:cNvPr id="39" name="TextBox 38"/>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PENYULIT</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Penyulit SSC bisa dicegah di langkah preparasi</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10</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longgar</a:t>
            </a:r>
          </a:p>
        </p:txBody>
      </p:sp>
      <p:sp>
        <p:nvSpPr>
          <p:cNvPr id="10" name="TextBox 9"/>
          <p:cNvSpPr txBox="1"/>
          <p:nvPr/>
        </p:nvSpPr>
        <p:spPr>
          <a:xfrm>
            <a:off x="73152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Ukuran terlalu besar atau crimping kurang.</a:t>
            </a:r>
          </a:p>
        </p:txBody>
      </p:sp>
      <p:sp>
        <p:nvSpPr>
          <p:cNvPr id="11" name="Rounded Rectangle 10"/>
          <p:cNvSpPr/>
          <p:nvPr/>
        </p:nvSpPr>
        <p:spPr>
          <a:xfrm>
            <a:off x="4270248"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tidak duduk</a:t>
            </a:r>
          </a:p>
        </p:txBody>
      </p:sp>
      <p:sp>
        <p:nvSpPr>
          <p:cNvPr id="13" name="TextBox 12"/>
          <p:cNvSpPr txBox="1"/>
          <p:nvPr/>
        </p:nvSpPr>
        <p:spPr>
          <a:xfrm>
            <a:off x="4434840"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Ledge atau kontak belum putus.</a:t>
            </a:r>
          </a:p>
        </p:txBody>
      </p:sp>
      <p:sp>
        <p:nvSpPr>
          <p:cNvPr id="14" name="Rounded Rectangle 13"/>
          <p:cNvSpPr/>
          <p:nvPr/>
        </p:nvSpPr>
        <p:spPr>
          <a:xfrm>
            <a:off x="7973567" y="17373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59" y="18653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Perdarahan gingiva</a:t>
            </a:r>
          </a:p>
        </p:txBody>
      </p:sp>
      <p:sp>
        <p:nvSpPr>
          <p:cNvPr id="16" name="TextBox 15"/>
          <p:cNvSpPr txBox="1"/>
          <p:nvPr/>
        </p:nvSpPr>
        <p:spPr>
          <a:xfrm>
            <a:off x="8138159" y="21945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Margin terlalu panjang atau tepi tajam.</a:t>
            </a:r>
          </a:p>
        </p:txBody>
      </p:sp>
      <p:sp>
        <p:nvSpPr>
          <p:cNvPr id="17" name="Rounded Rectangle 16"/>
          <p:cNvSpPr/>
          <p:nvPr/>
        </p:nvSpPr>
        <p:spPr>
          <a:xfrm>
            <a:off x="56692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Perforasi crown</a:t>
            </a:r>
          </a:p>
        </p:txBody>
      </p:sp>
      <p:sp>
        <p:nvSpPr>
          <p:cNvPr id="19" name="TextBox 18"/>
          <p:cNvSpPr txBox="1"/>
          <p:nvPr/>
        </p:nvSpPr>
        <p:spPr>
          <a:xfrm>
            <a:off x="73152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Trimming berlebihan atau wear oklusal.</a:t>
            </a:r>
          </a:p>
        </p:txBody>
      </p:sp>
      <p:sp>
        <p:nvSpPr>
          <p:cNvPr id="20" name="Rounded Rectangle 19"/>
          <p:cNvSpPr/>
          <p:nvPr/>
        </p:nvSpPr>
        <p:spPr>
          <a:xfrm>
            <a:off x="4270248"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Crown lepas</a:t>
            </a:r>
          </a:p>
        </p:txBody>
      </p:sp>
      <p:sp>
        <p:nvSpPr>
          <p:cNvPr id="22" name="TextBox 21"/>
          <p:cNvSpPr txBox="1"/>
          <p:nvPr/>
        </p:nvSpPr>
        <p:spPr>
          <a:xfrm>
            <a:off x="4434840"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Retensi buruk atau karies sekunder.</a:t>
            </a:r>
          </a:p>
        </p:txBody>
      </p:sp>
      <p:sp>
        <p:nvSpPr>
          <p:cNvPr id="23" name="Rounded Rectangle 22"/>
          <p:cNvSpPr/>
          <p:nvPr/>
        </p:nvSpPr>
        <p:spPr>
          <a:xfrm>
            <a:off x="7973567" y="3108960"/>
            <a:ext cx="35204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59" y="3236976"/>
            <a:ext cx="3200400" cy="274320"/>
          </a:xfrm>
          <a:prstGeom prst="rect">
            <a:avLst/>
          </a:prstGeom>
          <a:noFill/>
        </p:spPr>
        <p:txBody>
          <a:bodyPr wrap="square" lIns="0" rIns="0" tIns="0" bIns="0" anchor="t">
            <a:spAutoFit/>
          </a:bodyPr>
          <a:lstStyle/>
          <a:p>
            <a:pPr algn="l">
              <a:lnSpc>
                <a:spcPct val="112000"/>
              </a:lnSpc>
              <a:spcAft>
                <a:spcPts val="0"/>
              </a:spcAft>
            </a:pPr>
            <a:r>
              <a:rPr sz="1200" b="1" i="0">
                <a:solidFill>
                  <a:srgbClr val="15323A"/>
                </a:solidFill>
                <a:latin typeface="Calibri"/>
              </a:rPr>
              <a:t>Anak tidak kooperatif</a:t>
            </a:r>
          </a:p>
        </p:txBody>
      </p:sp>
      <p:sp>
        <p:nvSpPr>
          <p:cNvPr id="25" name="TextBox 24"/>
          <p:cNvSpPr txBox="1"/>
          <p:nvPr/>
        </p:nvSpPr>
        <p:spPr>
          <a:xfrm>
            <a:off x="8138159" y="3566160"/>
            <a:ext cx="3200400" cy="548640"/>
          </a:xfrm>
          <a:prstGeom prst="rect">
            <a:avLst/>
          </a:prstGeom>
          <a:noFill/>
        </p:spPr>
        <p:txBody>
          <a:bodyPr wrap="square" lIns="0" rIns="0" tIns="0" bIns="0" anchor="t">
            <a:spAutoFit/>
          </a:bodyPr>
          <a:lstStyle/>
          <a:p>
            <a:pPr algn="l">
              <a:lnSpc>
                <a:spcPct val="112000"/>
              </a:lnSpc>
              <a:spcAft>
                <a:spcPts val="0"/>
              </a:spcAft>
            </a:pPr>
            <a:r>
              <a:rPr sz="1000" b="0" i="0">
                <a:solidFill>
                  <a:srgbClr val="47646C"/>
                </a:solidFill>
                <a:latin typeface="Calibri"/>
              </a:rPr>
              <a:t>Cemas atau pengalaman buruk.</a:t>
            </a:r>
          </a:p>
        </p:txBody>
      </p:sp>
      <p:sp>
        <p:nvSpPr>
          <p:cNvPr id="26" name="Rounded Rectangle 25"/>
          <p:cNvSpPr/>
          <p:nvPr/>
        </p:nvSpPr>
        <p:spPr>
          <a:xfrm>
            <a:off x="56692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Alergi nikel</a:t>
            </a:r>
          </a:p>
        </p:txBody>
      </p:sp>
      <p:sp>
        <p:nvSpPr>
          <p:cNvPr id="28" name="TextBox 27"/>
          <p:cNvSpPr txBox="1"/>
          <p:nvPr/>
        </p:nvSpPr>
        <p:spPr>
          <a:xfrm>
            <a:off x="73152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Sensitisasi 8–10% pada anak Eropa, reaksi klinis jarang. Kontraindikasi bila ada riwayat reaksi.</a:t>
            </a:r>
          </a:p>
        </p:txBody>
      </p:sp>
      <p:sp>
        <p:nvSpPr>
          <p:cNvPr id="29" name="Rounded Rectangle 28"/>
          <p:cNvSpPr/>
          <p:nvPr/>
        </p:nvSpPr>
        <p:spPr>
          <a:xfrm>
            <a:off x="4270248"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34840"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MIH</a:t>
            </a:r>
          </a:p>
        </p:txBody>
      </p:sp>
      <p:sp>
        <p:nvSpPr>
          <p:cNvPr id="31" name="TextBox 30"/>
          <p:cNvSpPr txBox="1"/>
          <p:nvPr/>
        </p:nvSpPr>
        <p:spPr>
          <a:xfrm>
            <a:off x="4434840"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Survival 94,4% vs komposit 49,2% pada 24 bulan.</a:t>
            </a:r>
          </a:p>
        </p:txBody>
      </p:sp>
      <p:sp>
        <p:nvSpPr>
          <p:cNvPr id="32" name="Rounded Rectangle 31"/>
          <p:cNvSpPr/>
          <p:nvPr/>
        </p:nvSpPr>
        <p:spPr>
          <a:xfrm>
            <a:off x="7973567" y="4617720"/>
            <a:ext cx="3520440" cy="1005840"/>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38159" y="4718304"/>
            <a:ext cx="32004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C65B45"/>
                </a:solidFill>
                <a:latin typeface="Calibri"/>
              </a:rPr>
              <a:t>Berkebutuhan khusus</a:t>
            </a:r>
          </a:p>
        </p:txBody>
      </p:sp>
      <p:sp>
        <p:nvSpPr>
          <p:cNvPr id="34" name="TextBox 33"/>
          <p:cNvSpPr txBox="1"/>
          <p:nvPr/>
        </p:nvSpPr>
        <p:spPr>
          <a:xfrm>
            <a:off x="8138159" y="4992624"/>
            <a:ext cx="3200400" cy="54864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Lebih sedikit kunjungan.</a:t>
            </a:r>
          </a:p>
        </p:txBody>
      </p:sp>
      <p:sp>
        <p:nvSpPr>
          <p:cNvPr id="35" name="Rectangle 34"/>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Farias 2022; Ahlström 2019</a:t>
            </a:r>
          </a:p>
        </p:txBody>
      </p:sp>
      <p:sp>
        <p:nvSpPr>
          <p:cNvPr id="37" name="TextBox 36"/>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BUKTI</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Angka retensi dan angka kegagalan tidak bisa dibandingkan langsung</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11</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349240" cy="33832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847088"/>
            <a:ext cx="493776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Hall vs restorasi rutin, 60 bulan</a:t>
            </a:r>
          </a:p>
        </p:txBody>
      </p:sp>
      <p:sp>
        <p:nvSpPr>
          <p:cNvPr id="10" name="TextBox 9"/>
          <p:cNvSpPr txBox="1"/>
          <p:nvPr/>
        </p:nvSpPr>
        <p:spPr>
          <a:xfrm>
            <a:off x="768096" y="2121408"/>
            <a:ext cx="493776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RCT split-mouth, 132 anak (Innes 2011)</a:t>
            </a:r>
          </a:p>
        </p:txBody>
      </p:sp>
      <p:sp>
        <p:nvSpPr>
          <p:cNvPr id="11" name="TextBox 10"/>
          <p:cNvSpPr txBox="1"/>
          <p:nvPr/>
        </p:nvSpPr>
        <p:spPr>
          <a:xfrm>
            <a:off x="768096" y="2487168"/>
            <a:ext cx="91440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Hall</a:t>
            </a:r>
          </a:p>
        </p:txBody>
      </p:sp>
      <p:sp>
        <p:nvSpPr>
          <p:cNvPr id="12" name="Rounded Rectangle 11"/>
          <p:cNvSpPr/>
          <p:nvPr/>
        </p:nvSpPr>
        <p:spPr>
          <a:xfrm>
            <a:off x="1682495" y="2574218"/>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82495" y="2574218"/>
            <a:ext cx="2986430"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50638" y="2487168"/>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92%</a:t>
            </a:r>
          </a:p>
        </p:txBody>
      </p:sp>
      <p:sp>
        <p:nvSpPr>
          <p:cNvPr id="15" name="TextBox 14"/>
          <p:cNvSpPr txBox="1"/>
          <p:nvPr/>
        </p:nvSpPr>
        <p:spPr>
          <a:xfrm>
            <a:off x="768096" y="2798064"/>
            <a:ext cx="91440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Kontrol</a:t>
            </a:r>
          </a:p>
        </p:txBody>
      </p:sp>
      <p:sp>
        <p:nvSpPr>
          <p:cNvPr id="16" name="Rounded Rectangle 15"/>
          <p:cNvSpPr/>
          <p:nvPr/>
        </p:nvSpPr>
        <p:spPr>
          <a:xfrm>
            <a:off x="1682495" y="2885114"/>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682495" y="2885114"/>
            <a:ext cx="1687982"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52190" y="2798064"/>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52%</a:t>
            </a:r>
          </a:p>
        </p:txBody>
      </p:sp>
      <p:sp>
        <p:nvSpPr>
          <p:cNvPr id="19" name="TextBox 18"/>
          <p:cNvSpPr txBox="1"/>
          <p:nvPr/>
        </p:nvSpPr>
        <p:spPr>
          <a:xfrm>
            <a:off x="768096" y="4251960"/>
            <a:ext cx="4846320" cy="457200"/>
          </a:xfrm>
          <a:prstGeom prst="rect">
            <a:avLst/>
          </a:prstGeom>
          <a:noFill/>
        </p:spPr>
        <p:txBody>
          <a:bodyPr wrap="square" lIns="0" rIns="0" tIns="0" bIns="0" anchor="t">
            <a:spAutoFit/>
          </a:bodyPr>
          <a:lstStyle/>
          <a:p>
            <a:pPr algn="l">
              <a:lnSpc>
                <a:spcPct val="112000"/>
              </a:lnSpc>
              <a:spcAft>
                <a:spcPts val="0"/>
              </a:spcAft>
            </a:pPr>
            <a:r>
              <a:rPr sz="900" b="0" i="0">
                <a:solidFill>
                  <a:srgbClr val="47646C"/>
                </a:solidFill>
                <a:latin typeface="Calibri"/>
              </a:rPr>
              <a:t>Kegagalan mayor 3% vs 16,5%. NNT 8.</a:t>
            </a:r>
          </a:p>
        </p:txBody>
      </p:sp>
      <p:sp>
        <p:nvSpPr>
          <p:cNvPr id="20" name="Rounded Rectangle 19"/>
          <p:cNvSpPr/>
          <p:nvPr/>
        </p:nvSpPr>
        <p:spPr>
          <a:xfrm>
            <a:off x="6099048" y="1737360"/>
            <a:ext cx="5349240" cy="33832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0216" y="1847088"/>
            <a:ext cx="4937760" cy="274320"/>
          </a:xfrm>
          <a:prstGeom prst="rect">
            <a:avLst/>
          </a:prstGeom>
          <a:noFill/>
        </p:spPr>
        <p:txBody>
          <a:bodyPr wrap="square" lIns="0" rIns="0" tIns="0" bIns="0" anchor="t">
            <a:spAutoFit/>
          </a:bodyPr>
          <a:lstStyle/>
          <a:p>
            <a:pPr algn="l">
              <a:lnSpc>
                <a:spcPct val="112000"/>
              </a:lnSpc>
              <a:spcAft>
                <a:spcPts val="0"/>
              </a:spcAft>
            </a:pPr>
            <a:r>
              <a:rPr sz="1150" b="1" i="0">
                <a:solidFill>
                  <a:srgbClr val="15323A"/>
                </a:solidFill>
                <a:latin typeface="Calibri"/>
              </a:rPr>
              <a:t>Retensi 5 tahun per material</a:t>
            </a:r>
          </a:p>
        </p:txBody>
      </p:sp>
      <p:sp>
        <p:nvSpPr>
          <p:cNvPr id="22" name="TextBox 21"/>
          <p:cNvSpPr txBox="1"/>
          <p:nvPr/>
        </p:nvSpPr>
        <p:spPr>
          <a:xfrm>
            <a:off x="6300216" y="2121408"/>
            <a:ext cx="493776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SR/MA 13 RCT + 5 studi klinis (Lampl 2025). Sumbu 80–100%.</a:t>
            </a:r>
          </a:p>
        </p:txBody>
      </p:sp>
      <p:sp>
        <p:nvSpPr>
          <p:cNvPr id="23" name="TextBox 22"/>
          <p:cNvSpPr txBox="1"/>
          <p:nvPr/>
        </p:nvSpPr>
        <p:spPr>
          <a:xfrm>
            <a:off x="6300216" y="2450592"/>
            <a:ext cx="96012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SSC</a:t>
            </a:r>
          </a:p>
        </p:txBody>
      </p:sp>
      <p:sp>
        <p:nvSpPr>
          <p:cNvPr id="24" name="Rounded Rectangle 23"/>
          <p:cNvSpPr/>
          <p:nvPr/>
        </p:nvSpPr>
        <p:spPr>
          <a:xfrm>
            <a:off x="7260336" y="2537642"/>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60336" y="2537642"/>
            <a:ext cx="3177302"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419350" y="245059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97.88%</a:t>
            </a:r>
          </a:p>
        </p:txBody>
      </p:sp>
      <p:sp>
        <p:nvSpPr>
          <p:cNvPr id="27" name="TextBox 26"/>
          <p:cNvSpPr txBox="1"/>
          <p:nvPr/>
        </p:nvSpPr>
        <p:spPr>
          <a:xfrm>
            <a:off x="6300216" y="2761488"/>
            <a:ext cx="96012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28" name="Rounded Rectangle 27"/>
          <p:cNvSpPr/>
          <p:nvPr/>
        </p:nvSpPr>
        <p:spPr>
          <a:xfrm>
            <a:off x="7260336" y="2848538"/>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260336" y="2848538"/>
            <a:ext cx="3151657"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93705" y="2761488"/>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97.09%</a:t>
            </a:r>
          </a:p>
        </p:txBody>
      </p:sp>
      <p:sp>
        <p:nvSpPr>
          <p:cNvPr id="31" name="TextBox 30"/>
          <p:cNvSpPr txBox="1"/>
          <p:nvPr/>
        </p:nvSpPr>
        <p:spPr>
          <a:xfrm>
            <a:off x="6300216" y="3072384"/>
            <a:ext cx="96012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Komposit</a:t>
            </a:r>
          </a:p>
        </p:txBody>
      </p:sp>
      <p:sp>
        <p:nvSpPr>
          <p:cNvPr id="32" name="Rounded Rectangle 31"/>
          <p:cNvSpPr/>
          <p:nvPr/>
        </p:nvSpPr>
        <p:spPr>
          <a:xfrm>
            <a:off x="7260336" y="3159434"/>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260336" y="3159434"/>
            <a:ext cx="2992273"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34321" y="3072384"/>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92.18%</a:t>
            </a:r>
          </a:p>
        </p:txBody>
      </p:sp>
      <p:sp>
        <p:nvSpPr>
          <p:cNvPr id="35" name="TextBox 34"/>
          <p:cNvSpPr txBox="1"/>
          <p:nvPr/>
        </p:nvSpPr>
        <p:spPr>
          <a:xfrm>
            <a:off x="6300216" y="3383280"/>
            <a:ext cx="96012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RMGIC</a:t>
            </a:r>
          </a:p>
        </p:txBody>
      </p:sp>
      <p:sp>
        <p:nvSpPr>
          <p:cNvPr id="36" name="Rounded Rectangle 35"/>
          <p:cNvSpPr/>
          <p:nvPr/>
        </p:nvSpPr>
        <p:spPr>
          <a:xfrm>
            <a:off x="7260336" y="3470330"/>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260336" y="3470330"/>
            <a:ext cx="2931246"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73294" y="3383280"/>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90.3%</a:t>
            </a:r>
          </a:p>
        </p:txBody>
      </p:sp>
      <p:sp>
        <p:nvSpPr>
          <p:cNvPr id="39" name="TextBox 38"/>
          <p:cNvSpPr txBox="1"/>
          <p:nvPr/>
        </p:nvSpPr>
        <p:spPr>
          <a:xfrm>
            <a:off x="6300216" y="3694176"/>
            <a:ext cx="96012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Compomer</a:t>
            </a:r>
          </a:p>
        </p:txBody>
      </p:sp>
      <p:sp>
        <p:nvSpPr>
          <p:cNvPr id="40" name="Rounded Rectangle 39"/>
          <p:cNvSpPr/>
          <p:nvPr/>
        </p:nvSpPr>
        <p:spPr>
          <a:xfrm>
            <a:off x="7260336" y="3781226"/>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7260336" y="3781226"/>
            <a:ext cx="2885800"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127848" y="3694176"/>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88.9%</a:t>
            </a:r>
          </a:p>
        </p:txBody>
      </p:sp>
      <p:sp>
        <p:nvSpPr>
          <p:cNvPr id="43" name="TextBox 42"/>
          <p:cNvSpPr txBox="1"/>
          <p:nvPr/>
        </p:nvSpPr>
        <p:spPr>
          <a:xfrm>
            <a:off x="6300216" y="4005072"/>
            <a:ext cx="960120" cy="310896"/>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a:t>
            </a:r>
          </a:p>
        </p:txBody>
      </p:sp>
      <p:sp>
        <p:nvSpPr>
          <p:cNvPr id="44" name="Rounded Rectangle 43"/>
          <p:cNvSpPr/>
          <p:nvPr/>
        </p:nvSpPr>
        <p:spPr>
          <a:xfrm>
            <a:off x="7260336" y="4092122"/>
            <a:ext cx="3246120" cy="124358"/>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7260336" y="4092122"/>
            <a:ext cx="2709860" cy="124358"/>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951908" y="4005072"/>
            <a:ext cx="658368" cy="310896"/>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83.48%</a:t>
            </a:r>
          </a:p>
        </p:txBody>
      </p:sp>
      <p:sp>
        <p:nvSpPr>
          <p:cNvPr id="47" name="TextBox 46"/>
          <p:cNvSpPr txBox="1"/>
          <p:nvPr/>
        </p:nvSpPr>
        <p:spPr>
          <a:xfrm>
            <a:off x="566928" y="5285232"/>
            <a:ext cx="10881360" cy="36576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Angka retensi dan success tidak boleh dibandingkan langsung. Definisi kegagalan berbeda antar studi.</a:t>
            </a:r>
          </a:p>
        </p:txBody>
      </p:sp>
      <p:sp>
        <p:nvSpPr>
          <p:cNvPr id="48" name="Rectangle 47"/>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Innes 2011; Lampl 2025; Chisini 2018; Innes 2015 Cochrane</a:t>
            </a:r>
          </a:p>
        </p:txBody>
      </p:sp>
      <p:sp>
        <p:nvSpPr>
          <p:cNvPr id="50" name="TextBox 49"/>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ALTERNATIF ESTETIK</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700" b="0" i="0">
                <a:solidFill>
                  <a:srgbClr val="15323A"/>
                </a:solidFill>
                <a:latin typeface="Georgia"/>
              </a:rPr>
              <a:t>Zirkonia lebih baik pada gingiva, belum pada retensi jangka panjang</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12</a:t>
            </a:r>
          </a:p>
        </p:txBody>
      </p:sp>
      <p:sp>
        <p:nvSpPr>
          <p:cNvPr id="7" name="Rounded Rectangle 6">
            <a:hlinkClick action="ppaction://hlinksldjump" r:id="rId4"/>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5623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Zirkonia</a:t>
            </a:r>
          </a:p>
        </p:txBody>
      </p:sp>
      <p:sp>
        <p:nvSpPr>
          <p:cNvPr id="10" name="TextBox 9"/>
          <p:cNvSpPr txBox="1"/>
          <p:nvPr/>
        </p:nvSpPr>
        <p:spPr>
          <a:xfrm>
            <a:off x="749808" y="216712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Kegagalan: RR 0,48 (0,15–1,52). Gingiva: MD −0,32 (−0,42 sampai −0,23). Biaya, wear antagonis, sulit direparasi.</a:t>
            </a:r>
          </a:p>
        </p:txBody>
      </p:sp>
      <p:sp>
        <p:nvSpPr>
          <p:cNvPr id="11" name="Rounded Rectangle 10"/>
          <p:cNvSpPr/>
          <p:nvPr/>
        </p:nvSpPr>
        <p:spPr>
          <a:xfrm>
            <a:off x="566928" y="3063239"/>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182111"/>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Pre-veneered SSC</a:t>
            </a:r>
          </a:p>
        </p:txBody>
      </p:sp>
      <p:sp>
        <p:nvSpPr>
          <p:cNvPr id="13" name="TextBox 12"/>
          <p:cNvSpPr txBox="1"/>
          <p:nvPr/>
        </p:nvSpPr>
        <p:spPr>
          <a:xfrm>
            <a:off x="749808" y="3493007"/>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Retensi 6 bulan 95% (Walia 2014). Veneer bisa fraktur. Bukti belum cukup menggantikan SSC.</a:t>
            </a:r>
          </a:p>
        </p:txBody>
      </p:sp>
      <p:sp>
        <p:nvSpPr>
          <p:cNvPr id="14" name="Rounded Rectangle 13"/>
          <p:cNvSpPr/>
          <p:nvPr/>
        </p:nvSpPr>
        <p:spPr>
          <a:xfrm>
            <a:off x="566928" y="4389120"/>
            <a:ext cx="5349240" cy="11887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507992"/>
            <a:ext cx="4937760" cy="274320"/>
          </a:xfrm>
          <a:prstGeom prst="rect">
            <a:avLst/>
          </a:prstGeom>
          <a:noFill/>
        </p:spPr>
        <p:txBody>
          <a:bodyPr wrap="square" lIns="0" rIns="0" tIns="0" bIns="0" anchor="t">
            <a:spAutoFit/>
          </a:bodyPr>
          <a:lstStyle/>
          <a:p>
            <a:pPr algn="l">
              <a:lnSpc>
                <a:spcPct val="112000"/>
              </a:lnSpc>
              <a:spcAft>
                <a:spcPts val="0"/>
              </a:spcAft>
            </a:pPr>
            <a:r>
              <a:rPr sz="1250" b="1" i="0">
                <a:solidFill>
                  <a:srgbClr val="15323A"/>
                </a:solidFill>
                <a:latin typeface="Calibri"/>
              </a:rPr>
              <a:t>Strip crown</a:t>
            </a:r>
          </a:p>
        </p:txBody>
      </p:sp>
      <p:sp>
        <p:nvSpPr>
          <p:cNvPr id="16" name="TextBox 15"/>
          <p:cNvSpPr txBox="1"/>
          <p:nvPr/>
        </p:nvSpPr>
        <p:spPr>
          <a:xfrm>
            <a:off x="749808" y="4818888"/>
            <a:ext cx="4983480" cy="658368"/>
          </a:xfrm>
          <a:prstGeom prst="rect">
            <a:avLst/>
          </a:prstGeom>
          <a:noFill/>
        </p:spPr>
        <p:txBody>
          <a:bodyPr wrap="square" lIns="0" rIns="0" tIns="0" bIns="0" anchor="t">
            <a:spAutoFit/>
          </a:bodyPr>
          <a:lstStyle/>
          <a:p>
            <a:pPr algn="l">
              <a:lnSpc>
                <a:spcPct val="115000"/>
              </a:lnSpc>
              <a:spcAft>
                <a:spcPts val="0"/>
              </a:spcAft>
            </a:pPr>
            <a:r>
              <a:rPr sz="980" b="0" i="0">
                <a:solidFill>
                  <a:srgbClr val="47646C"/>
                </a:solidFill>
                <a:latin typeface="Calibri"/>
              </a:rPr>
              <a:t>Retensi 6 bulan 78% (Walia 2014). Sensitif kelembapan. Bukan pilihan utama molar posterior.</a:t>
            </a:r>
          </a:p>
        </p:txBody>
      </p:sp>
      <p:pic>
        <p:nvPicPr>
          <p:cNvPr id="17" name="Picture 16" descr="fig-alternatives.jpg"/>
          <p:cNvPicPr>
            <a:picLocks noChangeAspect="1"/>
          </p:cNvPicPr>
          <p:nvPr/>
        </p:nvPicPr>
        <p:blipFill>
          <a:blip r:embed="rId2"/>
          <a:stretch>
            <a:fillRect/>
          </a:stretch>
        </p:blipFill>
        <p:spPr>
          <a:xfrm>
            <a:off x="6172200" y="1719072"/>
            <a:ext cx="5440680" cy="2365513"/>
          </a:xfrm>
          <a:prstGeom prst="rect">
            <a:avLst/>
          </a:prstGeom>
        </p:spPr>
      </p:pic>
      <p:sp>
        <p:nvSpPr>
          <p:cNvPr id="18" name="TextBox 17"/>
          <p:cNvSpPr txBox="1"/>
          <p:nvPr/>
        </p:nvSpPr>
        <p:spPr>
          <a:xfrm>
            <a:off x="6172200" y="4157736"/>
            <a:ext cx="5440680" cy="274320"/>
          </a:xfrm>
          <a:prstGeom prst="rect">
            <a:avLst/>
          </a:prstGeom>
          <a:noFill/>
        </p:spPr>
        <p:txBody>
          <a:bodyPr wrap="square" lIns="0" rIns="0" tIns="0" bIns="0" anchor="t">
            <a:spAutoFit/>
          </a:bodyPr>
          <a:lstStyle/>
          <a:p>
            <a:pPr algn="ctr">
              <a:lnSpc>
                <a:spcPct val="112000"/>
              </a:lnSpc>
              <a:spcAft>
                <a:spcPts val="0"/>
              </a:spcAft>
            </a:pPr>
            <a:r>
              <a:rPr sz="850" b="0" i="0">
                <a:solidFill>
                  <a:srgbClr val="7D8F93"/>
                </a:solidFill>
                <a:latin typeface="Calibri"/>
              </a:rPr>
              <a:t>Zirkonia, pre-veneered SSC, dan SSC logam penuh.</a:t>
            </a:r>
          </a:p>
        </p:txBody>
      </p:sp>
      <p:sp>
        <p:nvSpPr>
          <p:cNvPr id="19" name="Rounded Rectangle 18"/>
          <p:cNvSpPr/>
          <p:nvPr/>
        </p:nvSpPr>
        <p:spPr>
          <a:xfrm>
            <a:off x="6172200" y="4498848"/>
            <a:ext cx="5440680" cy="141732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4590288"/>
            <a:ext cx="5029200" cy="274320"/>
          </a:xfrm>
          <a:prstGeom prst="rect">
            <a:avLst/>
          </a:prstGeom>
          <a:noFill/>
        </p:spPr>
        <p:txBody>
          <a:bodyPr wrap="square" lIns="0" rIns="0" tIns="0" bIns="0" anchor="t">
            <a:spAutoFit/>
          </a:bodyPr>
          <a:lstStyle/>
          <a:p>
            <a:pPr algn="l">
              <a:lnSpc>
                <a:spcPct val="112000"/>
              </a:lnSpc>
              <a:spcAft>
                <a:spcPts val="0"/>
              </a:spcAft>
            </a:pPr>
            <a:r>
              <a:rPr sz="1050" b="1" i="0">
                <a:solidFill>
                  <a:srgbClr val="15323A"/>
                </a:solidFill>
                <a:latin typeface="Calibri"/>
              </a:rPr>
              <a:t>Retensi 6 bulan</a:t>
            </a:r>
          </a:p>
        </p:txBody>
      </p:sp>
      <p:sp>
        <p:nvSpPr>
          <p:cNvPr id="21" name="TextBox 20"/>
          <p:cNvSpPr txBox="1"/>
          <p:nvPr/>
        </p:nvSpPr>
        <p:spPr>
          <a:xfrm>
            <a:off x="6355080" y="4828032"/>
            <a:ext cx="50292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RCT 129 gigi insisivus desidui (Walia 2014)</a:t>
            </a:r>
          </a:p>
        </p:txBody>
      </p:sp>
      <p:sp>
        <p:nvSpPr>
          <p:cNvPr id="22" name="TextBox 21"/>
          <p:cNvSpPr txBox="1"/>
          <p:nvPr/>
        </p:nvSpPr>
        <p:spPr>
          <a:xfrm>
            <a:off x="6355080" y="507492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Zirkonia</a:t>
            </a:r>
          </a:p>
        </p:txBody>
      </p:sp>
      <p:sp>
        <p:nvSpPr>
          <p:cNvPr id="23" name="Rounded Rectangle 22"/>
          <p:cNvSpPr/>
          <p:nvPr/>
        </p:nvSpPr>
        <p:spPr>
          <a:xfrm>
            <a:off x="7315200" y="514746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15200" y="5147462"/>
            <a:ext cx="3383280"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80192" y="507492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100%</a:t>
            </a:r>
          </a:p>
        </p:txBody>
      </p:sp>
      <p:sp>
        <p:nvSpPr>
          <p:cNvPr id="26" name="TextBox 25"/>
          <p:cNvSpPr txBox="1"/>
          <p:nvPr/>
        </p:nvSpPr>
        <p:spPr>
          <a:xfrm>
            <a:off x="6355080" y="533400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PVSSC</a:t>
            </a:r>
          </a:p>
        </p:txBody>
      </p:sp>
      <p:sp>
        <p:nvSpPr>
          <p:cNvPr id="27" name="Rounded Rectangle 26"/>
          <p:cNvSpPr/>
          <p:nvPr/>
        </p:nvSpPr>
        <p:spPr>
          <a:xfrm>
            <a:off x="7315200" y="540654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315200" y="5406542"/>
            <a:ext cx="3214116"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1028" y="533400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95%</a:t>
            </a:r>
          </a:p>
        </p:txBody>
      </p:sp>
      <p:sp>
        <p:nvSpPr>
          <p:cNvPr id="30" name="TextBox 29"/>
          <p:cNvSpPr txBox="1"/>
          <p:nvPr/>
        </p:nvSpPr>
        <p:spPr>
          <a:xfrm>
            <a:off x="6355080" y="5593080"/>
            <a:ext cx="960120" cy="259080"/>
          </a:xfrm>
          <a:prstGeom prst="rect">
            <a:avLst/>
          </a:prstGeom>
          <a:noFill/>
        </p:spPr>
        <p:txBody>
          <a:bodyPr wrap="square" lIns="0" rIns="0" tIns="0" bIns="0" anchor="ctr">
            <a:spAutoFit/>
          </a:bodyPr>
          <a:lstStyle/>
          <a:p>
            <a:pPr algn="l">
              <a:lnSpc>
                <a:spcPct val="112000"/>
              </a:lnSpc>
              <a:spcAft>
                <a:spcPts val="0"/>
              </a:spcAft>
            </a:pPr>
            <a:r>
              <a:rPr sz="950" b="0" i="0">
                <a:solidFill>
                  <a:srgbClr val="47646C"/>
                </a:solidFill>
                <a:latin typeface="Calibri"/>
              </a:rPr>
              <a:t>Strip</a:t>
            </a:r>
          </a:p>
        </p:txBody>
      </p:sp>
      <p:sp>
        <p:nvSpPr>
          <p:cNvPr id="31" name="Rounded Rectangle 30"/>
          <p:cNvSpPr/>
          <p:nvPr/>
        </p:nvSpPr>
        <p:spPr>
          <a:xfrm>
            <a:off x="7315200" y="5665622"/>
            <a:ext cx="3383280" cy="103632"/>
          </a:xfrm>
          <a:prstGeom prst="roundRect">
            <a:avLst>
              <a:gd name="adj" fmla="val 50000"/>
            </a:avLst>
          </a:prstGeom>
          <a:solidFill>
            <a:srgbClr val="EEE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315200" y="5665622"/>
            <a:ext cx="2638958" cy="103632"/>
          </a:xfrm>
          <a:prstGeom prst="roundRect">
            <a:avLst>
              <a:gd name="adj" fmla="val 50000"/>
            </a:avLst>
          </a:prstGeom>
          <a:solidFill>
            <a:srgbClr val="2C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35870" y="5593080"/>
            <a:ext cx="658368" cy="259080"/>
          </a:xfrm>
          <a:prstGeom prst="rect">
            <a:avLst/>
          </a:prstGeom>
          <a:noFill/>
        </p:spPr>
        <p:txBody>
          <a:bodyPr wrap="square" lIns="0" rIns="0" tIns="0" bIns="0" anchor="ctr">
            <a:spAutoFit/>
          </a:bodyPr>
          <a:lstStyle/>
          <a:p>
            <a:pPr algn="l">
              <a:lnSpc>
                <a:spcPct val="112000"/>
              </a:lnSpc>
              <a:spcAft>
                <a:spcPts val="0"/>
              </a:spcAft>
            </a:pPr>
            <a:r>
              <a:rPr sz="950" b="1" i="0">
                <a:solidFill>
                  <a:srgbClr val="15323A"/>
                </a:solidFill>
                <a:latin typeface="Calibri"/>
              </a:rPr>
              <a:t>78%</a:t>
            </a:r>
          </a:p>
        </p:txBody>
      </p:sp>
      <p:sp>
        <p:nvSpPr>
          <p:cNvPr id="34" name="Rectangle 33"/>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Patnana 2022; Pei &amp; Chen 2023; Aiem 2017; Walia 2014</a:t>
            </a:r>
          </a:p>
        </p:txBody>
      </p:sp>
      <p:sp>
        <p:nvSpPr>
          <p:cNvPr id="36" name="TextBox 35"/>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KASUS ILUSTRATIF</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Kasus: molar kedua desidui bawah kanan, karies oklusal-distal</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13</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691640"/>
            <a:ext cx="5486400" cy="1783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10512"/>
            <a:ext cx="5120640" cy="1554480"/>
          </a:xfrm>
          <a:prstGeom prst="rect">
            <a:avLst/>
          </a:prstGeom>
          <a:noFill/>
        </p:spPr>
        <p:txBody>
          <a:bodyPr wrap="square" lIns="0" rIns="0" tIns="0" bIns="0" anchor="t">
            <a:spAutoFit/>
          </a:bodyPr>
          <a:lstStyle/>
          <a:p>
            <a:pPr algn="l">
              <a:lnSpc>
                <a:spcPct val="125000"/>
              </a:lnSpc>
              <a:spcAft>
                <a:spcPts val="0"/>
              </a:spcAft>
            </a:pPr>
            <a:r>
              <a:rPr sz="1019" b="0" i="0">
                <a:solidFill>
                  <a:srgbClr val="47646C"/>
                </a:solidFill>
                <a:latin typeface="Calibri"/>
              </a:rPr>
              <a:t>Anak laki-laki, 7 tahun. Gigi 85, karies oklusal-distal luas.</a:t>
            </a:r>
          </a:p>
          <a:p>
            <a:pPr algn="l">
              <a:lnSpc>
                <a:spcPct val="125000"/>
              </a:lnSpc>
              <a:spcAft>
                <a:spcPts val="0"/>
              </a:spcAft>
            </a:pPr>
            <a:r>
              <a:rPr sz="1019" b="0" i="0">
                <a:solidFill>
                  <a:srgbClr val="47646C"/>
                </a:solidFill>
                <a:latin typeface="Calibri"/>
              </a:rPr>
              <a:t>Tidak ada nyeri spontan, swelling, atau fistula. Vital, perkusi negatif.</a:t>
            </a:r>
          </a:p>
          <a:p>
            <a:pPr algn="l">
              <a:lnSpc>
                <a:spcPct val="125000"/>
              </a:lnSpc>
              <a:spcAft>
                <a:spcPts val="0"/>
              </a:spcAft>
            </a:pPr>
            <a:r>
              <a:rPr sz="1019" b="0" i="0">
                <a:solidFill>
                  <a:srgbClr val="47646C"/>
                </a:solidFill>
                <a:latin typeface="Calibri"/>
              </a:rPr>
              <a:t>Radiograf: lesi mendekati pulpa dengan dentine bridge terlihat.</a:t>
            </a:r>
          </a:p>
        </p:txBody>
      </p:sp>
      <p:sp>
        <p:nvSpPr>
          <p:cNvPr id="10" name="Rounded Rectangle 9"/>
          <p:cNvSpPr/>
          <p:nvPr/>
        </p:nvSpPr>
        <p:spPr>
          <a:xfrm>
            <a:off x="566928" y="3639312"/>
            <a:ext cx="2651760" cy="1325880"/>
          </a:xfrm>
          <a:prstGeom prst="roundRect">
            <a:avLst>
              <a:gd name="adj" fmla="val 8000"/>
            </a:avLst>
          </a:prstGeom>
          <a:solidFill>
            <a:srgbClr val="F6EFE2"/>
          </a:solidFill>
          <a:ln w="12700">
            <a:solidFill>
              <a:srgbClr val="C9B9A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009644"/>
            <a:ext cx="2468879" cy="256032"/>
          </a:xfrm>
          <a:prstGeom prst="rect">
            <a:avLst/>
          </a:prstGeom>
          <a:noFill/>
        </p:spPr>
        <p:txBody>
          <a:bodyPr wrap="square" lIns="0" rIns="0" tIns="0" bIns="0" anchor="t">
            <a:spAutoFit/>
          </a:bodyPr>
          <a:lstStyle/>
          <a:p>
            <a:pPr algn="ctr">
              <a:lnSpc>
                <a:spcPct val="112000"/>
              </a:lnSpc>
              <a:spcAft>
                <a:spcPts val="0"/>
              </a:spcAft>
            </a:pPr>
            <a:r>
              <a:rPr sz="1050" b="1" i="0">
                <a:solidFill>
                  <a:srgbClr val="6F624E"/>
                </a:solidFill>
                <a:latin typeface="Calibri"/>
              </a:rPr>
              <a:t>Foto klinis</a:t>
            </a:r>
          </a:p>
        </p:txBody>
      </p:sp>
      <p:sp>
        <p:nvSpPr>
          <p:cNvPr id="12" name="TextBox 11"/>
          <p:cNvSpPr txBox="1"/>
          <p:nvPr/>
        </p:nvSpPr>
        <p:spPr>
          <a:xfrm>
            <a:off x="676656" y="4283964"/>
            <a:ext cx="2432304" cy="457200"/>
          </a:xfrm>
          <a:prstGeom prst="rect">
            <a:avLst/>
          </a:prstGeom>
          <a:noFill/>
        </p:spPr>
        <p:txBody>
          <a:bodyPr wrap="square" lIns="0" rIns="0" tIns="0" bIns="0" anchor="t">
            <a:spAutoFit/>
          </a:bodyPr>
          <a:lstStyle/>
          <a:p>
            <a:pPr algn="ctr">
              <a:lnSpc>
                <a:spcPct val="112000"/>
              </a:lnSpc>
              <a:spcAft>
                <a:spcPts val="0"/>
              </a:spcAft>
            </a:pPr>
            <a:r>
              <a:rPr sz="850" b="0" i="0">
                <a:solidFill>
                  <a:srgbClr val="8A7A62"/>
                </a:solidFill>
                <a:latin typeface="Calibri"/>
              </a:rPr>
              <a:t>Okusal gigi 85. Ganti dengan foto Anda.</a:t>
            </a:r>
          </a:p>
        </p:txBody>
      </p:sp>
      <p:sp>
        <p:nvSpPr>
          <p:cNvPr id="13" name="Rounded Rectangle 12"/>
          <p:cNvSpPr/>
          <p:nvPr/>
        </p:nvSpPr>
        <p:spPr>
          <a:xfrm>
            <a:off x="3401568" y="3639312"/>
            <a:ext cx="2651760" cy="1325880"/>
          </a:xfrm>
          <a:prstGeom prst="roundRect">
            <a:avLst>
              <a:gd name="adj" fmla="val 8000"/>
            </a:avLst>
          </a:prstGeom>
          <a:solidFill>
            <a:srgbClr val="F6EFE2"/>
          </a:solidFill>
          <a:ln w="12700">
            <a:solidFill>
              <a:srgbClr val="C9B9A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93008" y="4009644"/>
            <a:ext cx="2468879" cy="256032"/>
          </a:xfrm>
          <a:prstGeom prst="rect">
            <a:avLst/>
          </a:prstGeom>
          <a:noFill/>
        </p:spPr>
        <p:txBody>
          <a:bodyPr wrap="square" lIns="0" rIns="0" tIns="0" bIns="0" anchor="t">
            <a:spAutoFit/>
          </a:bodyPr>
          <a:lstStyle/>
          <a:p>
            <a:pPr algn="ctr">
              <a:lnSpc>
                <a:spcPct val="112000"/>
              </a:lnSpc>
              <a:spcAft>
                <a:spcPts val="0"/>
              </a:spcAft>
            </a:pPr>
            <a:r>
              <a:rPr sz="1050" b="1" i="0">
                <a:solidFill>
                  <a:srgbClr val="6F624E"/>
                </a:solidFill>
                <a:latin typeface="Calibri"/>
              </a:rPr>
              <a:t>Radiograf</a:t>
            </a:r>
          </a:p>
        </p:txBody>
      </p:sp>
      <p:sp>
        <p:nvSpPr>
          <p:cNvPr id="15" name="TextBox 14"/>
          <p:cNvSpPr txBox="1"/>
          <p:nvPr/>
        </p:nvSpPr>
        <p:spPr>
          <a:xfrm>
            <a:off x="3511296" y="4283964"/>
            <a:ext cx="2432304" cy="457200"/>
          </a:xfrm>
          <a:prstGeom prst="rect">
            <a:avLst/>
          </a:prstGeom>
          <a:noFill/>
        </p:spPr>
        <p:txBody>
          <a:bodyPr wrap="square" lIns="0" rIns="0" tIns="0" bIns="0" anchor="t">
            <a:spAutoFit/>
          </a:bodyPr>
          <a:lstStyle/>
          <a:p>
            <a:pPr algn="ctr">
              <a:lnSpc>
                <a:spcPct val="112000"/>
              </a:lnSpc>
              <a:spcAft>
                <a:spcPts val="0"/>
              </a:spcAft>
            </a:pPr>
            <a:r>
              <a:rPr sz="850" b="0" i="0">
                <a:solidFill>
                  <a:srgbClr val="8A7A62"/>
                </a:solidFill>
                <a:latin typeface="Calibri"/>
              </a:rPr>
              <a:t>Bitewing gigi 85. Ganti dengan radiograf Anda.</a:t>
            </a:r>
          </a:p>
        </p:txBody>
      </p:sp>
      <p:sp>
        <p:nvSpPr>
          <p:cNvPr id="16" name="TextBox 15"/>
          <p:cNvSpPr txBox="1"/>
          <p:nvPr/>
        </p:nvSpPr>
        <p:spPr>
          <a:xfrm>
            <a:off x="566928" y="5074920"/>
            <a:ext cx="5394960" cy="27432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Data fiktif untuk latihan keputusan.</a:t>
            </a:r>
          </a:p>
        </p:txBody>
      </p:sp>
      <p:sp>
        <p:nvSpPr>
          <p:cNvPr id="17" name="TextBox 16"/>
          <p:cNvSpPr txBox="1"/>
          <p:nvPr/>
        </p:nvSpPr>
        <p:spPr>
          <a:xfrm>
            <a:off x="6355080" y="169164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1. Apa keputusan Anda?</a:t>
            </a:r>
          </a:p>
        </p:txBody>
      </p:sp>
      <p:sp>
        <p:nvSpPr>
          <p:cNvPr id="18" name="Rounded Rectangle 17"/>
          <p:cNvSpPr/>
          <p:nvPr/>
        </p:nvSpPr>
        <p:spPr>
          <a:xfrm>
            <a:off x="6355080" y="20299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21031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Hall Technique tanpa anestesi</a:t>
            </a:r>
          </a:p>
        </p:txBody>
      </p:sp>
      <p:sp>
        <p:nvSpPr>
          <p:cNvPr id="20" name="Rounded Rectangle 19"/>
          <p:cNvSpPr/>
          <p:nvPr/>
        </p:nvSpPr>
        <p:spPr>
          <a:xfrm>
            <a:off x="6355080" y="24871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25603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SSC konvensional dengan anestesi</a:t>
            </a:r>
          </a:p>
        </p:txBody>
      </p:sp>
      <p:sp>
        <p:nvSpPr>
          <p:cNvPr id="22" name="Rounded Rectangle 21"/>
          <p:cNvSpPr/>
          <p:nvPr/>
        </p:nvSpPr>
        <p:spPr>
          <a:xfrm>
            <a:off x="6355080" y="2944368"/>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3017520"/>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Komposit dua permukaan</a:t>
            </a:r>
          </a:p>
        </p:txBody>
      </p:sp>
      <p:sp>
        <p:nvSpPr>
          <p:cNvPr id="24" name="TextBox 23"/>
          <p:cNvSpPr txBox="1"/>
          <p:nvPr/>
        </p:nvSpPr>
        <p:spPr>
          <a:xfrm>
            <a:off x="6355080" y="3474720"/>
            <a:ext cx="5212080" cy="274320"/>
          </a:xfrm>
          <a:prstGeom prst="rect">
            <a:avLst/>
          </a:prstGeom>
          <a:noFill/>
        </p:spPr>
        <p:txBody>
          <a:bodyPr wrap="square" lIns="0" rIns="0" tIns="0" bIns="0" anchor="t">
            <a:spAutoFit/>
          </a:bodyPr>
          <a:lstStyle/>
          <a:p>
            <a:pPr algn="l">
              <a:lnSpc>
                <a:spcPct val="112000"/>
              </a:lnSpc>
              <a:spcAft>
                <a:spcPts val="0"/>
              </a:spcAft>
            </a:pPr>
            <a:r>
              <a:rPr sz="1300" b="1" i="0">
                <a:solidFill>
                  <a:srgbClr val="15323A"/>
                </a:solidFill>
                <a:latin typeface="Calibri"/>
              </a:rPr>
              <a:t>2. Crown belum duduk merata saat try-in</a:t>
            </a:r>
          </a:p>
        </p:txBody>
      </p:sp>
      <p:sp>
        <p:nvSpPr>
          <p:cNvPr id="25" name="TextBox 24"/>
          <p:cNvSpPr txBox="1"/>
          <p:nvPr/>
        </p:nvSpPr>
        <p:spPr>
          <a:xfrm>
            <a:off x="6355080" y="3767328"/>
            <a:ext cx="5212080" cy="274320"/>
          </a:xfrm>
          <a:prstGeom prst="rect">
            <a:avLst/>
          </a:prstGeom>
          <a:noFill/>
        </p:spPr>
        <p:txBody>
          <a:bodyPr wrap="square" lIns="0" rIns="0" tIns="0" bIns="0" anchor="t">
            <a:spAutoFit/>
          </a:bodyPr>
          <a:lstStyle/>
          <a:p>
            <a:pPr algn="l">
              <a:lnSpc>
                <a:spcPct val="112000"/>
              </a:lnSpc>
              <a:spcAft>
                <a:spcPts val="0"/>
              </a:spcAft>
            </a:pPr>
            <a:r>
              <a:rPr sz="950" b="0" i="0">
                <a:solidFill>
                  <a:srgbClr val="47646C"/>
                </a:solidFill>
                <a:latin typeface="Calibri"/>
              </a:rPr>
              <a:t>Tepi servikal terangkat di distal. Apa langkah berikutnya?</a:t>
            </a:r>
          </a:p>
        </p:txBody>
      </p:sp>
      <p:sp>
        <p:nvSpPr>
          <p:cNvPr id="26" name="Rounded Rectangle 25"/>
          <p:cNvSpPr/>
          <p:nvPr/>
        </p:nvSpPr>
        <p:spPr>
          <a:xfrm>
            <a:off x="6355080" y="40690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0" y="41422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Tekan dengan bite stick sampai duduk</a:t>
            </a:r>
          </a:p>
        </p:txBody>
      </p:sp>
      <p:sp>
        <p:nvSpPr>
          <p:cNvPr id="28" name="Rounded Rectangle 27"/>
          <p:cNvSpPr/>
          <p:nvPr/>
        </p:nvSpPr>
        <p:spPr>
          <a:xfrm>
            <a:off x="6355080" y="45262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45994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Periksa ledge dan sisa kontak distal</a:t>
            </a:r>
          </a:p>
        </p:txBody>
      </p:sp>
      <p:sp>
        <p:nvSpPr>
          <p:cNvPr id="30" name="Rounded Rectangle 29"/>
          <p:cNvSpPr/>
          <p:nvPr/>
        </p:nvSpPr>
        <p:spPr>
          <a:xfrm>
            <a:off x="6355080" y="4983480"/>
            <a:ext cx="5212080" cy="365760"/>
          </a:xfrm>
          <a:prstGeom prst="roundRect">
            <a:avLst>
              <a:gd name="adj" fmla="val 50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5056632"/>
            <a:ext cx="4937760" cy="256032"/>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Ganti crown satu ukuran lebih besar</a:t>
            </a:r>
          </a:p>
        </p:txBody>
      </p:sp>
      <p:sp>
        <p:nvSpPr>
          <p:cNvPr id="32" name="TextBox 31"/>
          <p:cNvSpPr txBox="1"/>
          <p:nvPr/>
        </p:nvSpPr>
        <p:spPr>
          <a:xfrm>
            <a:off x="6355080" y="5532120"/>
            <a:ext cx="5212080" cy="45720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Jawaban dan alasan ada di catatan pembicara versi ini.</a:t>
            </a:r>
          </a:p>
        </p:txBody>
      </p:sp>
      <p:sp>
        <p:nvSpPr>
          <p:cNvPr id="33" name="Rectangle 32"/>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SDCEP 2025; Randall 2002</a:t>
            </a:r>
          </a:p>
        </p:txBody>
      </p:sp>
      <p:sp>
        <p:nvSpPr>
          <p:cNvPr id="35" name="TextBox 34"/>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KUIS</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800" b="0" i="0">
                <a:solidFill>
                  <a:srgbClr val="15323A"/>
                </a:solidFill>
                <a:latin typeface="Georgia"/>
              </a:rPr>
              <a:t>Lima soal menguji keputusan pada penyulit umum</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14</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20240"/>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1. Nyeri spontan malam, molar desidui. Hall atau konvensional?</a:t>
            </a:r>
          </a:p>
        </p:txBody>
      </p:sp>
      <p:sp>
        <p:nvSpPr>
          <p:cNvPr id="10" name="Rounded Rectangle 9"/>
          <p:cNvSpPr/>
          <p:nvPr/>
        </p:nvSpPr>
        <p:spPr>
          <a:xfrm>
            <a:off x="566928" y="2523744"/>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706624"/>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2. Berapa reduksi oklusal yang paling banyak dipakai?</a:t>
            </a:r>
          </a:p>
        </p:txBody>
      </p:sp>
      <p:sp>
        <p:nvSpPr>
          <p:cNvPr id="12" name="Rounded Rectangle 11"/>
          <p:cNvSpPr/>
          <p:nvPr/>
        </p:nvSpPr>
        <p:spPr>
          <a:xfrm>
            <a:off x="566928" y="3310128"/>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3493008"/>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3. Crown tidak duduk, ada ledge. Apa langkah berikutnya?</a:t>
            </a:r>
          </a:p>
        </p:txBody>
      </p:sp>
      <p:sp>
        <p:nvSpPr>
          <p:cNvPr id="14" name="Rounded Rectangle 13"/>
          <p:cNvSpPr/>
          <p:nvPr/>
        </p:nvSpPr>
        <p:spPr>
          <a:xfrm>
            <a:off x="566928" y="4096512"/>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279392"/>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4. Apa yang paling menentukan retensi jangka panjang?</a:t>
            </a:r>
          </a:p>
        </p:txBody>
      </p:sp>
      <p:sp>
        <p:nvSpPr>
          <p:cNvPr id="16" name="Rounded Rectangle 15"/>
          <p:cNvSpPr/>
          <p:nvPr/>
        </p:nvSpPr>
        <p:spPr>
          <a:xfrm>
            <a:off x="566928" y="4882896"/>
            <a:ext cx="10561320" cy="640080"/>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5065776"/>
            <a:ext cx="10149840" cy="310896"/>
          </a:xfrm>
          <a:prstGeom prst="rect">
            <a:avLst/>
          </a:prstGeom>
          <a:noFill/>
        </p:spPr>
        <p:txBody>
          <a:bodyPr wrap="square" lIns="0" rIns="0" tIns="0" bIns="0" anchor="t">
            <a:spAutoFit/>
          </a:bodyPr>
          <a:lstStyle/>
          <a:p>
            <a:pPr algn="l">
              <a:lnSpc>
                <a:spcPct val="112000"/>
              </a:lnSpc>
              <a:spcAft>
                <a:spcPts val="0"/>
              </a:spcAft>
            </a:pPr>
            <a:r>
              <a:rPr sz="1150" b="0" i="0">
                <a:solidFill>
                  <a:srgbClr val="15323A"/>
                </a:solidFill>
                <a:latin typeface="Calibri"/>
              </a:rPr>
              <a:t>5. MIH berat pada molar permanen. Pilihan dengan bukti terkuat?</a:t>
            </a:r>
          </a:p>
        </p:txBody>
      </p:sp>
      <p:sp>
        <p:nvSpPr>
          <p:cNvPr id="18" name="TextBox 17"/>
          <p:cNvSpPr txBox="1"/>
          <p:nvPr/>
        </p:nvSpPr>
        <p:spPr>
          <a:xfrm>
            <a:off x="566928" y="5669280"/>
            <a:ext cx="10515600" cy="274320"/>
          </a:xfrm>
          <a:prstGeom prst="rect">
            <a:avLst/>
          </a:prstGeom>
          <a:noFill/>
        </p:spPr>
        <p:txBody>
          <a:bodyPr wrap="square" lIns="0" rIns="0" tIns="0" bIns="0" anchor="t">
            <a:spAutoFit/>
          </a:bodyPr>
          <a:lstStyle/>
          <a:p>
            <a:pPr algn="l">
              <a:lnSpc>
                <a:spcPct val="112000"/>
              </a:lnSpc>
              <a:spcAft>
                <a:spcPts val="0"/>
              </a:spcAft>
            </a:pPr>
            <a:r>
              <a:rPr sz="850" b="0" i="0">
                <a:solidFill>
                  <a:srgbClr val="7D8F93"/>
                </a:solidFill>
                <a:latin typeface="Calibri"/>
              </a:rPr>
              <a:t>Jawaban: 1 konvensional, 2 1,0–1,5 mm, 3 periksa ledge, 4 kontur dan crimping, 5 SSC.</a:t>
            </a:r>
          </a:p>
        </p:txBody>
      </p:sp>
      <p:sp>
        <p:nvSpPr>
          <p:cNvPr id="19" name="Rectangle 18"/>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2024; Farias 2022; Randall 2002</a:t>
            </a:r>
          </a:p>
        </p:txBody>
      </p:sp>
      <p:sp>
        <p:nvSpPr>
          <p:cNvPr id="21" name="TextBox 20"/>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PENUTUP</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3000" b="0" i="0">
                <a:solidFill>
                  <a:srgbClr val="15323A"/>
                </a:solidFill>
                <a:latin typeface="Georgia"/>
              </a:rPr>
              <a:t>Tiga hal yang harus diingat</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15</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Rounded Rectangle 7"/>
          <p:cNvSpPr/>
          <p:nvPr/>
        </p:nvSpPr>
        <p:spPr>
          <a:xfrm>
            <a:off x="566928" y="1737360"/>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920240"/>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1</a:t>
            </a:r>
          </a:p>
        </p:txBody>
      </p:sp>
      <p:sp>
        <p:nvSpPr>
          <p:cNvPr id="10" name="TextBox 9"/>
          <p:cNvSpPr txBox="1"/>
          <p:nvPr/>
        </p:nvSpPr>
        <p:spPr>
          <a:xfrm>
            <a:off x="1435607" y="1874519"/>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SSC menutup seluruh mahkota</a:t>
            </a:r>
          </a:p>
        </p:txBody>
      </p:sp>
      <p:sp>
        <p:nvSpPr>
          <p:cNvPr id="11" name="TextBox 10"/>
          <p:cNvSpPr txBox="1"/>
          <p:nvPr/>
        </p:nvSpPr>
        <p:spPr>
          <a:xfrm>
            <a:off x="1435607" y="2304288"/>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Retensi dari margin dan undercut servikal. Crimping lebih menentukan daripada semen.</a:t>
            </a:r>
          </a:p>
        </p:txBody>
      </p:sp>
      <p:sp>
        <p:nvSpPr>
          <p:cNvPr id="12" name="Rounded Rectangle 11"/>
          <p:cNvSpPr/>
          <p:nvPr/>
        </p:nvSpPr>
        <p:spPr>
          <a:xfrm>
            <a:off x="566928" y="3035808"/>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3218688"/>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2</a:t>
            </a:r>
          </a:p>
        </p:txBody>
      </p:sp>
      <p:sp>
        <p:nvSpPr>
          <p:cNvPr id="14" name="TextBox 13"/>
          <p:cNvSpPr txBox="1"/>
          <p:nvPr/>
        </p:nvSpPr>
        <p:spPr>
          <a:xfrm>
            <a:off x="1435607" y="3172968"/>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Hall hanya untuk gigi vital dengan dentine bridge jelas</a:t>
            </a:r>
          </a:p>
        </p:txBody>
      </p:sp>
      <p:sp>
        <p:nvSpPr>
          <p:cNvPr id="15" name="TextBox 14"/>
          <p:cNvSpPr txBox="1"/>
          <p:nvPr/>
        </p:nvSpPr>
        <p:spPr>
          <a:xfrm>
            <a:off x="1435607" y="3602736"/>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Nyeri spontan atau abses mengubah rencana. Pilih konvensional setelah pulp therapy.</a:t>
            </a:r>
          </a:p>
        </p:txBody>
      </p:sp>
      <p:sp>
        <p:nvSpPr>
          <p:cNvPr id="16" name="Rounded Rectangle 15"/>
          <p:cNvSpPr/>
          <p:nvPr/>
        </p:nvSpPr>
        <p:spPr>
          <a:xfrm>
            <a:off x="566928" y="4334256"/>
            <a:ext cx="10561320" cy="1133856"/>
          </a:xfrm>
          <a:prstGeom prst="roundRect">
            <a:avLst>
              <a:gd name="adj" fmla="val 9000"/>
            </a:avLst>
          </a:prstGeom>
          <a:solidFill>
            <a:srgbClr val="FFFDF8"/>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8" y="4517136"/>
            <a:ext cx="640080" cy="731520"/>
          </a:xfrm>
          <a:prstGeom prst="rect">
            <a:avLst/>
          </a:prstGeom>
          <a:noFill/>
        </p:spPr>
        <p:txBody>
          <a:bodyPr wrap="square" lIns="0" rIns="0" tIns="0" bIns="0" anchor="t">
            <a:spAutoFit/>
          </a:bodyPr>
          <a:lstStyle/>
          <a:p>
            <a:pPr algn="l">
              <a:lnSpc>
                <a:spcPct val="112000"/>
              </a:lnSpc>
              <a:spcAft>
                <a:spcPts val="0"/>
              </a:spcAft>
            </a:pPr>
            <a:r>
              <a:rPr sz="3200" b="0" i="0">
                <a:solidFill>
                  <a:srgbClr val="C65B45"/>
                </a:solidFill>
                <a:latin typeface="Georgia"/>
              </a:rPr>
              <a:t>3</a:t>
            </a:r>
          </a:p>
        </p:txBody>
      </p:sp>
      <p:sp>
        <p:nvSpPr>
          <p:cNvPr id="18" name="TextBox 17"/>
          <p:cNvSpPr txBox="1"/>
          <p:nvPr/>
        </p:nvSpPr>
        <p:spPr>
          <a:xfrm>
            <a:off x="1435607" y="4471416"/>
            <a:ext cx="9418320" cy="365760"/>
          </a:xfrm>
          <a:prstGeom prst="rect">
            <a:avLst/>
          </a:prstGeom>
          <a:noFill/>
        </p:spPr>
        <p:txBody>
          <a:bodyPr wrap="square" lIns="0" rIns="0" tIns="0" bIns="0" anchor="t">
            <a:spAutoFit/>
          </a:bodyPr>
          <a:lstStyle/>
          <a:p>
            <a:pPr algn="l">
              <a:lnSpc>
                <a:spcPct val="112000"/>
              </a:lnSpc>
              <a:spcAft>
                <a:spcPts val="0"/>
              </a:spcAft>
            </a:pPr>
            <a:r>
              <a:rPr sz="1500" b="0" i="0">
                <a:solidFill>
                  <a:srgbClr val="15323A"/>
                </a:solidFill>
                <a:latin typeface="Georgia"/>
              </a:rPr>
              <a:t>Baca angka sesuai definisinya</a:t>
            </a:r>
          </a:p>
        </p:txBody>
      </p:sp>
      <p:sp>
        <p:nvSpPr>
          <p:cNvPr id="19" name="TextBox 18"/>
          <p:cNvSpPr txBox="1"/>
          <p:nvPr/>
        </p:nvSpPr>
        <p:spPr>
          <a:xfrm>
            <a:off x="1435607" y="4901184"/>
            <a:ext cx="9418320" cy="457200"/>
          </a:xfrm>
          <a:prstGeom prst="rect">
            <a:avLst/>
          </a:prstGeom>
          <a:noFill/>
        </p:spPr>
        <p:txBody>
          <a:bodyPr wrap="square" lIns="0" rIns="0" tIns="0" bIns="0" anchor="t">
            <a:spAutoFit/>
          </a:bodyPr>
          <a:lstStyle/>
          <a:p>
            <a:pPr algn="l">
              <a:lnSpc>
                <a:spcPct val="112000"/>
              </a:lnSpc>
              <a:spcAft>
                <a:spcPts val="0"/>
              </a:spcAft>
            </a:pPr>
            <a:r>
              <a:rPr sz="1050" b="0" i="0">
                <a:solidFill>
                  <a:srgbClr val="47646C"/>
                </a:solidFill>
                <a:latin typeface="Calibri"/>
              </a:rPr>
              <a:t>Success, survival, dan retention bukan hal yang sama.</a:t>
            </a:r>
          </a:p>
        </p:txBody>
      </p:sp>
      <p:sp>
        <p:nvSpPr>
          <p:cNvPr id="20" name="TextBox 19"/>
          <p:cNvSpPr txBox="1"/>
          <p:nvPr/>
        </p:nvSpPr>
        <p:spPr>
          <a:xfrm>
            <a:off x="566928" y="5669280"/>
            <a:ext cx="10515600" cy="365760"/>
          </a:xfrm>
          <a:prstGeom prst="rect">
            <a:avLst/>
          </a:prstGeom>
          <a:noFill/>
        </p:spPr>
        <p:txBody>
          <a:bodyPr wrap="square" lIns="0" rIns="0" tIns="0" bIns="0" anchor="t">
            <a:spAutoFit/>
          </a:bodyPr>
          <a:lstStyle/>
          <a:p>
            <a:pPr algn="l">
              <a:lnSpc>
                <a:spcPct val="112000"/>
              </a:lnSpc>
              <a:spcAft>
                <a:spcPts val="0"/>
              </a:spcAft>
            </a:pPr>
            <a:r>
              <a:rPr sz="900" b="0" i="0">
                <a:solidFill>
                  <a:srgbClr val="7D8F93"/>
                </a:solidFill>
                <a:latin typeface="Calibri"/>
              </a:rPr>
              <a:t>Materi edukasi. Keputusan klinis tetap mempertimbangkan kondisi pasien dan fasilitas.</a:t>
            </a:r>
          </a:p>
        </p:txBody>
      </p:sp>
      <p:sp>
        <p:nvSpPr>
          <p:cNvPr id="21" name="Rectangle 2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AAPD 2025; Innes 2015 Cochrane; Lampl 2025</a:t>
            </a:r>
          </a:p>
        </p:txBody>
      </p:sp>
      <p:sp>
        <p:nvSpPr>
          <p:cNvPr id="23" name="TextBox 2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1–15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16</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 American Academy of Pediatric Dentistry. Pediatric restorative dentistry. Reference Manual. Chicago: AAPD; 2025.</a:t>
            </a:r>
          </a:p>
          <a:p>
            <a:pPr>
              <a:lnSpc>
                <a:spcPct val="100000"/>
              </a:lnSpc>
              <a:spcAft>
                <a:spcPts val="900"/>
              </a:spcAft>
            </a:pPr>
            <a:r>
              <a:rPr sz="900">
                <a:solidFill>
                  <a:srgbClr val="47646C"/>
                </a:solidFill>
                <a:latin typeface="Calibri"/>
              </a:rPr>
              <a:t>2. Kindelan SA, Day P, Nichol R, Willmott N, Fayle SA. UK National Clinical Guidelines: stainless steel preformed crowns for primary molars. Int J Paediatr Dent. 2008;18(Suppl 1):20-28. doi:10.1111/j.1365-263X.2008.00935.x</a:t>
            </a:r>
          </a:p>
          <a:p>
            <a:pPr>
              <a:lnSpc>
                <a:spcPct val="100000"/>
              </a:lnSpc>
              <a:spcAft>
                <a:spcPts val="900"/>
              </a:spcAft>
            </a:pPr>
            <a:r>
              <a:rPr sz="900">
                <a:solidFill>
                  <a:srgbClr val="47646C"/>
                </a:solidFill>
                <a:latin typeface="Calibri"/>
              </a:rPr>
              <a:t>3. Innes NPT, Ricketts D, Chong LY, Keightley AJ, Lamont T, Santamaria RM. Preformed crowns for decayed primary molar teeth. Cochrane Database Syst Rev. 2015;(12):CD005512. doi:10.1002/14651858.CD005512.pub3</a:t>
            </a:r>
          </a:p>
          <a:p>
            <a:pPr>
              <a:lnSpc>
                <a:spcPct val="100000"/>
              </a:lnSpc>
              <a:spcAft>
                <a:spcPts val="900"/>
              </a:spcAft>
            </a:pPr>
            <a:r>
              <a:rPr sz="900">
                <a:solidFill>
                  <a:srgbClr val="47646C"/>
                </a:solidFill>
                <a:latin typeface="Calibri"/>
              </a:rPr>
              <a:t>4. Innes NPT, Evans DJP, Stirrups DR. Sealing caries in primary molars: randomized control trial, 5-year results. J Dent Res. 2011;90(12):1405-1410. doi:10.1177/0022034511422064</a:t>
            </a:r>
          </a:p>
          <a:p>
            <a:pPr>
              <a:lnSpc>
                <a:spcPct val="100000"/>
              </a:lnSpc>
              <a:spcAft>
                <a:spcPts val="900"/>
              </a:spcAft>
            </a:pPr>
            <a:r>
              <a:rPr sz="900">
                <a:solidFill>
                  <a:srgbClr val="47646C"/>
                </a:solidFill>
                <a:latin typeface="Calibri"/>
              </a:rPr>
              <a:t>5. Innes NPT, Evans DJP, Stirrups DR. The Hall Technique: acceptability and outcomes at 23 months. BMC Oral Health. 2007;7:18. doi:10.1186/1472-6831-7-18</a:t>
            </a:r>
          </a:p>
          <a:p>
            <a:pPr>
              <a:lnSpc>
                <a:spcPct val="100000"/>
              </a:lnSpc>
              <a:spcAft>
                <a:spcPts val="900"/>
              </a:spcAft>
            </a:pPr>
            <a:r>
              <a:rPr sz="900">
                <a:solidFill>
                  <a:srgbClr val="47646C"/>
                </a:solidFill>
                <a:latin typeface="Calibri"/>
              </a:rPr>
              <a:t>6. Tedesco TK, Innes NP, Gallegos CL, et al. Success rate of Hall Technique for restoring carious primary molars: systematic review and meta-analysis. Evid Based Dent. 2025;26(1):65-66. doi:10.1038/s41432-024-01044-0</a:t>
            </a:r>
          </a:p>
          <a:p>
            <a:pPr>
              <a:lnSpc>
                <a:spcPct val="100000"/>
              </a:lnSpc>
              <a:spcAft>
                <a:spcPts val="900"/>
              </a:spcAft>
            </a:pPr>
            <a:r>
              <a:rPr sz="900">
                <a:solidFill>
                  <a:srgbClr val="47646C"/>
                </a:solidFill>
                <a:latin typeface="Calibri"/>
              </a:rPr>
              <a:t>7. Seale NS. The use of stainless steel crowns. Pediatr Dent. 2002;24(5):501-505. PMID 12412965.</a:t>
            </a:r>
          </a:p>
          <a:p>
            <a:pPr>
              <a:lnSpc>
                <a:spcPct val="100000"/>
              </a:lnSpc>
              <a:spcAft>
                <a:spcPts val="900"/>
              </a:spcAft>
            </a:pPr>
            <a:r>
              <a:rPr sz="900">
                <a:solidFill>
                  <a:srgbClr val="47646C"/>
                </a:solidFill>
                <a:latin typeface="Calibri"/>
              </a:rPr>
              <a:t>8. Randall RC. Preformed metal crowns for primary and permanent molar teeth: review of the literature. Pediatr Dent. 2002;24(5):489-500. PMID 12412964.</a:t>
            </a:r>
          </a:p>
        </p:txBody>
      </p:sp>
      <p:sp>
        <p:nvSpPr>
          <p:cNvPr id="9" name="TextBox 8"/>
          <p:cNvSpPr txBox="1"/>
          <p:nvPr/>
        </p:nvSpPr>
        <p:spPr>
          <a:xfrm>
            <a:off x="6099048" y="1627632"/>
            <a:ext cx="539496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9. Seale NS, Randall R. The use of stainless steel crowns: a systematic literature review. Pediatr Dent. 2015;37(2):145-160. PMID 25905656.</a:t>
            </a:r>
          </a:p>
          <a:p>
            <a:pPr>
              <a:lnSpc>
                <a:spcPct val="100000"/>
              </a:lnSpc>
              <a:spcAft>
                <a:spcPts val="900"/>
              </a:spcAft>
            </a:pPr>
            <a:r>
              <a:rPr sz="900">
                <a:solidFill>
                  <a:srgbClr val="47646C"/>
                </a:solidFill>
                <a:latin typeface="Calibri"/>
              </a:rPr>
              <a:t>10. Chisini LA, Collares K, Cademartori MG, et al. Restorations in primary teeth: a systematic review on survival and reasons for failures. Int J Paediatr Dent. 2018;28(2):123-139. doi:10.1111/ipd.12346</a:t>
            </a:r>
          </a:p>
          <a:p>
            <a:pPr>
              <a:lnSpc>
                <a:spcPct val="100000"/>
              </a:lnSpc>
              <a:spcAft>
                <a:spcPts val="900"/>
              </a:spcAft>
            </a:pPr>
            <a:r>
              <a:rPr sz="900">
                <a:solidFill>
                  <a:srgbClr val="47646C"/>
                </a:solidFill>
                <a:latin typeface="Calibri"/>
              </a:rPr>
              <a:t>11. Joshi RS, Gokhale NS, Hugar SM, et al. Longevity of stainless steel crowns on primary molars: systematic review and meta-analysis. J Sci Soc. 2023;50(1):28-38. doi:10.4103/jss.jss_164_22</a:t>
            </a:r>
          </a:p>
          <a:p>
            <a:pPr>
              <a:lnSpc>
                <a:spcPct val="100000"/>
              </a:lnSpc>
              <a:spcAft>
                <a:spcPts val="900"/>
              </a:spcAft>
            </a:pPr>
            <a:r>
              <a:rPr sz="900">
                <a:solidFill>
                  <a:srgbClr val="47646C"/>
                </a:solidFill>
                <a:latin typeface="Calibri"/>
              </a:rPr>
              <a:t>12. Lampl S, Gurunathan D, Mehta D, Jogikalmat K. Reasons for crown failures in primary teeth: systematic review and meta-analysis. Interact J Med Res. 2025;14:e57958. doi:10.2196/57958</a:t>
            </a:r>
          </a:p>
          <a:p>
            <a:pPr>
              <a:lnSpc>
                <a:spcPct val="100000"/>
              </a:lnSpc>
              <a:spcAft>
                <a:spcPts val="900"/>
              </a:spcAft>
            </a:pPr>
            <a:r>
              <a:rPr sz="900">
                <a:solidFill>
                  <a:srgbClr val="47646C"/>
                </a:solidFill>
                <a:latin typeface="Calibri"/>
              </a:rPr>
              <a:t>13. Farias L, Campos MS, Dantas L, et al. Survival of stainless-steel crowns and composite resin restorations in molars affected by MIH. Int J Paediatr Dent. 2022;32(2):240-250. doi:10.1111/ipd.12849</a:t>
            </a:r>
          </a:p>
          <a:p>
            <a:pPr>
              <a:lnSpc>
                <a:spcPct val="100000"/>
              </a:lnSpc>
              <a:spcAft>
                <a:spcPts val="900"/>
              </a:spcAft>
            </a:pPr>
            <a:r>
              <a:rPr sz="900">
                <a:solidFill>
                  <a:srgbClr val="47646C"/>
                </a:solidFill>
                <a:latin typeface="Calibri"/>
              </a:rPr>
              <a:t>14. Chaipattanawan N, et al. Longevity of stainless steel crowns as interim restorations on young permanent first molars after vital pulp therapy. Int J Paediatr Dent. 2022;32(6):925-937. doi:10.1111/ipd.12971</a:t>
            </a:r>
          </a:p>
          <a:p>
            <a:pPr>
              <a:lnSpc>
                <a:spcPct val="100000"/>
              </a:lnSpc>
              <a:spcAft>
                <a:spcPts val="900"/>
              </a:spcAft>
            </a:pPr>
            <a:r>
              <a:rPr sz="900">
                <a:solidFill>
                  <a:srgbClr val="47646C"/>
                </a:solidFill>
                <a:latin typeface="Calibri"/>
              </a:rPr>
              <a:t>15. AAPD. Molar-incisor hypomineralization. Reference Manual. Chicago: AAPD; 2025.</a:t>
            </a:r>
          </a:p>
        </p:txBody>
      </p:sp>
      <p:sp>
        <p:nvSpPr>
          <p:cNvPr id="10" name="Rectangle 9"/>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2" name="TextBox 11"/>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DAFTAR PUSTAKA</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Sumber 16–33 (Vancouver)</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17</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16. AAPD. Use of local anesthesia for pediatric dental patients. Reference Manual. Chicago: AAPD; 2025.</a:t>
            </a:r>
          </a:p>
          <a:p>
            <a:pPr>
              <a:lnSpc>
                <a:spcPct val="100000"/>
              </a:lnSpc>
              <a:spcAft>
                <a:spcPts val="900"/>
              </a:spcAft>
            </a:pPr>
            <a:r>
              <a:rPr sz="900">
                <a:solidFill>
                  <a:srgbClr val="47646C"/>
                </a:solidFill>
                <a:latin typeface="Calibri"/>
              </a:rPr>
              <a:t>17. AAPD. Behavior guidance for the pediatric dental patient. Reference Manual. Chicago: AAPD; 2025.</a:t>
            </a:r>
          </a:p>
          <a:p>
            <a:pPr>
              <a:lnSpc>
                <a:spcPct val="100000"/>
              </a:lnSpc>
              <a:spcAft>
                <a:spcPts val="900"/>
              </a:spcAft>
            </a:pPr>
            <a:r>
              <a:rPr sz="900">
                <a:solidFill>
                  <a:srgbClr val="47646C"/>
                </a:solidFill>
                <a:latin typeface="Calibri"/>
              </a:rPr>
              <a:t>18. AAPD. Informed consent. Reference Manual. Chicago: AAPD; 2025.</a:t>
            </a:r>
          </a:p>
          <a:p>
            <a:pPr>
              <a:lnSpc>
                <a:spcPct val="100000"/>
              </a:lnSpc>
              <a:spcAft>
                <a:spcPts val="900"/>
              </a:spcAft>
            </a:pPr>
            <a:r>
              <a:rPr sz="900">
                <a:solidFill>
                  <a:srgbClr val="47646C"/>
                </a:solidFill>
                <a:latin typeface="Calibri"/>
              </a:rPr>
              <a:t>19. American Academy of Pediatric Dentistry. Caries-risk assessment and management for infants, children, and adolescents. Reference Manual. Chicago: AAPD; 2025.</a:t>
            </a:r>
          </a:p>
          <a:p>
            <a:pPr>
              <a:lnSpc>
                <a:spcPct val="100000"/>
              </a:lnSpc>
              <a:spcAft>
                <a:spcPts val="900"/>
              </a:spcAft>
            </a:pPr>
            <a:r>
              <a:rPr sz="900">
                <a:solidFill>
                  <a:srgbClr val="47646C"/>
                </a:solidFill>
                <a:latin typeface="Calibri"/>
              </a:rPr>
              <a:t>20. Scottish Dental Clinical Effectiveness Programme. Prevention and management of dental caries in children. 3rd ed. Dundee: SDCEP; 2025.</a:t>
            </a:r>
          </a:p>
          <a:p>
            <a:pPr>
              <a:lnSpc>
                <a:spcPct val="100000"/>
              </a:lnSpc>
              <a:spcAft>
                <a:spcPts val="900"/>
              </a:spcAft>
            </a:pPr>
            <a:r>
              <a:rPr sz="900">
                <a:solidFill>
                  <a:srgbClr val="47646C"/>
                </a:solidFill>
                <a:latin typeface="Calibri"/>
              </a:rPr>
              <a:t>21. Innes N, Evans D, Hall N. The Hall Technique. 4th ed. Dundee: University of Dundee; 2015.</a:t>
            </a:r>
          </a:p>
          <a:p>
            <a:pPr>
              <a:lnSpc>
                <a:spcPct val="100000"/>
              </a:lnSpc>
              <a:spcAft>
                <a:spcPts val="900"/>
              </a:spcAft>
            </a:pPr>
            <a:r>
              <a:rPr sz="900">
                <a:solidFill>
                  <a:srgbClr val="47646C"/>
                </a:solidFill>
                <a:latin typeface="Calibri"/>
              </a:rPr>
              <a:t>22. Amlani DV, Brizuela M. Stainless steel crowns in primary dentition. StatPearls. Treasure Island: StatPearls Publishing; 2023. PMID 34662061.</a:t>
            </a:r>
          </a:p>
          <a:p>
            <a:pPr>
              <a:lnSpc>
                <a:spcPct val="100000"/>
              </a:lnSpc>
              <a:spcAft>
                <a:spcPts val="900"/>
              </a:spcAft>
            </a:pPr>
            <a:r>
              <a:rPr sz="900">
                <a:solidFill>
                  <a:srgbClr val="47646C"/>
                </a:solidFill>
                <a:latin typeface="Calibri"/>
              </a:rPr>
              <a:t>23. Virupaxi S, Pai R, Mandroli P. Retentive strength of luting cements for stainless steel crowns: a systematic review. J Indian Soc Pedod Prev Dent. 2020;38(1):2-7. doi:10.4103/JISPPD.JISPPD_313_19</a:t>
            </a:r>
          </a:p>
        </p:txBody>
      </p:sp>
      <p:sp>
        <p:nvSpPr>
          <p:cNvPr id="9" name="TextBox 8"/>
          <p:cNvSpPr txBox="1"/>
          <p:nvPr/>
        </p:nvSpPr>
        <p:spPr>
          <a:xfrm>
            <a:off x="4270248"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24. Patnana AK, Chugh VK, Chugh A, Vanga NRV, Kumar P. Effectiveness of zirconia crowns compared with stainless steel crowns in primary posterior teeth: systematic review and meta-analysis. J Am Dent Assoc. 2022;153(2):158-166.e5. doi:10.1016/j.adaj.2021.08.005</a:t>
            </a:r>
          </a:p>
          <a:p>
            <a:pPr>
              <a:lnSpc>
                <a:spcPct val="100000"/>
              </a:lnSpc>
              <a:spcAft>
                <a:spcPts val="900"/>
              </a:spcAft>
            </a:pPr>
            <a:r>
              <a:rPr sz="900">
                <a:solidFill>
                  <a:srgbClr val="47646C"/>
                </a:solidFill>
                <a:latin typeface="Calibri"/>
              </a:rPr>
              <a:t>25. Pei SL, Chen MH. Comparison of periodontal health of primary teeth restored with zirconia and stainless steel crowns: systematic review and meta-analysis. J Formos Med Assoc. 2023;122(2):148-156. doi:10.1016/j.jfma.2022.08.015</a:t>
            </a:r>
          </a:p>
          <a:p>
            <a:pPr>
              <a:lnSpc>
                <a:spcPct val="100000"/>
              </a:lnSpc>
              <a:spcAft>
                <a:spcPts val="900"/>
              </a:spcAft>
            </a:pPr>
            <a:r>
              <a:rPr sz="900">
                <a:solidFill>
                  <a:srgbClr val="47646C"/>
                </a:solidFill>
                <a:latin typeface="Calibri"/>
              </a:rPr>
              <a:t>26. Aiem E, Smaïl-Faugeron V, Muller-Bolla M. Aesthetic preformed paediatric crowns: systematic review. Int J Paediatr Dent. 2017;27(4):273-282. doi:10.1111/ipd.12260</a:t>
            </a:r>
          </a:p>
          <a:p>
            <a:pPr>
              <a:lnSpc>
                <a:spcPct val="100000"/>
              </a:lnSpc>
              <a:spcAft>
                <a:spcPts val="900"/>
              </a:spcAft>
            </a:pPr>
            <a:r>
              <a:rPr sz="900">
                <a:solidFill>
                  <a:srgbClr val="47646C"/>
                </a:solidFill>
                <a:latin typeface="Calibri"/>
              </a:rPr>
              <a:t>27. Walia T, Salami AA, Bashiri R, Hamoodi OM, Rashid F. A randomised controlled trial of three aesthetic full-coronal restorations in primary maxillary teeth. Eur J Paediatr Dent. 2014;15(2):113-118. PMID 25102458.</a:t>
            </a:r>
          </a:p>
          <a:p>
            <a:pPr>
              <a:lnSpc>
                <a:spcPct val="100000"/>
              </a:lnSpc>
              <a:spcAft>
                <a:spcPts val="900"/>
              </a:spcAft>
            </a:pPr>
            <a:r>
              <a:rPr sz="900">
                <a:solidFill>
                  <a:srgbClr val="47646C"/>
                </a:solidFill>
                <a:latin typeface="Calibri"/>
              </a:rPr>
              <a:t>28. Mohamed HA, Abdalla EM, HagOmer NA, Philip N. Conventional versus Hall technique for preformed metal crown restorations of carious primary molars: a randomised controlled trial. Eur Arch Paediatr Dent. 2026;27(2):599-606. doi:10.1007/s40368-025-01128-0</a:t>
            </a:r>
          </a:p>
          <a:p>
            <a:pPr>
              <a:lnSpc>
                <a:spcPct val="100000"/>
              </a:lnSpc>
              <a:spcAft>
                <a:spcPts val="900"/>
              </a:spcAft>
            </a:pPr>
            <a:r>
              <a:rPr sz="900">
                <a:solidFill>
                  <a:srgbClr val="47646C"/>
                </a:solidFill>
                <a:latin typeface="Calibri"/>
              </a:rPr>
              <a:t>29. Ahlström MG, Thyssen JP, Wennervaldt M, Menné T, Johansen JD. Nickel allergy and allergic contact dermatitis. Contact Dermatitis. 2019;81(4):227-241. doi:10.1111/cod.13327</a:t>
            </a:r>
          </a:p>
          <a:p>
            <a:pPr>
              <a:lnSpc>
                <a:spcPct val="100000"/>
              </a:lnSpc>
              <a:spcAft>
                <a:spcPts val="900"/>
              </a:spcAft>
            </a:pPr>
            <a:r>
              <a:rPr sz="900">
                <a:solidFill>
                  <a:srgbClr val="47646C"/>
                </a:solidFill>
                <a:latin typeface="Calibri"/>
              </a:rPr>
              <a:t>30. Kementerian Kesehatan RI. Laporan Nasional Riskesdas 2018. Jakarta: Badan Litbangkes; 2019.</a:t>
            </a:r>
          </a:p>
          <a:p>
            <a:pPr>
              <a:lnSpc>
                <a:spcPct val="100000"/>
              </a:lnSpc>
              <a:spcAft>
                <a:spcPts val="900"/>
              </a:spcAft>
            </a:pPr>
            <a:r>
              <a:rPr sz="900">
                <a:solidFill>
                  <a:srgbClr val="47646C"/>
                </a:solidFill>
                <a:latin typeface="Calibri"/>
              </a:rPr>
              <a:t>31. Kementerian Kesehatan RI. Survei Kesehatan Indonesia 2023. Jakarta: Kemenkes RI; 2024.</a:t>
            </a:r>
          </a:p>
        </p:txBody>
      </p:sp>
      <p:sp>
        <p:nvSpPr>
          <p:cNvPr id="10" name="TextBox 9"/>
          <p:cNvSpPr txBox="1"/>
          <p:nvPr/>
        </p:nvSpPr>
        <p:spPr>
          <a:xfrm>
            <a:off x="7973567" y="1627632"/>
            <a:ext cx="3520440" cy="4480560"/>
          </a:xfrm>
          <a:prstGeom prst="rect">
            <a:avLst/>
          </a:prstGeom>
          <a:noFill/>
        </p:spPr>
        <p:txBody>
          <a:bodyPr wrap="square" lIns="0" rIns="0" tIns="0" bIns="0">
            <a:spAutoFit/>
          </a:bodyPr>
          <a:lstStyle/>
          <a:p>
            <a:pPr>
              <a:lnSpc>
                <a:spcPct val="100000"/>
              </a:lnSpc>
              <a:spcAft>
                <a:spcPts val="900"/>
              </a:spcAft>
            </a:pPr>
            <a:r>
              <a:rPr sz="900">
                <a:solidFill>
                  <a:srgbClr val="47646C"/>
                </a:solidFill>
                <a:latin typeface="Calibri"/>
              </a:rPr>
              <a:t>32. AAPD. Use of vital pulp therapies in primary teeth with deep caries lesions. Reference Manual. Chicago: AAPD; 2025.</a:t>
            </a:r>
          </a:p>
          <a:p>
            <a:pPr>
              <a:lnSpc>
                <a:spcPct val="100000"/>
              </a:lnSpc>
              <a:spcAft>
                <a:spcPts val="900"/>
              </a:spcAft>
            </a:pPr>
            <a:r>
              <a:rPr sz="900">
                <a:solidFill>
                  <a:srgbClr val="47646C"/>
                </a:solidFill>
                <a:latin typeface="Calibri"/>
              </a:rPr>
              <a:t>33. Miao C, Yang J, Zhu H, et al. Rubber dam isolation for restorative treatment in dental patients. Cochrane Database Syst Rev. 2021;5:CD009858. doi:10.1002/14651858.CD009858.pub3</a:t>
            </a:r>
          </a:p>
        </p:txBody>
      </p:sp>
      <p:sp>
        <p:nvSpPr>
          <p:cNvPr id="11" name="Rectangle 10"/>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Daftar lengkap dengan DOI dan PMID: research_notes.md</a:t>
            </a:r>
          </a:p>
        </p:txBody>
      </p:sp>
      <p:sp>
        <p:nvSpPr>
          <p:cNvPr id="13" name="TextBox 12"/>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C65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65760"/>
            <a:ext cx="9601200" cy="219456"/>
          </a:xfrm>
          <a:prstGeom prst="rect">
            <a:avLst/>
          </a:prstGeom>
          <a:noFill/>
        </p:spPr>
        <p:txBody>
          <a:bodyPr wrap="square" lIns="0" rIns="0" tIns="0" bIns="0" anchor="t">
            <a:spAutoFit/>
          </a:bodyPr>
          <a:lstStyle/>
          <a:p>
            <a:pPr algn="l">
              <a:lnSpc>
                <a:spcPct val="112000"/>
              </a:lnSpc>
              <a:spcAft>
                <a:spcPts val="0"/>
              </a:spcAft>
            </a:pPr>
            <a:r>
              <a:rPr sz="950" b="1" i="0" spc="180">
                <a:solidFill>
                  <a:srgbClr val="C65B45"/>
                </a:solidFill>
                <a:latin typeface="Calibri"/>
              </a:rPr>
              <a:t>LAMPIRAN</a:t>
            </a:r>
          </a:p>
        </p:txBody>
      </p:sp>
      <p:sp>
        <p:nvSpPr>
          <p:cNvPr id="5" name="TextBox 4"/>
          <p:cNvSpPr txBox="1"/>
          <p:nvPr/>
        </p:nvSpPr>
        <p:spPr>
          <a:xfrm>
            <a:off x="566928" y="603504"/>
            <a:ext cx="10607040" cy="960120"/>
          </a:xfrm>
          <a:prstGeom prst="rect">
            <a:avLst/>
          </a:prstGeom>
          <a:noFill/>
        </p:spPr>
        <p:txBody>
          <a:bodyPr wrap="square" lIns="0" rIns="0" tIns="0" bIns="0" anchor="t">
            <a:spAutoFit/>
          </a:bodyPr>
          <a:lstStyle/>
          <a:p>
            <a:pPr algn="l">
              <a:lnSpc>
                <a:spcPct val="103000"/>
              </a:lnSpc>
              <a:spcAft>
                <a:spcPts val="0"/>
              </a:spcAft>
            </a:pPr>
            <a:r>
              <a:rPr sz="2600" b="0" i="0">
                <a:solidFill>
                  <a:srgbClr val="15323A"/>
                </a:solidFill>
                <a:latin typeface="Georgia"/>
              </a:rPr>
              <a:t>Protokol satu halaman untuk dibawa ke klinik</a:t>
            </a:r>
          </a:p>
        </p:txBody>
      </p:sp>
      <p:sp>
        <p:nvSpPr>
          <p:cNvPr id="6" name="TextBox 5"/>
          <p:cNvSpPr txBox="1"/>
          <p:nvPr/>
        </p:nvSpPr>
        <p:spPr>
          <a:xfrm>
            <a:off x="11292840" y="384048"/>
            <a:ext cx="411480" cy="201168"/>
          </a:xfrm>
          <a:prstGeom prst="rect">
            <a:avLst/>
          </a:prstGeom>
          <a:noFill/>
        </p:spPr>
        <p:txBody>
          <a:bodyPr wrap="square" lIns="0" rIns="0" tIns="0" bIns="0" anchor="t">
            <a:spAutoFit/>
          </a:bodyPr>
          <a:lstStyle/>
          <a:p>
            <a:pPr algn="r">
              <a:lnSpc>
                <a:spcPct val="112000"/>
              </a:lnSpc>
              <a:spcAft>
                <a:spcPts val="0"/>
              </a:spcAft>
            </a:pPr>
            <a:r>
              <a:rPr sz="850" b="0" i="0">
                <a:solidFill>
                  <a:srgbClr val="7D8F93"/>
                </a:solidFill>
                <a:latin typeface="Calibri"/>
              </a:rPr>
              <a:t>18</a:t>
            </a:r>
          </a:p>
        </p:txBody>
      </p:sp>
      <p:sp>
        <p:nvSpPr>
          <p:cNvPr id="7" name="Rounded Rectangle 6">
            <a:hlinkClick action="ppaction://hlinksldjump" r:id="rId3"/>
          </p:cNvPr>
          <p:cNvSpPr/>
          <p:nvPr/>
        </p:nvSpPr>
        <p:spPr>
          <a:xfrm>
            <a:off x="10561320" y="310896"/>
            <a:ext cx="713232" cy="274320"/>
          </a:xfrm>
          <a:prstGeom prst="roundRect">
            <a:avLst>
              <a:gd name="adj" fmla="val 50000"/>
            </a:avLst>
          </a:prstGeom>
          <a:noFill/>
          <a:ln w="9525">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a:solidFill>
                  <a:srgbClr val="47646C"/>
                </a:solidFill>
                <a:latin typeface="Calibri"/>
              </a:rPr>
              <a:t>Agenda</a:t>
            </a:r>
          </a:p>
        </p:txBody>
      </p:sp>
      <p:sp>
        <p:nvSpPr>
          <p:cNvPr id="8" name="TextBox 7"/>
          <p:cNvSpPr txBox="1"/>
          <p:nvPr/>
        </p:nvSpPr>
        <p:spPr>
          <a:xfrm>
            <a:off x="56692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SEBELUM TINDAKAN</a:t>
            </a:r>
          </a:p>
        </p:txBody>
      </p:sp>
      <p:sp>
        <p:nvSpPr>
          <p:cNvPr id="9" name="TextBox 8"/>
          <p:cNvSpPr txBox="1"/>
          <p:nvPr/>
        </p:nvSpPr>
        <p:spPr>
          <a:xfrm>
            <a:off x="56692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nyeri, swelling, fistula</a:t>
            </a:r>
          </a:p>
        </p:txBody>
      </p:sp>
      <p:sp>
        <p:nvSpPr>
          <p:cNvPr id="10" name="TextBox 9"/>
          <p:cNvSpPr txBox="1"/>
          <p:nvPr/>
        </p:nvSpPr>
        <p:spPr>
          <a:xfrm>
            <a:off x="56692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Riwayat medis dan alergi nikel</a:t>
            </a:r>
          </a:p>
        </p:txBody>
      </p:sp>
      <p:sp>
        <p:nvSpPr>
          <p:cNvPr id="11" name="TextBox 10"/>
          <p:cNvSpPr txBox="1"/>
          <p:nvPr/>
        </p:nvSpPr>
        <p:spPr>
          <a:xfrm>
            <a:off x="56692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Karies, pulpa, gingiva, oklusi</a:t>
            </a:r>
          </a:p>
        </p:txBody>
      </p:sp>
      <p:sp>
        <p:nvSpPr>
          <p:cNvPr id="12" name="TextBox 11"/>
          <p:cNvSpPr txBox="1"/>
          <p:nvPr/>
        </p:nvSpPr>
        <p:spPr>
          <a:xfrm>
            <a:off x="56692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dan dentine bridge</a:t>
            </a:r>
          </a:p>
        </p:txBody>
      </p:sp>
      <p:sp>
        <p:nvSpPr>
          <p:cNvPr id="13" name="TextBox 12"/>
          <p:cNvSpPr txBox="1"/>
          <p:nvPr/>
        </p:nvSpPr>
        <p:spPr>
          <a:xfrm>
            <a:off x="56692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Pilih teknik dan ukuran</a:t>
            </a:r>
          </a:p>
        </p:txBody>
      </p:sp>
      <p:sp>
        <p:nvSpPr>
          <p:cNvPr id="14" name="TextBox 13"/>
          <p:cNvSpPr txBox="1"/>
          <p:nvPr/>
        </p:nvSpPr>
        <p:spPr>
          <a:xfrm>
            <a:off x="566928"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Informed consent</a:t>
            </a:r>
          </a:p>
        </p:txBody>
      </p:sp>
      <p:sp>
        <p:nvSpPr>
          <p:cNvPr id="15" name="TextBox 14"/>
          <p:cNvSpPr txBox="1"/>
          <p:nvPr/>
        </p:nvSpPr>
        <p:spPr>
          <a:xfrm>
            <a:off x="566928" y="42062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Rencana behavior guidance</a:t>
            </a:r>
          </a:p>
        </p:txBody>
      </p:sp>
      <p:sp>
        <p:nvSpPr>
          <p:cNvPr id="16" name="TextBox 15"/>
          <p:cNvSpPr txBox="1"/>
          <p:nvPr/>
        </p:nvSpPr>
        <p:spPr>
          <a:xfrm>
            <a:off x="335584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1–5</a:t>
            </a:r>
          </a:p>
        </p:txBody>
      </p:sp>
      <p:sp>
        <p:nvSpPr>
          <p:cNvPr id="17" name="TextBox 16"/>
          <p:cNvSpPr txBox="1"/>
          <p:nvPr/>
        </p:nvSpPr>
        <p:spPr>
          <a:xfrm>
            <a:off x="335584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 Anestesi dan isolasi</a:t>
            </a:r>
          </a:p>
        </p:txBody>
      </p:sp>
      <p:sp>
        <p:nvSpPr>
          <p:cNvPr id="18" name="TextBox 17"/>
          <p:cNvSpPr txBox="1"/>
          <p:nvPr/>
        </p:nvSpPr>
        <p:spPr>
          <a:xfrm>
            <a:off x="335584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2 Ukur dan pilih crown</a:t>
            </a:r>
          </a:p>
        </p:txBody>
      </p:sp>
      <p:sp>
        <p:nvSpPr>
          <p:cNvPr id="19" name="TextBox 18"/>
          <p:cNvSpPr txBox="1"/>
          <p:nvPr/>
        </p:nvSpPr>
        <p:spPr>
          <a:xfrm>
            <a:off x="335584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3 Ekskavasi, pulp therapy</a:t>
            </a:r>
          </a:p>
        </p:txBody>
      </p:sp>
      <p:sp>
        <p:nvSpPr>
          <p:cNvPr id="20" name="TextBox 19"/>
          <p:cNvSpPr txBox="1"/>
          <p:nvPr/>
        </p:nvSpPr>
        <p:spPr>
          <a:xfrm>
            <a:off x="335584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4 Reduksi oklusal 1,0–1,5 mm</a:t>
            </a:r>
          </a:p>
        </p:txBody>
      </p:sp>
      <p:sp>
        <p:nvSpPr>
          <p:cNvPr id="21" name="TextBox 20"/>
          <p:cNvSpPr txBox="1"/>
          <p:nvPr/>
        </p:nvSpPr>
        <p:spPr>
          <a:xfrm>
            <a:off x="335584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5 Reduksi proksimal, feather edge</a:t>
            </a:r>
          </a:p>
        </p:txBody>
      </p:sp>
      <p:sp>
        <p:nvSpPr>
          <p:cNvPr id="22" name="TextBox 21"/>
          <p:cNvSpPr txBox="1"/>
          <p:nvPr/>
        </p:nvSpPr>
        <p:spPr>
          <a:xfrm>
            <a:off x="6144768"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KONVENSIONAL 6–10</a:t>
            </a:r>
          </a:p>
        </p:txBody>
      </p:sp>
      <p:sp>
        <p:nvSpPr>
          <p:cNvPr id="23" name="TextBox 22"/>
          <p:cNvSpPr txBox="1"/>
          <p:nvPr/>
        </p:nvSpPr>
        <p:spPr>
          <a:xfrm>
            <a:off x="6144768"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6 Haluskan line angle</a:t>
            </a:r>
          </a:p>
        </p:txBody>
      </p:sp>
      <p:sp>
        <p:nvSpPr>
          <p:cNvPr id="24" name="TextBox 23"/>
          <p:cNvSpPr txBox="1"/>
          <p:nvPr/>
        </p:nvSpPr>
        <p:spPr>
          <a:xfrm>
            <a:off x="6144768"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7 Try-in</a:t>
            </a:r>
          </a:p>
        </p:txBody>
      </p:sp>
      <p:sp>
        <p:nvSpPr>
          <p:cNvPr id="25" name="TextBox 24"/>
          <p:cNvSpPr txBox="1"/>
          <p:nvPr/>
        </p:nvSpPr>
        <p:spPr>
          <a:xfrm>
            <a:off x="6144768"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8 Trim, crimp, contour</a:t>
            </a:r>
          </a:p>
        </p:txBody>
      </p:sp>
      <p:sp>
        <p:nvSpPr>
          <p:cNvPr id="26" name="TextBox 25"/>
          <p:cNvSpPr txBox="1"/>
          <p:nvPr/>
        </p:nvSpPr>
        <p:spPr>
          <a:xfrm>
            <a:off x="6144768"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9 Sementasi</a:t>
            </a:r>
          </a:p>
        </p:txBody>
      </p:sp>
      <p:sp>
        <p:nvSpPr>
          <p:cNvPr id="27" name="TextBox 26"/>
          <p:cNvSpPr txBox="1"/>
          <p:nvPr/>
        </p:nvSpPr>
        <p:spPr>
          <a:xfrm>
            <a:off x="6144768"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10 Cek akhir dan instruksi</a:t>
            </a:r>
          </a:p>
        </p:txBody>
      </p:sp>
      <p:sp>
        <p:nvSpPr>
          <p:cNvPr id="28" name="TextBox 27"/>
          <p:cNvSpPr txBox="1"/>
          <p:nvPr/>
        </p:nvSpPr>
        <p:spPr>
          <a:xfrm>
            <a:off x="8933687" y="1664208"/>
            <a:ext cx="2651760" cy="274320"/>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HALL, KONTROL, KEGAGALAN</a:t>
            </a:r>
          </a:p>
        </p:txBody>
      </p:sp>
      <p:sp>
        <p:nvSpPr>
          <p:cNvPr id="29" name="TextBox 28"/>
          <p:cNvSpPr txBox="1"/>
          <p:nvPr/>
        </p:nvSpPr>
        <p:spPr>
          <a:xfrm>
            <a:off x="8933687" y="20116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Vital, dentine bridge jelas</a:t>
            </a:r>
          </a:p>
        </p:txBody>
      </p:sp>
      <p:sp>
        <p:nvSpPr>
          <p:cNvPr id="30" name="TextBox 29"/>
          <p:cNvSpPr txBox="1"/>
          <p:nvPr/>
        </p:nvSpPr>
        <p:spPr>
          <a:xfrm>
            <a:off x="8933687" y="237744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Separator 3–5 hari</a:t>
            </a:r>
          </a:p>
        </p:txBody>
      </p:sp>
      <p:sp>
        <p:nvSpPr>
          <p:cNvPr id="31" name="TextBox 30"/>
          <p:cNvSpPr txBox="1"/>
          <p:nvPr/>
        </p:nvSpPr>
        <p:spPr>
          <a:xfrm>
            <a:off x="8933687" y="274320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GIC dua pertiga, bite 2–3 menit</a:t>
            </a:r>
          </a:p>
        </p:txBody>
      </p:sp>
      <p:sp>
        <p:nvSpPr>
          <p:cNvPr id="32" name="TextBox 31"/>
          <p:cNvSpPr txBox="1"/>
          <p:nvPr/>
        </p:nvSpPr>
        <p:spPr>
          <a:xfrm>
            <a:off x="8933687" y="310896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Kontrol 6 bulan</a:t>
            </a:r>
          </a:p>
        </p:txBody>
      </p:sp>
      <p:sp>
        <p:nvSpPr>
          <p:cNvPr id="33" name="TextBox 32"/>
          <p:cNvSpPr txBox="1"/>
          <p:nvPr/>
        </p:nvSpPr>
        <p:spPr>
          <a:xfrm>
            <a:off x="8933687" y="347472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Radiograf 6–12 bulan</a:t>
            </a:r>
          </a:p>
        </p:txBody>
      </p:sp>
      <p:sp>
        <p:nvSpPr>
          <p:cNvPr id="34" name="TextBox 33"/>
          <p:cNvSpPr txBox="1"/>
          <p:nvPr/>
        </p:nvSpPr>
        <p:spPr>
          <a:xfrm>
            <a:off x="8933687" y="3840480"/>
            <a:ext cx="2651760" cy="274320"/>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Sukses, gagal minor, gagal mayor</a:t>
            </a:r>
          </a:p>
        </p:txBody>
      </p:sp>
      <p:sp>
        <p:nvSpPr>
          <p:cNvPr id="35" name="Rounded Rectangle 34"/>
          <p:cNvSpPr/>
          <p:nvPr/>
        </p:nvSpPr>
        <p:spPr>
          <a:xfrm>
            <a:off x="56692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980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ANGKA KUNCI</a:t>
            </a:r>
          </a:p>
        </p:txBody>
      </p:sp>
      <p:sp>
        <p:nvSpPr>
          <p:cNvPr id="37" name="TextBox 36"/>
          <p:cNvSpPr txBox="1"/>
          <p:nvPr/>
        </p:nvSpPr>
        <p:spPr>
          <a:xfrm>
            <a:off x="74980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Success SSC 96,1% (Chisini 2018)</a:t>
            </a:r>
          </a:p>
        </p:txBody>
      </p:sp>
      <p:sp>
        <p:nvSpPr>
          <p:cNvPr id="38" name="TextBox 37"/>
          <p:cNvSpPr txBox="1"/>
          <p:nvPr/>
        </p:nvSpPr>
        <p:spPr>
          <a:xfrm>
            <a:off x="74980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Gagal mayor RR 0,18 (Cochrane 2015)</a:t>
            </a:r>
          </a:p>
        </p:txBody>
      </p:sp>
      <p:sp>
        <p:nvSpPr>
          <p:cNvPr id="39" name="TextBox 38"/>
          <p:cNvSpPr txBox="1"/>
          <p:nvPr/>
        </p:nvSpPr>
        <p:spPr>
          <a:xfrm>
            <a:off x="74980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Hall 92% vs 52% (Innes 2011)</a:t>
            </a:r>
          </a:p>
        </p:txBody>
      </p:sp>
      <p:sp>
        <p:nvSpPr>
          <p:cNvPr id="40" name="TextBox 39"/>
          <p:cNvSpPr txBox="1"/>
          <p:nvPr/>
        </p:nvSpPr>
        <p:spPr>
          <a:xfrm>
            <a:off x="74980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Retensi 5 tahun 97,88% (Lampl 2025)</a:t>
            </a:r>
          </a:p>
        </p:txBody>
      </p:sp>
      <p:sp>
        <p:nvSpPr>
          <p:cNvPr id="41" name="Rounded Rectangle 40"/>
          <p:cNvSpPr/>
          <p:nvPr/>
        </p:nvSpPr>
        <p:spPr>
          <a:xfrm>
            <a:off x="6144768" y="4434840"/>
            <a:ext cx="5303520" cy="1170432"/>
          </a:xfrm>
          <a:prstGeom prst="roundRect">
            <a:avLst>
              <a:gd name="adj" fmla="val 9000"/>
            </a:avLst>
          </a:prstGeom>
          <a:solidFill>
            <a:srgbClr val="FDF8EF"/>
          </a:solidFill>
          <a:ln w="12700">
            <a:solidFill>
              <a:srgbClr val="E3D9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27648" y="4526280"/>
            <a:ext cx="4937760" cy="256032"/>
          </a:xfrm>
          <a:prstGeom prst="rect">
            <a:avLst/>
          </a:prstGeom>
          <a:noFill/>
        </p:spPr>
        <p:txBody>
          <a:bodyPr wrap="square" lIns="0" rIns="0" tIns="0" bIns="0" anchor="t">
            <a:spAutoFit/>
          </a:bodyPr>
          <a:lstStyle/>
          <a:p>
            <a:pPr algn="l">
              <a:lnSpc>
                <a:spcPct val="112000"/>
              </a:lnSpc>
              <a:spcAft>
                <a:spcPts val="0"/>
              </a:spcAft>
            </a:pPr>
            <a:r>
              <a:rPr sz="819" b="1" i="0" spc="50">
                <a:solidFill>
                  <a:srgbClr val="C65B45"/>
                </a:solidFill>
                <a:latin typeface="Calibri"/>
              </a:rPr>
              <a:t>PENYULIT DAN TINDAKAN</a:t>
            </a:r>
          </a:p>
        </p:txBody>
      </p:sp>
      <p:sp>
        <p:nvSpPr>
          <p:cNvPr id="43" name="TextBox 42"/>
          <p:cNvSpPr txBox="1"/>
          <p:nvPr/>
        </p:nvSpPr>
        <p:spPr>
          <a:xfrm>
            <a:off x="6327648" y="480974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Longgar: ukuran lebih kecil, crimp ulang</a:t>
            </a:r>
          </a:p>
        </p:txBody>
      </p:sp>
      <p:sp>
        <p:nvSpPr>
          <p:cNvPr id="44" name="TextBox 43"/>
          <p:cNvSpPr txBox="1"/>
          <p:nvPr/>
        </p:nvSpPr>
        <p:spPr>
          <a:xfrm>
            <a:off x="6327648" y="499262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Tidak duduk: periksa ledge dan kontak</a:t>
            </a:r>
          </a:p>
        </p:txBody>
      </p:sp>
      <p:sp>
        <p:nvSpPr>
          <p:cNvPr id="45" name="TextBox 44"/>
          <p:cNvSpPr txBox="1"/>
          <p:nvPr/>
        </p:nvSpPr>
        <p:spPr>
          <a:xfrm>
            <a:off x="6327648" y="517550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Perforasi: ganti crown</a:t>
            </a:r>
          </a:p>
        </p:txBody>
      </p:sp>
      <p:sp>
        <p:nvSpPr>
          <p:cNvPr id="46" name="TextBox 45"/>
          <p:cNvSpPr txBox="1"/>
          <p:nvPr/>
        </p:nvSpPr>
        <p:spPr>
          <a:xfrm>
            <a:off x="6327648" y="5358384"/>
            <a:ext cx="4937760" cy="201168"/>
          </a:xfrm>
          <a:prstGeom prst="rect">
            <a:avLst/>
          </a:prstGeom>
          <a:noFill/>
        </p:spPr>
        <p:txBody>
          <a:bodyPr wrap="square" lIns="0" rIns="0" tIns="0" bIns="0" anchor="t">
            <a:spAutoFit/>
          </a:bodyPr>
          <a:lstStyle/>
          <a:p>
            <a:pPr algn="l">
              <a:lnSpc>
                <a:spcPct val="112000"/>
              </a:lnSpc>
              <a:spcAft>
                <a:spcPts val="0"/>
              </a:spcAft>
            </a:pPr>
            <a:r>
              <a:rPr sz="860" b="0" i="0">
                <a:solidFill>
                  <a:srgbClr val="47646C"/>
                </a:solidFill>
                <a:latin typeface="Calibri"/>
              </a:rPr>
              <a:t>•  Lepas: recement bila crown intak</a:t>
            </a:r>
          </a:p>
        </p:txBody>
      </p:sp>
      <p:sp>
        <p:nvSpPr>
          <p:cNvPr id="47" name="TextBox 46"/>
          <p:cNvSpPr txBox="1"/>
          <p:nvPr/>
        </p:nvSpPr>
        <p:spPr>
          <a:xfrm>
            <a:off x="566928" y="5760720"/>
            <a:ext cx="10607040" cy="320040"/>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Protokol lengkap: protokol_klinis.md. Angka dan DOI: research_notes.md.</a:t>
            </a:r>
          </a:p>
        </p:txBody>
      </p:sp>
      <p:sp>
        <p:nvSpPr>
          <p:cNvPr id="48" name="Rectangle 47"/>
          <p:cNvSpPr/>
          <p:nvPr/>
        </p:nvSpPr>
        <p:spPr>
          <a:xfrm>
            <a:off x="566928" y="6272784"/>
            <a:ext cx="11057839" cy="9525"/>
          </a:xfrm>
          <a:prstGeom prst="rect">
            <a:avLst/>
          </a:prstGeom>
          <a:solidFill>
            <a:srgbClr val="E3D9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6928" y="6355080"/>
            <a:ext cx="9692640" cy="292608"/>
          </a:xfrm>
          <a:prstGeom prst="rect">
            <a:avLst/>
          </a:prstGeom>
          <a:noFill/>
        </p:spPr>
        <p:txBody>
          <a:bodyPr wrap="square" lIns="0" rIns="0" tIns="0" bIns="0" anchor="t">
            <a:spAutoFit/>
          </a:bodyPr>
          <a:lstStyle/>
          <a:p>
            <a:pPr algn="l">
              <a:lnSpc>
                <a:spcPct val="112000"/>
              </a:lnSpc>
              <a:spcAft>
                <a:spcPts val="0"/>
              </a:spcAft>
            </a:pPr>
            <a:r>
              <a:rPr sz="800" b="0" i="0">
                <a:solidFill>
                  <a:srgbClr val="7D8F93"/>
                </a:solidFill>
                <a:latin typeface="Calibri"/>
              </a:rPr>
              <a:t>Kindelan 2008; Randall 2002; Hall Technique Guide 2015; AAPD 2025; SDCEP 2025</a:t>
            </a:r>
          </a:p>
        </p:txBody>
      </p:sp>
      <p:sp>
        <p:nvSpPr>
          <p:cNvPr id="50" name="TextBox 49"/>
          <p:cNvSpPr txBox="1"/>
          <p:nvPr/>
        </p:nvSpPr>
        <p:spPr>
          <a:xfrm>
            <a:off x="10332720" y="6355080"/>
            <a:ext cx="1280160" cy="292608"/>
          </a:xfrm>
          <a:prstGeom prst="rect">
            <a:avLst/>
          </a:prstGeom>
          <a:noFill/>
        </p:spPr>
        <p:txBody>
          <a:bodyPr wrap="square" lIns="0" rIns="0" tIns="0" bIns="0" anchor="t">
            <a:spAutoFit/>
          </a:bodyPr>
          <a:lstStyle/>
          <a:p>
            <a:pPr algn="r">
              <a:lnSpc>
                <a:spcPct val="112000"/>
              </a:lnSpc>
              <a:spcAft>
                <a:spcPts val="0"/>
              </a:spcAft>
            </a:pPr>
            <a:r>
              <a:rPr sz="800" b="0" i="0">
                <a:solidFill>
                  <a:srgbClr val="7D8F93"/>
                </a:solidFill>
                <a:latin typeface="Calibri"/>
              </a:rPr>
              <a:t>IIK Bhaktiwiyata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