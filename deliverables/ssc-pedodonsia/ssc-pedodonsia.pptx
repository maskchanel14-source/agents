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sembilan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komplikasi dan cara mencegahnya, bagian tujuh bukti dan alternatif estetik.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angka keberhasilan 96,1 persen dari 31 studi, dengan lama follow-up yang berbeda-beda. Cochrane 2015 memberi angka yang lebih kuat: risiko kegagalan mayor 0,18 dibanding tambalan, artinya sekitar seperlima. Dan pada MIH berat, SSC bertahan pada 94,4 persen gigi, sedangkan komposit hanya 49,2 persen setelah 24 bulan. Perhatikan, angka-angka ini memakai definisi berbeda dan populasi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restorasi. Kalau karies sudah lebih dari dua permukaan atau melewati line angle, restorasi langsung sulit dipertahankan, jadi arahnya ke SSC. Sebelum menyiapkan gigi, periksa tanda pulpitis ireversibel: nyeri spontan, absen, atau fistula. Bila ada, pulpanya diterapi lebih dulu, baru SSC dipasang bila gigi masih layak dipertahankan. Kalau karies hanya satu permukaan dan risiko kariesnya rendah, restorasi langsung masih wajar. Tiga hal yang harus siap sebelum preparasi: anestesi adekuat, isolasi, dan crown dengan beberapa ukuran.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komplikasi ini hampir semuanya bisa dilacak ke preparasi atau pemilihan ukuran. Crown longgar berarti crimping kurang, bukan semen kurang. Crown tidak duduk hampir selalu karena ledge atau kontak yang belum putus. Perdarahan saat try-in berarti margin terlalu panjang. Soal MIH, singkat saja: itu kelainan enamel sejak masa perkembangan, molar pertama permanen rapuh dan hipersensitif, dan crown menutup seluruh permukaan gigi.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Grafik ini membandingkan crown yang masih terpasang setelah lima tahun. SSC tertinggi, 97,88 persen, lalu zirkonia 97,09, komposit 92,18, RMGIC 90,30, compomer 88,90, dan strip crown 83,48. Perhatikan sumbunya dipotong pada 80 persen, jadi selisih tiga sampai empat persen terlihat besar. Di sebelah kanan ada tiga angka pendukung, dan tiap angka berasal dari studi berbeda, jadi jangan dijumlahkan. Ingat juga, retensi bukan keberhasilan: crown bisa masih terpasang tetapi gigi di bawahnya sudah nekrotik.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SSC konvensional, komposit, atau pulpotomi lebih dulu? Setelah mereka memilih, lanjut ke pertanyaan kedua. Crown belum duduk di distal. Di sinilah kebanyakan orang langsung memilih crown lebih besar, padahal masalahnya biasanya ledge atau sisa kontak. Kunci: SSC konvensional paling tepat karena gigi masih vital dan dentine bridge terlihat, jadi pulpa belum perlu dibuka.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pilihan restorasi, angka reduksi oklusal, penanganan crown yang tidak duduk, dan faktor retensi. Kalau waktu habis, cukup kerjakan soal satu dan tiga. Jawaban yang salah tetap menampilkan penjelasan, jadi bisa dipakai untuk diskusi. Kunci jawaban: 1 SSC konvensional;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yang menutup seluruh permukaan gigi, dan retensinya ditentukan margin serta undercut servikal, bukan oleh semen. Dua, crown hanya duduk kalau kontak proksimal sudah putus, line angle dihaluskan, dan marginnya berada satu milimeter di bawah gingiva. Tiga, angka keberhasilan, angka gigi yang masih bertahan, dan angka crown yang masih terpasang tidak boleh dicampur karena definisinya berbeda.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komplikasi,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 Id="rId4"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1.xml"/><Relationship Id="rId5"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langkah pemasangan, dan bukti klinis dalam sembilan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9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jadi tidak menggantikan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Delapan bagian, sembilan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1"/>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Tambalan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Anatomi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Komplikasi dan pencegahan</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1:15</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 estetik</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49" name="Rectangle 4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8 menit 30 detik konten, sekitar 9 menit dengan perpindahan</a:t>
            </a:r>
          </a:p>
        </p:txBody>
      </p:sp>
      <p:sp>
        <p:nvSpPr>
          <p:cNvPr id="51" name="TextBox 5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yang gagal berulang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tambalan terbuka dan karies muncul lagi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 terbentuk di bawah tambalan</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muncul karena pulpa sudah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hanya sekitar 1 mm, dentinnya tipis, dan tanduk pulpanya tinggi. Kapan kita berhenti menambal dan mulai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Lampl 2025;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SSC,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risiko kegagalan mayor crown dibanding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94,4%</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bertahan pada MIH, komposit 49,2%, 24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 III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servikal menahan crown; semen hanya menutup margin.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gigi yang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awalnya lebih tinggi, tetapi perawatan ulang lebih jarang.</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Farias 2022;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22605C"/>
                </a:solidFill>
                <a:latin typeface="Calibri"/>
              </a:rPr>
              <a:t>INDIKASI</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2000"/>
              </a:lnSpc>
              <a:spcAft>
                <a:spcPts val="0"/>
              </a:spcAft>
            </a:pPr>
            <a:r>
              <a:rPr sz="1000" b="0" i="0">
                <a:solidFill>
                  <a:srgbClr val="47646C"/>
                </a:solidFill>
                <a:latin typeface="Calibri"/>
              </a:rPr>
              <a:t>1.  Karies melewati line angle atau lebih dari 2 permukaan</a:t>
            </a:r>
          </a:p>
          <a:p>
            <a:pPr algn="l">
              <a:lnSpc>
                <a:spcPct val="122000"/>
              </a:lnSpc>
              <a:spcAft>
                <a:spcPts val="0"/>
              </a:spcAft>
            </a:pPr>
            <a:r>
              <a:rPr sz="1000" b="0" i="0">
                <a:solidFill>
                  <a:srgbClr val="47646C"/>
                </a:solidFill>
                <a:latin typeface="Calibri"/>
              </a:rPr>
              <a:t>2.  Gigi setelah pulpotomi atau pulpektomi</a:t>
            </a:r>
          </a:p>
          <a:p>
            <a:pPr algn="l">
              <a:lnSpc>
                <a:spcPct val="122000"/>
              </a:lnSpc>
              <a:spcAft>
                <a:spcPts val="0"/>
              </a:spcAft>
            </a:pPr>
            <a:r>
              <a:rPr sz="1000" b="0" i="0">
                <a:solidFill>
                  <a:srgbClr val="47646C"/>
                </a:solidFill>
                <a:latin typeface="Calibri"/>
              </a:rPr>
              <a:t>3.  Hipoplasia, hipomineralisasi molar-insisivus (MIH), fraktur, atrisi</a:t>
            </a:r>
          </a:p>
          <a:p>
            <a:pPr algn="l">
              <a:lnSpc>
                <a:spcPct val="122000"/>
              </a:lnSpc>
              <a:spcAft>
                <a:spcPts val="0"/>
              </a:spcAft>
            </a:pPr>
            <a:r>
              <a:rPr sz="1000" b="0" i="0">
                <a:solidFill>
                  <a:srgbClr val="47646C"/>
                </a:solidFill>
                <a:latin typeface="Calibri"/>
              </a:rPr>
              <a:t>4.  Abutment space maintainer</a:t>
            </a:r>
          </a:p>
          <a:p>
            <a:pPr algn="l">
              <a:lnSpc>
                <a:spcPct val="122000"/>
              </a:lnSpc>
              <a:spcAft>
                <a:spcPts val="0"/>
              </a:spcAft>
            </a:pPr>
            <a:r>
              <a:rPr sz="1000" b="0" i="0">
                <a:solidFill>
                  <a:srgbClr val="47646C"/>
                </a:solidFill>
                <a:latin typeface="Calibri"/>
              </a:rPr>
              <a:t>5.  Risiko karies tinggi atau perawatan dengan sedasi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000" b="1" i="0" spc="120">
                <a:solidFill>
                  <a:srgbClr val="A3462F"/>
                </a:solidFill>
                <a:latin typeface="Calibri"/>
              </a:rPr>
              <a:t>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4000"/>
              </a:lnSpc>
              <a:spcAft>
                <a:spcPts val="0"/>
              </a:spcAft>
            </a:pPr>
            <a:r>
              <a:rPr sz="1000" b="0" i="0">
                <a:solidFill>
                  <a:srgbClr val="47646C"/>
                </a:solidFill>
                <a:latin typeface="Calibri"/>
              </a:rPr>
              <a:t>1.  Resorpsi akar lebih dari setengah</a:t>
            </a:r>
          </a:p>
          <a:p>
            <a:pPr algn="l">
              <a:lnSpc>
                <a:spcPct val="124000"/>
              </a:lnSpc>
              <a:spcAft>
                <a:spcPts val="0"/>
              </a:spcAft>
            </a:pPr>
            <a:r>
              <a:rPr sz="1000" b="0" i="0">
                <a:solidFill>
                  <a:srgbClr val="47646C"/>
                </a:solidFill>
                <a:latin typeface="Calibri"/>
              </a:rPr>
              <a:t>2.  Alergi nikel yang diketahui</a:t>
            </a:r>
          </a:p>
          <a:p>
            <a:pPr algn="l">
              <a:lnSpc>
                <a:spcPct val="124000"/>
              </a:lnSpc>
              <a:spcAft>
                <a:spcPts val="0"/>
              </a:spcAft>
            </a:pPr>
            <a:r>
              <a:rPr sz="1000" b="0" i="0">
                <a:solidFill>
                  <a:srgbClr val="47646C"/>
                </a:solidFill>
                <a:latin typeface="Calibri"/>
              </a:rPr>
              <a:t>3.  Gigi tidak dapat direstorasi</a:t>
            </a:r>
          </a:p>
          <a:p>
            <a:pPr algn="l">
              <a:lnSpc>
                <a:spcPct val="124000"/>
              </a:lnSpc>
              <a:spcAft>
                <a:spcPts val="0"/>
              </a:spcAft>
            </a:pPr>
            <a:r>
              <a:rPr sz="1000" b="0" i="0">
                <a:solidFill>
                  <a:srgbClr val="47646C"/>
                </a:solidFill>
                <a:latin typeface="Calibri"/>
              </a:rPr>
              <a:t>4.  Pulpa ireversibel belum diterapi</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pasang SSC konvensional, cukup satu kunjungan.</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memenuhi syarat SSC: gigi tidak dapat direstorasi, akar teresorpsi, atau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Randall 2002</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Crown ditahan oleh undercut di bawah bulbositas servikal.</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Dikurangi hanya bila konturnya menghalangi crown duduk.</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hanya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sumber lain menyebut 1,5–2,0 mm untuk molar permanen.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harus bisa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KOMPLIKASI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Komplikasi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terasa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Biasanya ukuran terlalu besar atau crimping margin kurang rapat.</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Ada ledge, atau kontak proksimal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crown terlalu panjang, atau tepinya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terlalu banyak, atau logam aus di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kurang, atau ada karies sekunder di bawah margin.</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pernah punya pengalaman perawatan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di Eropa, reaksi klinis jarang. Jangan dipakai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Hipomineralisasi molar-insisivus (MIH)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Enamel molar pertama permanen rapuh sejak erupsi, sehingga SSC bertahan pada 94,4% gigi, komposit 49,2%, setelah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Anak 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Perawatan selesai dalam 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unggul pada retensi lima tahun</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48640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512064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10" name="TextBox 9"/>
          <p:cNvSpPr txBox="1"/>
          <p:nvPr/>
        </p:nvSpPr>
        <p:spPr>
          <a:xfrm>
            <a:off x="768096" y="2121408"/>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dipotong 80–100%.</a:t>
            </a:r>
          </a:p>
        </p:txBody>
      </p:sp>
      <p:sp>
        <p:nvSpPr>
          <p:cNvPr id="11" name="TextBox 10"/>
          <p:cNvSpPr txBox="1"/>
          <p:nvPr/>
        </p:nvSpPr>
        <p:spPr>
          <a:xfrm>
            <a:off x="768096" y="254203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12" name="Rounded Rectangle 11"/>
          <p:cNvSpPr/>
          <p:nvPr/>
        </p:nvSpPr>
        <p:spPr>
          <a:xfrm>
            <a:off x="1819655" y="262908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19655" y="2629082"/>
            <a:ext cx="322205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3420" y="254203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15" name="TextBox 14"/>
          <p:cNvSpPr txBox="1"/>
          <p:nvPr/>
        </p:nvSpPr>
        <p:spPr>
          <a:xfrm>
            <a:off x="768096" y="2852927"/>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16" name="Rounded Rectangle 15"/>
          <p:cNvSpPr/>
          <p:nvPr/>
        </p:nvSpPr>
        <p:spPr>
          <a:xfrm>
            <a:off x="1819655" y="2939978"/>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19655" y="2939978"/>
            <a:ext cx="319604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7415" y="2852927"/>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19" name="TextBox 18"/>
          <p:cNvSpPr txBox="1"/>
          <p:nvPr/>
        </p:nvSpPr>
        <p:spPr>
          <a:xfrm>
            <a:off x="768096" y="3163824"/>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20" name="Rounded Rectangle 19"/>
          <p:cNvSpPr/>
          <p:nvPr/>
        </p:nvSpPr>
        <p:spPr>
          <a:xfrm>
            <a:off x="1819655" y="3250874"/>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5" y="3250874"/>
            <a:ext cx="303441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5786" y="316382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23" name="TextBox 22"/>
          <p:cNvSpPr txBox="1"/>
          <p:nvPr/>
        </p:nvSpPr>
        <p:spPr>
          <a:xfrm>
            <a:off x="768096" y="3474720"/>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24" name="Rounded Rectangle 23"/>
          <p:cNvSpPr/>
          <p:nvPr/>
        </p:nvSpPr>
        <p:spPr>
          <a:xfrm>
            <a:off x="1819655" y="3561770"/>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19655" y="3561770"/>
            <a:ext cx="2972531"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73899" y="347472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90,30%</a:t>
            </a:r>
          </a:p>
        </p:txBody>
      </p:sp>
      <p:sp>
        <p:nvSpPr>
          <p:cNvPr id="27" name="TextBox 26"/>
          <p:cNvSpPr txBox="1"/>
          <p:nvPr/>
        </p:nvSpPr>
        <p:spPr>
          <a:xfrm>
            <a:off x="768096" y="3785615"/>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28" name="Rounded Rectangle 27"/>
          <p:cNvSpPr/>
          <p:nvPr/>
        </p:nvSpPr>
        <p:spPr>
          <a:xfrm>
            <a:off x="1819655" y="3872666"/>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819655" y="3872666"/>
            <a:ext cx="2926445"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813" y="3785615"/>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88,90%</a:t>
            </a:r>
          </a:p>
        </p:txBody>
      </p:sp>
      <p:sp>
        <p:nvSpPr>
          <p:cNvPr id="31" name="TextBox 30"/>
          <p:cNvSpPr txBox="1"/>
          <p:nvPr/>
        </p:nvSpPr>
        <p:spPr>
          <a:xfrm>
            <a:off x="768096" y="4096512"/>
            <a:ext cx="105156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 crown</a:t>
            </a:r>
          </a:p>
        </p:txBody>
      </p:sp>
      <p:sp>
        <p:nvSpPr>
          <p:cNvPr id="32" name="Rounded Rectangle 31"/>
          <p:cNvSpPr/>
          <p:nvPr/>
        </p:nvSpPr>
        <p:spPr>
          <a:xfrm>
            <a:off x="1819655" y="4183562"/>
            <a:ext cx="3291839"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19655" y="4183562"/>
            <a:ext cx="2748028"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49396" y="409651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35" name="Rounded Rectangle 34"/>
          <p:cNvSpPr/>
          <p:nvPr/>
        </p:nvSpPr>
        <p:spPr>
          <a:xfrm>
            <a:off x="6236208" y="1737360"/>
            <a:ext cx="5212080" cy="3977639"/>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1847088"/>
            <a:ext cx="475488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Angka pendukung untuk SSC</a:t>
            </a:r>
          </a:p>
        </p:txBody>
      </p:sp>
      <p:sp>
        <p:nvSpPr>
          <p:cNvPr id="37" name="TextBox 36"/>
          <p:cNvSpPr txBox="1"/>
          <p:nvPr/>
        </p:nvSpPr>
        <p:spPr>
          <a:xfrm>
            <a:off x="6437376" y="2121408"/>
            <a:ext cx="475488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Ketiganya dari studi berbeda, jadi dibaca terpisah.</a:t>
            </a:r>
          </a:p>
        </p:txBody>
      </p:sp>
      <p:sp>
        <p:nvSpPr>
          <p:cNvPr id="38" name="TextBox 37"/>
          <p:cNvSpPr txBox="1"/>
          <p:nvPr/>
        </p:nvSpPr>
        <p:spPr>
          <a:xfrm>
            <a:off x="6437376" y="2487168"/>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96,1%</a:t>
            </a:r>
          </a:p>
        </p:txBody>
      </p:sp>
      <p:sp>
        <p:nvSpPr>
          <p:cNvPr id="39" name="TextBox 38"/>
          <p:cNvSpPr txBox="1"/>
          <p:nvPr/>
        </p:nvSpPr>
        <p:spPr>
          <a:xfrm>
            <a:off x="6437376" y="2889504"/>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gigi SSC berhasil pada 12 bulan</a:t>
            </a:r>
          </a:p>
        </p:txBody>
      </p:sp>
      <p:sp>
        <p:nvSpPr>
          <p:cNvPr id="40" name="TextBox 39"/>
          <p:cNvSpPr txBox="1"/>
          <p:nvPr/>
        </p:nvSpPr>
        <p:spPr>
          <a:xfrm>
            <a:off x="6437376" y="3255264"/>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31 studi</a:t>
            </a:r>
          </a:p>
        </p:txBody>
      </p:sp>
      <p:sp>
        <p:nvSpPr>
          <p:cNvPr id="41" name="Rectangle 40"/>
          <p:cNvSpPr/>
          <p:nvPr/>
        </p:nvSpPr>
        <p:spPr>
          <a:xfrm>
            <a:off x="6437376" y="3483864"/>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37376" y="3520440"/>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0,18</a:t>
            </a:r>
          </a:p>
        </p:txBody>
      </p:sp>
      <p:sp>
        <p:nvSpPr>
          <p:cNvPr id="43" name="TextBox 42"/>
          <p:cNvSpPr txBox="1"/>
          <p:nvPr/>
        </p:nvSpPr>
        <p:spPr>
          <a:xfrm>
            <a:off x="6437376" y="3922776"/>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risiko kegagalan mayor crown dibanding tambalan</a:t>
            </a:r>
          </a:p>
        </p:txBody>
      </p:sp>
      <p:sp>
        <p:nvSpPr>
          <p:cNvPr id="44" name="TextBox 43"/>
          <p:cNvSpPr txBox="1"/>
          <p:nvPr/>
        </p:nvSpPr>
        <p:spPr>
          <a:xfrm>
            <a:off x="6437376" y="4288536"/>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tinjauan sistematis</a:t>
            </a:r>
          </a:p>
        </p:txBody>
      </p:sp>
      <p:sp>
        <p:nvSpPr>
          <p:cNvPr id="45" name="Rectangle 44"/>
          <p:cNvSpPr/>
          <p:nvPr/>
        </p:nvSpPr>
        <p:spPr>
          <a:xfrm>
            <a:off x="6437376" y="4517136"/>
            <a:ext cx="466344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37376" y="4553712"/>
            <a:ext cx="2011680" cy="384048"/>
          </a:xfrm>
          <a:prstGeom prst="rect">
            <a:avLst/>
          </a:prstGeom>
          <a:noFill/>
        </p:spPr>
        <p:txBody>
          <a:bodyPr wrap="square" lIns="0" rIns="0" tIns="0" bIns="0" anchor="t">
            <a:spAutoFit/>
          </a:bodyPr>
          <a:lstStyle/>
          <a:p>
            <a:pPr algn="l">
              <a:lnSpc>
                <a:spcPct val="112000"/>
              </a:lnSpc>
              <a:spcAft>
                <a:spcPts val="0"/>
              </a:spcAft>
            </a:pPr>
            <a:r>
              <a:rPr sz="2200" b="0" i="0">
                <a:solidFill>
                  <a:srgbClr val="15323A"/>
                </a:solidFill>
                <a:latin typeface="Georgia"/>
              </a:rPr>
              <a:t>94,4%</a:t>
            </a:r>
          </a:p>
        </p:txBody>
      </p:sp>
      <p:sp>
        <p:nvSpPr>
          <p:cNvPr id="47" name="TextBox 46"/>
          <p:cNvSpPr txBox="1"/>
          <p:nvPr/>
        </p:nvSpPr>
        <p:spPr>
          <a:xfrm>
            <a:off x="6437376" y="4956048"/>
            <a:ext cx="4663440" cy="384048"/>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SSC bertahan pada gigi dengan MIH, komposit 49,2%, 24 bulan</a:t>
            </a:r>
          </a:p>
        </p:txBody>
      </p:sp>
      <p:sp>
        <p:nvSpPr>
          <p:cNvPr id="48" name="TextBox 47"/>
          <p:cNvSpPr txBox="1"/>
          <p:nvPr/>
        </p:nvSpPr>
        <p:spPr>
          <a:xfrm>
            <a:off x="6437376" y="5321808"/>
            <a:ext cx="4663440" cy="20116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Farias 2022; kohort</a:t>
            </a:r>
          </a:p>
        </p:txBody>
      </p:sp>
      <p:sp>
        <p:nvSpPr>
          <p:cNvPr id="49" name="TextBox 48"/>
          <p:cNvSpPr txBox="1"/>
          <p:nvPr/>
        </p:nvSpPr>
        <p:spPr>
          <a:xfrm>
            <a:off x="566928" y="5815584"/>
            <a:ext cx="10881360" cy="329184"/>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Retensi bukan keberhasilan: crown bisa masih terpasang sementara gigi di bawahnya sudah nekrotik.</a:t>
            </a:r>
          </a:p>
        </p:txBody>
      </p:sp>
      <p:sp>
        <p:nvSpPr>
          <p:cNvPr id="50" name="Rectangle 4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Lampl 2025; Chisini 2018; Innes 2015 Cochrane; Farias 2022</a:t>
            </a:r>
          </a:p>
        </p:txBody>
      </p:sp>
      <p:sp>
        <p:nvSpPr>
          <p:cNvPr id="52" name="TextBox 5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untuk gingiva, tetapi retensinya belum terbukti lebih unggul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klinis tidak berbeda bermakna dari SSC (RR 0,48; 95% CI 0,15–1,52), tetapi gingiva lebih sehat (MD −0,32). Biayanya lebih tinggi, menimbulkan keausan antagonis, dan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95% gigi setelah 6 bulan (Walia 2014). Veneernya bisa fraktur, dan buktinya belum cukup untuk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Crown masih terpasang pada 78% gigi setelah 6 bulan (Walia 2014). Tekniknya sensitif kelembapan, dan bukan pilihan pertama untuk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Crown yang masih terpasang setelah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5"/>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pic>
        <p:nvPicPr>
          <p:cNvPr id="10" name="Picture 9" descr="fig-case-oklusal.jpg"/>
          <p:cNvPicPr>
            <a:picLocks noChangeAspect="1"/>
          </p:cNvPicPr>
          <p:nvPr/>
        </p:nvPicPr>
        <p:blipFill>
          <a:blip r:embed="rId2"/>
          <a:stretch>
            <a:fillRect/>
          </a:stretch>
        </p:blipFill>
        <p:spPr>
          <a:xfrm>
            <a:off x="566928" y="3584448"/>
            <a:ext cx="1896237" cy="1444752"/>
          </a:xfrm>
          <a:prstGeom prst="rect">
            <a:avLst/>
          </a:prstGeom>
        </p:spPr>
      </p:pic>
      <p:sp>
        <p:nvSpPr>
          <p:cNvPr id="11" name="TextBox 10"/>
          <p:cNvSpPr txBox="1"/>
          <p:nvPr/>
        </p:nvSpPr>
        <p:spPr>
          <a:xfrm>
            <a:off x="566928"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Pandangan oklusal: karies oklusal-distal, dinding mesial utuh.</a:t>
            </a:r>
          </a:p>
        </p:txBody>
      </p:sp>
      <p:pic>
        <p:nvPicPr>
          <p:cNvPr id="12" name="Picture 11" descr="fig-case-bitewing.jpg"/>
          <p:cNvPicPr>
            <a:picLocks noChangeAspect="1"/>
          </p:cNvPicPr>
          <p:nvPr/>
        </p:nvPicPr>
        <p:blipFill>
          <a:blip r:embed="rId3"/>
          <a:stretch>
            <a:fillRect/>
          </a:stretch>
        </p:blipFill>
        <p:spPr>
          <a:xfrm>
            <a:off x="2962656" y="3584448"/>
            <a:ext cx="1896237" cy="1444752"/>
          </a:xfrm>
          <a:prstGeom prst="rect">
            <a:avLst/>
          </a:prstGeom>
        </p:spPr>
      </p:pic>
      <p:sp>
        <p:nvSpPr>
          <p:cNvPr id="13" name="TextBox 12"/>
          <p:cNvSpPr txBox="1"/>
          <p:nvPr/>
        </p:nvSpPr>
        <p:spPr>
          <a:xfrm>
            <a:off x="2962656" y="5084064"/>
            <a:ext cx="2304288" cy="402336"/>
          </a:xfrm>
          <a:prstGeom prst="rect">
            <a:avLst/>
          </a:prstGeom>
          <a:noFill/>
        </p:spPr>
        <p:txBody>
          <a:bodyPr wrap="square" lIns="0" rIns="0" tIns="0" bIns="0" anchor="t">
            <a:spAutoFit/>
          </a:bodyPr>
          <a:lstStyle/>
          <a:p>
            <a:pPr algn="l">
              <a:lnSpc>
                <a:spcPct val="105000"/>
              </a:lnSpc>
              <a:spcAft>
                <a:spcPts val="0"/>
              </a:spcAft>
            </a:pPr>
            <a:r>
              <a:rPr sz="760" b="0" i="0">
                <a:solidFill>
                  <a:srgbClr val="47646C"/>
                </a:solidFill>
                <a:latin typeface="Calibri"/>
              </a:rPr>
              <a:t>Skema bitewing: lesi mendekati pulpa, dentine bridge terlihat.</a:t>
            </a:r>
          </a:p>
        </p:txBody>
      </p:sp>
      <p:sp>
        <p:nvSpPr>
          <p:cNvPr id="14" name="TextBox 13"/>
          <p:cNvSpPr txBox="1"/>
          <p:nvPr/>
        </p:nvSpPr>
        <p:spPr>
          <a:xfrm>
            <a:off x="566928" y="5541264"/>
            <a:ext cx="5394960" cy="274320"/>
          </a:xfrm>
          <a:prstGeom prst="rect">
            <a:avLst/>
          </a:prstGeom>
          <a:noFill/>
        </p:spPr>
        <p:txBody>
          <a:bodyPr wrap="square" lIns="0" rIns="0" tIns="0" bIns="0" anchor="t">
            <a:spAutoFit/>
          </a:bodyPr>
          <a:lstStyle/>
          <a:p>
            <a:pPr algn="l">
              <a:lnSpc>
                <a:spcPct val="112000"/>
              </a:lnSpc>
              <a:spcAft>
                <a:spcPts val="0"/>
              </a:spcAft>
            </a:pPr>
            <a:r>
              <a:rPr sz="760" b="0" i="0">
                <a:solidFill>
                  <a:srgbClr val="7D8F93"/>
                </a:solidFill>
                <a:latin typeface="Calibri"/>
              </a:rPr>
              <a:t>Data fiktif. Gambar ini ilustrasi skematik, bukan foto atau radiograf pasien.</a:t>
            </a:r>
          </a:p>
        </p:txBody>
      </p:sp>
      <p:sp>
        <p:nvSpPr>
          <p:cNvPr id="15" name="TextBox 14"/>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6" name="Rounded Rectangle 15"/>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18" name="Rounded Rectangle 17"/>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0" name="Rounded Rectangle 19"/>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Pulpotomi lalu SSC</a:t>
            </a:r>
          </a:p>
        </p:txBody>
      </p:sp>
      <p:sp>
        <p:nvSpPr>
          <p:cNvPr id="22" name="TextBox 21"/>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3" name="TextBox 22"/>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4" name="Rounded Rectangle 23"/>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6" name="Rounded Rectangle 25"/>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28" name="Rounded Rectangle 27"/>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0" name="TextBox 29"/>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saat komplikasi muncul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Molar desidui, karies oklusal-distal luas, gigi vital tanpa nyeri spontan. Restorasi mana yang paling tepat?</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Pada molar desidui, berapa reduksi oklusal yang dianjurkan UK guideline?</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Anak dengan MIH berat pada molar pertama permanen: perawatan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Kunci jawaban: 1 SSC konvensional, 2 reduksi 1,0–1,5 mm, 3 periksa ledge dan sisa kontak, 4 kontur dan crimping margin,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permukaan gigi</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Retensinya berasal dari margin dan undercut servikal, dan crimping margin lebih menentukan daripada jenis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Preparasi menentukan apakah crown duduk</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Kontak proksimal harus putus, line angle dihaluskan, dan margin berada 1 mm di bawah gingiva.</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Angka keberhasilan, angka gigi yang masih bertahan, dan angka crown yang masih terpasang mengukur hal berbeda.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1–12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Seale NS. The use of stainless steel crowns. Pediatr Dent. 2002;24(5):501-505. PMID 12412965.</a:t>
            </a:r>
          </a:p>
          <a:p>
            <a:pPr>
              <a:lnSpc>
                <a:spcPct val="100000"/>
              </a:lnSpc>
              <a:spcAft>
                <a:spcPts val="900"/>
              </a:spcAft>
            </a:pPr>
            <a:r>
              <a:rPr sz="900">
                <a:solidFill>
                  <a:srgbClr val="47646C"/>
                </a:solidFill>
                <a:latin typeface="Calibri"/>
              </a:rPr>
              <a:t>5. Randall RC. Preformed metal crowns for primary and permanent molar teeth: review of the literature. Pediatr Dent. 2002;24(5):489-500. PMID 12412964.</a:t>
            </a:r>
          </a:p>
          <a:p>
            <a:pPr>
              <a:lnSpc>
                <a:spcPct val="100000"/>
              </a:lnSpc>
              <a:spcAft>
                <a:spcPts val="900"/>
              </a:spcAft>
            </a:pPr>
            <a:r>
              <a:rPr sz="900">
                <a:solidFill>
                  <a:srgbClr val="47646C"/>
                </a:solidFill>
                <a:latin typeface="Calibri"/>
              </a:rPr>
              <a:t>6.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7.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8. Joshi RS, Gokhale NS, Hugar SM, et al. Longevity of stainless steel crowns on primary molars: systematic review and meta-analysis. J Sci Soc. 2023;50(1):28-38. doi:10.4103/jss.jss_164_22</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10.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11.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12.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13–28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13. AAPD. Use of local anesthesia for pediatric dental patients. Reference Manual. Chicago: AAPD; 2025.</a:t>
            </a:r>
          </a:p>
          <a:p>
            <a:pPr>
              <a:lnSpc>
                <a:spcPct val="100000"/>
              </a:lnSpc>
              <a:spcAft>
                <a:spcPts val="900"/>
              </a:spcAft>
            </a:pPr>
            <a:r>
              <a:rPr sz="900">
                <a:solidFill>
                  <a:srgbClr val="47646C"/>
                </a:solidFill>
                <a:latin typeface="Calibri"/>
              </a:rPr>
              <a:t>14. AAPD. Behavior guidance for the pediatric dental patient. Reference Manual. Chicago: AAPD; 2025.</a:t>
            </a:r>
          </a:p>
          <a:p>
            <a:pPr>
              <a:lnSpc>
                <a:spcPct val="100000"/>
              </a:lnSpc>
              <a:spcAft>
                <a:spcPts val="900"/>
              </a:spcAft>
            </a:pPr>
            <a:r>
              <a:rPr sz="900">
                <a:solidFill>
                  <a:srgbClr val="47646C"/>
                </a:solidFill>
                <a:latin typeface="Calibri"/>
              </a:rPr>
              <a:t>15. AAPD. Informed consent. Reference Manual. Chicago: AAPD; 2025.</a:t>
            </a:r>
          </a:p>
          <a:p>
            <a:pPr>
              <a:lnSpc>
                <a:spcPct val="100000"/>
              </a:lnSpc>
              <a:spcAft>
                <a:spcPts val="900"/>
              </a:spcAft>
            </a:pPr>
            <a:r>
              <a:rPr sz="900">
                <a:solidFill>
                  <a:srgbClr val="47646C"/>
                </a:solidFill>
                <a:latin typeface="Calibri"/>
              </a:rPr>
              <a:t>16.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17.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18.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19. Virupaxi S, Pai R, Mandroli P. Retentive strength of luting cements for stainless steel crowns: a systematic review. J Indian Soc Pedod Prev Dent. 2020;38(1):2-7. doi:10.4103/JISPPD.JISPPD_313_19</a:t>
            </a:r>
          </a:p>
          <a:p>
            <a:pPr>
              <a:lnSpc>
                <a:spcPct val="100000"/>
              </a:lnSpc>
              <a:spcAft>
                <a:spcPts val="900"/>
              </a:spcAft>
            </a:pPr>
            <a:r>
              <a:rPr sz="900">
                <a:solidFill>
                  <a:srgbClr val="47646C"/>
                </a:solidFill>
                <a:latin typeface="Calibri"/>
              </a:rPr>
              <a:t>20. Patnana AK, Chugh VK, Chugh A, Vanga NRV, Kumar P. Effectiveness of zirconia crowns compared with stainless steel crowns in primary posterior teeth: systematic review and meta-analysis. J Am Dent Assoc. 2022;153(2):158-166.e5. doi:10.1016/j.adaj.2021.08.005</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21.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22.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23.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24.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25. Kementerian Kesehatan RI. Laporan Nasional Riskesdas 2018. Jakarta: Badan Litbangkes; 2019.</a:t>
            </a:r>
          </a:p>
          <a:p>
            <a:pPr>
              <a:lnSpc>
                <a:spcPct val="100000"/>
              </a:lnSpc>
              <a:spcAft>
                <a:spcPts val="900"/>
              </a:spcAft>
            </a:pPr>
            <a:r>
              <a:rPr sz="900">
                <a:solidFill>
                  <a:srgbClr val="47646C"/>
                </a:solidFill>
                <a:latin typeface="Calibri"/>
              </a:rPr>
              <a:t>26. Kementerian Kesehatan RI. Survei Kesehatan Indonesia 2023. Jakarta: Kemenkes RI; 2024.</a:t>
            </a:r>
          </a:p>
          <a:p>
            <a:pPr>
              <a:lnSpc>
                <a:spcPct val="100000"/>
              </a:lnSpc>
              <a:spcAft>
                <a:spcPts val="900"/>
              </a:spcAft>
            </a:pPr>
            <a:r>
              <a:rPr sz="900">
                <a:solidFill>
                  <a:srgbClr val="47646C"/>
                </a:solidFill>
                <a:latin typeface="Calibri"/>
              </a:rPr>
              <a:t>27.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28. Miao C, Yang J, Zhu H, et al. Rubber dam isolation for restorative treatment in dental patients. Cochrane Database Syst Rev. 2021;5:CD009858. doi:10.1002/14651858.CD009858.pub3</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dan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PREPARASI,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Kontak proksimal putus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Line angle dihaluskan</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Margin 1 mm di bawah gingiva</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Berhasil,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Keberhasilan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MIH: SSC 94,4% dan 49,2% (Farias 2022)</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KOMPLIKASI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pilih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sisa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sementasi ulang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2025; SDCEP 2025; Lampl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