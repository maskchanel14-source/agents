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komplikasi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Kalau karies sudah lebih dari dua permukaan atau melewati line angle, restorasi langsung sulit dipertahankan, jadi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komplikasi ini hampir semuanya bisa dilacak ke preparasi atau pemilihan ukuran. Crown longgar berarti crimping kurang, bukan semen kurang. Crown tidak duduk hampir selalu karena ledge atau kontak yang belum putus. Perdarahan saat try-in berarti margin terlalu panjang. Soal MIH, singkat saja: itu kelainan enamel sejak masa perkembangan, molar pertama permanen rapuh dan hipersensitif, dan crown menutup seluruh permukaan gigi.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komplikasi,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11.xml"/><Relationship Id="rId5"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Komplikasi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servikal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22605C"/>
                </a:solidFill>
                <a:latin typeface="Calibri"/>
              </a:rPr>
              <a:t>INDIKASI</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2000"/>
              </a:lnSpc>
              <a:spcAft>
                <a:spcPts val="0"/>
              </a:spcAft>
            </a:pPr>
            <a:r>
              <a:rPr sz="1000" b="0" i="0">
                <a:solidFill>
                  <a:srgbClr val="47646C"/>
                </a:solidFill>
                <a:latin typeface="Calibri"/>
              </a:rPr>
              <a:t>1.  Karies melewati line angle atau lebih dari 2 permukaan</a:t>
            </a:r>
          </a:p>
          <a:p>
            <a:pPr algn="l">
              <a:lnSpc>
                <a:spcPct val="122000"/>
              </a:lnSpc>
              <a:spcAft>
                <a:spcPts val="0"/>
              </a:spcAft>
            </a:pPr>
            <a:r>
              <a:rPr sz="1000" b="0" i="0">
                <a:solidFill>
                  <a:srgbClr val="47646C"/>
                </a:solidFill>
                <a:latin typeface="Calibri"/>
              </a:rPr>
              <a:t>2.  Gigi setelah pulpotomi atau pulpektomi</a:t>
            </a:r>
          </a:p>
          <a:p>
            <a:pPr algn="l">
              <a:lnSpc>
                <a:spcPct val="122000"/>
              </a:lnSpc>
              <a:spcAft>
                <a:spcPts val="0"/>
              </a:spcAft>
            </a:pPr>
            <a:r>
              <a:rPr sz="1000" b="0" i="0">
                <a:solidFill>
                  <a:srgbClr val="47646C"/>
                </a:solidFill>
                <a:latin typeface="Calibri"/>
              </a:rPr>
              <a:t>3.  Hipoplasia, hipomineralisasi molar-insisivus (MIH), fraktur, atau atrisi berat</a:t>
            </a:r>
          </a:p>
          <a:p>
            <a:pPr algn="l">
              <a:lnSpc>
                <a:spcPct val="122000"/>
              </a:lnSpc>
              <a:spcAft>
                <a:spcPts val="0"/>
              </a:spcAft>
            </a:pPr>
            <a:r>
              <a:rPr sz="1000" b="0" i="0">
                <a:solidFill>
                  <a:srgbClr val="47646C"/>
                </a:solidFill>
                <a:latin typeface="Calibri"/>
              </a:rPr>
              <a:t>4.  Abutment space maintainer</a:t>
            </a:r>
          </a:p>
          <a:p>
            <a:pPr algn="l">
              <a:lnSpc>
                <a:spcPct val="122000"/>
              </a:lnSpc>
              <a:spcAft>
                <a:spcPts val="0"/>
              </a:spcAft>
            </a:pPr>
            <a:r>
              <a:rPr sz="1000" b="0" i="0">
                <a:solidFill>
                  <a:srgbClr val="47646C"/>
                </a:solidFill>
                <a:latin typeface="Calibri"/>
              </a:rPr>
              <a:t>5.  Risiko karies tinggi atau perawatan dengan sedasi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A3462F"/>
                </a:solidFill>
                <a:latin typeface="Calibri"/>
              </a:rPr>
              <a:t>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4000"/>
              </a:lnSpc>
              <a:spcAft>
                <a:spcPts val="0"/>
              </a:spcAft>
            </a:pPr>
            <a:r>
              <a:rPr sz="1000" b="0" i="0">
                <a:solidFill>
                  <a:srgbClr val="47646C"/>
                </a:solidFill>
                <a:latin typeface="Calibri"/>
              </a:rPr>
              <a:t>1.  Resorpsi akar lebih dari setengah</a:t>
            </a:r>
          </a:p>
          <a:p>
            <a:pPr algn="l">
              <a:lnSpc>
                <a:spcPct val="124000"/>
              </a:lnSpc>
              <a:spcAft>
                <a:spcPts val="0"/>
              </a:spcAft>
            </a:pPr>
            <a:r>
              <a:rPr sz="1000" b="0" i="0">
                <a:solidFill>
                  <a:srgbClr val="47646C"/>
                </a:solidFill>
                <a:latin typeface="Calibri"/>
              </a:rPr>
              <a:t>2.  Alergi nikel yang diketahui</a:t>
            </a:r>
          </a:p>
          <a:p>
            <a:pPr algn="l">
              <a:lnSpc>
                <a:spcPct val="124000"/>
              </a:lnSpc>
              <a:spcAft>
                <a:spcPts val="0"/>
              </a:spcAft>
            </a:pPr>
            <a:r>
              <a:rPr sz="1000" b="0" i="0">
                <a:solidFill>
                  <a:srgbClr val="47646C"/>
                </a:solidFill>
                <a:latin typeface="Calibri"/>
              </a:rPr>
              <a:t>3.  Gigi tidak dapat direstorasi</a:t>
            </a:r>
          </a:p>
          <a:p>
            <a:pPr algn="l">
              <a:lnSpc>
                <a:spcPct val="124000"/>
              </a:lnSpc>
              <a:spcAft>
                <a:spcPts val="0"/>
              </a:spcAft>
            </a:pPr>
            <a:r>
              <a:rPr sz="1000" b="0" i="0">
                <a:solidFill>
                  <a:srgbClr val="47646C"/>
                </a:solidFill>
                <a:latin typeface="Calibri"/>
              </a:rPr>
              <a:t>4.  Pulpa ireversibel belum diterapi</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Crown ditahan oleh undercut di bawah bulbositas servikal.</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Dikurangi hanya bila konturnya menghalangi crown duduk.</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hanya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sumber lain menyebut 1,5–2,0 mm untuk molar permanen.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KOMPLIKASI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Komplikasi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Hipomineralisasi molar-insisivus (MIH)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Enamel molar pertama permanen rapuh sejak erupsi, sehingga 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gigi dengan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5"/>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pic>
        <p:nvPicPr>
          <p:cNvPr id="10" name="Picture 9" descr="fig-case-oklusal.jpg"/>
          <p:cNvPicPr>
            <a:picLocks noChangeAspect="1"/>
          </p:cNvPicPr>
          <p:nvPr/>
        </p:nvPicPr>
        <p:blipFill>
          <a:blip r:embed="rId2"/>
          <a:stretch>
            <a:fillRect/>
          </a:stretch>
        </p:blipFill>
        <p:spPr>
          <a:xfrm>
            <a:off x="566928" y="3584448"/>
            <a:ext cx="1896237" cy="1444752"/>
          </a:xfrm>
          <a:prstGeom prst="rect">
            <a:avLst/>
          </a:prstGeom>
        </p:spPr>
      </p:pic>
      <p:sp>
        <p:nvSpPr>
          <p:cNvPr id="11" name="TextBox 10"/>
          <p:cNvSpPr txBox="1"/>
          <p:nvPr/>
        </p:nvSpPr>
        <p:spPr>
          <a:xfrm>
            <a:off x="566928"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Pandangan oklusal: karies oklusal-distal, dinding mesial utuh.</a:t>
            </a:r>
          </a:p>
        </p:txBody>
      </p:sp>
      <p:pic>
        <p:nvPicPr>
          <p:cNvPr id="12" name="Picture 11" descr="fig-case-bitewing.jpg"/>
          <p:cNvPicPr>
            <a:picLocks noChangeAspect="1"/>
          </p:cNvPicPr>
          <p:nvPr/>
        </p:nvPicPr>
        <p:blipFill>
          <a:blip r:embed="rId3"/>
          <a:stretch>
            <a:fillRect/>
          </a:stretch>
        </p:blipFill>
        <p:spPr>
          <a:xfrm>
            <a:off x="2962656" y="3584448"/>
            <a:ext cx="1896237" cy="1444752"/>
          </a:xfrm>
          <a:prstGeom prst="rect">
            <a:avLst/>
          </a:prstGeom>
        </p:spPr>
      </p:pic>
      <p:sp>
        <p:nvSpPr>
          <p:cNvPr id="13" name="TextBox 12"/>
          <p:cNvSpPr txBox="1"/>
          <p:nvPr/>
        </p:nvSpPr>
        <p:spPr>
          <a:xfrm>
            <a:off x="2962656"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Skema bitewing: lesi mendekati pulpa, dentine bridge terlihat.</a:t>
            </a:r>
          </a:p>
        </p:txBody>
      </p:sp>
      <p:sp>
        <p:nvSpPr>
          <p:cNvPr id="14" name="TextBox 13"/>
          <p:cNvSpPr txBox="1"/>
          <p:nvPr/>
        </p:nvSpPr>
        <p:spPr>
          <a:xfrm>
            <a:off x="566928" y="5541264"/>
            <a:ext cx="5394960" cy="274320"/>
          </a:xfrm>
          <a:prstGeom prst="rect">
            <a:avLst/>
          </a:prstGeom>
          <a:noFill/>
        </p:spPr>
        <p:txBody>
          <a:bodyPr wrap="square" lIns="0" rIns="0" tIns="0" bIns="0" anchor="t">
            <a:spAutoFit/>
          </a:bodyPr>
          <a:lstStyle/>
          <a:p>
            <a:pPr algn="l">
              <a:lnSpc>
                <a:spcPct val="112000"/>
              </a:lnSpc>
              <a:spcAft>
                <a:spcPts val="0"/>
              </a:spcAft>
            </a:pPr>
            <a:r>
              <a:rPr sz="760" b="0" i="0">
                <a:solidFill>
                  <a:srgbClr val="7D8F93"/>
                </a:solidFill>
                <a:latin typeface="Calibri"/>
              </a:rPr>
              <a:t>Data fiktif. Gambar ini ilustrasi skematik, bukan foto atau radiograf pasien.</a:t>
            </a:r>
          </a:p>
        </p:txBody>
      </p:sp>
      <p:sp>
        <p:nvSpPr>
          <p:cNvPr id="15" name="TextBox 14"/>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6" name="Rounded Rectangle 15"/>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18" name="Rounded Rectangle 17"/>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0" name="Rounded Rectangle 19"/>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2" name="TextBox 21"/>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3" name="TextBox 22"/>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4" name="Rounded Rectangle 23"/>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6" name="Rounded Rectangle 25"/>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28" name="Rounded Rectangle 27"/>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0" name="TextBox 29"/>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saat komplikasi muncul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Anak dengan MIH berat pada molar pertama permanen: perawatan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proksimal harus putus, line angle dihaluskan,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dan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KOMPLIKASI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