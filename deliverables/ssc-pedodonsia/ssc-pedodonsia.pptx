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Line angle itu garis tempat dua bidang gigi bertemu; begitu karies melewatinya, tambalan langsung kehilangan dinding untuk berpegangan. Jadi kalau karies sudah lebih dari dua permukaan atau melewati garis itu,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tonjolan servikalnya dipertahankan, proksimal dipotong sampai kontak dengan gigi sebelah terbuka, dan preparasinya berhenti dengan tepi tipis tanpa undakan.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MIH, singkat saja: itu kelainan enamel sejak masa perkembangan, molar pertama permanen rapuh dan hipersensitif, dan crown menutup seluruh permukaan gigi.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1.xml"/><Relationship Id="rId5"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901952"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901952"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Galeka Ali Prasetya</a:t>
            </a:r>
          </a:p>
        </p:txBody>
      </p:sp>
      <p:sp>
        <p:nvSpPr>
          <p:cNvPr id="12" name="Rounded Rectangle 11"/>
          <p:cNvSpPr/>
          <p:nvPr/>
        </p:nvSpPr>
        <p:spPr>
          <a:xfrm>
            <a:off x="3648456" y="4224528"/>
            <a:ext cx="12344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8456" y="4261104"/>
            <a:ext cx="12344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20 Oktober 2026</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Cekungan di bawah tonjolan servikal (undercut)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22605C"/>
                </a:solidFill>
                <a:latin typeface="Calibri"/>
              </a:rPr>
              <a:t>INDIKASI</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2000"/>
              </a:lnSpc>
              <a:spcAft>
                <a:spcPts val="0"/>
              </a:spcAft>
            </a:pPr>
            <a:r>
              <a:rPr sz="1000" b="0" i="0">
                <a:solidFill>
                  <a:srgbClr val="47646C"/>
                </a:solidFill>
                <a:latin typeface="Calibri"/>
              </a:rPr>
              <a:t>1.  Karies melewati line angle atau lebih dari 2 permukaan</a:t>
            </a:r>
          </a:p>
          <a:p>
            <a:pPr algn="l">
              <a:lnSpc>
                <a:spcPct val="122000"/>
              </a:lnSpc>
              <a:spcAft>
                <a:spcPts val="0"/>
              </a:spcAft>
            </a:pPr>
            <a:r>
              <a:rPr sz="1000" b="0" i="0">
                <a:solidFill>
                  <a:srgbClr val="47646C"/>
                </a:solidFill>
                <a:latin typeface="Calibri"/>
              </a:rPr>
              <a:t>2.  Gigi setelah pulpotomi atau pulpektomi</a:t>
            </a:r>
          </a:p>
          <a:p>
            <a:pPr algn="l">
              <a:lnSpc>
                <a:spcPct val="122000"/>
              </a:lnSpc>
              <a:spcAft>
                <a:spcPts val="0"/>
              </a:spcAft>
            </a:pPr>
            <a:r>
              <a:rPr sz="1000" b="0" i="0">
                <a:solidFill>
                  <a:srgbClr val="47646C"/>
                </a:solidFill>
                <a:latin typeface="Calibri"/>
              </a:rPr>
              <a:t>3.  Hipoplasia, hipomineralisasi molar-insisivus (MIH), fraktur, atau atrisi berat</a:t>
            </a:r>
          </a:p>
          <a:p>
            <a:pPr algn="l">
              <a:lnSpc>
                <a:spcPct val="122000"/>
              </a:lnSpc>
              <a:spcAft>
                <a:spcPts val="0"/>
              </a:spcAft>
            </a:pPr>
            <a:r>
              <a:rPr sz="1000" b="0" i="0">
                <a:solidFill>
                  <a:srgbClr val="47646C"/>
                </a:solidFill>
                <a:latin typeface="Calibri"/>
              </a:rPr>
              <a:t>4.  Abutment space maintainer</a:t>
            </a:r>
          </a:p>
          <a:p>
            <a:pPr algn="l">
              <a:lnSpc>
                <a:spcPct val="122000"/>
              </a:lnSpc>
              <a:spcAft>
                <a:spcPts val="0"/>
              </a:spcAft>
            </a:pPr>
            <a:r>
              <a:rPr sz="1000" b="0" i="0">
                <a:solidFill>
                  <a:srgbClr val="47646C"/>
                </a:solidFill>
                <a:latin typeface="Calibri"/>
              </a:rPr>
              <a:t>5.  Risiko karies tinggi atau perawatan dengan sedasi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A3462F"/>
                </a:solidFill>
                <a:latin typeface="Calibri"/>
              </a:rPr>
              <a:t>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4000"/>
              </a:lnSpc>
              <a:spcAft>
                <a:spcPts val="0"/>
              </a:spcAft>
            </a:pPr>
            <a:r>
              <a:rPr sz="1000" b="0" i="0">
                <a:solidFill>
                  <a:srgbClr val="47646C"/>
                </a:solidFill>
                <a:latin typeface="Calibri"/>
              </a:rPr>
              <a:t>1.  Resorpsi akar lebih dari setengah</a:t>
            </a:r>
          </a:p>
          <a:p>
            <a:pPr algn="l">
              <a:lnSpc>
                <a:spcPct val="124000"/>
              </a:lnSpc>
              <a:spcAft>
                <a:spcPts val="0"/>
              </a:spcAft>
            </a:pPr>
            <a:r>
              <a:rPr sz="1000" b="0" i="0">
                <a:solidFill>
                  <a:srgbClr val="47646C"/>
                </a:solidFill>
                <a:latin typeface="Calibri"/>
              </a:rPr>
              <a:t>2.  Alergi nikel yang diketahui</a:t>
            </a:r>
          </a:p>
          <a:p>
            <a:pPr algn="l">
              <a:lnSpc>
                <a:spcPct val="124000"/>
              </a:lnSpc>
              <a:spcAft>
                <a:spcPts val="0"/>
              </a:spcAft>
            </a:pPr>
            <a:r>
              <a:rPr sz="1000" b="0" i="0">
                <a:solidFill>
                  <a:srgbClr val="47646C"/>
                </a:solidFill>
                <a:latin typeface="Calibri"/>
              </a:rPr>
              <a:t>3.  Gigi tidak dapat direstorasi</a:t>
            </a:r>
          </a:p>
          <a:p>
            <a:pPr algn="l">
              <a:lnSpc>
                <a:spcPct val="124000"/>
              </a:lnSpc>
              <a:spcAft>
                <a:spcPts val="0"/>
              </a:spcAft>
            </a:pPr>
            <a:r>
              <a:rPr sz="1000" b="0" i="0">
                <a:solidFill>
                  <a:srgbClr val="47646C"/>
                </a:solidFill>
                <a:latin typeface="Calibri"/>
              </a:rPr>
              <a:t>4.  Pulpa ireversibel belum diterapi</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Permukaan bukal dan lingual dibiarkan utuh</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Sisi luar yang menghadap pipi dan sisi dalam yang menghadap lidah tidak dikurangi. Pengurangan hanya dilakukan bila ada tonjolan yang menahan crown.</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Oklusal dikurangi 1,0–1,5 mm</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Sebagian sumber memakai 1,5–2,0 mm untuk molar permanen, sedangkan enamel desidui hanya sekitar 1 mm, jadi reduksi berlebih cepat mencapai dentin.</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Sudut pertemuan dua bidang dibulatkan</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Line angle adalah garis tempat dua bidang gigi bertemu. Sudut tajam di sana menahan crown saat try-in.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dengan gigi tetangga harus terbuka</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celah mesial dan distal sebelum crown dicoba.</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Hipomineralisasi molar-insisivus (MIH)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Enamel molar pertama permanen rapuh sejak erupsi, sehingga 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gigi dengan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5"/>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pic>
        <p:nvPicPr>
          <p:cNvPr id="10" name="Picture 9" descr="fig-case-oklusal.jpg"/>
          <p:cNvPicPr>
            <a:picLocks noChangeAspect="1"/>
          </p:cNvPicPr>
          <p:nvPr/>
        </p:nvPicPr>
        <p:blipFill>
          <a:blip r:embed="rId2"/>
          <a:stretch>
            <a:fillRect/>
          </a:stretch>
        </p:blipFill>
        <p:spPr>
          <a:xfrm>
            <a:off x="566928" y="3584448"/>
            <a:ext cx="1896237" cy="1444752"/>
          </a:xfrm>
          <a:prstGeom prst="rect">
            <a:avLst/>
          </a:prstGeom>
        </p:spPr>
      </p:pic>
      <p:sp>
        <p:nvSpPr>
          <p:cNvPr id="11" name="TextBox 10"/>
          <p:cNvSpPr txBox="1"/>
          <p:nvPr/>
        </p:nvSpPr>
        <p:spPr>
          <a:xfrm>
            <a:off x="566928"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Pandangan oklusal: karies oklusal-distal, dinding mesial utuh.</a:t>
            </a:r>
          </a:p>
        </p:txBody>
      </p:sp>
      <p:pic>
        <p:nvPicPr>
          <p:cNvPr id="12" name="Picture 11" descr="fig-case-bitewing.jpg"/>
          <p:cNvPicPr>
            <a:picLocks noChangeAspect="1"/>
          </p:cNvPicPr>
          <p:nvPr/>
        </p:nvPicPr>
        <p:blipFill>
          <a:blip r:embed="rId3"/>
          <a:stretch>
            <a:fillRect/>
          </a:stretch>
        </p:blipFill>
        <p:spPr>
          <a:xfrm>
            <a:off x="2962656" y="3584448"/>
            <a:ext cx="1896237" cy="1444752"/>
          </a:xfrm>
          <a:prstGeom prst="rect">
            <a:avLst/>
          </a:prstGeom>
        </p:spPr>
      </p:pic>
      <p:sp>
        <p:nvSpPr>
          <p:cNvPr id="13" name="TextBox 12"/>
          <p:cNvSpPr txBox="1"/>
          <p:nvPr/>
        </p:nvSpPr>
        <p:spPr>
          <a:xfrm>
            <a:off x="2962656"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Skema bitewing: lesi mendekati pulpa, dentine bridge terlihat.</a:t>
            </a:r>
          </a:p>
        </p:txBody>
      </p:sp>
      <p:sp>
        <p:nvSpPr>
          <p:cNvPr id="14" name="TextBox 13"/>
          <p:cNvSpPr txBox="1"/>
          <p:nvPr/>
        </p:nvSpPr>
        <p:spPr>
          <a:xfrm>
            <a:off x="566928" y="5541264"/>
            <a:ext cx="5394960" cy="274320"/>
          </a:xfrm>
          <a:prstGeom prst="rect">
            <a:avLst/>
          </a:prstGeom>
          <a:noFill/>
        </p:spPr>
        <p:txBody>
          <a:bodyPr wrap="square" lIns="0" rIns="0" tIns="0" bIns="0" anchor="t">
            <a:spAutoFit/>
          </a:bodyPr>
          <a:lstStyle/>
          <a:p>
            <a:pPr algn="l">
              <a:lnSpc>
                <a:spcPct val="112000"/>
              </a:lnSpc>
              <a:spcAft>
                <a:spcPts val="0"/>
              </a:spcAft>
            </a:pPr>
            <a:r>
              <a:rPr sz="760" b="0" i="0">
                <a:solidFill>
                  <a:srgbClr val="7D8F93"/>
                </a:solidFill>
                <a:latin typeface="Calibri"/>
              </a:rPr>
              <a:t>Data fiktif. Gambar ini ilustrasi skematik, bukan foto atau radiograf pasien.</a:t>
            </a:r>
          </a:p>
        </p:txBody>
      </p:sp>
      <p:sp>
        <p:nvSpPr>
          <p:cNvPr id="15" name="TextBox 14"/>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6" name="Rounded Rectangle 15"/>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18" name="Rounded Rectangle 17"/>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0" name="Rounded Rectangle 19"/>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2" name="TextBox 21"/>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3" name="TextBox 22"/>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4" name="Rounded Rectangle 23"/>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6" name="Rounded Rectangle 25"/>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28" name="Rounded Rectangle 27"/>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0" name="TextBox 29"/>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Anak dengan MIH berat pada molar pertama permanen: perawatan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dengan gigi tetangga harus terbuka, sudut pertemuan dua bidang dibulatkan,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dan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