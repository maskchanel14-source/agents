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sepuluh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Hall Technique, bagian tujuh penyulit yang paling sering muncul.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success 96,1 persen dari 31 studi, dengan lama follow-up yang berbeda-beda. Cochrane 2015 memberi angka yang lebih kuat: risiko kegagalan mayor 0,18 dibanding tambalan, artinya sekitar seperlima. Dan pada RCT lima tahun, Hall mencapai 92 persen dibanding 52 persen pada restorasi rutin. Perhatikan, angka-angka ini memakai definisi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teknik. Kalau karies sudah lebih dari dua permukaan atau melewati line angle, restorasi langsung mulai sulit dipertahankan, jadi arahnya ke SSC. Sebelum memilih Hall, periksa tanda pulpa ireversibel: nyeri spontan, abses, fistula. Kalau ada, Hall berhenti di situ, dan gigi perlu pulpektomi atau ekstraksi lebih dulu. Kontraindikasi yang sering terlupa adalah resorpsi akar lebih dari setengah dan alergi nikel.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Hall membalik logika kita. Karies tidak dibuang, gigi tidak dikurangi, dan tidak ada anestesi. Yang menentukan keberhasilan adalah seal margin. Dua hal yang harus disampaikan ke orang tua: crown akan terasa tinggi beberapa hari, dan bila kontak ketat, perlu kunjungan kedua untuk melepas separator setelah tiga sampai lima hari. Yang tidak boleh: memakai Hall pada gigi dengan nyeri spontan atau abses.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Perbandingan ini jangan dibaca sebagai siapa yang menang. Hall menang di waktu dan penerimaan: tujuh koma satu menit dibanding tujuh belas koma empat menit. Konvensional menang di kontrol: kita bisa melihat dan mengobati pulpa, serta membentuk margin sendiri. Yang penting, sampai sekarang belum ada RCT yang membandingkan Hall dengan SSC konvensional. Jadi pilihan ditentukan oleh kondisi gigi, perilaku anak, dan kemampuan operator.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penyulit ini hampir semuanya bisa dilacak ke preparasi atau pemilihan ukuran. Crown longgar berarti crimping kurang, bukan semen kurang. Crown tidak duduk hampir selalu karena ledge atau kontak yang belum putus. Perdarahan saat try-in berarti margin terlalu panjang.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 grafik ini sengaja dipisah. Kiri, RCT lima tahun: Hall 92 persen, kontrol 52 persen. Kanan, meta-analisis 2025 tentang retensi lima tahun: SSC tertinggi, 97,88 persen. Perhatikan sumbu kanan dipotong pada 80 persen, jadi perbedaan tiga sampai empat persen terlihat besar. Dan retensi bukan success. Sebuah crown bisa masih terpasang tetapi sudah gagal secara klinis karena pulpanya nekrotik.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Hall, konvensional, atau komposit? Setelah mereka memilih, lanjut ke pertanyaan kedua. Crown belum duduk di distal. Di sinilah kebanyakan orang langsung memilih crown lebih besar, padahal masalahnya biasanya ledge atau sisa kontak. Kunci: Hall atau SSC konvensional sama-sama dapat diterima.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kontraindikasi Hall, angka reduksi oklusal, penanganan crown yang tidak duduk, dan faktor retensi. Kalau waktu habis, cukup kerjakan soal satu dan tiga. Jawaban yang salah tetap menampilkan penjelasan, jadi bisa dipakai untuk diskusi. Kunci jawaban: 1 SSC konvensional setelah pulpotomi;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coverage penuh, dan retensinya ditentukan margin serta undercut, bukan semen. Dua, Hall hanya untuk gigi vital dengan dentine bridge jelas. Tiga, angka success, survival, dan retention tidak boleh dicampur.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penyulit,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13.xml"/><Relationship Id="rId12"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Hall Technique, dan bukti klinis dalam sepuluh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10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Bukan pengganti pertimbangan klinis pada pasien tertentu.</a:t>
            </a:r>
          </a:p>
        </p:txBody>
      </p:sp>
      <p:sp>
        <p:nvSpPr>
          <p:cNvPr id="15" name="Freeform 14"/>
          <p:cNvSpPr/>
          <p:nvPr/>
        </p:nvSpPr>
        <p:spPr>
          <a:xfrm>
            <a:off x="8732520" y="1143000"/>
            <a:ext cx="2436876" cy="2118207"/>
          </a:xfrm>
          <a:custGeom>
            <a:avLst/>
            <a:gdLst/>
            <a:ahLst/>
            <a:cxnLst/>
            <a:rect l="l" t="t" r="r" b="b"/>
            <a:pathLst>
              <a:path w="2436876" h="2118207">
                <a:moveTo>
                  <a:pt x="0" y="0"/>
                </a:moveTo>
                <a:lnTo>
                  <a:pt x="0" y="562355"/>
                </a:lnTo>
                <a:lnTo>
                  <a:pt x="243687" y="187452"/>
                </a:lnTo>
                <a:lnTo>
                  <a:pt x="599846" y="299923"/>
                </a:lnTo>
                <a:lnTo>
                  <a:pt x="862279" y="37490"/>
                </a:lnTo>
                <a:lnTo>
                  <a:pt x="1162202" y="299923"/>
                </a:lnTo>
                <a:lnTo>
                  <a:pt x="1499616" y="37490"/>
                </a:lnTo>
                <a:lnTo>
                  <a:pt x="1799539" y="299923"/>
                </a:lnTo>
                <a:lnTo>
                  <a:pt x="2174443" y="187452"/>
                </a:lnTo>
                <a:lnTo>
                  <a:pt x="2436876" y="562355"/>
                </a:lnTo>
                <a:lnTo>
                  <a:pt x="2436876" y="1780794"/>
                </a:lnTo>
                <a:lnTo>
                  <a:pt x="2286914" y="1930755"/>
                </a:lnTo>
                <a:lnTo>
                  <a:pt x="2061972" y="1837029"/>
                </a:lnTo>
                <a:lnTo>
                  <a:pt x="2061972" y="2118207"/>
                </a:lnTo>
                <a:lnTo>
                  <a:pt x="1799539" y="2118207"/>
                </a:lnTo>
                <a:lnTo>
                  <a:pt x="1799539" y="1837029"/>
                </a:lnTo>
                <a:lnTo>
                  <a:pt x="637336" y="1837029"/>
                </a:lnTo>
                <a:lnTo>
                  <a:pt x="637336" y="2118207"/>
                </a:lnTo>
                <a:lnTo>
                  <a:pt x="374904" y="2118207"/>
                </a:lnTo>
                <a:lnTo>
                  <a:pt x="374904" y="1837029"/>
                </a:lnTo>
                <a:lnTo>
                  <a:pt x="149961" y="1930755"/>
                </a:lnTo>
                <a:close/>
              </a:path>
            </a:pathLst>
          </a:custGeom>
          <a:solidFill>
            <a:srgbClr val="F6DFD7"/>
          </a:solidFill>
          <a:ln w="25400">
            <a:solidFill>
              <a:srgbClr val="1532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3749039"/>
            <a:ext cx="2743200" cy="274320"/>
          </a:xfrm>
          <a:prstGeom prst="rect">
            <a:avLst/>
          </a:prstGeom>
          <a:noFill/>
        </p:spPr>
        <p:txBody>
          <a:bodyPr wrap="square" lIns="0" rIns="0" tIns="0" bIns="0" anchor="t">
            <a:spAutoFit/>
          </a:bodyPr>
          <a:lstStyle/>
          <a:p>
            <a:pPr algn="ctr">
              <a:lnSpc>
                <a:spcPct val="112000"/>
              </a:lnSpc>
              <a:spcAft>
                <a:spcPts val="0"/>
              </a:spcAft>
            </a:pPr>
            <a:r>
              <a:rPr sz="950" b="0" i="0">
                <a:solidFill>
                  <a:srgbClr val="7D8F93"/>
                </a:solidFill>
                <a:latin typeface="Calibri"/>
              </a:rPr>
              <a:t>SSC: coverage koronal penuh</a:t>
            </a:r>
          </a:p>
        </p:txBody>
      </p:sp>
      <p:sp>
        <p:nvSpPr>
          <p:cNvPr id="17" name="Rectangle 16"/>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9" name="TextBox 18"/>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Sembilan bagian, sepuluh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2"/>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Restorasi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Gigi desidui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Hall Technique</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Perbandingan dan penyulit</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a:hlinkClick action="ppaction://hlinksldjump" r:id="rId11"/>
          </p:cNvPr>
          <p:cNvSpPr/>
          <p:nvPr/>
        </p:nvSpPr>
        <p:spPr>
          <a:xfrm>
            <a:off x="614476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4476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9</a:t>
            </a:r>
          </a:p>
        </p:txBody>
      </p:sp>
      <p:sp>
        <p:nvSpPr>
          <p:cNvPr id="50" name="TextBox 49"/>
          <p:cNvSpPr txBox="1"/>
          <p:nvPr/>
        </p:nvSpPr>
        <p:spPr>
          <a:xfrm>
            <a:off x="652881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51" name="TextBox 50"/>
          <p:cNvSpPr txBox="1"/>
          <p:nvPr/>
        </p:nvSpPr>
        <p:spPr>
          <a:xfrm>
            <a:off x="1044244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52" name="Rectangle 51"/>
          <p:cNvSpPr/>
          <p:nvPr/>
        </p:nvSpPr>
        <p:spPr>
          <a:xfrm>
            <a:off x="614476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54" name="Rectangle 5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9 menit 15 detik konten, sekitar 10 menit dengan perpindahan</a:t>
            </a:r>
          </a:p>
        </p:txBody>
      </p:sp>
      <p:sp>
        <p:nvSpPr>
          <p:cNvPr id="56" name="TextBox 5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berulang gagal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terbuka, karies kembali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pulpa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sekitar 1 mm, dentin tipis, tanduk pulpa tinggi. Kapan berhenti menambal dan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Innes 2011;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SSC pada 12 bulan,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RR kegagalan mayor vs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92%</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Hall vs 52% kontrol pada 60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RCT, II</a:t>
            </a:r>
          </a:p>
        </p:txBody>
      </p:sp>
      <p:sp>
        <p:nvSpPr>
          <p:cNvPr id="20" name="Rounded Rectangle 19"/>
          <p:cNvSpPr/>
          <p:nvPr/>
        </p:nvSpPr>
        <p:spPr>
          <a:xfrm>
            <a:off x="566928" y="324612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401568"/>
            <a:ext cx="31546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Menutup seluruh korona</a:t>
            </a:r>
          </a:p>
        </p:txBody>
      </p:sp>
      <p:sp>
        <p:nvSpPr>
          <p:cNvPr id="22" name="TextBox 21"/>
          <p:cNvSpPr txBox="1"/>
          <p:nvPr/>
        </p:nvSpPr>
        <p:spPr>
          <a:xfrm>
            <a:off x="749808" y="3712463"/>
            <a:ext cx="3154680" cy="56692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Tidak ada tepi restorasi.</a:t>
            </a:r>
          </a:p>
        </p:txBody>
      </p:sp>
      <p:sp>
        <p:nvSpPr>
          <p:cNvPr id="23" name="Rounded Rectangle 22"/>
          <p:cNvSpPr/>
          <p:nvPr/>
        </p:nvSpPr>
        <p:spPr>
          <a:xfrm>
            <a:off x="4334256" y="324612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7136" y="3401568"/>
            <a:ext cx="31546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Tahan fraktur</a:t>
            </a:r>
          </a:p>
        </p:txBody>
      </p:sp>
      <p:sp>
        <p:nvSpPr>
          <p:cNvPr id="25" name="TextBox 24"/>
          <p:cNvSpPr txBox="1"/>
          <p:nvPr/>
        </p:nvSpPr>
        <p:spPr>
          <a:xfrm>
            <a:off x="4517136" y="3712463"/>
            <a:ext cx="3154680" cy="56692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tipis.</a:t>
            </a:r>
          </a:p>
        </p:txBody>
      </p:sp>
      <p:sp>
        <p:nvSpPr>
          <p:cNvPr id="26" name="Rounded Rectangle 25"/>
          <p:cNvSpPr/>
          <p:nvPr/>
        </p:nvSpPr>
        <p:spPr>
          <a:xfrm>
            <a:off x="8101583" y="324612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84463" y="3401568"/>
            <a:ext cx="31546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Lebih sedikit pengulangan</a:t>
            </a:r>
          </a:p>
        </p:txBody>
      </p:sp>
      <p:sp>
        <p:nvSpPr>
          <p:cNvPr id="28" name="TextBox 27"/>
          <p:cNvSpPr txBox="1"/>
          <p:nvPr/>
        </p:nvSpPr>
        <p:spPr>
          <a:xfrm>
            <a:off x="8284463" y="3712463"/>
            <a:ext cx="3154680" cy="56692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 lebih tinggi, retreatment lebih rendah.</a:t>
            </a:r>
          </a:p>
        </p:txBody>
      </p:sp>
      <p:sp>
        <p:nvSpPr>
          <p:cNvPr id="29" name="TextBox 28"/>
          <p:cNvSpPr txBox="1"/>
          <p:nvPr/>
        </p:nvSpPr>
        <p:spPr>
          <a:xfrm>
            <a:off x="566928" y="4709160"/>
            <a:ext cx="10789920" cy="640080"/>
          </a:xfrm>
          <a:prstGeom prst="rect">
            <a:avLst/>
          </a:prstGeom>
          <a:noFill/>
        </p:spPr>
        <p:txBody>
          <a:bodyPr wrap="square" lIns="0" rIns="0" tIns="0" bIns="0" anchor="t">
            <a:spAutoFit/>
          </a:bodyPr>
          <a:lstStyle/>
          <a:p>
            <a:pPr algn="l">
              <a:lnSpc>
                <a:spcPct val="112000"/>
              </a:lnSpc>
              <a:spcAft>
                <a:spcPts val="0"/>
              </a:spcAft>
            </a:pPr>
            <a:r>
              <a:rPr sz="1200" b="0" i="0">
                <a:solidFill>
                  <a:srgbClr val="47646C"/>
                </a:solidFill>
                <a:latin typeface="Calibri"/>
              </a:rPr>
              <a:t>Retensi berasal dari undercut servikal dan adaptasi margin. Semen membantu seal, bukan menggantikan adaptasi.</a:t>
            </a:r>
          </a:p>
        </p:txBody>
      </p:sp>
      <p:sp>
        <p:nvSpPr>
          <p:cNvPr id="30" name="Rectangle 2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Innes 2011; AAPD 2025</a:t>
            </a:r>
          </a:p>
        </p:txBody>
      </p:sp>
      <p:sp>
        <p:nvSpPr>
          <p:cNvPr id="32" name="TextBox 3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Lebih dari 2 permukaan, atau melewati line angle</a:t>
            </a:r>
          </a:p>
          <a:p>
            <a:pPr algn="l">
              <a:lnSpc>
                <a:spcPct val="120000"/>
              </a:lnSpc>
              <a:spcAft>
                <a:spcPts val="0"/>
              </a:spcAft>
            </a:pPr>
            <a:r>
              <a:rPr sz="1050" b="0" i="0">
                <a:solidFill>
                  <a:srgbClr val="47646C"/>
                </a:solidFill>
                <a:latin typeface="Calibri"/>
              </a:rPr>
              <a:t>•  Setelah pulpotomi atau pulpektomi</a:t>
            </a:r>
          </a:p>
          <a:p>
            <a:pPr algn="l">
              <a:lnSpc>
                <a:spcPct val="120000"/>
              </a:lnSpc>
              <a:spcAft>
                <a:spcPts val="0"/>
              </a:spcAft>
            </a:pPr>
            <a:r>
              <a:rPr sz="1050" b="0" i="0">
                <a:solidFill>
                  <a:srgbClr val="47646C"/>
                </a:solidFill>
                <a:latin typeface="Calibri"/>
              </a:rPr>
              <a:t>•  Hipoplasia, MIH, fraktur, atrisi</a:t>
            </a:r>
          </a:p>
          <a:p>
            <a:pPr algn="l">
              <a:lnSpc>
                <a:spcPct val="120000"/>
              </a:lnSpc>
              <a:spcAft>
                <a:spcPts val="0"/>
              </a:spcAft>
            </a:pPr>
            <a:r>
              <a:rPr sz="1050" b="0" i="0">
                <a:solidFill>
                  <a:srgbClr val="47646C"/>
                </a:solidFill>
                <a:latin typeface="Calibri"/>
              </a:rPr>
              <a:t>•  Abutment space maintainer,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Lebih dari setengah akar teresorpsi, alergi nikel</a:t>
            </a:r>
          </a:p>
          <a:p>
            <a:pPr algn="l">
              <a:lnSpc>
                <a:spcPct val="120000"/>
              </a:lnSpc>
              <a:spcAft>
                <a:spcPts val="0"/>
              </a:spcAft>
            </a:pPr>
            <a:r>
              <a:rPr sz="1050" b="0" i="0">
                <a:solidFill>
                  <a:srgbClr val="47646C"/>
                </a:solidFill>
                <a:latin typeface="Calibri"/>
              </a:rPr>
              <a:t>•  Gigi tidak restorable</a:t>
            </a:r>
          </a:p>
          <a:p>
            <a:pPr algn="l">
              <a:lnSpc>
                <a:spcPct val="120000"/>
              </a:lnSpc>
              <a:spcAft>
                <a:spcPts val="0"/>
              </a:spcAft>
            </a:pPr>
            <a:r>
              <a:rPr sz="1050" b="0" i="0">
                <a:solidFill>
                  <a:srgbClr val="47646C"/>
                </a:solidFill>
                <a:latin typeface="Calibri"/>
              </a:rPr>
              <a:t>•  Hall: nyeri spontan, abses, fistula, tanpa dentine bridge</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Hall bila dentine bridge jelas, atau SSC konvensional.</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Bukan kandidat SSC: gigi tidak restorable, akar teresorpsi,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Hall Technique Guide 2015</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Undercut di bawah bulbositas menahan crown.</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Hanya bila kontur menghalangi seating.</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atau 1,5–2,0 mm menurut sumber lain.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melewati kontak mesial dan distal.</a:t>
            </a:r>
          </a:p>
        </p:txBody>
      </p:sp>
      <p:sp>
        <p:nvSpPr>
          <p:cNvPr id="20" name="Rounded Rectangle 19"/>
          <p:cNvSpPr/>
          <p:nvPr/>
        </p:nvSpPr>
        <p:spPr>
          <a:xfrm>
            <a:off x="6355080" y="1737360"/>
            <a:ext cx="5257800" cy="4023360"/>
          </a:xfrm>
          <a:prstGeom prst="roundRect">
            <a:avLst>
              <a:gd name="adj" fmla="val 9000"/>
            </a:avLst>
          </a:prstGeom>
          <a:solidFill>
            <a:srgbClr val="FDFAF4"/>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818120" y="2331720"/>
            <a:ext cx="2286000" cy="2651760"/>
          </a:xfrm>
          <a:prstGeom prst="roundRect">
            <a:avLst>
              <a:gd name="adj" fmla="val 16000"/>
            </a:avLst>
          </a:prstGeom>
          <a:solidFill>
            <a:srgbClr val="FAF1DE"/>
          </a:solidFill>
          <a:ln w="15240">
            <a:solidFill>
              <a:srgbClr val="D8C6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28431" y="2606040"/>
            <a:ext cx="1865376" cy="2103120"/>
          </a:xfrm>
          <a:prstGeom prst="roundRect">
            <a:avLst>
              <a:gd name="adj" fmla="val 16000"/>
            </a:avLst>
          </a:prstGeom>
          <a:solidFill>
            <a:srgbClr val="F3CDC1"/>
          </a:solidFill>
          <a:ln w="17780">
            <a:solidFill>
              <a:srgbClr val="C65B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8010144" y="2011680"/>
            <a:ext cx="1901952" cy="1653235"/>
          </a:xfrm>
          <a:custGeom>
            <a:avLst/>
            <a:gdLst/>
            <a:ahLst/>
            <a:cxnLst/>
            <a:rect l="l" t="t" r="r" b="b"/>
            <a:pathLst>
              <a:path w="1901952" h="1653235">
                <a:moveTo>
                  <a:pt x="0" y="0"/>
                </a:moveTo>
                <a:lnTo>
                  <a:pt x="0" y="438912"/>
                </a:lnTo>
                <a:lnTo>
                  <a:pt x="190195" y="146304"/>
                </a:lnTo>
                <a:lnTo>
                  <a:pt x="468172" y="234086"/>
                </a:lnTo>
                <a:lnTo>
                  <a:pt x="672998" y="29260"/>
                </a:lnTo>
                <a:lnTo>
                  <a:pt x="907084" y="234086"/>
                </a:lnTo>
                <a:lnTo>
                  <a:pt x="1170432" y="29260"/>
                </a:lnTo>
                <a:lnTo>
                  <a:pt x="1404518" y="234086"/>
                </a:lnTo>
                <a:lnTo>
                  <a:pt x="1697126" y="146304"/>
                </a:lnTo>
                <a:lnTo>
                  <a:pt x="1901952" y="438912"/>
                </a:lnTo>
                <a:lnTo>
                  <a:pt x="1901952" y="1389888"/>
                </a:lnTo>
                <a:lnTo>
                  <a:pt x="1784908" y="1506931"/>
                </a:lnTo>
                <a:lnTo>
                  <a:pt x="1609344" y="1433779"/>
                </a:lnTo>
                <a:lnTo>
                  <a:pt x="1609344" y="1653235"/>
                </a:lnTo>
                <a:lnTo>
                  <a:pt x="1404518" y="1653235"/>
                </a:lnTo>
                <a:lnTo>
                  <a:pt x="1404518" y="1433779"/>
                </a:lnTo>
                <a:lnTo>
                  <a:pt x="497433" y="1433779"/>
                </a:lnTo>
                <a:lnTo>
                  <a:pt x="497433" y="1653235"/>
                </a:lnTo>
                <a:lnTo>
                  <a:pt x="292608" y="1653235"/>
                </a:lnTo>
                <a:lnTo>
                  <a:pt x="292608" y="1433779"/>
                </a:lnTo>
                <a:lnTo>
                  <a:pt x="117043" y="1506931"/>
                </a:lnTo>
                <a:close/>
              </a:path>
            </a:pathLst>
          </a:custGeom>
          <a:solidFill>
            <a:srgbClr val="F6DFD7"/>
          </a:solidFill>
          <a:ln w="25400">
            <a:solidFill>
              <a:srgbClr val="1532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2212848"/>
            <a:ext cx="1371600" cy="457200"/>
          </a:xfrm>
          <a:prstGeom prst="rect">
            <a:avLst/>
          </a:prstGeom>
          <a:noFill/>
        </p:spPr>
        <p:txBody>
          <a:bodyPr wrap="square" lIns="0" rIns="0" tIns="0" bIns="0" anchor="t">
            <a:spAutoFit/>
          </a:bodyPr>
          <a:lstStyle/>
          <a:p>
            <a:pPr algn="l">
              <a:lnSpc>
                <a:spcPct val="112000"/>
              </a:lnSpc>
              <a:spcAft>
                <a:spcPts val="0"/>
              </a:spcAft>
            </a:pPr>
            <a:r>
              <a:rPr sz="850" b="0" i="0">
                <a:solidFill>
                  <a:srgbClr val="15323A"/>
                </a:solidFill>
                <a:latin typeface="Calibri"/>
              </a:rPr>
              <a:t>1,0–1,5 mm</a:t>
            </a:r>
          </a:p>
          <a:p>
            <a:pPr algn="l">
              <a:lnSpc>
                <a:spcPct val="112000"/>
              </a:lnSpc>
              <a:spcAft>
                <a:spcPts val="0"/>
              </a:spcAft>
            </a:pPr>
            <a:r>
              <a:rPr sz="850" b="0" i="0">
                <a:solidFill>
                  <a:srgbClr val="15323A"/>
                </a:solidFill>
                <a:latin typeface="Calibri"/>
              </a:rPr>
              <a:t>reduksi oklusal</a:t>
            </a:r>
          </a:p>
        </p:txBody>
      </p:sp>
      <p:sp>
        <p:nvSpPr>
          <p:cNvPr id="25" name="TextBox 24"/>
          <p:cNvSpPr txBox="1"/>
          <p:nvPr/>
        </p:nvSpPr>
        <p:spPr>
          <a:xfrm>
            <a:off x="6382512" y="3840480"/>
            <a:ext cx="1325880" cy="457200"/>
          </a:xfrm>
          <a:prstGeom prst="rect">
            <a:avLst/>
          </a:prstGeom>
          <a:noFill/>
        </p:spPr>
        <p:txBody>
          <a:bodyPr wrap="square" lIns="0" rIns="0" tIns="0" bIns="0" anchor="t">
            <a:spAutoFit/>
          </a:bodyPr>
          <a:lstStyle/>
          <a:p>
            <a:pPr algn="l">
              <a:lnSpc>
                <a:spcPct val="112000"/>
              </a:lnSpc>
              <a:spcAft>
                <a:spcPts val="0"/>
              </a:spcAft>
            </a:pPr>
            <a:r>
              <a:rPr sz="850" b="0" i="0">
                <a:solidFill>
                  <a:srgbClr val="15323A"/>
                </a:solidFill>
                <a:latin typeface="Calibri"/>
              </a:rPr>
              <a:t>bulbositas</a:t>
            </a:r>
          </a:p>
          <a:p>
            <a:pPr algn="l">
              <a:lnSpc>
                <a:spcPct val="112000"/>
              </a:lnSpc>
              <a:spcAft>
                <a:spcPts val="0"/>
              </a:spcAft>
            </a:pPr>
            <a:r>
              <a:rPr sz="850" b="0" i="0">
                <a:solidFill>
                  <a:srgbClr val="15323A"/>
                </a:solidFill>
                <a:latin typeface="Calibri"/>
              </a:rPr>
              <a:t>servikal</a:t>
            </a:r>
          </a:p>
        </p:txBody>
      </p:sp>
      <p:sp>
        <p:nvSpPr>
          <p:cNvPr id="26" name="TextBox 25"/>
          <p:cNvSpPr txBox="1"/>
          <p:nvPr/>
        </p:nvSpPr>
        <p:spPr>
          <a:xfrm>
            <a:off x="9893808" y="4160520"/>
            <a:ext cx="1554480" cy="457200"/>
          </a:xfrm>
          <a:prstGeom prst="rect">
            <a:avLst/>
          </a:prstGeom>
          <a:noFill/>
        </p:spPr>
        <p:txBody>
          <a:bodyPr wrap="square" lIns="0" rIns="0" tIns="0" bIns="0" anchor="t">
            <a:spAutoFit/>
          </a:bodyPr>
          <a:lstStyle/>
          <a:p>
            <a:pPr algn="l">
              <a:lnSpc>
                <a:spcPct val="112000"/>
              </a:lnSpc>
              <a:spcAft>
                <a:spcPts val="0"/>
              </a:spcAft>
            </a:pPr>
            <a:r>
              <a:rPr sz="850" b="0" i="0">
                <a:solidFill>
                  <a:srgbClr val="15323A"/>
                </a:solidFill>
                <a:latin typeface="Calibri"/>
              </a:rPr>
              <a:t>margin 1 mm</a:t>
            </a:r>
          </a:p>
          <a:p>
            <a:pPr algn="l">
              <a:lnSpc>
                <a:spcPct val="112000"/>
              </a:lnSpc>
              <a:spcAft>
                <a:spcPts val="0"/>
              </a:spcAft>
            </a:pPr>
            <a:r>
              <a:rPr sz="850" b="0" i="0">
                <a:solidFill>
                  <a:srgbClr val="15323A"/>
                </a:solidFill>
                <a:latin typeface="Calibri"/>
              </a:rPr>
              <a:t>subgingiva</a:t>
            </a:r>
          </a:p>
        </p:txBody>
      </p:sp>
      <p:sp>
        <p:nvSpPr>
          <p:cNvPr id="27" name="TextBox 26"/>
          <p:cNvSpPr txBox="1"/>
          <p:nvPr/>
        </p:nvSpPr>
        <p:spPr>
          <a:xfrm>
            <a:off x="9893808" y="3566160"/>
            <a:ext cx="1554480" cy="457200"/>
          </a:xfrm>
          <a:prstGeom prst="rect">
            <a:avLst/>
          </a:prstGeom>
          <a:noFill/>
        </p:spPr>
        <p:txBody>
          <a:bodyPr wrap="square" lIns="0" rIns="0" tIns="0" bIns="0" anchor="t">
            <a:spAutoFit/>
          </a:bodyPr>
          <a:lstStyle/>
          <a:p>
            <a:pPr algn="l">
              <a:lnSpc>
                <a:spcPct val="112000"/>
              </a:lnSpc>
              <a:spcAft>
                <a:spcPts val="0"/>
              </a:spcAft>
            </a:pPr>
            <a:r>
              <a:rPr sz="850" b="0" i="0">
                <a:solidFill>
                  <a:srgbClr val="15323A"/>
                </a:solidFill>
                <a:latin typeface="Calibri"/>
              </a:rPr>
              <a:t>feather edge,</a:t>
            </a:r>
          </a:p>
          <a:p>
            <a:pPr algn="l">
              <a:lnSpc>
                <a:spcPct val="112000"/>
              </a:lnSpc>
              <a:spcAft>
                <a:spcPts val="0"/>
              </a:spcAft>
            </a:pPr>
            <a:r>
              <a:rPr sz="850" b="0" i="0">
                <a:solidFill>
                  <a:srgbClr val="15323A"/>
                </a:solidFill>
                <a:latin typeface="Calibri"/>
              </a:rPr>
              <a:t>tanpa ledge</a:t>
            </a:r>
          </a:p>
        </p:txBody>
      </p:sp>
      <p:sp>
        <p:nvSpPr>
          <p:cNvPr id="28" name="TextBox 27"/>
          <p:cNvSpPr txBox="1"/>
          <p:nvPr/>
        </p:nvSpPr>
        <p:spPr>
          <a:xfrm>
            <a:off x="6382512" y="5394960"/>
            <a:ext cx="457200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Skema: garis putus-putus adalah permukaan setelah preparasi.</a:t>
            </a:r>
          </a:p>
        </p:txBody>
      </p:sp>
      <p:sp>
        <p:nvSpPr>
          <p:cNvPr id="29" name="Rectangle 2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31" name="TextBox 3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HALL TECHNIQUE</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menutup karies tanpa anestesi dan tanpa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73736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1</a:t>
            </a:r>
          </a:p>
        </p:txBody>
      </p:sp>
      <p:sp>
        <p:nvSpPr>
          <p:cNvPr id="9" name="TextBox 8"/>
          <p:cNvSpPr txBox="1"/>
          <p:nvPr/>
        </p:nvSpPr>
        <p:spPr>
          <a:xfrm>
            <a:off x="914400" y="173736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Nilai dan radiograf</a:t>
            </a:r>
          </a:p>
        </p:txBody>
      </p:sp>
      <p:sp>
        <p:nvSpPr>
          <p:cNvPr id="10" name="TextBox 9"/>
          <p:cNvSpPr txBox="1"/>
          <p:nvPr/>
        </p:nvSpPr>
        <p:spPr>
          <a:xfrm>
            <a:off x="914400" y="202996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Vital, dentine bridge jelas. Karies tidak dibuang.</a:t>
            </a:r>
          </a:p>
        </p:txBody>
      </p:sp>
      <p:sp>
        <p:nvSpPr>
          <p:cNvPr id="11" name="Rectangle 10"/>
          <p:cNvSpPr/>
          <p:nvPr/>
        </p:nvSpPr>
        <p:spPr>
          <a:xfrm>
            <a:off x="566928" y="248716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6032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2</a:t>
            </a:r>
          </a:p>
        </p:txBody>
      </p:sp>
      <p:sp>
        <p:nvSpPr>
          <p:cNvPr id="13" name="TextBox 12"/>
          <p:cNvSpPr txBox="1"/>
          <p:nvPr/>
        </p:nvSpPr>
        <p:spPr>
          <a:xfrm>
            <a:off x="914400" y="256032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Separator bila kontak ketat</a:t>
            </a:r>
          </a:p>
        </p:txBody>
      </p:sp>
      <p:sp>
        <p:nvSpPr>
          <p:cNvPr id="14" name="TextBox 13"/>
          <p:cNvSpPr txBox="1"/>
          <p:nvPr/>
        </p:nvSpPr>
        <p:spPr>
          <a:xfrm>
            <a:off x="914400" y="285292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Mesial dan distal, 3–5 hari.</a:t>
            </a:r>
          </a:p>
        </p:txBody>
      </p:sp>
      <p:sp>
        <p:nvSpPr>
          <p:cNvPr id="15" name="Rectangle 14"/>
          <p:cNvSpPr/>
          <p:nvPr/>
        </p:nvSpPr>
        <p:spPr>
          <a:xfrm>
            <a:off x="566928" y="3310127"/>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38328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3</a:t>
            </a:r>
          </a:p>
        </p:txBody>
      </p:sp>
      <p:sp>
        <p:nvSpPr>
          <p:cNvPr id="17" name="TextBox 16"/>
          <p:cNvSpPr txBox="1"/>
          <p:nvPr/>
        </p:nvSpPr>
        <p:spPr>
          <a:xfrm>
            <a:off x="914400" y="338328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Pilih crown</a:t>
            </a:r>
          </a:p>
        </p:txBody>
      </p:sp>
      <p:sp>
        <p:nvSpPr>
          <p:cNvPr id="18" name="TextBox 17"/>
          <p:cNvSpPr txBox="1"/>
          <p:nvPr/>
        </p:nvSpPr>
        <p:spPr>
          <a:xfrm>
            <a:off x="914400" y="367588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Terkecil, menutup seluruh gigi, spring-back.</a:t>
            </a:r>
          </a:p>
        </p:txBody>
      </p:sp>
      <p:sp>
        <p:nvSpPr>
          <p:cNvPr id="19" name="Rectangle 18"/>
          <p:cNvSpPr/>
          <p:nvPr/>
        </p:nvSpPr>
        <p:spPr>
          <a:xfrm>
            <a:off x="566928" y="413308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20624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4</a:t>
            </a:r>
          </a:p>
        </p:txBody>
      </p:sp>
      <p:sp>
        <p:nvSpPr>
          <p:cNvPr id="21" name="TextBox 20"/>
          <p:cNvSpPr txBox="1"/>
          <p:nvPr/>
        </p:nvSpPr>
        <p:spPr>
          <a:xfrm>
            <a:off x="914400" y="420624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Isi semen dua pertiga</a:t>
            </a:r>
          </a:p>
        </p:txBody>
      </p:sp>
      <p:sp>
        <p:nvSpPr>
          <p:cNvPr id="22" name="TextBox 21"/>
          <p:cNvSpPr txBox="1"/>
          <p:nvPr/>
        </p:nvSpPr>
        <p:spPr>
          <a:xfrm>
            <a:off x="914400" y="449884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GIC atau RMGIC, semua dinding terlapisi.</a:t>
            </a:r>
          </a:p>
        </p:txBody>
      </p:sp>
      <p:sp>
        <p:nvSpPr>
          <p:cNvPr id="23" name="Rectangle 22"/>
          <p:cNvSpPr/>
          <p:nvPr/>
        </p:nvSpPr>
        <p:spPr>
          <a:xfrm>
            <a:off x="566928" y="495604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502920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5</a:t>
            </a:r>
          </a:p>
        </p:txBody>
      </p:sp>
      <p:sp>
        <p:nvSpPr>
          <p:cNvPr id="25" name="TextBox 24"/>
          <p:cNvSpPr txBox="1"/>
          <p:nvPr/>
        </p:nvSpPr>
        <p:spPr>
          <a:xfrm>
            <a:off x="914400" y="502920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Seating dan bite</a:t>
            </a:r>
          </a:p>
        </p:txBody>
      </p:sp>
      <p:sp>
        <p:nvSpPr>
          <p:cNvPr id="26" name="TextBox 25"/>
          <p:cNvSpPr txBox="1"/>
          <p:nvPr/>
        </p:nvSpPr>
        <p:spPr>
          <a:xfrm>
            <a:off x="914400" y="532180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Lindungi airway, gigit 2–3 menit.</a:t>
            </a:r>
          </a:p>
        </p:txBody>
      </p:sp>
      <p:sp>
        <p:nvSpPr>
          <p:cNvPr id="27" name="Rectangle 26"/>
          <p:cNvSpPr/>
          <p:nvPr/>
        </p:nvSpPr>
        <p:spPr>
          <a:xfrm>
            <a:off x="566928" y="577900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5532120"/>
            <a:ext cx="5394960" cy="566928"/>
          </a:xfrm>
          <a:prstGeom prst="roundRect">
            <a:avLst>
              <a:gd name="adj" fmla="val 9000"/>
            </a:avLst>
          </a:prstGeom>
          <a:solidFill>
            <a:srgbClr val="F7F0E0"/>
          </a:solidFill>
          <a:ln w="12700">
            <a:solidFill>
              <a:srgbClr val="E8D9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 y="5614416"/>
            <a:ext cx="5120640" cy="411480"/>
          </a:xfrm>
          <a:prstGeom prst="rect">
            <a:avLst/>
          </a:prstGeom>
          <a:noFill/>
        </p:spPr>
        <p:txBody>
          <a:bodyPr wrap="square" lIns="0" rIns="0" tIns="0" bIns="0" anchor="t">
            <a:spAutoFit/>
          </a:bodyPr>
          <a:lstStyle/>
          <a:p>
            <a:pPr algn="l">
              <a:lnSpc>
                <a:spcPct val="112000"/>
              </a:lnSpc>
              <a:spcAft>
                <a:spcPts val="0"/>
              </a:spcAft>
            </a:pPr>
            <a:r>
              <a:rPr sz="880" b="0" i="0">
                <a:solidFill>
                  <a:srgbClr val="6B5A3E"/>
                </a:solidFill>
                <a:latin typeface="Calibri"/>
              </a:rPr>
              <a:t>Batas Hall: bukan untuk pulpitis ireversibel, abses, fistula, atau tanpa dentine bridge.</a:t>
            </a:r>
          </a:p>
        </p:txBody>
      </p:sp>
      <p:sp>
        <p:nvSpPr>
          <p:cNvPr id="30" name="Rounded Rectangle 29"/>
          <p:cNvSpPr/>
          <p:nvPr/>
        </p:nvSpPr>
        <p:spPr>
          <a:xfrm>
            <a:off x="6355080" y="1737360"/>
            <a:ext cx="5257800" cy="3840480"/>
          </a:xfrm>
          <a:prstGeom prst="roundRect">
            <a:avLst>
              <a:gd name="adj" fmla="val 9000"/>
            </a:avLst>
          </a:prstGeom>
          <a:solidFill>
            <a:srgbClr val="FDFAF4"/>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949440" y="2743200"/>
            <a:ext cx="1143000" cy="1920240"/>
          </a:xfrm>
          <a:prstGeom prst="roundRect">
            <a:avLst>
              <a:gd name="adj" fmla="val 18000"/>
            </a:avLst>
          </a:prstGeom>
          <a:solidFill>
            <a:srgbClr val="FAF1DE"/>
          </a:solidFill>
          <a:ln w="12700">
            <a:solidFill>
              <a:srgbClr val="D8C6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412480" y="2743200"/>
            <a:ext cx="1143000" cy="1920240"/>
          </a:xfrm>
          <a:prstGeom prst="roundRect">
            <a:avLst>
              <a:gd name="adj" fmla="val 18000"/>
            </a:avLst>
          </a:prstGeom>
          <a:solidFill>
            <a:srgbClr val="FAF1DE"/>
          </a:solidFill>
          <a:ln w="12700">
            <a:solidFill>
              <a:srgbClr val="D8C6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12280" y="2331720"/>
            <a:ext cx="1417320" cy="914400"/>
          </a:xfrm>
          <a:prstGeom prst="roundRect">
            <a:avLst>
              <a:gd name="adj" fmla="val 12000"/>
            </a:avLst>
          </a:prstGeom>
          <a:solidFill>
            <a:srgbClr val="F6DFD7"/>
          </a:solidFill>
          <a:ln w="20320">
            <a:solidFill>
              <a:srgbClr val="1532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2542032"/>
            <a:ext cx="1234440" cy="365760"/>
          </a:xfrm>
          <a:prstGeom prst="rect">
            <a:avLst/>
          </a:prstGeom>
          <a:noFill/>
        </p:spPr>
        <p:txBody>
          <a:bodyPr wrap="square" lIns="0" rIns="0" tIns="0" bIns="0" anchor="t">
            <a:spAutoFit/>
          </a:bodyPr>
          <a:lstStyle/>
          <a:p>
            <a:pPr algn="ctr">
              <a:lnSpc>
                <a:spcPct val="112000"/>
              </a:lnSpc>
              <a:spcAft>
                <a:spcPts val="0"/>
              </a:spcAft>
            </a:pPr>
            <a:r>
              <a:rPr sz="900" b="0" i="0">
                <a:solidFill>
                  <a:srgbClr val="15323A"/>
                </a:solidFill>
                <a:latin typeface="Calibri"/>
              </a:rPr>
              <a:t>crown</a:t>
            </a:r>
          </a:p>
        </p:txBody>
      </p:sp>
      <p:sp>
        <p:nvSpPr>
          <p:cNvPr id="35" name="TextBox 34"/>
          <p:cNvSpPr txBox="1"/>
          <p:nvPr/>
        </p:nvSpPr>
        <p:spPr>
          <a:xfrm>
            <a:off x="8183879" y="3200400"/>
            <a:ext cx="1188720" cy="365760"/>
          </a:xfrm>
          <a:prstGeom prst="rect">
            <a:avLst/>
          </a:prstGeom>
          <a:noFill/>
        </p:spPr>
        <p:txBody>
          <a:bodyPr wrap="square" lIns="0" rIns="0" tIns="0" bIns="0" anchor="t">
            <a:spAutoFit/>
          </a:bodyPr>
          <a:lstStyle/>
          <a:p>
            <a:pPr algn="ctr">
              <a:lnSpc>
                <a:spcPct val="112000"/>
              </a:lnSpc>
              <a:spcAft>
                <a:spcPts val="0"/>
              </a:spcAft>
            </a:pPr>
            <a:r>
              <a:rPr sz="750" b="0" i="0">
                <a:solidFill>
                  <a:srgbClr val="6F5B3F"/>
                </a:solidFill>
                <a:latin typeface="Calibri"/>
              </a:rPr>
              <a:t>separator</a:t>
            </a:r>
          </a:p>
        </p:txBody>
      </p:sp>
      <p:sp>
        <p:nvSpPr>
          <p:cNvPr id="36" name="TextBox 35"/>
          <p:cNvSpPr txBox="1"/>
          <p:nvPr/>
        </p:nvSpPr>
        <p:spPr>
          <a:xfrm>
            <a:off x="6583680" y="4846320"/>
            <a:ext cx="4754880" cy="502920"/>
          </a:xfrm>
          <a:prstGeom prst="rect">
            <a:avLst/>
          </a:prstGeom>
          <a:noFill/>
        </p:spPr>
        <p:txBody>
          <a:bodyPr wrap="square" lIns="0" rIns="0" tIns="0" bIns="0" anchor="t">
            <a:spAutoFit/>
          </a:bodyPr>
          <a:lstStyle/>
          <a:p>
            <a:pPr algn="ctr">
              <a:lnSpc>
                <a:spcPct val="112000"/>
              </a:lnSpc>
              <a:spcAft>
                <a:spcPts val="0"/>
              </a:spcAft>
            </a:pPr>
            <a:r>
              <a:rPr sz="950" b="0" i="0">
                <a:solidFill>
                  <a:srgbClr val="47646C"/>
                </a:solidFill>
                <a:latin typeface="Calibri"/>
              </a:rPr>
              <a:t>Karies tetap di tempatnya dan tertutup dari substrat oral.</a:t>
            </a:r>
          </a:p>
        </p:txBody>
      </p:sp>
      <p:sp>
        <p:nvSpPr>
          <p:cNvPr id="37" name="Rectangle 36"/>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2007; Hall Technique Guide 2015; SDCEP 2025</a:t>
            </a:r>
          </a:p>
        </p:txBody>
      </p:sp>
      <p:sp>
        <p:nvSpPr>
          <p:cNvPr id="39" name="TextBox 38"/>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DUA TEKNIK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lebih cepat, konvensional lebih terkontrol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SSC konvensional</a:t>
            </a:r>
          </a:p>
        </p:txBody>
      </p:sp>
      <p:sp>
        <p:nvSpPr>
          <p:cNvPr id="10" name="TextBox 9"/>
          <p:cNvSpPr txBox="1"/>
          <p:nvPr/>
        </p:nvSpPr>
        <p:spPr>
          <a:xfrm>
            <a:off x="78638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Anestesi, preparasi, ekskavasi</a:t>
            </a:r>
          </a:p>
        </p:txBody>
      </p:sp>
      <p:sp>
        <p:nvSpPr>
          <p:cNvPr id="11" name="TextBox 10"/>
          <p:cNvSpPr txBox="1"/>
          <p:nvPr/>
        </p:nvSpPr>
        <p:spPr>
          <a:xfrm>
            <a:off x="78638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12" name="TextBox 11"/>
          <p:cNvSpPr txBox="1"/>
          <p:nvPr/>
        </p:nvSpPr>
        <p:spPr>
          <a:xfrm>
            <a:off x="235000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17,4 ± 2,9 menit</a:t>
            </a:r>
          </a:p>
        </p:txBody>
      </p:sp>
      <p:sp>
        <p:nvSpPr>
          <p:cNvPr id="13" name="TextBox 12"/>
          <p:cNvSpPr txBox="1"/>
          <p:nvPr/>
        </p:nvSpPr>
        <p:spPr>
          <a:xfrm>
            <a:off x="78638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14" name="TextBox 13"/>
          <p:cNvSpPr txBox="1"/>
          <p:nvPr/>
        </p:nvSpPr>
        <p:spPr>
          <a:xfrm>
            <a:off x="235000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5" name="TextBox 14"/>
          <p:cNvSpPr txBox="1"/>
          <p:nvPr/>
        </p:nvSpPr>
        <p:spPr>
          <a:xfrm>
            <a:off x="78638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16" name="TextBox 15"/>
          <p:cNvSpPr txBox="1"/>
          <p:nvPr/>
        </p:nvSpPr>
        <p:spPr>
          <a:xfrm>
            <a:off x="235000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7" name="TextBox 16"/>
          <p:cNvSpPr txBox="1"/>
          <p:nvPr/>
        </p:nvSpPr>
        <p:spPr>
          <a:xfrm>
            <a:off x="78638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18" name="TextBox 17"/>
          <p:cNvSpPr txBox="1"/>
          <p:nvPr/>
        </p:nvSpPr>
        <p:spPr>
          <a:xfrm>
            <a:off x="235000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Dibuang</a:t>
            </a:r>
          </a:p>
        </p:txBody>
      </p:sp>
      <p:sp>
        <p:nvSpPr>
          <p:cNvPr id="19" name="Rounded Rectangle 18"/>
          <p:cNvSpPr/>
          <p:nvPr/>
        </p:nvSpPr>
        <p:spPr>
          <a:xfrm>
            <a:off x="78638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86384" y="4846320"/>
            <a:ext cx="4389120" cy="146304"/>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22" name="Rounded Rectangle 21"/>
          <p:cNvSpPr/>
          <p:nvPr/>
        </p:nvSpPr>
        <p:spPr>
          <a:xfrm>
            <a:off x="614476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Hall Technique</a:t>
            </a:r>
          </a:p>
        </p:txBody>
      </p:sp>
      <p:sp>
        <p:nvSpPr>
          <p:cNvPr id="24" name="TextBox 23"/>
          <p:cNvSpPr txBox="1"/>
          <p:nvPr/>
        </p:nvSpPr>
        <p:spPr>
          <a:xfrm>
            <a:off x="636422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Tanpa anestesi, tanpa preparasi</a:t>
            </a:r>
          </a:p>
        </p:txBody>
      </p:sp>
      <p:sp>
        <p:nvSpPr>
          <p:cNvPr id="25" name="TextBox 24"/>
          <p:cNvSpPr txBox="1"/>
          <p:nvPr/>
        </p:nvSpPr>
        <p:spPr>
          <a:xfrm>
            <a:off x="636422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26" name="TextBox 25"/>
          <p:cNvSpPr txBox="1"/>
          <p:nvPr/>
        </p:nvSpPr>
        <p:spPr>
          <a:xfrm>
            <a:off x="792784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7,1 ± 2,8 menit</a:t>
            </a:r>
          </a:p>
        </p:txBody>
      </p:sp>
      <p:sp>
        <p:nvSpPr>
          <p:cNvPr id="27" name="TextBox 26"/>
          <p:cNvSpPr txBox="1"/>
          <p:nvPr/>
        </p:nvSpPr>
        <p:spPr>
          <a:xfrm>
            <a:off x="636422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28" name="TextBox 27"/>
          <p:cNvSpPr txBox="1"/>
          <p:nvPr/>
        </p:nvSpPr>
        <p:spPr>
          <a:xfrm>
            <a:off x="792784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29" name="TextBox 28"/>
          <p:cNvSpPr txBox="1"/>
          <p:nvPr/>
        </p:nvSpPr>
        <p:spPr>
          <a:xfrm>
            <a:off x="636422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30" name="TextBox 29"/>
          <p:cNvSpPr txBox="1"/>
          <p:nvPr/>
        </p:nvSpPr>
        <p:spPr>
          <a:xfrm>
            <a:off x="792784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31" name="TextBox 30"/>
          <p:cNvSpPr txBox="1"/>
          <p:nvPr/>
        </p:nvSpPr>
        <p:spPr>
          <a:xfrm>
            <a:off x="636422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32" name="TextBox 31"/>
          <p:cNvSpPr txBox="1"/>
          <p:nvPr/>
        </p:nvSpPr>
        <p:spPr>
          <a:xfrm>
            <a:off x="792784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Disegel</a:t>
            </a:r>
          </a:p>
        </p:txBody>
      </p:sp>
      <p:sp>
        <p:nvSpPr>
          <p:cNvPr id="33" name="Rounded Rectangle 32"/>
          <p:cNvSpPr/>
          <p:nvPr/>
        </p:nvSpPr>
        <p:spPr>
          <a:xfrm>
            <a:off x="636422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64224" y="4846320"/>
            <a:ext cx="1790962" cy="146304"/>
          </a:xfrm>
          <a:prstGeom prst="roundRect">
            <a:avLst>
              <a:gd name="adj" fmla="val 50000"/>
            </a:avLst>
          </a:prstGeom>
          <a:solidFill>
            <a:srgbClr val="BD9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6422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36" name="TextBox 35"/>
          <p:cNvSpPr txBox="1"/>
          <p:nvPr/>
        </p:nvSpPr>
        <p:spPr>
          <a:xfrm>
            <a:off x="566928" y="5596128"/>
            <a:ext cx="1088136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Tidak ada RCT yang membandingkan Hall dengan SSC konvensional (Cochrane 2015). Penerimaan anak dan orang tua lebih baik pada Hall (Innes 2007).</a:t>
            </a:r>
          </a:p>
        </p:txBody>
      </p:sp>
      <p:sp>
        <p:nvSpPr>
          <p:cNvPr id="37" name="Rectangle 36"/>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Mohamed 2026; Innes 2007; Innes 2015 Cochrane</a:t>
            </a:r>
          </a:p>
        </p:txBody>
      </p:sp>
      <p:sp>
        <p:nvSpPr>
          <p:cNvPr id="39" name="TextBox 38"/>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PENYULIT</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Penyulit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Ukuran terlalu besar atau crimping kurang.</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Ledge atau kontak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terlalu panjang atau tepi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berlebihan atau wear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buruk atau karies sekunder.</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pengalaman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Eropa, reaksi klinis jarang. Kontraindikasi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Survival 94,4% vs komposit 49,2% pada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Angka retensi dan angka kegagalan tidak bisa dibandingkan langsung</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Hall vs restorasi rutin, 60 bulan</a:t>
            </a:r>
          </a:p>
        </p:txBody>
      </p:sp>
      <p:sp>
        <p:nvSpPr>
          <p:cNvPr id="10" name="TextBox 9"/>
          <p:cNvSpPr txBox="1"/>
          <p:nvPr/>
        </p:nvSpPr>
        <p:spPr>
          <a:xfrm>
            <a:off x="76809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split-mouth, 132 anak (Innes 2011)</a:t>
            </a:r>
          </a:p>
        </p:txBody>
      </p:sp>
      <p:sp>
        <p:nvSpPr>
          <p:cNvPr id="11" name="TextBox 10"/>
          <p:cNvSpPr txBox="1"/>
          <p:nvPr/>
        </p:nvSpPr>
        <p:spPr>
          <a:xfrm>
            <a:off x="768096" y="2487168"/>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Hall</a:t>
            </a:r>
          </a:p>
        </p:txBody>
      </p:sp>
      <p:sp>
        <p:nvSpPr>
          <p:cNvPr id="12" name="Rounded Rectangle 11"/>
          <p:cNvSpPr/>
          <p:nvPr/>
        </p:nvSpPr>
        <p:spPr>
          <a:xfrm>
            <a:off x="1682495" y="257421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82495" y="2574218"/>
            <a:ext cx="298643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0638" y="248716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a:t>
            </a:r>
          </a:p>
        </p:txBody>
      </p:sp>
      <p:sp>
        <p:nvSpPr>
          <p:cNvPr id="15" name="TextBox 14"/>
          <p:cNvSpPr txBox="1"/>
          <p:nvPr/>
        </p:nvSpPr>
        <p:spPr>
          <a:xfrm>
            <a:off x="768096" y="2798064"/>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Kontrol</a:t>
            </a:r>
          </a:p>
        </p:txBody>
      </p:sp>
      <p:sp>
        <p:nvSpPr>
          <p:cNvPr id="16" name="Rounded Rectangle 15"/>
          <p:cNvSpPr/>
          <p:nvPr/>
        </p:nvSpPr>
        <p:spPr>
          <a:xfrm>
            <a:off x="1682495" y="288511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682495" y="2885114"/>
            <a:ext cx="168798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52190" y="279806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52%</a:t>
            </a:r>
          </a:p>
        </p:txBody>
      </p:sp>
      <p:sp>
        <p:nvSpPr>
          <p:cNvPr id="19" name="TextBox 18"/>
          <p:cNvSpPr txBox="1"/>
          <p:nvPr/>
        </p:nvSpPr>
        <p:spPr>
          <a:xfrm>
            <a:off x="768096" y="4251960"/>
            <a:ext cx="4846320" cy="457200"/>
          </a:xfrm>
          <a:prstGeom prst="rect">
            <a:avLst/>
          </a:prstGeom>
          <a:noFill/>
        </p:spPr>
        <p:txBody>
          <a:bodyPr wrap="square" lIns="0" rIns="0" tIns="0" bIns="0" anchor="t">
            <a:spAutoFit/>
          </a:bodyPr>
          <a:lstStyle/>
          <a:p>
            <a:pPr algn="l">
              <a:lnSpc>
                <a:spcPct val="112000"/>
              </a:lnSpc>
              <a:spcAft>
                <a:spcPts val="0"/>
              </a:spcAft>
            </a:pPr>
            <a:r>
              <a:rPr sz="900" b="0" i="0">
                <a:solidFill>
                  <a:srgbClr val="47646C"/>
                </a:solidFill>
                <a:latin typeface="Calibri"/>
              </a:rPr>
              <a:t>Kegagalan mayor 3% vs 16,5%. NNT 8.</a:t>
            </a:r>
          </a:p>
        </p:txBody>
      </p:sp>
      <p:sp>
        <p:nvSpPr>
          <p:cNvPr id="20" name="Rounded Rectangle 19"/>
          <p:cNvSpPr/>
          <p:nvPr/>
        </p:nvSpPr>
        <p:spPr>
          <a:xfrm>
            <a:off x="609904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22" name="TextBox 21"/>
          <p:cNvSpPr txBox="1"/>
          <p:nvPr/>
        </p:nvSpPr>
        <p:spPr>
          <a:xfrm>
            <a:off x="630021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80–100%.</a:t>
            </a:r>
          </a:p>
        </p:txBody>
      </p:sp>
      <p:sp>
        <p:nvSpPr>
          <p:cNvPr id="23" name="TextBox 22"/>
          <p:cNvSpPr txBox="1"/>
          <p:nvPr/>
        </p:nvSpPr>
        <p:spPr>
          <a:xfrm>
            <a:off x="6300216" y="245059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24" name="Rounded Rectangle 23"/>
          <p:cNvSpPr/>
          <p:nvPr/>
        </p:nvSpPr>
        <p:spPr>
          <a:xfrm>
            <a:off x="7260336" y="253764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60336" y="2537642"/>
            <a:ext cx="317730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19350" y="245059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27" name="TextBox 26"/>
          <p:cNvSpPr txBox="1"/>
          <p:nvPr/>
        </p:nvSpPr>
        <p:spPr>
          <a:xfrm>
            <a:off x="6300216" y="2761488"/>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8" name="Rounded Rectangle 27"/>
          <p:cNvSpPr/>
          <p:nvPr/>
        </p:nvSpPr>
        <p:spPr>
          <a:xfrm>
            <a:off x="7260336" y="284853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260336" y="2848538"/>
            <a:ext cx="315165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93705" y="276148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31" name="TextBox 30"/>
          <p:cNvSpPr txBox="1"/>
          <p:nvPr/>
        </p:nvSpPr>
        <p:spPr>
          <a:xfrm>
            <a:off x="6300216" y="3072384"/>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32" name="Rounded Rectangle 31"/>
          <p:cNvSpPr/>
          <p:nvPr/>
        </p:nvSpPr>
        <p:spPr>
          <a:xfrm>
            <a:off x="7260336" y="315943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260336" y="3159434"/>
            <a:ext cx="2992273"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34321" y="307238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35" name="TextBox 34"/>
          <p:cNvSpPr txBox="1"/>
          <p:nvPr/>
        </p:nvSpPr>
        <p:spPr>
          <a:xfrm>
            <a:off x="6300216" y="3383280"/>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36" name="Rounded Rectangle 35"/>
          <p:cNvSpPr/>
          <p:nvPr/>
        </p:nvSpPr>
        <p:spPr>
          <a:xfrm>
            <a:off x="7260336" y="3470330"/>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260336" y="3470330"/>
            <a:ext cx="2931246"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3294" y="338328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a:t>
            </a:r>
          </a:p>
        </p:txBody>
      </p:sp>
      <p:sp>
        <p:nvSpPr>
          <p:cNvPr id="39" name="TextBox 38"/>
          <p:cNvSpPr txBox="1"/>
          <p:nvPr/>
        </p:nvSpPr>
        <p:spPr>
          <a:xfrm>
            <a:off x="6300216" y="3694176"/>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40" name="Rounded Rectangle 39"/>
          <p:cNvSpPr/>
          <p:nvPr/>
        </p:nvSpPr>
        <p:spPr>
          <a:xfrm>
            <a:off x="7260336" y="3781226"/>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260336" y="3781226"/>
            <a:ext cx="288580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7848" y="3694176"/>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a:t>
            </a:r>
          </a:p>
        </p:txBody>
      </p:sp>
      <p:sp>
        <p:nvSpPr>
          <p:cNvPr id="43" name="TextBox 42"/>
          <p:cNvSpPr txBox="1"/>
          <p:nvPr/>
        </p:nvSpPr>
        <p:spPr>
          <a:xfrm>
            <a:off x="6300216" y="400507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44" name="Rounded Rectangle 43"/>
          <p:cNvSpPr/>
          <p:nvPr/>
        </p:nvSpPr>
        <p:spPr>
          <a:xfrm>
            <a:off x="7260336" y="409212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260336" y="4092122"/>
            <a:ext cx="270986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51908" y="400507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47" name="TextBox 46"/>
          <p:cNvSpPr txBox="1"/>
          <p:nvPr/>
        </p:nvSpPr>
        <p:spPr>
          <a:xfrm>
            <a:off x="566928" y="5285232"/>
            <a:ext cx="10881360" cy="36576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Angka retensi dan success tidak boleh dibandingkan langsung. Definisi kegagalan berbeda antar studi.</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Lampl 2025; Chisini 2018; Innes 2015 Cochrane</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pada gingiva, belum pada retensi jangka panjang</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401568" cy="2331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47088"/>
            <a:ext cx="31089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31520" y="2212848"/>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Kegagalan: RR 0,48 (0,15–1,52)</a:t>
            </a:r>
          </a:p>
        </p:txBody>
      </p:sp>
      <p:sp>
        <p:nvSpPr>
          <p:cNvPr id="11" name="TextBox 10"/>
          <p:cNvSpPr txBox="1"/>
          <p:nvPr/>
        </p:nvSpPr>
        <p:spPr>
          <a:xfrm>
            <a:off x="731520" y="2688336"/>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Gingiva: MD −0,32 (−0,42 sampai −0,23)</a:t>
            </a:r>
          </a:p>
        </p:txBody>
      </p:sp>
      <p:sp>
        <p:nvSpPr>
          <p:cNvPr id="12" name="TextBox 11"/>
          <p:cNvSpPr txBox="1"/>
          <p:nvPr/>
        </p:nvSpPr>
        <p:spPr>
          <a:xfrm>
            <a:off x="731520" y="3163824"/>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Biaya, wear antagonis, sulit direparasi</a:t>
            </a:r>
          </a:p>
        </p:txBody>
      </p:sp>
      <p:sp>
        <p:nvSpPr>
          <p:cNvPr id="13" name="Rounded Rectangle 12"/>
          <p:cNvSpPr/>
          <p:nvPr/>
        </p:nvSpPr>
        <p:spPr>
          <a:xfrm>
            <a:off x="4151376" y="1737360"/>
            <a:ext cx="3401568" cy="2331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5968" y="1847088"/>
            <a:ext cx="31089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5" name="TextBox 14"/>
          <p:cNvSpPr txBox="1"/>
          <p:nvPr/>
        </p:nvSpPr>
        <p:spPr>
          <a:xfrm>
            <a:off x="4315968" y="2212848"/>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Retensi 6 bulan: 95% (Walia 2014)</a:t>
            </a:r>
          </a:p>
        </p:txBody>
      </p:sp>
      <p:sp>
        <p:nvSpPr>
          <p:cNvPr id="16" name="TextBox 15"/>
          <p:cNvSpPr txBox="1"/>
          <p:nvPr/>
        </p:nvSpPr>
        <p:spPr>
          <a:xfrm>
            <a:off x="4315968" y="2688336"/>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Veneer bisa fraktur</a:t>
            </a:r>
          </a:p>
        </p:txBody>
      </p:sp>
      <p:sp>
        <p:nvSpPr>
          <p:cNvPr id="17" name="TextBox 16"/>
          <p:cNvSpPr txBox="1"/>
          <p:nvPr/>
        </p:nvSpPr>
        <p:spPr>
          <a:xfrm>
            <a:off x="4315968" y="3163824"/>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Bukti belum cukup menggantikan SSC</a:t>
            </a:r>
          </a:p>
        </p:txBody>
      </p:sp>
      <p:sp>
        <p:nvSpPr>
          <p:cNvPr id="18" name="Rounded Rectangle 17"/>
          <p:cNvSpPr/>
          <p:nvPr/>
        </p:nvSpPr>
        <p:spPr>
          <a:xfrm>
            <a:off x="7735823" y="1737360"/>
            <a:ext cx="3401568" cy="2331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5" y="1847088"/>
            <a:ext cx="31089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20" name="TextBox 19"/>
          <p:cNvSpPr txBox="1"/>
          <p:nvPr/>
        </p:nvSpPr>
        <p:spPr>
          <a:xfrm>
            <a:off x="7900415" y="2212848"/>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Retensi 6 bulan: 78% (Walia 2014)</a:t>
            </a:r>
          </a:p>
        </p:txBody>
      </p:sp>
      <p:sp>
        <p:nvSpPr>
          <p:cNvPr id="21" name="TextBox 20"/>
          <p:cNvSpPr txBox="1"/>
          <p:nvPr/>
        </p:nvSpPr>
        <p:spPr>
          <a:xfrm>
            <a:off x="7900415" y="2688336"/>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Sensitif kelembapan</a:t>
            </a:r>
          </a:p>
        </p:txBody>
      </p:sp>
      <p:sp>
        <p:nvSpPr>
          <p:cNvPr id="22" name="TextBox 21"/>
          <p:cNvSpPr txBox="1"/>
          <p:nvPr/>
        </p:nvSpPr>
        <p:spPr>
          <a:xfrm>
            <a:off x="7900415" y="3163824"/>
            <a:ext cx="3108960" cy="384048"/>
          </a:xfrm>
          <a:prstGeom prst="rect">
            <a:avLst/>
          </a:prstGeom>
          <a:noFill/>
        </p:spPr>
        <p:txBody>
          <a:bodyPr wrap="square" lIns="0" rIns="0" tIns="0" bIns="0" anchor="t">
            <a:spAutoFit/>
          </a:bodyPr>
          <a:lstStyle/>
          <a:p>
            <a:pPr algn="l">
              <a:lnSpc>
                <a:spcPct val="112000"/>
              </a:lnSpc>
              <a:spcAft>
                <a:spcPts val="0"/>
              </a:spcAft>
            </a:pPr>
            <a:r>
              <a:rPr sz="930" b="0" i="0">
                <a:solidFill>
                  <a:srgbClr val="47646C"/>
                </a:solidFill>
                <a:latin typeface="Calibri"/>
              </a:rPr>
              <a:t>•  Bukan pilihan utama molar posterior</a:t>
            </a:r>
          </a:p>
        </p:txBody>
      </p:sp>
      <p:sp>
        <p:nvSpPr>
          <p:cNvPr id="23" name="Rounded Rectangle 22"/>
          <p:cNvSpPr/>
          <p:nvPr/>
        </p:nvSpPr>
        <p:spPr>
          <a:xfrm>
            <a:off x="566928" y="4251960"/>
            <a:ext cx="1056132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343400"/>
            <a:ext cx="45720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Retensi 6 bulan</a:t>
            </a:r>
          </a:p>
        </p:txBody>
      </p:sp>
      <p:sp>
        <p:nvSpPr>
          <p:cNvPr id="25" name="TextBox 24"/>
          <p:cNvSpPr txBox="1"/>
          <p:nvPr/>
        </p:nvSpPr>
        <p:spPr>
          <a:xfrm>
            <a:off x="749808" y="4590288"/>
            <a:ext cx="54864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6" name="TextBox 25"/>
          <p:cNvSpPr txBox="1"/>
          <p:nvPr/>
        </p:nvSpPr>
        <p:spPr>
          <a:xfrm>
            <a:off x="749808" y="4828032"/>
            <a:ext cx="82296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7" name="Rounded Rectangle 26"/>
          <p:cNvSpPr/>
          <p:nvPr/>
        </p:nvSpPr>
        <p:spPr>
          <a:xfrm>
            <a:off x="1572768" y="4900574"/>
            <a:ext cx="416052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572768" y="4900574"/>
            <a:ext cx="416052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15000" y="4828032"/>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30" name="TextBox 29"/>
          <p:cNvSpPr txBox="1"/>
          <p:nvPr/>
        </p:nvSpPr>
        <p:spPr>
          <a:xfrm>
            <a:off x="749808" y="5087112"/>
            <a:ext cx="82296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31" name="Rounded Rectangle 30"/>
          <p:cNvSpPr/>
          <p:nvPr/>
        </p:nvSpPr>
        <p:spPr>
          <a:xfrm>
            <a:off x="1572768" y="5159654"/>
            <a:ext cx="416052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572768" y="5159654"/>
            <a:ext cx="3952494"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06974" y="5087112"/>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4" name="TextBox 33"/>
          <p:cNvSpPr txBox="1"/>
          <p:nvPr/>
        </p:nvSpPr>
        <p:spPr>
          <a:xfrm>
            <a:off x="749808" y="5346192"/>
            <a:ext cx="82296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5" name="Rounded Rectangle 34"/>
          <p:cNvSpPr/>
          <p:nvPr/>
        </p:nvSpPr>
        <p:spPr>
          <a:xfrm>
            <a:off x="1572768" y="5418734"/>
            <a:ext cx="416052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572768" y="5418734"/>
            <a:ext cx="3245205"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99685" y="5346192"/>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8" name="TextBox 37"/>
          <p:cNvSpPr txBox="1"/>
          <p:nvPr/>
        </p:nvSpPr>
        <p:spPr>
          <a:xfrm>
            <a:off x="6647688" y="4572000"/>
            <a:ext cx="4297680" cy="82296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Untuk molar posterior desidui, SSC tetap menjadi pembanding utama dalam SR dan meta-analisis.</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Hall Technique tanpa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pada penyulit umum</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Nyeri spontan malam, molar desidui. Hall atau konvensional?</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Berapa reduksi oklusal yang paling banyak dipakai?</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MIH berat pada molar permanen. Pilihan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Jawaban: 1 konvensional, 2 1,0–1,5 mm, 3 periksa ledge, 4 kontur dan crimping,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mahkota</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 dari margin dan undercut servikal. Crimping lebih menentukan daripada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Hall hanya untuk gigi vital dengan dentine bridge jelas</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Nyeri spontan atau abses mengubah rencana. Pilih konvensional setelah pulp therapy.</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survival, dan retention bukan hal yang sama.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1–15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Innes NPT, Evans DJP, Stirrups DR. Sealing caries in primary molars: randomized control trial, 5-year results. J Dent Res. 2011;90(12):1405-1410. doi:10.1177/0022034511422064</a:t>
            </a:r>
          </a:p>
          <a:p>
            <a:pPr>
              <a:lnSpc>
                <a:spcPct val="100000"/>
              </a:lnSpc>
              <a:spcAft>
                <a:spcPts val="900"/>
              </a:spcAft>
            </a:pPr>
            <a:r>
              <a:rPr sz="900">
                <a:solidFill>
                  <a:srgbClr val="47646C"/>
                </a:solidFill>
                <a:latin typeface="Calibri"/>
              </a:rPr>
              <a:t>5. Innes NPT, Evans DJP, Stirrups DR. The Hall Technique: acceptability and outcomes at 23 months. BMC Oral Health. 2007;7:18. doi:10.1186/1472-6831-7-18</a:t>
            </a:r>
          </a:p>
          <a:p>
            <a:pPr>
              <a:lnSpc>
                <a:spcPct val="100000"/>
              </a:lnSpc>
              <a:spcAft>
                <a:spcPts val="900"/>
              </a:spcAft>
            </a:pPr>
            <a:r>
              <a:rPr sz="900">
                <a:solidFill>
                  <a:srgbClr val="47646C"/>
                </a:solidFill>
                <a:latin typeface="Calibri"/>
              </a:rPr>
              <a:t>6. Tedesco TK, Innes NP, Gallegos CL, et al. Success rate of Hall Technique for restoring carious primary molars: systematic review and meta-analysis. Evid Based Dent. 2025;26(1):65-66. doi:10.1038/s41432-024-01044-0</a:t>
            </a:r>
          </a:p>
          <a:p>
            <a:pPr>
              <a:lnSpc>
                <a:spcPct val="100000"/>
              </a:lnSpc>
              <a:spcAft>
                <a:spcPts val="900"/>
              </a:spcAft>
            </a:pPr>
            <a:r>
              <a:rPr sz="900">
                <a:solidFill>
                  <a:srgbClr val="47646C"/>
                </a:solidFill>
                <a:latin typeface="Calibri"/>
              </a:rPr>
              <a:t>7. Seale NS. The use of stainless steel crowns. Pediatr Dent. 2002;24(5):501-505. PMID 12412965.</a:t>
            </a:r>
          </a:p>
          <a:p>
            <a:pPr>
              <a:lnSpc>
                <a:spcPct val="100000"/>
              </a:lnSpc>
              <a:spcAft>
                <a:spcPts val="900"/>
              </a:spcAft>
            </a:pPr>
            <a:r>
              <a:rPr sz="900">
                <a:solidFill>
                  <a:srgbClr val="47646C"/>
                </a:solidFill>
                <a:latin typeface="Calibri"/>
              </a:rPr>
              <a:t>8. Randall RC. Preformed metal crowns for primary and permanent molar teeth: review of the literature. Pediatr Dent. 2002;24(5):489-500. PMID 12412964.</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10.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11. Joshi RS, Gokhale NS, Hugar SM, et al. Longevity of stainless steel crowns on primary molars: systematic review and meta-analysis. J Sci Soc. 2023;50(1):28-38. doi:10.4103/jss.jss_164_22</a:t>
            </a:r>
          </a:p>
          <a:p>
            <a:pPr>
              <a:lnSpc>
                <a:spcPct val="100000"/>
              </a:lnSpc>
              <a:spcAft>
                <a:spcPts val="900"/>
              </a:spcAft>
            </a:pPr>
            <a:r>
              <a:rPr sz="900">
                <a:solidFill>
                  <a:srgbClr val="47646C"/>
                </a:solidFill>
                <a:latin typeface="Calibri"/>
              </a:rPr>
              <a:t>12.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13.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14.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15.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16–33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16. AAPD. Use of local anesthesia for pediatric dental patients. Reference Manual. Chicago: AAPD; 2025.</a:t>
            </a:r>
          </a:p>
          <a:p>
            <a:pPr>
              <a:lnSpc>
                <a:spcPct val="100000"/>
              </a:lnSpc>
              <a:spcAft>
                <a:spcPts val="900"/>
              </a:spcAft>
            </a:pPr>
            <a:r>
              <a:rPr sz="900">
                <a:solidFill>
                  <a:srgbClr val="47646C"/>
                </a:solidFill>
                <a:latin typeface="Calibri"/>
              </a:rPr>
              <a:t>17. AAPD. Behavior guidance for the pediatric dental patient. Reference Manual. Chicago: AAPD; 2025.</a:t>
            </a:r>
          </a:p>
          <a:p>
            <a:pPr>
              <a:lnSpc>
                <a:spcPct val="100000"/>
              </a:lnSpc>
              <a:spcAft>
                <a:spcPts val="900"/>
              </a:spcAft>
            </a:pPr>
            <a:r>
              <a:rPr sz="900">
                <a:solidFill>
                  <a:srgbClr val="47646C"/>
                </a:solidFill>
                <a:latin typeface="Calibri"/>
              </a:rPr>
              <a:t>18. AAPD. Informed consent. Reference Manual. Chicago: AAPD; 2025.</a:t>
            </a:r>
          </a:p>
          <a:p>
            <a:pPr>
              <a:lnSpc>
                <a:spcPct val="100000"/>
              </a:lnSpc>
              <a:spcAft>
                <a:spcPts val="900"/>
              </a:spcAft>
            </a:pPr>
            <a:r>
              <a:rPr sz="900">
                <a:solidFill>
                  <a:srgbClr val="47646C"/>
                </a:solidFill>
                <a:latin typeface="Calibri"/>
              </a:rPr>
              <a:t>19.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20.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21. Innes N, Evans D, Hall N. The Hall Technique. 4th ed. Dundee: University of Dundee; 2015.</a:t>
            </a:r>
          </a:p>
          <a:p>
            <a:pPr>
              <a:lnSpc>
                <a:spcPct val="100000"/>
              </a:lnSpc>
              <a:spcAft>
                <a:spcPts val="900"/>
              </a:spcAft>
            </a:pPr>
            <a:r>
              <a:rPr sz="900">
                <a:solidFill>
                  <a:srgbClr val="47646C"/>
                </a:solidFill>
                <a:latin typeface="Calibri"/>
              </a:rPr>
              <a:t>22.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23. Virupaxi S, Pai R, Mandroli P. Retentive strength of luting cements for stainless steel crowns: a systematic review. J Indian Soc Pedod Prev Dent. 2020;38(1):2-7. doi:10.4103/JISPPD.JISPPD_313_19</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24. Patnana AK, Chugh VK, Chugh A, Vanga NRV, Kumar P. Effectiveness of zirconia crowns compared with stainless steel crowns in primary posterior teeth: systematic review and meta-analysis. J Am Dent Assoc. 2022;153(2):158-166.e5. doi:10.1016/j.adaj.2021.08.005</a:t>
            </a:r>
          </a:p>
          <a:p>
            <a:pPr>
              <a:lnSpc>
                <a:spcPct val="100000"/>
              </a:lnSpc>
              <a:spcAft>
                <a:spcPts val="900"/>
              </a:spcAft>
            </a:pPr>
            <a:r>
              <a:rPr sz="900">
                <a:solidFill>
                  <a:srgbClr val="47646C"/>
                </a:solidFill>
                <a:latin typeface="Calibri"/>
              </a:rPr>
              <a:t>25.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26.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27.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28. Mohamed HA, Abdalla EM, HagOmer NA, Philip N. Conventional versus Hall technique for preformed metal crown restorations of carious primary molars: a randomised controlled trial. Eur Arch Paediatr Dent. 2026;27(2):599-606. doi:10.1007/s40368-025-01128-0</a:t>
            </a:r>
          </a:p>
          <a:p>
            <a:pPr>
              <a:lnSpc>
                <a:spcPct val="100000"/>
              </a:lnSpc>
              <a:spcAft>
                <a:spcPts val="900"/>
              </a:spcAft>
            </a:pPr>
            <a:r>
              <a:rPr sz="900">
                <a:solidFill>
                  <a:srgbClr val="47646C"/>
                </a:solidFill>
                <a:latin typeface="Calibri"/>
              </a:rPr>
              <a:t>29.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30. Kementerian Kesehatan RI. Laporan Nasional Riskesdas 2018. Jakarta: Badan Litbangkes; 2019.</a:t>
            </a:r>
          </a:p>
          <a:p>
            <a:pPr>
              <a:lnSpc>
                <a:spcPct val="100000"/>
              </a:lnSpc>
              <a:spcAft>
                <a:spcPts val="900"/>
              </a:spcAft>
            </a:pPr>
            <a:r>
              <a:rPr sz="900">
                <a:solidFill>
                  <a:srgbClr val="47646C"/>
                </a:solidFill>
                <a:latin typeface="Calibri"/>
              </a:rPr>
              <a:t>31. Kementerian Kesehatan RI. Survei Kesehatan Indonesia 2023. Jakarta: Kemenkes RI; 2024.</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32.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33. Miao C, Yang J, Zhu H, et al. Rubber dam isolation for restorative treatment in dental patients. Cochrane Database Syst Rev. 2021;5:CD009858. doi:10.1002/14651858.CD009858.pub3</a:t>
            </a:r>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swelling,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HALL,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Vital, dentine bridge jelas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Separator 3–5 hari</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GIC dua pertiga, bite 2–3 menit</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Sukses,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Success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Hall 92% vs 52% (Innes 2011)</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PENYULIT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recement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Hall Technique Guide 2015; AAPD 2025; SDCEP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