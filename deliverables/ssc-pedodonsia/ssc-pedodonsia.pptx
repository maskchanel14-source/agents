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sembilan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penyulit dan cara mencegahnya, bagian tujuh bukti dan alternatif estetik.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MIH berat, SSC bertahan pada 94,4 persen gigi, sedangkan komposit hanya 49,2 persen setelah 24 bulan. Perhatikan, angka-angka ini memakai definisi berbeda dan populasi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restorasi. Kalau karies sudah lebih dari dua permukaan atau melewati line angle, restorasi langsung sulit dipertahankan, jadi arahnya ke SSC. Sebelum menyiapkan gigi, periksa tanda pulpitis ireversibel: nyeri spontan, absen, atau fistula. Bila ada, pulpanya diterapi lebih dulu, baru SSC dipasang bila gigi masih layak dipertahankan. Kalau karies hanya satu permukaan dan risiko kariesnya rendah, restorasi langsung masih wajar. Tiga hal yang harus siap sebelum preparasi: anestesi adekuat, isolasi, dan crown dengan beberapa ukuran.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penyulit ini hampir semuanya bisa dilacak ke preparasi atau pemilihan ukuran. Crown longgar berarti crimping kurang, bukan semen kurang. Crown tidak duduk hampir selalu karena ledge atau kontak yang belum putus. Perdarahan saat try-in berarti margin terlalu panjang.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Grafik ini membandingkan crown yang masih terpasang setelah lima tahun. SSC tertinggi, 97,88 persen, lalu zirkonia 97,09, komposit 92,18, RMGIC 90,30, compomer 88,90, dan strip crown 83,48. Perhatikan sumbunya dipotong pada 80 persen, jadi selisih tiga sampai empat persen terlihat besar. Di sebelah kanan ada tiga angka pendukung, dan tiap angka berasal dari studi berbeda, jadi jangan dijumlahkan. Ingat juga, retensi bukan keberhasilan: crown bisa masih terpasang tetapi gigi di bawahnya sudah nekrotik.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SSC konvensional, komposit, atau pulpotomi lebih dulu? Setelah mereka memilih, lanjut ke pertanyaan kedua. Crown belum duduk di distal. Di sinilah kebanyakan orang langsung memilih crown lebih besar, padahal masalahnya biasanya ledge atau sisa kontak. Kunci: SSC konvensional paling tepat karena gigi masih vital dan dentine bridge terlihat, jadi pulpa belum perlu dibuka.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pilihan restorasi, angka reduksi oklusal, penanganan crown yang tidak duduk, dan faktor retensi. Kalau waktu habis, cukup kerjakan soal satu dan tiga. Jawaban yang salah tetap menampilkan penjelasan, jadi bisa dipakai untuk diskusi. Kunci jawaban: 1 SSC konvensional;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crown hanya duduk kalau kontak proksimal sudah putus, line angle dihaluskan, dan marginnya berada satu milimeter di bawah gingiva.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penyulit,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 Id="rId4"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langkah pemasangan, dan bukti klinis dalam sembilan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9 menit</a:t>
            </a:r>
          </a:p>
        </p:txBody>
      </p:sp>
      <p:sp>
        <p:nvSpPr>
          <p:cNvPr id="10" name="Rounded Rectangle 9"/>
          <p:cNvSpPr/>
          <p:nvPr/>
        </p:nvSpPr>
        <p:spPr>
          <a:xfrm>
            <a:off x="1636776" y="4224528"/>
            <a:ext cx="160020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60020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[nama]</a:t>
            </a:r>
          </a:p>
        </p:txBody>
      </p:sp>
      <p:sp>
        <p:nvSpPr>
          <p:cNvPr id="12" name="Rounded Rectangle 11"/>
          <p:cNvSpPr/>
          <p:nvPr/>
        </p:nvSpPr>
        <p:spPr>
          <a:xfrm>
            <a:off x="3346704" y="4224528"/>
            <a:ext cx="10058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6704" y="4261104"/>
            <a:ext cx="10058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[tanggal]</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Delapan bagian, sembilan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1"/>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Penyulit dan pencegahan</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1:15</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 estetik</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49" name="Rectangle 4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8 menit 30 detik konten, sekitar 9 menit dengan perpindahan</a:t>
            </a:r>
          </a:p>
        </p:txBody>
      </p:sp>
      <p:sp>
        <p:nvSpPr>
          <p:cNvPr id="51" name="TextBox 5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Lampl 2025;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94,4%</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bertahan pada MIH, komposit 49,2%, 24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 III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Undercut di bawah bulbositas servikal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Farias 2022;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C65B45"/>
                </a:solidFill>
                <a:latin typeface="Calibri"/>
              </a:rPr>
              <a:t>Pilih SSC</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Karies lebih dari 2 permukaan, atau melewati line angle</a:t>
            </a:r>
          </a:p>
          <a:p>
            <a:pPr algn="l">
              <a:lnSpc>
                <a:spcPct val="120000"/>
              </a:lnSpc>
              <a:spcAft>
                <a:spcPts val="0"/>
              </a:spcAft>
            </a:pPr>
            <a:r>
              <a:rPr sz="1050" b="0" i="0">
                <a:solidFill>
                  <a:srgbClr val="47646C"/>
                </a:solidFill>
                <a:latin typeface="Calibri"/>
              </a:rPr>
              <a:t>•  Gigi setelah pulpotomi atau pulpektomi</a:t>
            </a:r>
          </a:p>
          <a:p>
            <a:pPr algn="l">
              <a:lnSpc>
                <a:spcPct val="120000"/>
              </a:lnSpc>
              <a:spcAft>
                <a:spcPts val="0"/>
              </a:spcAft>
            </a:pPr>
            <a:r>
              <a:rPr sz="1050" b="0" i="0">
                <a:solidFill>
                  <a:srgbClr val="47646C"/>
                </a:solidFill>
                <a:latin typeface="Calibri"/>
              </a:rPr>
              <a:t>•  Hipoplasia, MIH, fraktur, atau atrisi</a:t>
            </a:r>
          </a:p>
          <a:p>
            <a:pPr algn="l">
              <a:lnSpc>
                <a:spcPct val="120000"/>
              </a:lnSpc>
              <a:spcAft>
                <a:spcPts val="0"/>
              </a:spcAft>
            </a:pPr>
            <a:r>
              <a:rPr sz="1050" b="0" i="0">
                <a:solidFill>
                  <a:srgbClr val="47646C"/>
                </a:solidFill>
                <a:latin typeface="Calibri"/>
              </a:rPr>
              <a:t>•  Abutment space maintainer atau risiko karies tinggi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2C6E6A"/>
                </a:solidFill>
                <a:latin typeface="Calibri"/>
              </a:rPr>
              <a:t>Batas dan 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Resorpsi akar lebih dari setengah, atau alergi nikel</a:t>
            </a:r>
          </a:p>
          <a:p>
            <a:pPr algn="l">
              <a:lnSpc>
                <a:spcPct val="120000"/>
              </a:lnSpc>
              <a:spcAft>
                <a:spcPts val="0"/>
              </a:spcAft>
            </a:pPr>
            <a:r>
              <a:rPr sz="1050" b="0" i="0">
                <a:solidFill>
                  <a:srgbClr val="47646C"/>
                </a:solidFill>
                <a:latin typeface="Calibri"/>
              </a:rPr>
              <a:t>•  Gigi tidak dapat direstorasi</a:t>
            </a:r>
          </a:p>
          <a:p>
            <a:pPr algn="l">
              <a:lnSpc>
                <a:spcPct val="120000"/>
              </a:lnSpc>
              <a:spcAft>
                <a:spcPts val="0"/>
              </a:spcAft>
            </a:pPr>
            <a:r>
              <a:rPr sz="1050" b="0" i="0">
                <a:solidFill>
                  <a:srgbClr val="47646C"/>
                </a:solidFill>
                <a:latin typeface="Calibri"/>
              </a:rPr>
              <a:t>•  Pulpa ireversibel: terapi pulpa lebih dulu, SSC dipasang setelahnya</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pasang SSC konvensional, cukup satu kunjungan.</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Randall 2002</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Crown ditahan oleh undercut di bawah bulbositas servikal.</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Dikurangi hanya bila konturnya menghalangi crown duduk.</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hanya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sumber lain menyebut 1,5–2,0 mm untuk molar permanen.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kontak mesial dan distal.</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PENYULIT</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Penyulit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unggul pada retensi lima tahun</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48640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512064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10" name="TextBox 9"/>
          <p:cNvSpPr txBox="1"/>
          <p:nvPr/>
        </p:nvSpPr>
        <p:spPr>
          <a:xfrm>
            <a:off x="768096" y="2121408"/>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dipotong 80–100%.</a:t>
            </a:r>
          </a:p>
        </p:txBody>
      </p:sp>
      <p:sp>
        <p:nvSpPr>
          <p:cNvPr id="11" name="TextBox 10"/>
          <p:cNvSpPr txBox="1"/>
          <p:nvPr/>
        </p:nvSpPr>
        <p:spPr>
          <a:xfrm>
            <a:off x="768096" y="254203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12" name="Rounded Rectangle 11"/>
          <p:cNvSpPr/>
          <p:nvPr/>
        </p:nvSpPr>
        <p:spPr>
          <a:xfrm>
            <a:off x="1819655" y="262908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19655" y="2629082"/>
            <a:ext cx="322205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420" y="254203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15" name="TextBox 14"/>
          <p:cNvSpPr txBox="1"/>
          <p:nvPr/>
        </p:nvSpPr>
        <p:spPr>
          <a:xfrm>
            <a:off x="768096" y="2852927"/>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16" name="Rounded Rectangle 15"/>
          <p:cNvSpPr/>
          <p:nvPr/>
        </p:nvSpPr>
        <p:spPr>
          <a:xfrm>
            <a:off x="1819655" y="2939978"/>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19655" y="2939978"/>
            <a:ext cx="319604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415" y="2852927"/>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19" name="TextBox 18"/>
          <p:cNvSpPr txBox="1"/>
          <p:nvPr/>
        </p:nvSpPr>
        <p:spPr>
          <a:xfrm>
            <a:off x="768096" y="3163824"/>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20" name="Rounded Rectangle 19"/>
          <p:cNvSpPr/>
          <p:nvPr/>
        </p:nvSpPr>
        <p:spPr>
          <a:xfrm>
            <a:off x="1819655" y="3250874"/>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5" y="3250874"/>
            <a:ext cx="303441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5786" y="316382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23" name="TextBox 22"/>
          <p:cNvSpPr txBox="1"/>
          <p:nvPr/>
        </p:nvSpPr>
        <p:spPr>
          <a:xfrm>
            <a:off x="768096" y="3474720"/>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24" name="Rounded Rectangle 23"/>
          <p:cNvSpPr/>
          <p:nvPr/>
        </p:nvSpPr>
        <p:spPr>
          <a:xfrm>
            <a:off x="1819655" y="3561770"/>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19655" y="3561770"/>
            <a:ext cx="2972531"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899" y="347472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27" name="TextBox 26"/>
          <p:cNvSpPr txBox="1"/>
          <p:nvPr/>
        </p:nvSpPr>
        <p:spPr>
          <a:xfrm>
            <a:off x="768096" y="3785615"/>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28" name="Rounded Rectangle 27"/>
          <p:cNvSpPr/>
          <p:nvPr/>
        </p:nvSpPr>
        <p:spPr>
          <a:xfrm>
            <a:off x="1819655" y="3872666"/>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819655" y="3872666"/>
            <a:ext cx="2926445"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813" y="3785615"/>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31" name="TextBox 30"/>
          <p:cNvSpPr txBox="1"/>
          <p:nvPr/>
        </p:nvSpPr>
        <p:spPr>
          <a:xfrm>
            <a:off x="768096" y="409651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 crown</a:t>
            </a:r>
          </a:p>
        </p:txBody>
      </p:sp>
      <p:sp>
        <p:nvSpPr>
          <p:cNvPr id="32" name="Rounded Rectangle 31"/>
          <p:cNvSpPr/>
          <p:nvPr/>
        </p:nvSpPr>
        <p:spPr>
          <a:xfrm>
            <a:off x="1819655" y="418356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19655" y="4183562"/>
            <a:ext cx="274802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49396" y="409651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35" name="Rounded Rectangle 34"/>
          <p:cNvSpPr/>
          <p:nvPr/>
        </p:nvSpPr>
        <p:spPr>
          <a:xfrm>
            <a:off x="6236208" y="1737360"/>
            <a:ext cx="521208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1847088"/>
            <a:ext cx="475488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Angka pendukung untuk SSC</a:t>
            </a:r>
          </a:p>
        </p:txBody>
      </p:sp>
      <p:sp>
        <p:nvSpPr>
          <p:cNvPr id="37" name="TextBox 36"/>
          <p:cNvSpPr txBox="1"/>
          <p:nvPr/>
        </p:nvSpPr>
        <p:spPr>
          <a:xfrm>
            <a:off x="6437376" y="2121408"/>
            <a:ext cx="475488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Ketiganya dari studi berbeda, jadi dibaca terpisah.</a:t>
            </a:r>
          </a:p>
        </p:txBody>
      </p:sp>
      <p:sp>
        <p:nvSpPr>
          <p:cNvPr id="38" name="TextBox 37"/>
          <p:cNvSpPr txBox="1"/>
          <p:nvPr/>
        </p:nvSpPr>
        <p:spPr>
          <a:xfrm>
            <a:off x="6437376" y="2487168"/>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96,1%</a:t>
            </a:r>
          </a:p>
        </p:txBody>
      </p:sp>
      <p:sp>
        <p:nvSpPr>
          <p:cNvPr id="39" name="TextBox 38"/>
          <p:cNvSpPr txBox="1"/>
          <p:nvPr/>
        </p:nvSpPr>
        <p:spPr>
          <a:xfrm>
            <a:off x="6437376" y="2889504"/>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gigi SSC berhasil pada 12 bulan</a:t>
            </a:r>
          </a:p>
        </p:txBody>
      </p:sp>
      <p:sp>
        <p:nvSpPr>
          <p:cNvPr id="40" name="TextBox 39"/>
          <p:cNvSpPr txBox="1"/>
          <p:nvPr/>
        </p:nvSpPr>
        <p:spPr>
          <a:xfrm>
            <a:off x="6437376" y="3255264"/>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31 studi</a:t>
            </a:r>
          </a:p>
        </p:txBody>
      </p:sp>
      <p:sp>
        <p:nvSpPr>
          <p:cNvPr id="41" name="Rectangle 40"/>
          <p:cNvSpPr/>
          <p:nvPr/>
        </p:nvSpPr>
        <p:spPr>
          <a:xfrm>
            <a:off x="6437376" y="3483864"/>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3520440"/>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0,18</a:t>
            </a:r>
          </a:p>
        </p:txBody>
      </p:sp>
      <p:sp>
        <p:nvSpPr>
          <p:cNvPr id="43" name="TextBox 42"/>
          <p:cNvSpPr txBox="1"/>
          <p:nvPr/>
        </p:nvSpPr>
        <p:spPr>
          <a:xfrm>
            <a:off x="6437376" y="3922776"/>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risiko kegagalan mayor crown dibanding tambalan</a:t>
            </a:r>
          </a:p>
        </p:txBody>
      </p:sp>
      <p:sp>
        <p:nvSpPr>
          <p:cNvPr id="44" name="TextBox 43"/>
          <p:cNvSpPr txBox="1"/>
          <p:nvPr/>
        </p:nvSpPr>
        <p:spPr>
          <a:xfrm>
            <a:off x="6437376" y="4288536"/>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tinjauan sistematis</a:t>
            </a:r>
          </a:p>
        </p:txBody>
      </p:sp>
      <p:sp>
        <p:nvSpPr>
          <p:cNvPr id="45" name="Rectangle 44"/>
          <p:cNvSpPr/>
          <p:nvPr/>
        </p:nvSpPr>
        <p:spPr>
          <a:xfrm>
            <a:off x="6437376" y="4517136"/>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7376" y="4553712"/>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94,4%</a:t>
            </a:r>
          </a:p>
        </p:txBody>
      </p:sp>
      <p:sp>
        <p:nvSpPr>
          <p:cNvPr id="47" name="TextBox 46"/>
          <p:cNvSpPr txBox="1"/>
          <p:nvPr/>
        </p:nvSpPr>
        <p:spPr>
          <a:xfrm>
            <a:off x="6437376" y="4956048"/>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SSC bertahan pada MIH, komposit 49,2%, 24 bulan</a:t>
            </a:r>
          </a:p>
        </p:txBody>
      </p:sp>
      <p:sp>
        <p:nvSpPr>
          <p:cNvPr id="48" name="TextBox 47"/>
          <p:cNvSpPr txBox="1"/>
          <p:nvPr/>
        </p:nvSpPr>
        <p:spPr>
          <a:xfrm>
            <a:off x="6437376" y="5321808"/>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a:t>
            </a:r>
          </a:p>
        </p:txBody>
      </p:sp>
      <p:sp>
        <p:nvSpPr>
          <p:cNvPr id="49" name="TextBox 48"/>
          <p:cNvSpPr txBox="1"/>
          <p:nvPr/>
        </p:nvSpPr>
        <p:spPr>
          <a:xfrm>
            <a:off x="566928" y="5815584"/>
            <a:ext cx="10881360" cy="329184"/>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Retensi bukan keberhasilan: crown bisa masih terpasang sementara gigi di bawahnya sudah nekrotik.</a:t>
            </a:r>
          </a:p>
        </p:txBody>
      </p:sp>
      <p:sp>
        <p:nvSpPr>
          <p:cNvPr id="50" name="Rectangle 4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Lampl 2025; Chisini 2018; Innes 2015 Cochrane; Farias 2022</a:t>
            </a:r>
          </a:p>
        </p:txBody>
      </p:sp>
      <p:sp>
        <p:nvSpPr>
          <p:cNvPr id="52" name="TextBox 5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sp>
        <p:nvSpPr>
          <p:cNvPr id="10" name="Rounded Rectangle 9"/>
          <p:cNvSpPr/>
          <p:nvPr/>
        </p:nvSpPr>
        <p:spPr>
          <a:xfrm>
            <a:off x="56692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Foto klinis</a:t>
            </a:r>
          </a:p>
        </p:txBody>
      </p:sp>
      <p:sp>
        <p:nvSpPr>
          <p:cNvPr id="12" name="TextBox 11"/>
          <p:cNvSpPr txBox="1"/>
          <p:nvPr/>
        </p:nvSpPr>
        <p:spPr>
          <a:xfrm>
            <a:off x="67665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Okusal gigi 85. Ganti dengan foto Anda.</a:t>
            </a:r>
          </a:p>
        </p:txBody>
      </p:sp>
      <p:sp>
        <p:nvSpPr>
          <p:cNvPr id="13" name="Rounded Rectangle 12"/>
          <p:cNvSpPr/>
          <p:nvPr/>
        </p:nvSpPr>
        <p:spPr>
          <a:xfrm>
            <a:off x="340156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300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Radiograf</a:t>
            </a:r>
          </a:p>
        </p:txBody>
      </p:sp>
      <p:sp>
        <p:nvSpPr>
          <p:cNvPr id="15" name="TextBox 14"/>
          <p:cNvSpPr txBox="1"/>
          <p:nvPr/>
        </p:nvSpPr>
        <p:spPr>
          <a:xfrm>
            <a:off x="351129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Bitewing gigi 85. Ganti dengan radiograf Anda.</a:t>
            </a:r>
          </a:p>
        </p:txBody>
      </p:sp>
      <p:sp>
        <p:nvSpPr>
          <p:cNvPr id="16" name="TextBox 15"/>
          <p:cNvSpPr txBox="1"/>
          <p:nvPr/>
        </p:nvSpPr>
        <p:spPr>
          <a:xfrm>
            <a:off x="566928" y="5074920"/>
            <a:ext cx="539496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Data fiktif untuk latihan keputusan.</a:t>
            </a:r>
          </a:p>
        </p:txBody>
      </p:sp>
      <p:sp>
        <p:nvSpPr>
          <p:cNvPr id="17" name="TextBox 16"/>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8" name="Rounded Rectangle 17"/>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20" name="Rounded Rectangle 19"/>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2" name="Rounded Rectangle 21"/>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Pulpotomi lalu SSC</a:t>
            </a:r>
          </a:p>
        </p:txBody>
      </p:sp>
      <p:sp>
        <p:nvSpPr>
          <p:cNvPr id="24" name="TextBox 23"/>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5" name="TextBox 24"/>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6" name="Rounded Rectangle 25"/>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8" name="Rounded Rectangle 27"/>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30" name="Rounded Rectangle 29"/>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2" name="TextBox 31"/>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3" name="Rectangle 32"/>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5" name="TextBox 34"/>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pada penyulit umum</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karies oklusal-distal luas, gigi vital tanpa nyeri spontan. Restorasi mana yang paling tepat?</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MIH berat pada molar permanen. Pilihan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Preparasi menentukan apakah crown duduk</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Kontak proksimal harus putus, line angle dihaluskan, dan margin berada 1 mm di bawah gingiva.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1–12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Seale NS. The use of stainless steel crowns. Pediatr Dent. 2002;24(5):501-505. PMID 12412965.</a:t>
            </a:r>
          </a:p>
          <a:p>
            <a:pPr>
              <a:lnSpc>
                <a:spcPct val="100000"/>
              </a:lnSpc>
              <a:spcAft>
                <a:spcPts val="900"/>
              </a:spcAft>
            </a:pPr>
            <a:r>
              <a:rPr sz="900">
                <a:solidFill>
                  <a:srgbClr val="47646C"/>
                </a:solidFill>
                <a:latin typeface="Calibri"/>
              </a:rPr>
              <a:t>5. Randall RC. Preformed metal crowns for primary and permanent molar teeth: review of the literature. Pediatr Dent. 2002;24(5):489-500. PMID 12412964.</a:t>
            </a:r>
          </a:p>
          <a:p>
            <a:pPr>
              <a:lnSpc>
                <a:spcPct val="100000"/>
              </a:lnSpc>
              <a:spcAft>
                <a:spcPts val="900"/>
              </a:spcAft>
            </a:pPr>
            <a:r>
              <a:rPr sz="900">
                <a:solidFill>
                  <a:srgbClr val="47646C"/>
                </a:solidFill>
                <a:latin typeface="Calibri"/>
              </a:rPr>
              <a:t>6.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7.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8. Joshi RS, Gokhale NS, Hugar SM, et al. Longevity of stainless steel crowns on primary molars: systematic review and meta-analysis. J Sci Soc. 2023;50(1):28-38. doi:10.4103/jss.jss_164_22</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10.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11.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12.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13–28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13. AAPD. Use of local anesthesia for pediatric dental patients. Reference Manual. Chicago: AAPD; 2025.</a:t>
            </a:r>
          </a:p>
          <a:p>
            <a:pPr>
              <a:lnSpc>
                <a:spcPct val="100000"/>
              </a:lnSpc>
              <a:spcAft>
                <a:spcPts val="900"/>
              </a:spcAft>
            </a:pPr>
            <a:r>
              <a:rPr sz="900">
                <a:solidFill>
                  <a:srgbClr val="47646C"/>
                </a:solidFill>
                <a:latin typeface="Calibri"/>
              </a:rPr>
              <a:t>14. AAPD. Behavior guidance for the pediatric dental patient. Reference Manual. Chicago: AAPD; 2025.</a:t>
            </a:r>
          </a:p>
          <a:p>
            <a:pPr>
              <a:lnSpc>
                <a:spcPct val="100000"/>
              </a:lnSpc>
              <a:spcAft>
                <a:spcPts val="900"/>
              </a:spcAft>
            </a:pPr>
            <a:r>
              <a:rPr sz="900">
                <a:solidFill>
                  <a:srgbClr val="47646C"/>
                </a:solidFill>
                <a:latin typeface="Calibri"/>
              </a:rPr>
              <a:t>15. AAPD. Informed consent. Reference Manual. Chicago: AAPD; 2025.</a:t>
            </a:r>
          </a:p>
          <a:p>
            <a:pPr>
              <a:lnSpc>
                <a:spcPct val="100000"/>
              </a:lnSpc>
              <a:spcAft>
                <a:spcPts val="900"/>
              </a:spcAft>
            </a:pPr>
            <a:r>
              <a:rPr sz="900">
                <a:solidFill>
                  <a:srgbClr val="47646C"/>
                </a:solidFill>
                <a:latin typeface="Calibri"/>
              </a:rPr>
              <a:t>16.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17.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18.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19. Virupaxi S, Pai R, Mandroli P. Retentive strength of luting cements for stainless steel crowns: a systematic review. J Indian Soc Pedod Prev Dent. 2020;38(1):2-7. doi:10.4103/JISPPD.JISPPD_313_19</a:t>
            </a:r>
          </a:p>
          <a:p>
            <a:pPr>
              <a:lnSpc>
                <a:spcPct val="100000"/>
              </a:lnSpc>
              <a:spcAft>
                <a:spcPts val="900"/>
              </a:spcAft>
            </a:pPr>
            <a:r>
              <a:rPr sz="900">
                <a:solidFill>
                  <a:srgbClr val="47646C"/>
                </a:solidFill>
                <a:latin typeface="Calibri"/>
              </a:rPr>
              <a:t>20. Patnana AK, Chugh VK, Chugh A, Vanga NRV, Kumar P. Effectiveness of zirconia crowns compared with stainless steel crowns in primary posterior teeth: systematic review and meta-analysis. J Am Dent Assoc. 2022;153(2):158-166.e5. doi:10.1016/j.adaj.2021.08.005</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21.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22.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23.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24.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25. Kementerian Kesehatan RI. Laporan Nasional Riskesdas 2018. Jakarta: Badan Litbangkes; 2019.</a:t>
            </a:r>
          </a:p>
          <a:p>
            <a:pPr>
              <a:lnSpc>
                <a:spcPct val="100000"/>
              </a:lnSpc>
              <a:spcAft>
                <a:spcPts val="900"/>
              </a:spcAft>
            </a:pPr>
            <a:r>
              <a:rPr sz="900">
                <a:solidFill>
                  <a:srgbClr val="47646C"/>
                </a:solidFill>
                <a:latin typeface="Calibri"/>
              </a:rPr>
              <a:t>26. Kementerian Kesehatan RI. Survei Kesehatan Indonesia 2023. Jakarta: Kemenkes RI; 2024.</a:t>
            </a:r>
          </a:p>
          <a:p>
            <a:pPr>
              <a:lnSpc>
                <a:spcPct val="100000"/>
              </a:lnSpc>
              <a:spcAft>
                <a:spcPts val="900"/>
              </a:spcAft>
            </a:pPr>
            <a:r>
              <a:rPr sz="900">
                <a:solidFill>
                  <a:srgbClr val="47646C"/>
                </a:solidFill>
                <a:latin typeface="Calibri"/>
              </a:rPr>
              <a:t>27.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28. Miao C, Yang J, Zhu H, et al. Rubber dam isolation for restorative treatment in dental patients. Cochrane Database Syst Rev. 2021;5:CD009858. doi:10.1002/14651858.CD009858.pub3</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PREPARASI,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Kontak proksimal putus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Line angle dihaluskan</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Margin 1 mm di bawah gingiva</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MIH: SSC 94,4% vs 49,2% (Farias 2022)</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PENYULIT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2025; SDCEP 2025; Lampl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