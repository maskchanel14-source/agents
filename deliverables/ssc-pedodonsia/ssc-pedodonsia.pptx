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 Dalam sepuluh menit saya akan membahas satu restorasi yang sering dianggap kuno, padahal buktinya justru kuat: stainless steel crown. Fokusnya tiga hal praktis. Kapan memilih SSC, bagaimana memasangnya dengan dua teknik, dan apa yang membuatnya gagal. Saya akan memakai angka dari Cochrane, meta-analisis, dan RCT, dengan sitasi di tiap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Alurnya dari masalah ke solusi, lalu ke teknik dan bukti. Bagian lima adalah inti keterampilan: sepuluh langkah konvensional yang bisa dibuka satu per satu. Bagian enam membahas Hall Technique, bagian tujuh penyulit yang paling sering muncul. Saya akan berhenti di bagian kasus untuk keputusan bersama, jadi sisakan waktu di sana.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Mulai dari pola yang kita semua lihat. Gigi susu ditambal, beberapa bulan kemudian tepinya terbuka, ditambal lagi, dan akhirnya pulpanya terlibat. Setiap kali kita mengulang, dinding gigi makin tipis. Pada gigi desidui, enamelnya hanya sekitar satu milimeter dan tanduk pulpanya tinggi. Jadi pertanyaannya bukan tambalan mana yang lebih baik, tetapi kapan kita berhenti menambal sebagian dan mulai menutup seluruh gigi.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angka ini cukup untuk membawa pesan utama. Chisini melaporkan success 96,1 persen dari 31 studi, dengan lama follow-up yang berbeda-beda. Cochrane 2015 memberi angka yang lebih kuat: risiko kegagalan mayor 0,18 dibanding tambalan, artinya sekitar seperlima. Dan pada RCT lima tahun, Hall mencapai 92 persen dibanding 52 persen pada restorasi rutin. Perhatikan, angka-angka ini memakai definisi berbeda, jadi jangan disatukan.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ini yang saya pakai di klinik. Kalau karies sudah lebih dari dua permukaan atau melewati line angle, restorasi langsung mulai sulit dipertahankan, jadi arahnya ke SSC. Sebelum memilih Hall, periksa tanda pulpa ireversibel: nyeri spontan, abses, fistula. Kalau ada, Hall berhenti di situ, dan gigi perlu pulpotomi atau pulpektomi lebih dulu. Kontraindikasi yang sering terlupa adalah resorpsi akar lebih dari setengah dan alergi nikel.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yang sering salah pada preparasi. Kita cenderung mengurangi bukal dan lingual karena ingin crown mudah masuk, padahal retensi SSC justru berasal dari undercut servikal. Jadi pertahankan bulbositas, potong proksimal sampai kontak putus, dan berhenti dengan feather edge. Perhatikan juga angka reduksi oklusal: sumber UK memakai satu sampai satu setengah milimeter, sedangkan StatPearls dan Randall untuk molar permanen memakai satu setengah sampai dua milimeter.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Sepuluh langkah ini yang akan saya uji di kuis nanti. Klik tiap langkah di kiri. Yang perlu ditekankan: nomor tiga, ekskavasi karies, harus selesai sebelum crown dipilih ulang, karena dinding yang hilang mengubah retensi. Nomor tujuh, try-in, adalah tempat kita berhenti dan memeriksa, bukan memaksa. Kalau crown belum duduk, hampir selalu ada ledge atau sisa kontak, bukan crown yang kurang besar.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Hall membalik logika kita. Karies tidak dibuang, gigi tidak dikurangi, dan tidak ada anestesi. Yang menentukan keberhasilan adalah seal margin. Dua hal yang harus disampaikan ke orang tua: crown akan terasa tinggi beberapa hari, dan bila kontak ketat, perlu kunjungan kedua untuk melepas separator setelah tiga sampai lima hari. Yang tidak boleh: memakai Hall pada gigi dengan nyeri spontan atau abses.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Perbandingan ini jangan dibaca sebagai siapa yang menang. Hall menang di waktu dan penerimaan: tujuh koma satu menit dibanding tujuh belas koma empat menit. Konvensional menang di kontrol: kita bisa melihat dan mengobati pulpa, serta membentuk margin sendiri. Yang penting, sampai sekarang belum ada RCT yang membandingkan Hall dengan SSC konvensional. Jadi pilihan ditentukan oleh kondisi gigi, perilaku anak, dan kemampuan operator.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Enam penyulit ini hampir semuanya bisa dilacak ke preparasi atau pemilihan ukuran. Crown longgar berarti crimping kurang, bukan semen kurang. Crown tidak duduk hampir selalu karena ledge atau kontak yang belum putus. Perdarahan saat try-in berarti margin terlalu panjang. Soal alergi nikel, angkanya sering ditakutkan berlebihan: sensitisasi pada anak Eropa sekitar delapan sampai sepuluh persen, tetapi reaksi klinis terhadap SSC jarang. Yang perlu diingat: jangan menambal masalah adaptasi dengan semen lebih banyak, dan jangan recement gigi yang sudah tidak restorable.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grafik ini sengaja dipisah. Kiri, RCT lima tahun: Hall 92 persen, kontrol 52 persen. Kanan, meta-analisis 2025 tentang retensi lima tahun: SSC tertinggi, 97,88 persen. Perhatikan sumbu kanan dipotong pada 80 persen, jadi perbedaan tiga sampai empat persen terlihat besar. Dan retensi bukan success. Sebuah crown bisa masih terpasang tetapi sudah gagal secara klinis karena pulpanya nekrotik.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orang tua keberatan dengan logam, ini pilihannya. Zirkonia punya gingiva yang lebih baik, tetapi angka kegagalan klinisnya belum terbukti lebih rendah: RR nol koma empat delapan dengan rentang kepercayaan yang lebar. Pre-veneered SSC bagus pada retensi enam bulan, tetapi veneernya bisa fraktur. Strip crown paling rendah retensinya. Untuk molar posterior dengan karies luas, SSC masih standar pembandingnya.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Sekarang kita putuskan bersama. Anak tujuh tahun, gigi 85, karies oklusal-distal, vital, tanpa nyeri spontan, dan dentine bridge terlihat. Tanyakan ke audiens: Hall, konvensional, atau komposit? Setelah mereka memilih, lanjut ke pertanyaan kedua. Crown belum duduk di distal. Di sinilah kebanyakan orang langsung memilih crown lebih besar, padahal masalahnya biasanya ledge atau sisa kontak. Kunci: Hall atau SSC konvensional sama-sama dapat diterima. Bila crown tidak duduk, periksa ledge dan sisa kontak, jangan memaksa.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Lima soal ini menguji empat hal: kontraindikasi Hall, angka reduksi oklusal, penanganan crown yang tidak duduk, dan faktor retensi. Kalau waktu habis, cukup kerjakan soal satu dan tiga. Jawaban yang salah tetap menampilkan penjelasan, jadi bisa dipakai untuk diskusi. Kunci jawaban: 1 SSC konvensional setelah pulpotomi; 2 1,0–1,5 mm; 3 periksa ledge dan sisa kontak; 4 kontur dan crimping margin; 5 SSC.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hal. Satu, SSC adalah restorasi coverage penuh, dan retensinya ditentukan margin serta undercut, bukan semen. Dua, Hall hanya untuk gigi vital dengan dentine bridge jelas. Tiga, angka success, survival, dan retention tidak boleh dicampur. Kalau tiga hal ini terbawa pulang, presentasi ini berhasil. Protokol lengkap ada di dokumen pendamping. Terima kasih, saya buka sesi tanya jawab.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Daftar pustaka ini memakai Vancouver. Nomor lengkap dengan DOI ada di dokumen research_notes.md yang menyertai presentasi. Sumber yang dipakai untuk angka di slide selalu dicantumkan juga di footer tiap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Referensi 16 sampai 30 melengkapi bagian kasus khusus, alternatif estetik, perilaku, dan epidemiologi Indonesia. Bila ada pertanyaan tentang satu angka, saya bisa tunjukkan halaman atau abstrak sumbernya.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Halaman ini bisa dicetak dan dibawa ke klinik. Semua langkah, kontraindikasi, penyulit, dan kriteria kontrol ada di satu halaman. Versi lengkap dengan tujuan, cara, instrumen, kesalahan, dan tanda benar ada di protokol_klinis.md.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1.xml"/><Relationship Id="rId11" Type="http://schemas.openxmlformats.org/officeDocument/2006/relationships/slide" Target="slide13.xml"/><Relationship Id="rId12"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868680"/>
            <a:ext cx="6400800" cy="228600"/>
          </a:xfrm>
          <a:prstGeom prst="rect">
            <a:avLst/>
          </a:prstGeom>
          <a:noFill/>
        </p:spPr>
        <p:txBody>
          <a:bodyPr wrap="square" lIns="0" rIns="0" tIns="0" bIns="0" anchor="t">
            <a:spAutoFit/>
          </a:bodyPr>
          <a:lstStyle/>
          <a:p>
            <a:pPr algn="l">
              <a:lnSpc>
                <a:spcPct val="112000"/>
              </a:lnSpc>
              <a:spcAft>
                <a:spcPts val="0"/>
              </a:spcAft>
            </a:pPr>
            <a:r>
              <a:rPr sz="950" b="1" i="0" spc="200">
                <a:solidFill>
                  <a:srgbClr val="2C6E6A"/>
                </a:solidFill>
                <a:latin typeface="Calibri"/>
              </a:rPr>
              <a:t>IIK BHAKTIWIYATA  ·  PROGRAM STUDI KEDOKTERAN GIGI</a:t>
            </a:r>
          </a:p>
        </p:txBody>
      </p:sp>
      <p:sp>
        <p:nvSpPr>
          <p:cNvPr id="5" name="Rectangle 4"/>
          <p:cNvSpPr/>
          <p:nvPr/>
        </p:nvSpPr>
        <p:spPr>
          <a:xfrm>
            <a:off x="566928" y="1207008"/>
            <a:ext cx="822960" cy="3175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7406640" cy="1920240"/>
          </a:xfrm>
          <a:prstGeom prst="rect">
            <a:avLst/>
          </a:prstGeom>
          <a:noFill/>
        </p:spPr>
        <p:txBody>
          <a:bodyPr wrap="square" lIns="0" rIns="0" tIns="0" bIns="0" anchor="t">
            <a:spAutoFit/>
          </a:bodyPr>
          <a:lstStyle/>
          <a:p>
            <a:pPr algn="l">
              <a:lnSpc>
                <a:spcPct val="102000"/>
              </a:lnSpc>
              <a:spcAft>
                <a:spcPts val="0"/>
              </a:spcAft>
            </a:pPr>
            <a:r>
              <a:rPr sz="3800" b="0" i="0">
                <a:solidFill>
                  <a:srgbClr val="15323A"/>
                </a:solidFill>
                <a:latin typeface="Georgia"/>
              </a:rPr>
              <a:t>Stainless steel crown pada gigi desidui dan gigi permanen muda</a:t>
            </a:r>
          </a:p>
        </p:txBody>
      </p:sp>
      <p:sp>
        <p:nvSpPr>
          <p:cNvPr id="7" name="TextBox 6"/>
          <p:cNvSpPr txBox="1"/>
          <p:nvPr/>
        </p:nvSpPr>
        <p:spPr>
          <a:xfrm>
            <a:off x="566928" y="3401568"/>
            <a:ext cx="6766560" cy="685800"/>
          </a:xfrm>
          <a:prstGeom prst="rect">
            <a:avLst/>
          </a:prstGeom>
          <a:noFill/>
        </p:spPr>
        <p:txBody>
          <a:bodyPr wrap="square" lIns="0" rIns="0" tIns="0" bIns="0" anchor="t">
            <a:spAutoFit/>
          </a:bodyPr>
          <a:lstStyle/>
          <a:p>
            <a:pPr algn="l">
              <a:lnSpc>
                <a:spcPct val="112000"/>
              </a:lnSpc>
              <a:spcAft>
                <a:spcPts val="0"/>
              </a:spcAft>
            </a:pPr>
            <a:r>
              <a:rPr sz="1500" b="0" i="0">
                <a:solidFill>
                  <a:srgbClr val="47646C"/>
                </a:solidFill>
                <a:latin typeface="Calibri"/>
              </a:rPr>
              <a:t>Indikasi, preparasi, Hall Technique, dan bukti klinis dalam sepuluh menit</a:t>
            </a:r>
          </a:p>
        </p:txBody>
      </p:sp>
      <p:sp>
        <p:nvSpPr>
          <p:cNvPr id="8" name="Rounded Rectangle 7"/>
          <p:cNvSpPr/>
          <p:nvPr/>
        </p:nvSpPr>
        <p:spPr>
          <a:xfrm>
            <a:off x="566928" y="4224528"/>
            <a:ext cx="960120" cy="310896"/>
          </a:xfrm>
          <a:prstGeom prst="roundRect">
            <a:avLst>
              <a:gd name="adj" fmla="val 50000"/>
            </a:avLst>
          </a:prstGeom>
          <a:solidFill>
            <a:srgbClr val="FDF1EC"/>
          </a:solidFill>
          <a:ln w="12700">
            <a:solidFill>
              <a:srgbClr val="E7C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261104"/>
            <a:ext cx="960120" cy="237744"/>
          </a:xfrm>
          <a:prstGeom prst="rect">
            <a:avLst/>
          </a:prstGeom>
          <a:noFill/>
        </p:spPr>
        <p:txBody>
          <a:bodyPr wrap="square" lIns="0" rIns="0" tIns="0" bIns="0" anchor="t">
            <a:spAutoFit/>
          </a:bodyPr>
          <a:lstStyle/>
          <a:p>
            <a:pPr algn="ctr">
              <a:lnSpc>
                <a:spcPct val="112000"/>
              </a:lnSpc>
              <a:spcAft>
                <a:spcPts val="0"/>
              </a:spcAft>
            </a:pPr>
            <a:r>
              <a:rPr sz="950" b="0" i="0">
                <a:solidFill>
                  <a:srgbClr val="A3462F"/>
                </a:solidFill>
                <a:latin typeface="Calibri"/>
              </a:rPr>
              <a:t>10 menit</a:t>
            </a:r>
          </a:p>
        </p:txBody>
      </p:sp>
      <p:sp>
        <p:nvSpPr>
          <p:cNvPr id="10" name="Rounded Rectangle 9"/>
          <p:cNvSpPr/>
          <p:nvPr/>
        </p:nvSpPr>
        <p:spPr>
          <a:xfrm>
            <a:off x="1636776" y="4224528"/>
            <a:ext cx="1600200" cy="310896"/>
          </a:xfrm>
          <a:prstGeom prst="roundRect">
            <a:avLst>
              <a:gd name="adj" fmla="val 50000"/>
            </a:avLst>
          </a:prstGeom>
          <a:solidFill>
            <a:srgbClr val="FDF1EC"/>
          </a:solidFill>
          <a:ln w="12700">
            <a:solidFill>
              <a:srgbClr val="E7C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36776" y="4261104"/>
            <a:ext cx="1600200" cy="237744"/>
          </a:xfrm>
          <a:prstGeom prst="rect">
            <a:avLst/>
          </a:prstGeom>
          <a:noFill/>
        </p:spPr>
        <p:txBody>
          <a:bodyPr wrap="square" lIns="0" rIns="0" tIns="0" bIns="0" anchor="t">
            <a:spAutoFit/>
          </a:bodyPr>
          <a:lstStyle/>
          <a:p>
            <a:pPr algn="ctr">
              <a:lnSpc>
                <a:spcPct val="112000"/>
              </a:lnSpc>
              <a:spcAft>
                <a:spcPts val="0"/>
              </a:spcAft>
            </a:pPr>
            <a:r>
              <a:rPr sz="950" b="0" i="0">
                <a:solidFill>
                  <a:srgbClr val="A3462F"/>
                </a:solidFill>
                <a:latin typeface="Calibri"/>
              </a:rPr>
              <a:t>Pemateri: [nama]</a:t>
            </a:r>
          </a:p>
        </p:txBody>
      </p:sp>
      <p:sp>
        <p:nvSpPr>
          <p:cNvPr id="12" name="Rounded Rectangle 11"/>
          <p:cNvSpPr/>
          <p:nvPr/>
        </p:nvSpPr>
        <p:spPr>
          <a:xfrm>
            <a:off x="3346704" y="4224528"/>
            <a:ext cx="1005840" cy="310896"/>
          </a:xfrm>
          <a:prstGeom prst="roundRect">
            <a:avLst>
              <a:gd name="adj" fmla="val 50000"/>
            </a:avLst>
          </a:prstGeom>
          <a:solidFill>
            <a:srgbClr val="FDF1EC"/>
          </a:solidFill>
          <a:ln w="12700">
            <a:solidFill>
              <a:srgbClr val="E7C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46704" y="4261104"/>
            <a:ext cx="1005840" cy="237744"/>
          </a:xfrm>
          <a:prstGeom prst="rect">
            <a:avLst/>
          </a:prstGeom>
          <a:noFill/>
        </p:spPr>
        <p:txBody>
          <a:bodyPr wrap="square" lIns="0" rIns="0" tIns="0" bIns="0" anchor="t">
            <a:spAutoFit/>
          </a:bodyPr>
          <a:lstStyle/>
          <a:p>
            <a:pPr algn="ctr">
              <a:lnSpc>
                <a:spcPct val="112000"/>
              </a:lnSpc>
              <a:spcAft>
                <a:spcPts val="0"/>
              </a:spcAft>
            </a:pPr>
            <a:r>
              <a:rPr sz="950" b="0" i="0">
                <a:solidFill>
                  <a:srgbClr val="A3462F"/>
                </a:solidFill>
                <a:latin typeface="Calibri"/>
              </a:rPr>
              <a:t>[tanggal]</a:t>
            </a:r>
          </a:p>
        </p:txBody>
      </p:sp>
      <p:sp>
        <p:nvSpPr>
          <p:cNvPr id="14" name="TextBox 13"/>
          <p:cNvSpPr txBox="1"/>
          <p:nvPr/>
        </p:nvSpPr>
        <p:spPr>
          <a:xfrm>
            <a:off x="566928" y="4736592"/>
            <a:ext cx="6583680" cy="457200"/>
          </a:xfrm>
          <a:prstGeom prst="rect">
            <a:avLst/>
          </a:prstGeom>
          <a:noFill/>
        </p:spPr>
        <p:txBody>
          <a:bodyPr wrap="square" lIns="0" rIns="0" tIns="0" bIns="0" anchor="t">
            <a:spAutoFit/>
          </a:bodyPr>
          <a:lstStyle/>
          <a:p>
            <a:pPr algn="l">
              <a:lnSpc>
                <a:spcPct val="112000"/>
              </a:lnSpc>
              <a:spcAft>
                <a:spcPts val="0"/>
              </a:spcAft>
            </a:pPr>
            <a:r>
              <a:rPr sz="950" b="0" i="0">
                <a:solidFill>
                  <a:srgbClr val="7D8F93"/>
                </a:solidFill>
                <a:latin typeface="Calibri"/>
              </a:rPr>
              <a:t>Materi edukasi. Bukan pengganti pertimbangan klinis pada pasien tertentu.</a:t>
            </a:r>
          </a:p>
        </p:txBody>
      </p:sp>
      <p:sp>
        <p:nvSpPr>
          <p:cNvPr id="15" name="Freeform 14"/>
          <p:cNvSpPr/>
          <p:nvPr/>
        </p:nvSpPr>
        <p:spPr>
          <a:xfrm>
            <a:off x="8732520" y="1143000"/>
            <a:ext cx="2436876" cy="2118207"/>
          </a:xfrm>
          <a:custGeom>
            <a:avLst/>
            <a:gdLst/>
            <a:ahLst/>
            <a:cxnLst/>
            <a:rect l="l" t="t" r="r" b="b"/>
            <a:pathLst>
              <a:path w="2436876" h="2118207">
                <a:moveTo>
                  <a:pt x="0" y="0"/>
                </a:moveTo>
                <a:lnTo>
                  <a:pt x="0" y="562355"/>
                </a:lnTo>
                <a:lnTo>
                  <a:pt x="243687" y="187452"/>
                </a:lnTo>
                <a:lnTo>
                  <a:pt x="599846" y="299923"/>
                </a:lnTo>
                <a:lnTo>
                  <a:pt x="862279" y="37490"/>
                </a:lnTo>
                <a:lnTo>
                  <a:pt x="1162202" y="299923"/>
                </a:lnTo>
                <a:lnTo>
                  <a:pt x="1499616" y="37490"/>
                </a:lnTo>
                <a:lnTo>
                  <a:pt x="1799539" y="299923"/>
                </a:lnTo>
                <a:lnTo>
                  <a:pt x="2174443" y="187452"/>
                </a:lnTo>
                <a:lnTo>
                  <a:pt x="2436876" y="562355"/>
                </a:lnTo>
                <a:lnTo>
                  <a:pt x="2436876" y="1780794"/>
                </a:lnTo>
                <a:lnTo>
                  <a:pt x="2286914" y="1930755"/>
                </a:lnTo>
                <a:lnTo>
                  <a:pt x="2061972" y="1837029"/>
                </a:lnTo>
                <a:lnTo>
                  <a:pt x="2061972" y="2118207"/>
                </a:lnTo>
                <a:lnTo>
                  <a:pt x="1799539" y="2118207"/>
                </a:lnTo>
                <a:lnTo>
                  <a:pt x="1799539" y="1837029"/>
                </a:lnTo>
                <a:lnTo>
                  <a:pt x="637336" y="1837029"/>
                </a:lnTo>
                <a:lnTo>
                  <a:pt x="637336" y="2118207"/>
                </a:lnTo>
                <a:lnTo>
                  <a:pt x="374904" y="2118207"/>
                </a:lnTo>
                <a:lnTo>
                  <a:pt x="374904" y="1837029"/>
                </a:lnTo>
                <a:lnTo>
                  <a:pt x="149961" y="1930755"/>
                </a:lnTo>
                <a:close/>
              </a:path>
            </a:pathLst>
          </a:custGeom>
          <a:solidFill>
            <a:srgbClr val="F6DFD7"/>
          </a:solidFill>
          <a:ln w="25400">
            <a:solidFill>
              <a:srgbClr val="1532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3749039"/>
            <a:ext cx="2743200" cy="274320"/>
          </a:xfrm>
          <a:prstGeom prst="rect">
            <a:avLst/>
          </a:prstGeom>
          <a:noFill/>
        </p:spPr>
        <p:txBody>
          <a:bodyPr wrap="square" lIns="0" rIns="0" tIns="0" bIns="0" anchor="t">
            <a:spAutoFit/>
          </a:bodyPr>
          <a:lstStyle/>
          <a:p>
            <a:pPr algn="ctr">
              <a:lnSpc>
                <a:spcPct val="112000"/>
              </a:lnSpc>
              <a:spcAft>
                <a:spcPts val="0"/>
              </a:spcAft>
            </a:pPr>
            <a:r>
              <a:rPr sz="950" b="0" i="0">
                <a:solidFill>
                  <a:srgbClr val="7D8F93"/>
                </a:solidFill>
                <a:latin typeface="Calibri"/>
              </a:rPr>
              <a:t>SSC: coverage koronal penuh</a:t>
            </a:r>
          </a:p>
        </p:txBody>
      </p:sp>
      <p:sp>
        <p:nvSpPr>
          <p:cNvPr id="17" name="Rectangle 16"/>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Sumber angka dan sitasi ada di tiap slide serta di research_notes.md</a:t>
            </a:r>
          </a:p>
        </p:txBody>
      </p:sp>
      <p:sp>
        <p:nvSpPr>
          <p:cNvPr id="19" name="TextBox 18"/>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AGENDA</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3000" b="0" i="0">
                <a:solidFill>
                  <a:srgbClr val="15323A"/>
                </a:solidFill>
                <a:latin typeface="Georgia"/>
              </a:rPr>
              <a:t>Sembilan bagian, sepuluh menit</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2</a:t>
            </a:r>
          </a:p>
        </p:txBody>
      </p:sp>
      <p:sp>
        <p:nvSpPr>
          <p:cNvPr id="7" name="Rounded Rectangle 6">
            <a:hlinkClick action="ppaction://hlinksldjump" r:id="rId12"/>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ectangle 7">
            <a:hlinkClick action="ppaction://hlinksldjump" r:id="rId3"/>
          </p:cNvPr>
          <p:cNvSpPr/>
          <p:nvPr/>
        </p:nvSpPr>
        <p:spPr>
          <a:xfrm>
            <a:off x="566928" y="1691640"/>
            <a:ext cx="5257800" cy="6766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746504"/>
            <a:ext cx="365760" cy="365760"/>
          </a:xfrm>
          <a:prstGeom prst="rect">
            <a:avLst/>
          </a:prstGeom>
          <a:noFill/>
        </p:spPr>
        <p:txBody>
          <a:bodyPr wrap="square" lIns="0" rIns="0" tIns="0" bIns="0" anchor="t">
            <a:spAutoFit/>
          </a:bodyPr>
          <a:lstStyle/>
          <a:p>
            <a:pPr algn="l">
              <a:lnSpc>
                <a:spcPct val="112000"/>
              </a:lnSpc>
              <a:spcAft>
                <a:spcPts val="0"/>
              </a:spcAft>
            </a:pPr>
            <a:r>
              <a:rPr sz="1700" b="0" i="0">
                <a:solidFill>
                  <a:srgbClr val="C65B45"/>
                </a:solidFill>
                <a:latin typeface="Georgia"/>
              </a:rPr>
              <a:t>1</a:t>
            </a:r>
          </a:p>
        </p:txBody>
      </p:sp>
      <p:sp>
        <p:nvSpPr>
          <p:cNvPr id="10" name="TextBox 9"/>
          <p:cNvSpPr txBox="1"/>
          <p:nvPr/>
        </p:nvSpPr>
        <p:spPr>
          <a:xfrm>
            <a:off x="950976" y="1746504"/>
            <a:ext cx="39319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15323A"/>
                </a:solidFill>
                <a:latin typeface="Calibri"/>
              </a:rPr>
              <a:t>Restorasi yang gagal berulang</a:t>
            </a:r>
          </a:p>
        </p:txBody>
      </p:sp>
      <p:sp>
        <p:nvSpPr>
          <p:cNvPr id="11" name="TextBox 10"/>
          <p:cNvSpPr txBox="1"/>
          <p:nvPr/>
        </p:nvSpPr>
        <p:spPr>
          <a:xfrm>
            <a:off x="4864608" y="1764792"/>
            <a:ext cx="822960" cy="274320"/>
          </a:xfrm>
          <a:prstGeom prst="rect">
            <a:avLst/>
          </a:prstGeom>
          <a:noFill/>
        </p:spPr>
        <p:txBody>
          <a:bodyPr wrap="square" lIns="0" rIns="0" tIns="0" bIns="0" anchor="t">
            <a:spAutoFit/>
          </a:bodyPr>
          <a:lstStyle/>
          <a:p>
            <a:pPr algn="r">
              <a:lnSpc>
                <a:spcPct val="112000"/>
              </a:lnSpc>
              <a:spcAft>
                <a:spcPts val="0"/>
              </a:spcAft>
            </a:pPr>
            <a:r>
              <a:rPr sz="900" b="0" i="0">
                <a:solidFill>
                  <a:srgbClr val="7D8F93"/>
                </a:solidFill>
                <a:latin typeface="Calibri"/>
              </a:rPr>
              <a:t>0:45</a:t>
            </a:r>
          </a:p>
        </p:txBody>
      </p:sp>
      <p:sp>
        <p:nvSpPr>
          <p:cNvPr id="12" name="Rectangle 11"/>
          <p:cNvSpPr/>
          <p:nvPr/>
        </p:nvSpPr>
        <p:spPr>
          <a:xfrm>
            <a:off x="566928" y="2350008"/>
            <a:ext cx="525780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a:hlinkClick action="ppaction://hlinksldjump" r:id="rId4"/>
          </p:cNvPr>
          <p:cNvSpPr/>
          <p:nvPr/>
        </p:nvSpPr>
        <p:spPr>
          <a:xfrm>
            <a:off x="566928" y="2478024"/>
            <a:ext cx="5257800" cy="6766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532888"/>
            <a:ext cx="365760" cy="365760"/>
          </a:xfrm>
          <a:prstGeom prst="rect">
            <a:avLst/>
          </a:prstGeom>
          <a:noFill/>
        </p:spPr>
        <p:txBody>
          <a:bodyPr wrap="square" lIns="0" rIns="0" tIns="0" bIns="0" anchor="t">
            <a:spAutoFit/>
          </a:bodyPr>
          <a:lstStyle/>
          <a:p>
            <a:pPr algn="l">
              <a:lnSpc>
                <a:spcPct val="112000"/>
              </a:lnSpc>
              <a:spcAft>
                <a:spcPts val="0"/>
              </a:spcAft>
            </a:pPr>
            <a:r>
              <a:rPr sz="1700" b="0" i="0">
                <a:solidFill>
                  <a:srgbClr val="C65B45"/>
                </a:solidFill>
                <a:latin typeface="Georgia"/>
              </a:rPr>
              <a:t>2</a:t>
            </a:r>
          </a:p>
        </p:txBody>
      </p:sp>
      <p:sp>
        <p:nvSpPr>
          <p:cNvPr id="15" name="TextBox 14"/>
          <p:cNvSpPr txBox="1"/>
          <p:nvPr/>
        </p:nvSpPr>
        <p:spPr>
          <a:xfrm>
            <a:off x="950976" y="2532888"/>
            <a:ext cx="39319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15323A"/>
                </a:solidFill>
                <a:latin typeface="Calibri"/>
              </a:rPr>
              <a:t>Mengapa SSC</a:t>
            </a:r>
          </a:p>
        </p:txBody>
      </p:sp>
      <p:sp>
        <p:nvSpPr>
          <p:cNvPr id="16" name="TextBox 15"/>
          <p:cNvSpPr txBox="1"/>
          <p:nvPr/>
        </p:nvSpPr>
        <p:spPr>
          <a:xfrm>
            <a:off x="4864608" y="2551176"/>
            <a:ext cx="822960" cy="274320"/>
          </a:xfrm>
          <a:prstGeom prst="rect">
            <a:avLst/>
          </a:prstGeom>
          <a:noFill/>
        </p:spPr>
        <p:txBody>
          <a:bodyPr wrap="square" lIns="0" rIns="0" tIns="0" bIns="0" anchor="t">
            <a:spAutoFit/>
          </a:bodyPr>
          <a:lstStyle/>
          <a:p>
            <a:pPr algn="r">
              <a:lnSpc>
                <a:spcPct val="112000"/>
              </a:lnSpc>
              <a:spcAft>
                <a:spcPts val="0"/>
              </a:spcAft>
            </a:pPr>
            <a:r>
              <a:rPr sz="900" b="0" i="0">
                <a:solidFill>
                  <a:srgbClr val="7D8F93"/>
                </a:solidFill>
                <a:latin typeface="Calibri"/>
              </a:rPr>
              <a:t>0:45</a:t>
            </a:r>
          </a:p>
        </p:txBody>
      </p:sp>
      <p:sp>
        <p:nvSpPr>
          <p:cNvPr id="17" name="Rectangle 16"/>
          <p:cNvSpPr/>
          <p:nvPr/>
        </p:nvSpPr>
        <p:spPr>
          <a:xfrm>
            <a:off x="566928" y="3136391"/>
            <a:ext cx="525780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hlinkClick action="ppaction://hlinksldjump" r:id="rId5"/>
          </p:cNvPr>
          <p:cNvSpPr/>
          <p:nvPr/>
        </p:nvSpPr>
        <p:spPr>
          <a:xfrm>
            <a:off x="566928" y="3264408"/>
            <a:ext cx="5257800" cy="6766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19272"/>
            <a:ext cx="365760" cy="365760"/>
          </a:xfrm>
          <a:prstGeom prst="rect">
            <a:avLst/>
          </a:prstGeom>
          <a:noFill/>
        </p:spPr>
        <p:txBody>
          <a:bodyPr wrap="square" lIns="0" rIns="0" tIns="0" bIns="0" anchor="t">
            <a:spAutoFit/>
          </a:bodyPr>
          <a:lstStyle/>
          <a:p>
            <a:pPr algn="l">
              <a:lnSpc>
                <a:spcPct val="112000"/>
              </a:lnSpc>
              <a:spcAft>
                <a:spcPts val="0"/>
              </a:spcAft>
            </a:pPr>
            <a:r>
              <a:rPr sz="1700" b="0" i="0">
                <a:solidFill>
                  <a:srgbClr val="C65B45"/>
                </a:solidFill>
                <a:latin typeface="Georgia"/>
              </a:rPr>
              <a:t>3</a:t>
            </a:r>
          </a:p>
        </p:txBody>
      </p:sp>
      <p:sp>
        <p:nvSpPr>
          <p:cNvPr id="20" name="TextBox 19"/>
          <p:cNvSpPr txBox="1"/>
          <p:nvPr/>
        </p:nvSpPr>
        <p:spPr>
          <a:xfrm>
            <a:off x="950976" y="3319272"/>
            <a:ext cx="39319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15323A"/>
                </a:solidFill>
                <a:latin typeface="Calibri"/>
              </a:rPr>
              <a:t>Indikasi dan batas</a:t>
            </a:r>
          </a:p>
        </p:txBody>
      </p:sp>
      <p:sp>
        <p:nvSpPr>
          <p:cNvPr id="21" name="TextBox 20"/>
          <p:cNvSpPr txBox="1"/>
          <p:nvPr/>
        </p:nvSpPr>
        <p:spPr>
          <a:xfrm>
            <a:off x="4864608" y="3337560"/>
            <a:ext cx="822960" cy="274320"/>
          </a:xfrm>
          <a:prstGeom prst="rect">
            <a:avLst/>
          </a:prstGeom>
          <a:noFill/>
        </p:spPr>
        <p:txBody>
          <a:bodyPr wrap="square" lIns="0" rIns="0" tIns="0" bIns="0" anchor="t">
            <a:spAutoFit/>
          </a:bodyPr>
          <a:lstStyle/>
          <a:p>
            <a:pPr algn="r">
              <a:lnSpc>
                <a:spcPct val="112000"/>
              </a:lnSpc>
              <a:spcAft>
                <a:spcPts val="0"/>
              </a:spcAft>
            </a:pPr>
            <a:r>
              <a:rPr sz="900" b="0" i="0">
                <a:solidFill>
                  <a:srgbClr val="7D8F93"/>
                </a:solidFill>
                <a:latin typeface="Calibri"/>
              </a:rPr>
              <a:t>1:00</a:t>
            </a:r>
          </a:p>
        </p:txBody>
      </p:sp>
      <p:sp>
        <p:nvSpPr>
          <p:cNvPr id="22" name="Rectangle 21"/>
          <p:cNvSpPr/>
          <p:nvPr/>
        </p:nvSpPr>
        <p:spPr>
          <a:xfrm>
            <a:off x="566928" y="3922776"/>
            <a:ext cx="525780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a:hlinkClick action="ppaction://hlinksldjump" r:id="rId6"/>
          </p:cNvPr>
          <p:cNvSpPr/>
          <p:nvPr/>
        </p:nvSpPr>
        <p:spPr>
          <a:xfrm>
            <a:off x="566928" y="4050791"/>
            <a:ext cx="5257800" cy="6766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105655"/>
            <a:ext cx="365760" cy="365760"/>
          </a:xfrm>
          <a:prstGeom prst="rect">
            <a:avLst/>
          </a:prstGeom>
          <a:noFill/>
        </p:spPr>
        <p:txBody>
          <a:bodyPr wrap="square" lIns="0" rIns="0" tIns="0" bIns="0" anchor="t">
            <a:spAutoFit/>
          </a:bodyPr>
          <a:lstStyle/>
          <a:p>
            <a:pPr algn="l">
              <a:lnSpc>
                <a:spcPct val="112000"/>
              </a:lnSpc>
              <a:spcAft>
                <a:spcPts val="0"/>
              </a:spcAft>
            </a:pPr>
            <a:r>
              <a:rPr sz="1700" b="0" i="0">
                <a:solidFill>
                  <a:srgbClr val="C65B45"/>
                </a:solidFill>
                <a:latin typeface="Georgia"/>
              </a:rPr>
              <a:t>4</a:t>
            </a:r>
          </a:p>
        </p:txBody>
      </p:sp>
      <p:sp>
        <p:nvSpPr>
          <p:cNvPr id="25" name="TextBox 24"/>
          <p:cNvSpPr txBox="1"/>
          <p:nvPr/>
        </p:nvSpPr>
        <p:spPr>
          <a:xfrm>
            <a:off x="950976" y="4105655"/>
            <a:ext cx="39319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15323A"/>
                </a:solidFill>
                <a:latin typeface="Calibri"/>
              </a:rPr>
              <a:t>Gigi desidui dan preparasi</a:t>
            </a:r>
          </a:p>
        </p:txBody>
      </p:sp>
      <p:sp>
        <p:nvSpPr>
          <p:cNvPr id="26" name="TextBox 25"/>
          <p:cNvSpPr txBox="1"/>
          <p:nvPr/>
        </p:nvSpPr>
        <p:spPr>
          <a:xfrm>
            <a:off x="4864608" y="4123944"/>
            <a:ext cx="822960" cy="274320"/>
          </a:xfrm>
          <a:prstGeom prst="rect">
            <a:avLst/>
          </a:prstGeom>
          <a:noFill/>
        </p:spPr>
        <p:txBody>
          <a:bodyPr wrap="square" lIns="0" rIns="0" tIns="0" bIns="0" anchor="t">
            <a:spAutoFit/>
          </a:bodyPr>
          <a:lstStyle/>
          <a:p>
            <a:pPr algn="r">
              <a:lnSpc>
                <a:spcPct val="112000"/>
              </a:lnSpc>
              <a:spcAft>
                <a:spcPts val="0"/>
              </a:spcAft>
            </a:pPr>
            <a:r>
              <a:rPr sz="900" b="0" i="0">
                <a:solidFill>
                  <a:srgbClr val="7D8F93"/>
                </a:solidFill>
                <a:latin typeface="Calibri"/>
              </a:rPr>
              <a:t>0:45</a:t>
            </a:r>
          </a:p>
        </p:txBody>
      </p:sp>
      <p:sp>
        <p:nvSpPr>
          <p:cNvPr id="27" name="Rectangle 26"/>
          <p:cNvSpPr/>
          <p:nvPr/>
        </p:nvSpPr>
        <p:spPr>
          <a:xfrm>
            <a:off x="566928" y="4709159"/>
            <a:ext cx="525780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a:hlinkClick action="ppaction://hlinksldjump" r:id="rId7"/>
          </p:cNvPr>
          <p:cNvSpPr/>
          <p:nvPr/>
        </p:nvSpPr>
        <p:spPr>
          <a:xfrm>
            <a:off x="566928" y="4837176"/>
            <a:ext cx="5257800" cy="6766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892040"/>
            <a:ext cx="365760" cy="365760"/>
          </a:xfrm>
          <a:prstGeom prst="rect">
            <a:avLst/>
          </a:prstGeom>
          <a:noFill/>
        </p:spPr>
        <p:txBody>
          <a:bodyPr wrap="square" lIns="0" rIns="0" tIns="0" bIns="0" anchor="t">
            <a:spAutoFit/>
          </a:bodyPr>
          <a:lstStyle/>
          <a:p>
            <a:pPr algn="l">
              <a:lnSpc>
                <a:spcPct val="112000"/>
              </a:lnSpc>
              <a:spcAft>
                <a:spcPts val="0"/>
              </a:spcAft>
            </a:pPr>
            <a:r>
              <a:rPr sz="1700" b="0" i="0">
                <a:solidFill>
                  <a:srgbClr val="C65B45"/>
                </a:solidFill>
                <a:latin typeface="Georgia"/>
              </a:rPr>
              <a:t>5</a:t>
            </a:r>
          </a:p>
        </p:txBody>
      </p:sp>
      <p:sp>
        <p:nvSpPr>
          <p:cNvPr id="30" name="TextBox 29"/>
          <p:cNvSpPr txBox="1"/>
          <p:nvPr/>
        </p:nvSpPr>
        <p:spPr>
          <a:xfrm>
            <a:off x="950976" y="4892040"/>
            <a:ext cx="39319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15323A"/>
                </a:solidFill>
                <a:latin typeface="Calibri"/>
              </a:rPr>
              <a:t>Sepuluh langkah konvensional</a:t>
            </a:r>
          </a:p>
        </p:txBody>
      </p:sp>
      <p:sp>
        <p:nvSpPr>
          <p:cNvPr id="31" name="TextBox 30"/>
          <p:cNvSpPr txBox="1"/>
          <p:nvPr/>
        </p:nvSpPr>
        <p:spPr>
          <a:xfrm>
            <a:off x="4864608" y="4910328"/>
            <a:ext cx="822960" cy="274320"/>
          </a:xfrm>
          <a:prstGeom prst="rect">
            <a:avLst/>
          </a:prstGeom>
          <a:noFill/>
        </p:spPr>
        <p:txBody>
          <a:bodyPr wrap="square" lIns="0" rIns="0" tIns="0" bIns="0" anchor="t">
            <a:spAutoFit/>
          </a:bodyPr>
          <a:lstStyle/>
          <a:p>
            <a:pPr algn="r">
              <a:lnSpc>
                <a:spcPct val="112000"/>
              </a:lnSpc>
              <a:spcAft>
                <a:spcPts val="0"/>
              </a:spcAft>
            </a:pPr>
            <a:r>
              <a:rPr sz="900" b="0" i="0">
                <a:solidFill>
                  <a:srgbClr val="7D8F93"/>
                </a:solidFill>
                <a:latin typeface="Calibri"/>
              </a:rPr>
              <a:t>1:45</a:t>
            </a:r>
          </a:p>
        </p:txBody>
      </p:sp>
      <p:sp>
        <p:nvSpPr>
          <p:cNvPr id="32" name="Rectangle 31"/>
          <p:cNvSpPr/>
          <p:nvPr/>
        </p:nvSpPr>
        <p:spPr>
          <a:xfrm>
            <a:off x="566928" y="5495544"/>
            <a:ext cx="525780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a:hlinkClick action="ppaction://hlinksldjump" r:id="rId8"/>
          </p:cNvPr>
          <p:cNvSpPr/>
          <p:nvPr/>
        </p:nvSpPr>
        <p:spPr>
          <a:xfrm>
            <a:off x="6144768" y="1691640"/>
            <a:ext cx="5257800" cy="6766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44768" y="1746504"/>
            <a:ext cx="365760" cy="365760"/>
          </a:xfrm>
          <a:prstGeom prst="rect">
            <a:avLst/>
          </a:prstGeom>
          <a:noFill/>
        </p:spPr>
        <p:txBody>
          <a:bodyPr wrap="square" lIns="0" rIns="0" tIns="0" bIns="0" anchor="t">
            <a:spAutoFit/>
          </a:bodyPr>
          <a:lstStyle/>
          <a:p>
            <a:pPr algn="l">
              <a:lnSpc>
                <a:spcPct val="112000"/>
              </a:lnSpc>
              <a:spcAft>
                <a:spcPts val="0"/>
              </a:spcAft>
            </a:pPr>
            <a:r>
              <a:rPr sz="1700" b="0" i="0">
                <a:solidFill>
                  <a:srgbClr val="C65B45"/>
                </a:solidFill>
                <a:latin typeface="Georgia"/>
              </a:rPr>
              <a:t>6</a:t>
            </a:r>
          </a:p>
        </p:txBody>
      </p:sp>
      <p:sp>
        <p:nvSpPr>
          <p:cNvPr id="35" name="TextBox 34"/>
          <p:cNvSpPr txBox="1"/>
          <p:nvPr/>
        </p:nvSpPr>
        <p:spPr>
          <a:xfrm>
            <a:off x="6528816" y="1746504"/>
            <a:ext cx="39319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15323A"/>
                </a:solidFill>
                <a:latin typeface="Calibri"/>
              </a:rPr>
              <a:t>Hall Technique</a:t>
            </a:r>
          </a:p>
        </p:txBody>
      </p:sp>
      <p:sp>
        <p:nvSpPr>
          <p:cNvPr id="36" name="TextBox 35"/>
          <p:cNvSpPr txBox="1"/>
          <p:nvPr/>
        </p:nvSpPr>
        <p:spPr>
          <a:xfrm>
            <a:off x="10442448" y="1764792"/>
            <a:ext cx="822960" cy="274320"/>
          </a:xfrm>
          <a:prstGeom prst="rect">
            <a:avLst/>
          </a:prstGeom>
          <a:noFill/>
        </p:spPr>
        <p:txBody>
          <a:bodyPr wrap="square" lIns="0" rIns="0" tIns="0" bIns="0" anchor="t">
            <a:spAutoFit/>
          </a:bodyPr>
          <a:lstStyle/>
          <a:p>
            <a:pPr algn="r">
              <a:lnSpc>
                <a:spcPct val="112000"/>
              </a:lnSpc>
              <a:spcAft>
                <a:spcPts val="0"/>
              </a:spcAft>
            </a:pPr>
            <a:r>
              <a:rPr sz="900" b="0" i="0">
                <a:solidFill>
                  <a:srgbClr val="7D8F93"/>
                </a:solidFill>
                <a:latin typeface="Calibri"/>
              </a:rPr>
              <a:t>1:00</a:t>
            </a:r>
          </a:p>
        </p:txBody>
      </p:sp>
      <p:sp>
        <p:nvSpPr>
          <p:cNvPr id="37" name="Rectangle 36"/>
          <p:cNvSpPr/>
          <p:nvPr/>
        </p:nvSpPr>
        <p:spPr>
          <a:xfrm>
            <a:off x="6144768" y="2350008"/>
            <a:ext cx="525780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a:hlinkClick action="ppaction://hlinksldjump" r:id="rId9"/>
          </p:cNvPr>
          <p:cNvSpPr/>
          <p:nvPr/>
        </p:nvSpPr>
        <p:spPr>
          <a:xfrm>
            <a:off x="6144768" y="2478024"/>
            <a:ext cx="5257800" cy="6766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44768" y="2532888"/>
            <a:ext cx="365760" cy="365760"/>
          </a:xfrm>
          <a:prstGeom prst="rect">
            <a:avLst/>
          </a:prstGeom>
          <a:noFill/>
        </p:spPr>
        <p:txBody>
          <a:bodyPr wrap="square" lIns="0" rIns="0" tIns="0" bIns="0" anchor="t">
            <a:spAutoFit/>
          </a:bodyPr>
          <a:lstStyle/>
          <a:p>
            <a:pPr algn="l">
              <a:lnSpc>
                <a:spcPct val="112000"/>
              </a:lnSpc>
              <a:spcAft>
                <a:spcPts val="0"/>
              </a:spcAft>
            </a:pPr>
            <a:r>
              <a:rPr sz="1700" b="0" i="0">
                <a:solidFill>
                  <a:srgbClr val="C65B45"/>
                </a:solidFill>
                <a:latin typeface="Georgia"/>
              </a:rPr>
              <a:t>7</a:t>
            </a:r>
          </a:p>
        </p:txBody>
      </p:sp>
      <p:sp>
        <p:nvSpPr>
          <p:cNvPr id="40" name="TextBox 39"/>
          <p:cNvSpPr txBox="1"/>
          <p:nvPr/>
        </p:nvSpPr>
        <p:spPr>
          <a:xfrm>
            <a:off x="6528816" y="2532888"/>
            <a:ext cx="39319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15323A"/>
                </a:solidFill>
                <a:latin typeface="Calibri"/>
              </a:rPr>
              <a:t>Perbandingan dan penyulit</a:t>
            </a:r>
          </a:p>
        </p:txBody>
      </p:sp>
      <p:sp>
        <p:nvSpPr>
          <p:cNvPr id="41" name="TextBox 40"/>
          <p:cNvSpPr txBox="1"/>
          <p:nvPr/>
        </p:nvSpPr>
        <p:spPr>
          <a:xfrm>
            <a:off x="10442448" y="2551176"/>
            <a:ext cx="822960" cy="274320"/>
          </a:xfrm>
          <a:prstGeom prst="rect">
            <a:avLst/>
          </a:prstGeom>
          <a:noFill/>
        </p:spPr>
        <p:txBody>
          <a:bodyPr wrap="square" lIns="0" rIns="0" tIns="0" bIns="0" anchor="t">
            <a:spAutoFit/>
          </a:bodyPr>
          <a:lstStyle/>
          <a:p>
            <a:pPr algn="r">
              <a:lnSpc>
                <a:spcPct val="112000"/>
              </a:lnSpc>
              <a:spcAft>
                <a:spcPts val="0"/>
              </a:spcAft>
            </a:pPr>
            <a:r>
              <a:rPr sz="900" b="0" i="0">
                <a:solidFill>
                  <a:srgbClr val="7D8F93"/>
                </a:solidFill>
                <a:latin typeface="Calibri"/>
              </a:rPr>
              <a:t>1:00</a:t>
            </a:r>
          </a:p>
        </p:txBody>
      </p:sp>
      <p:sp>
        <p:nvSpPr>
          <p:cNvPr id="42" name="Rectangle 41"/>
          <p:cNvSpPr/>
          <p:nvPr/>
        </p:nvSpPr>
        <p:spPr>
          <a:xfrm>
            <a:off x="6144768" y="3136391"/>
            <a:ext cx="525780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a:hlinkClick action="ppaction://hlinksldjump" r:id="rId10"/>
          </p:cNvPr>
          <p:cNvSpPr/>
          <p:nvPr/>
        </p:nvSpPr>
        <p:spPr>
          <a:xfrm>
            <a:off x="6144768" y="3264408"/>
            <a:ext cx="5257800" cy="6766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44768" y="3319272"/>
            <a:ext cx="365760" cy="365760"/>
          </a:xfrm>
          <a:prstGeom prst="rect">
            <a:avLst/>
          </a:prstGeom>
          <a:noFill/>
        </p:spPr>
        <p:txBody>
          <a:bodyPr wrap="square" lIns="0" rIns="0" tIns="0" bIns="0" anchor="t">
            <a:spAutoFit/>
          </a:bodyPr>
          <a:lstStyle/>
          <a:p>
            <a:pPr algn="l">
              <a:lnSpc>
                <a:spcPct val="112000"/>
              </a:lnSpc>
              <a:spcAft>
                <a:spcPts val="0"/>
              </a:spcAft>
            </a:pPr>
            <a:r>
              <a:rPr sz="1700" b="0" i="0">
                <a:solidFill>
                  <a:srgbClr val="C65B45"/>
                </a:solidFill>
                <a:latin typeface="Georgia"/>
              </a:rPr>
              <a:t>8</a:t>
            </a:r>
          </a:p>
        </p:txBody>
      </p:sp>
      <p:sp>
        <p:nvSpPr>
          <p:cNvPr id="45" name="TextBox 44"/>
          <p:cNvSpPr txBox="1"/>
          <p:nvPr/>
        </p:nvSpPr>
        <p:spPr>
          <a:xfrm>
            <a:off x="6528816" y="3319272"/>
            <a:ext cx="39319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15323A"/>
                </a:solidFill>
                <a:latin typeface="Calibri"/>
              </a:rPr>
              <a:t>Bukti dan alternatif</a:t>
            </a:r>
          </a:p>
        </p:txBody>
      </p:sp>
      <p:sp>
        <p:nvSpPr>
          <p:cNvPr id="46" name="TextBox 45"/>
          <p:cNvSpPr txBox="1"/>
          <p:nvPr/>
        </p:nvSpPr>
        <p:spPr>
          <a:xfrm>
            <a:off x="10442448" y="3337560"/>
            <a:ext cx="822960" cy="274320"/>
          </a:xfrm>
          <a:prstGeom prst="rect">
            <a:avLst/>
          </a:prstGeom>
          <a:noFill/>
        </p:spPr>
        <p:txBody>
          <a:bodyPr wrap="square" lIns="0" rIns="0" tIns="0" bIns="0" anchor="t">
            <a:spAutoFit/>
          </a:bodyPr>
          <a:lstStyle/>
          <a:p>
            <a:pPr algn="r">
              <a:lnSpc>
                <a:spcPct val="112000"/>
              </a:lnSpc>
              <a:spcAft>
                <a:spcPts val="0"/>
              </a:spcAft>
            </a:pPr>
            <a:r>
              <a:rPr sz="900" b="0" i="0">
                <a:solidFill>
                  <a:srgbClr val="7D8F93"/>
                </a:solidFill>
                <a:latin typeface="Calibri"/>
              </a:rPr>
              <a:t>1:30</a:t>
            </a:r>
          </a:p>
        </p:txBody>
      </p:sp>
      <p:sp>
        <p:nvSpPr>
          <p:cNvPr id="47" name="Rectangle 46"/>
          <p:cNvSpPr/>
          <p:nvPr/>
        </p:nvSpPr>
        <p:spPr>
          <a:xfrm>
            <a:off x="6144768" y="3922776"/>
            <a:ext cx="525780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a:hlinkClick action="ppaction://hlinksldjump" r:id="rId11"/>
          </p:cNvPr>
          <p:cNvSpPr/>
          <p:nvPr/>
        </p:nvSpPr>
        <p:spPr>
          <a:xfrm>
            <a:off x="6144768" y="4050791"/>
            <a:ext cx="5257800" cy="6766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44768" y="4105655"/>
            <a:ext cx="365760" cy="365760"/>
          </a:xfrm>
          <a:prstGeom prst="rect">
            <a:avLst/>
          </a:prstGeom>
          <a:noFill/>
        </p:spPr>
        <p:txBody>
          <a:bodyPr wrap="square" lIns="0" rIns="0" tIns="0" bIns="0" anchor="t">
            <a:spAutoFit/>
          </a:bodyPr>
          <a:lstStyle/>
          <a:p>
            <a:pPr algn="l">
              <a:lnSpc>
                <a:spcPct val="112000"/>
              </a:lnSpc>
              <a:spcAft>
                <a:spcPts val="0"/>
              </a:spcAft>
            </a:pPr>
            <a:r>
              <a:rPr sz="1700" b="0" i="0">
                <a:solidFill>
                  <a:srgbClr val="C65B45"/>
                </a:solidFill>
                <a:latin typeface="Georgia"/>
              </a:rPr>
              <a:t>9</a:t>
            </a:r>
          </a:p>
        </p:txBody>
      </p:sp>
      <p:sp>
        <p:nvSpPr>
          <p:cNvPr id="50" name="TextBox 49"/>
          <p:cNvSpPr txBox="1"/>
          <p:nvPr/>
        </p:nvSpPr>
        <p:spPr>
          <a:xfrm>
            <a:off x="6528816" y="4105655"/>
            <a:ext cx="39319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15323A"/>
                </a:solidFill>
                <a:latin typeface="Calibri"/>
              </a:rPr>
              <a:t>Kasus, kuis, penutup</a:t>
            </a:r>
          </a:p>
        </p:txBody>
      </p:sp>
      <p:sp>
        <p:nvSpPr>
          <p:cNvPr id="51" name="TextBox 50"/>
          <p:cNvSpPr txBox="1"/>
          <p:nvPr/>
        </p:nvSpPr>
        <p:spPr>
          <a:xfrm>
            <a:off x="10442448" y="4123944"/>
            <a:ext cx="822960" cy="274320"/>
          </a:xfrm>
          <a:prstGeom prst="rect">
            <a:avLst/>
          </a:prstGeom>
          <a:noFill/>
        </p:spPr>
        <p:txBody>
          <a:bodyPr wrap="square" lIns="0" rIns="0" tIns="0" bIns="0" anchor="t">
            <a:spAutoFit/>
          </a:bodyPr>
          <a:lstStyle/>
          <a:p>
            <a:pPr algn="r">
              <a:lnSpc>
                <a:spcPct val="112000"/>
              </a:lnSpc>
              <a:spcAft>
                <a:spcPts val="0"/>
              </a:spcAft>
            </a:pPr>
            <a:r>
              <a:rPr sz="900" b="0" i="0">
                <a:solidFill>
                  <a:srgbClr val="7D8F93"/>
                </a:solidFill>
                <a:latin typeface="Calibri"/>
              </a:rPr>
              <a:t>0:45</a:t>
            </a:r>
          </a:p>
        </p:txBody>
      </p:sp>
      <p:sp>
        <p:nvSpPr>
          <p:cNvPr id="52" name="Rectangle 51"/>
          <p:cNvSpPr/>
          <p:nvPr/>
        </p:nvSpPr>
        <p:spPr>
          <a:xfrm>
            <a:off x="6144768" y="4709159"/>
            <a:ext cx="525780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6928" y="5715000"/>
            <a:ext cx="10515600" cy="548640"/>
          </a:xfrm>
          <a:prstGeom prst="rect">
            <a:avLst/>
          </a:prstGeom>
          <a:noFill/>
        </p:spPr>
        <p:txBody>
          <a:bodyPr wrap="square" lIns="0" rIns="0" tIns="0" bIns="0" anchor="t">
            <a:spAutoFit/>
          </a:bodyPr>
          <a:lstStyle/>
          <a:p>
            <a:pPr algn="l">
              <a:lnSpc>
                <a:spcPct val="112000"/>
              </a:lnSpc>
              <a:spcAft>
                <a:spcPts val="0"/>
              </a:spcAft>
            </a:pPr>
            <a:r>
              <a:rPr sz="900" b="0" i="0">
                <a:solidFill>
                  <a:srgbClr val="7D8F93"/>
                </a:solidFill>
                <a:latin typeface="Calibri"/>
              </a:rPr>
              <a:t>Klik bagian mana pun untuk melompat. Tombol Agenda di kanan atas mengembalikan ke halaman ini. Bagian kasus dan kuis dapat dilewati bila waktu tersisa kurang dari dua menit.</a:t>
            </a:r>
          </a:p>
        </p:txBody>
      </p:sp>
      <p:sp>
        <p:nvSpPr>
          <p:cNvPr id="54" name="Rectangle 53"/>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Total 9 menit 15 detik konten, sekitar 10 menit dengan perpindahan</a:t>
            </a:r>
          </a:p>
        </p:txBody>
      </p:sp>
      <p:sp>
        <p:nvSpPr>
          <p:cNvPr id="56" name="TextBox 55"/>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MASALAH KLINIS</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3000" b="0" i="0">
                <a:solidFill>
                  <a:srgbClr val="15323A"/>
                </a:solidFill>
                <a:latin typeface="Georgia"/>
              </a:rPr>
              <a:t>Tambalan berulang gagal pada gigi yang sama</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3</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83080"/>
            <a:ext cx="5394960" cy="786384"/>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2112264"/>
            <a:ext cx="118872" cy="118872"/>
          </a:xfrm>
          <a:prstGeom prst="ellipse">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911095"/>
            <a:ext cx="192024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5323A"/>
                </a:solidFill>
                <a:latin typeface="Calibri"/>
              </a:rPr>
              <a:t>Tambalan pertama</a:t>
            </a:r>
          </a:p>
        </p:txBody>
      </p:sp>
      <p:sp>
        <p:nvSpPr>
          <p:cNvPr id="11" name="TextBox 10"/>
          <p:cNvSpPr txBox="1"/>
          <p:nvPr/>
        </p:nvSpPr>
        <p:spPr>
          <a:xfrm>
            <a:off x="1097280" y="2194560"/>
            <a:ext cx="4480560" cy="274320"/>
          </a:xfrm>
          <a:prstGeom prst="rect">
            <a:avLst/>
          </a:prstGeom>
          <a:noFill/>
        </p:spPr>
        <p:txBody>
          <a:bodyPr wrap="square" lIns="0" rIns="0" tIns="0" bIns="0" anchor="t">
            <a:spAutoFit/>
          </a:bodyPr>
          <a:lstStyle/>
          <a:p>
            <a:pPr algn="l">
              <a:lnSpc>
                <a:spcPct val="112000"/>
              </a:lnSpc>
              <a:spcAft>
                <a:spcPts val="0"/>
              </a:spcAft>
            </a:pPr>
            <a:r>
              <a:rPr sz="1150" b="0" i="0">
                <a:solidFill>
                  <a:srgbClr val="47646C"/>
                </a:solidFill>
                <a:latin typeface="Calibri"/>
              </a:rPr>
              <a:t>Tepi terbuka, karies kembali</a:t>
            </a:r>
          </a:p>
        </p:txBody>
      </p:sp>
      <p:sp>
        <p:nvSpPr>
          <p:cNvPr id="12" name="Rounded Rectangle 11"/>
          <p:cNvSpPr/>
          <p:nvPr/>
        </p:nvSpPr>
        <p:spPr>
          <a:xfrm>
            <a:off x="566928" y="2743200"/>
            <a:ext cx="5394960" cy="786384"/>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072384"/>
            <a:ext cx="118872" cy="118872"/>
          </a:xfrm>
          <a:prstGeom prst="ellipse">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871216"/>
            <a:ext cx="192024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5323A"/>
                </a:solidFill>
                <a:latin typeface="Calibri"/>
              </a:rPr>
              <a:t>Tambalan kedua</a:t>
            </a:r>
          </a:p>
        </p:txBody>
      </p:sp>
      <p:sp>
        <p:nvSpPr>
          <p:cNvPr id="15" name="TextBox 14"/>
          <p:cNvSpPr txBox="1"/>
          <p:nvPr/>
        </p:nvSpPr>
        <p:spPr>
          <a:xfrm>
            <a:off x="1097280" y="3154680"/>
            <a:ext cx="4480560" cy="274320"/>
          </a:xfrm>
          <a:prstGeom prst="rect">
            <a:avLst/>
          </a:prstGeom>
          <a:noFill/>
        </p:spPr>
        <p:txBody>
          <a:bodyPr wrap="square" lIns="0" rIns="0" tIns="0" bIns="0" anchor="t">
            <a:spAutoFit/>
          </a:bodyPr>
          <a:lstStyle/>
          <a:p>
            <a:pPr algn="l">
              <a:lnSpc>
                <a:spcPct val="112000"/>
              </a:lnSpc>
              <a:spcAft>
                <a:spcPts val="0"/>
              </a:spcAft>
            </a:pPr>
            <a:r>
              <a:rPr sz="1150" b="0" i="0">
                <a:solidFill>
                  <a:srgbClr val="47646C"/>
                </a:solidFill>
                <a:latin typeface="Calibri"/>
              </a:rPr>
              <a:t>Karies sekunder</a:t>
            </a:r>
          </a:p>
        </p:txBody>
      </p:sp>
      <p:sp>
        <p:nvSpPr>
          <p:cNvPr id="16" name="Rounded Rectangle 15"/>
          <p:cNvSpPr/>
          <p:nvPr/>
        </p:nvSpPr>
        <p:spPr>
          <a:xfrm>
            <a:off x="566928" y="3703320"/>
            <a:ext cx="5394960" cy="786384"/>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032504"/>
            <a:ext cx="118872" cy="118872"/>
          </a:xfrm>
          <a:prstGeom prst="ellipse">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831335"/>
            <a:ext cx="192024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5323A"/>
                </a:solidFill>
                <a:latin typeface="Calibri"/>
              </a:rPr>
              <a:t>Tambalan ketiga</a:t>
            </a:r>
          </a:p>
        </p:txBody>
      </p:sp>
      <p:sp>
        <p:nvSpPr>
          <p:cNvPr id="19" name="TextBox 18"/>
          <p:cNvSpPr txBox="1"/>
          <p:nvPr/>
        </p:nvSpPr>
        <p:spPr>
          <a:xfrm>
            <a:off x="1097280" y="4114800"/>
            <a:ext cx="4480560" cy="274320"/>
          </a:xfrm>
          <a:prstGeom prst="rect">
            <a:avLst/>
          </a:prstGeom>
          <a:noFill/>
        </p:spPr>
        <p:txBody>
          <a:bodyPr wrap="square" lIns="0" rIns="0" tIns="0" bIns="0" anchor="t">
            <a:spAutoFit/>
          </a:bodyPr>
          <a:lstStyle/>
          <a:p>
            <a:pPr algn="l">
              <a:lnSpc>
                <a:spcPct val="112000"/>
              </a:lnSpc>
              <a:spcAft>
                <a:spcPts val="0"/>
              </a:spcAft>
            </a:pPr>
            <a:r>
              <a:rPr sz="1150" b="0" i="0">
                <a:solidFill>
                  <a:srgbClr val="47646C"/>
                </a:solidFill>
                <a:latin typeface="Calibri"/>
              </a:rPr>
              <a:t>Nyeri, pulpa terlibat</a:t>
            </a:r>
          </a:p>
        </p:txBody>
      </p:sp>
      <p:sp>
        <p:nvSpPr>
          <p:cNvPr id="20" name="TextBox 19"/>
          <p:cNvSpPr txBox="1"/>
          <p:nvPr/>
        </p:nvSpPr>
        <p:spPr>
          <a:xfrm>
            <a:off x="566928" y="4800600"/>
            <a:ext cx="5120640" cy="274320"/>
          </a:xfrm>
          <a:prstGeom prst="rect">
            <a:avLst/>
          </a:prstGeom>
          <a:noFill/>
        </p:spPr>
        <p:txBody>
          <a:bodyPr wrap="square" lIns="0" rIns="0" tIns="0" bIns="0" anchor="t">
            <a:spAutoFit/>
          </a:bodyPr>
          <a:lstStyle/>
          <a:p>
            <a:pPr algn="l">
              <a:lnSpc>
                <a:spcPct val="112000"/>
              </a:lnSpc>
              <a:spcAft>
                <a:spcPts val="0"/>
              </a:spcAft>
            </a:pPr>
            <a:r>
              <a:rPr sz="850" b="0" i="0">
                <a:solidFill>
                  <a:srgbClr val="7D8F93"/>
                </a:solidFill>
                <a:latin typeface="Calibri"/>
              </a:rPr>
              <a:t>Kasus ilustratif, bukan data penelitian.</a:t>
            </a:r>
          </a:p>
        </p:txBody>
      </p:sp>
      <p:sp>
        <p:nvSpPr>
          <p:cNvPr id="21" name="TextBox 20"/>
          <p:cNvSpPr txBox="1"/>
          <p:nvPr/>
        </p:nvSpPr>
        <p:spPr>
          <a:xfrm>
            <a:off x="6355080" y="1600200"/>
            <a:ext cx="5212080" cy="1188720"/>
          </a:xfrm>
          <a:prstGeom prst="rect">
            <a:avLst/>
          </a:prstGeom>
          <a:noFill/>
        </p:spPr>
        <p:txBody>
          <a:bodyPr wrap="square" lIns="0" rIns="0" tIns="0" bIns="0" anchor="t">
            <a:spAutoFit/>
          </a:bodyPr>
          <a:lstStyle/>
          <a:p>
            <a:pPr algn="l">
              <a:lnSpc>
                <a:spcPct val="105000"/>
              </a:lnSpc>
              <a:spcAft>
                <a:spcPts val="0"/>
              </a:spcAft>
            </a:pPr>
            <a:r>
              <a:rPr sz="2500" b="0" i="0">
                <a:solidFill>
                  <a:srgbClr val="15323A"/>
                </a:solidFill>
                <a:latin typeface="Georgia"/>
              </a:rPr>
              <a:t>Setiap pengulangan menghilangkan lebih banyak dentin.</a:t>
            </a:r>
          </a:p>
        </p:txBody>
      </p:sp>
      <p:sp>
        <p:nvSpPr>
          <p:cNvPr id="22" name="TextBox 21"/>
          <p:cNvSpPr txBox="1"/>
          <p:nvPr/>
        </p:nvSpPr>
        <p:spPr>
          <a:xfrm>
            <a:off x="6355080" y="2971800"/>
            <a:ext cx="5074920" cy="1097280"/>
          </a:xfrm>
          <a:prstGeom prst="rect">
            <a:avLst/>
          </a:prstGeom>
          <a:noFill/>
        </p:spPr>
        <p:txBody>
          <a:bodyPr wrap="square" lIns="0" rIns="0" tIns="0" bIns="0" anchor="t">
            <a:spAutoFit/>
          </a:bodyPr>
          <a:lstStyle/>
          <a:p>
            <a:pPr algn="l">
              <a:lnSpc>
                <a:spcPct val="112000"/>
              </a:lnSpc>
              <a:spcAft>
                <a:spcPts val="0"/>
              </a:spcAft>
            </a:pPr>
            <a:r>
              <a:rPr sz="1300" b="0" i="0">
                <a:solidFill>
                  <a:srgbClr val="47646C"/>
                </a:solidFill>
                <a:latin typeface="Calibri"/>
              </a:rPr>
              <a:t>Enamel gigi desidui sekitar 1 mm, dentin tipis, tanduk pulpa tinggi. Kapan berhenti menambal dan menutup seluruh gigi?</a:t>
            </a:r>
          </a:p>
        </p:txBody>
      </p:sp>
      <p:sp>
        <p:nvSpPr>
          <p:cNvPr id="23" name="Rounded Rectangle 22"/>
          <p:cNvSpPr/>
          <p:nvPr/>
        </p:nvSpPr>
        <p:spPr>
          <a:xfrm>
            <a:off x="6355080" y="4279392"/>
            <a:ext cx="3520440" cy="402336"/>
          </a:xfrm>
          <a:prstGeom prst="roundRect">
            <a:avLst>
              <a:gd name="adj" fmla="val 50000"/>
            </a:avLst>
          </a:prstGeom>
          <a:solidFill>
            <a:srgbClr val="EEF6F4"/>
          </a:solidFill>
          <a:ln w="12700">
            <a:solidFill>
              <a:srgbClr val="BCD4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4352544"/>
            <a:ext cx="3383280" cy="274320"/>
          </a:xfrm>
          <a:prstGeom prst="rect">
            <a:avLst/>
          </a:prstGeom>
          <a:noFill/>
        </p:spPr>
        <p:txBody>
          <a:bodyPr wrap="square" lIns="0" rIns="0" tIns="0" bIns="0" anchor="t">
            <a:spAutoFit/>
          </a:bodyPr>
          <a:lstStyle/>
          <a:p>
            <a:pPr algn="l">
              <a:lnSpc>
                <a:spcPct val="112000"/>
              </a:lnSpc>
              <a:spcAft>
                <a:spcPts val="0"/>
              </a:spcAft>
            </a:pPr>
            <a:r>
              <a:rPr sz="1000" b="0" i="0">
                <a:solidFill>
                  <a:srgbClr val="22605C"/>
                </a:solidFill>
                <a:latin typeface="Calibri"/>
              </a:rPr>
              <a:t>Karies usia 5–6 tahun: 93%</a:t>
            </a:r>
          </a:p>
        </p:txBody>
      </p:sp>
      <p:sp>
        <p:nvSpPr>
          <p:cNvPr id="25" name="Rectangle 24"/>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Kindelan 2008 · AAPD 2025 · Cochrane 2015 · Innes 2011 · Riskesdas 2018</a:t>
            </a:r>
          </a:p>
        </p:txBody>
      </p:sp>
      <p:sp>
        <p:nvSpPr>
          <p:cNvPr id="27" name="TextBox 26"/>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PRINSIP</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800" b="0" i="0">
                <a:solidFill>
                  <a:srgbClr val="15323A"/>
                </a:solidFill>
                <a:latin typeface="Georgia"/>
              </a:rPr>
              <a:t>SSC menutup seluruh mahkota dan tidak bergantung pada dinding yang tersisa</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4</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83080"/>
            <a:ext cx="3520440" cy="117043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01952"/>
            <a:ext cx="3246120" cy="475488"/>
          </a:xfrm>
          <a:prstGeom prst="rect">
            <a:avLst/>
          </a:prstGeom>
          <a:noFill/>
        </p:spPr>
        <p:txBody>
          <a:bodyPr wrap="square" lIns="0" rIns="0" tIns="0" bIns="0" anchor="t">
            <a:spAutoFit/>
          </a:bodyPr>
          <a:lstStyle/>
          <a:p>
            <a:pPr algn="l">
              <a:lnSpc>
                <a:spcPct val="112000"/>
              </a:lnSpc>
              <a:spcAft>
                <a:spcPts val="0"/>
              </a:spcAft>
            </a:pPr>
            <a:r>
              <a:rPr sz="3000" b="0" i="0">
                <a:solidFill>
                  <a:srgbClr val="15323A"/>
                </a:solidFill>
                <a:latin typeface="Georgia"/>
              </a:rPr>
              <a:t>96,1%</a:t>
            </a:r>
          </a:p>
        </p:txBody>
      </p:sp>
      <p:sp>
        <p:nvSpPr>
          <p:cNvPr id="10" name="TextBox 9"/>
          <p:cNvSpPr txBox="1"/>
          <p:nvPr/>
        </p:nvSpPr>
        <p:spPr>
          <a:xfrm>
            <a:off x="731520" y="2386584"/>
            <a:ext cx="3209544" cy="384048"/>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success SSC pada 12 bulan, 31 studi</a:t>
            </a:r>
          </a:p>
        </p:txBody>
      </p:sp>
      <p:sp>
        <p:nvSpPr>
          <p:cNvPr id="11" name="TextBox 10"/>
          <p:cNvSpPr txBox="1"/>
          <p:nvPr/>
        </p:nvSpPr>
        <p:spPr>
          <a:xfrm>
            <a:off x="731520" y="2724912"/>
            <a:ext cx="3209544" cy="182880"/>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Chisini 2018 · SR/MA, I</a:t>
            </a:r>
          </a:p>
        </p:txBody>
      </p:sp>
      <p:sp>
        <p:nvSpPr>
          <p:cNvPr id="12" name="Rounded Rectangle 11"/>
          <p:cNvSpPr/>
          <p:nvPr/>
        </p:nvSpPr>
        <p:spPr>
          <a:xfrm>
            <a:off x="4334256" y="1783080"/>
            <a:ext cx="3520440" cy="117043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901952"/>
            <a:ext cx="3246120" cy="475488"/>
          </a:xfrm>
          <a:prstGeom prst="rect">
            <a:avLst/>
          </a:prstGeom>
          <a:noFill/>
        </p:spPr>
        <p:txBody>
          <a:bodyPr wrap="square" lIns="0" rIns="0" tIns="0" bIns="0" anchor="t">
            <a:spAutoFit/>
          </a:bodyPr>
          <a:lstStyle/>
          <a:p>
            <a:pPr algn="l">
              <a:lnSpc>
                <a:spcPct val="112000"/>
              </a:lnSpc>
              <a:spcAft>
                <a:spcPts val="0"/>
              </a:spcAft>
            </a:pPr>
            <a:r>
              <a:rPr sz="3000" b="0" i="0">
                <a:solidFill>
                  <a:srgbClr val="15323A"/>
                </a:solidFill>
                <a:latin typeface="Georgia"/>
              </a:rPr>
              <a:t>0,18</a:t>
            </a:r>
          </a:p>
        </p:txBody>
      </p:sp>
      <p:sp>
        <p:nvSpPr>
          <p:cNvPr id="14" name="TextBox 13"/>
          <p:cNvSpPr txBox="1"/>
          <p:nvPr/>
        </p:nvSpPr>
        <p:spPr>
          <a:xfrm>
            <a:off x="4498848" y="2386584"/>
            <a:ext cx="3209544" cy="384048"/>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RR kegagalan mayor vs tambalan (95% CI 0,06–0,56)</a:t>
            </a:r>
          </a:p>
        </p:txBody>
      </p:sp>
      <p:sp>
        <p:nvSpPr>
          <p:cNvPr id="15" name="TextBox 14"/>
          <p:cNvSpPr txBox="1"/>
          <p:nvPr/>
        </p:nvSpPr>
        <p:spPr>
          <a:xfrm>
            <a:off x="4498848" y="2724912"/>
            <a:ext cx="3209544" cy="182880"/>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Cochrane 2015 · I</a:t>
            </a:r>
          </a:p>
        </p:txBody>
      </p:sp>
      <p:sp>
        <p:nvSpPr>
          <p:cNvPr id="16" name="Rounded Rectangle 15"/>
          <p:cNvSpPr/>
          <p:nvPr/>
        </p:nvSpPr>
        <p:spPr>
          <a:xfrm>
            <a:off x="8101583" y="1783080"/>
            <a:ext cx="3520440" cy="117043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1901952"/>
            <a:ext cx="3246120" cy="475488"/>
          </a:xfrm>
          <a:prstGeom prst="rect">
            <a:avLst/>
          </a:prstGeom>
          <a:noFill/>
        </p:spPr>
        <p:txBody>
          <a:bodyPr wrap="square" lIns="0" rIns="0" tIns="0" bIns="0" anchor="t">
            <a:spAutoFit/>
          </a:bodyPr>
          <a:lstStyle/>
          <a:p>
            <a:pPr algn="l">
              <a:lnSpc>
                <a:spcPct val="112000"/>
              </a:lnSpc>
              <a:spcAft>
                <a:spcPts val="0"/>
              </a:spcAft>
            </a:pPr>
            <a:r>
              <a:rPr sz="3000" b="0" i="0">
                <a:solidFill>
                  <a:srgbClr val="15323A"/>
                </a:solidFill>
                <a:latin typeface="Georgia"/>
              </a:rPr>
              <a:t>92%</a:t>
            </a:r>
          </a:p>
        </p:txBody>
      </p:sp>
      <p:sp>
        <p:nvSpPr>
          <p:cNvPr id="18" name="TextBox 17"/>
          <p:cNvSpPr txBox="1"/>
          <p:nvPr/>
        </p:nvSpPr>
        <p:spPr>
          <a:xfrm>
            <a:off x="8266175" y="2386584"/>
            <a:ext cx="3209544" cy="384048"/>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success Hall vs 52% kontrol pada 60 bulan</a:t>
            </a:r>
          </a:p>
        </p:txBody>
      </p:sp>
      <p:sp>
        <p:nvSpPr>
          <p:cNvPr id="19" name="TextBox 18"/>
          <p:cNvSpPr txBox="1"/>
          <p:nvPr/>
        </p:nvSpPr>
        <p:spPr>
          <a:xfrm>
            <a:off x="8266175" y="2724912"/>
            <a:ext cx="3209544" cy="182880"/>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Innes 2011 · RCT, II</a:t>
            </a:r>
          </a:p>
        </p:txBody>
      </p:sp>
      <p:sp>
        <p:nvSpPr>
          <p:cNvPr id="20" name="Rounded Rectangle 19"/>
          <p:cNvSpPr/>
          <p:nvPr/>
        </p:nvSpPr>
        <p:spPr>
          <a:xfrm>
            <a:off x="566928" y="3246120"/>
            <a:ext cx="3520440" cy="117043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3401568"/>
            <a:ext cx="315468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5323A"/>
                </a:solidFill>
                <a:latin typeface="Calibri"/>
              </a:rPr>
              <a:t>Menutup seluruh korona</a:t>
            </a:r>
          </a:p>
        </p:txBody>
      </p:sp>
      <p:sp>
        <p:nvSpPr>
          <p:cNvPr id="22" name="TextBox 21"/>
          <p:cNvSpPr txBox="1"/>
          <p:nvPr/>
        </p:nvSpPr>
        <p:spPr>
          <a:xfrm>
            <a:off x="749808" y="3712463"/>
            <a:ext cx="3154680" cy="566928"/>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Tidak ada tepi restorasi.</a:t>
            </a:r>
          </a:p>
        </p:txBody>
      </p:sp>
      <p:sp>
        <p:nvSpPr>
          <p:cNvPr id="23" name="Rounded Rectangle 22"/>
          <p:cNvSpPr/>
          <p:nvPr/>
        </p:nvSpPr>
        <p:spPr>
          <a:xfrm>
            <a:off x="4334256" y="3246120"/>
            <a:ext cx="3520440" cy="117043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7136" y="3401568"/>
            <a:ext cx="315468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5323A"/>
                </a:solidFill>
                <a:latin typeface="Calibri"/>
              </a:rPr>
              <a:t>Tahan fraktur</a:t>
            </a:r>
          </a:p>
        </p:txBody>
      </p:sp>
      <p:sp>
        <p:nvSpPr>
          <p:cNvPr id="25" name="TextBox 24"/>
          <p:cNvSpPr txBox="1"/>
          <p:nvPr/>
        </p:nvSpPr>
        <p:spPr>
          <a:xfrm>
            <a:off x="4517136" y="3712463"/>
            <a:ext cx="3154680" cy="566928"/>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Logam menahan gaya oklusal pada dinding tipis.</a:t>
            </a:r>
          </a:p>
        </p:txBody>
      </p:sp>
      <p:sp>
        <p:nvSpPr>
          <p:cNvPr id="26" name="Rounded Rectangle 25"/>
          <p:cNvSpPr/>
          <p:nvPr/>
        </p:nvSpPr>
        <p:spPr>
          <a:xfrm>
            <a:off x="8101583" y="3246120"/>
            <a:ext cx="3520440" cy="117043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84463" y="3401568"/>
            <a:ext cx="315468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5323A"/>
                </a:solidFill>
                <a:latin typeface="Calibri"/>
              </a:rPr>
              <a:t>Lebih sedikit pengulangan</a:t>
            </a:r>
          </a:p>
        </p:txBody>
      </p:sp>
      <p:sp>
        <p:nvSpPr>
          <p:cNvPr id="28" name="TextBox 27"/>
          <p:cNvSpPr txBox="1"/>
          <p:nvPr/>
        </p:nvSpPr>
        <p:spPr>
          <a:xfrm>
            <a:off x="8284463" y="3712463"/>
            <a:ext cx="3154680" cy="566928"/>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Biaya awal lebih tinggi, retreatment lebih rendah.</a:t>
            </a:r>
          </a:p>
        </p:txBody>
      </p:sp>
      <p:sp>
        <p:nvSpPr>
          <p:cNvPr id="29" name="TextBox 28"/>
          <p:cNvSpPr txBox="1"/>
          <p:nvPr/>
        </p:nvSpPr>
        <p:spPr>
          <a:xfrm>
            <a:off x="566928" y="4709160"/>
            <a:ext cx="10789920" cy="640080"/>
          </a:xfrm>
          <a:prstGeom prst="rect">
            <a:avLst/>
          </a:prstGeom>
          <a:noFill/>
        </p:spPr>
        <p:txBody>
          <a:bodyPr wrap="square" lIns="0" rIns="0" tIns="0" bIns="0" anchor="t">
            <a:spAutoFit/>
          </a:bodyPr>
          <a:lstStyle/>
          <a:p>
            <a:pPr algn="l">
              <a:lnSpc>
                <a:spcPct val="112000"/>
              </a:lnSpc>
              <a:spcAft>
                <a:spcPts val="0"/>
              </a:spcAft>
            </a:pPr>
            <a:r>
              <a:rPr sz="1200" b="0" i="0">
                <a:solidFill>
                  <a:srgbClr val="47646C"/>
                </a:solidFill>
                <a:latin typeface="Calibri"/>
              </a:rPr>
              <a:t>Retensi berasal dari undercut servikal dan adaptasi margin. Semen membantu seal, bukan menggantikan adaptasi.</a:t>
            </a:r>
          </a:p>
        </p:txBody>
      </p:sp>
      <p:sp>
        <p:nvSpPr>
          <p:cNvPr id="30" name="Rectangle 29"/>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Chisini 2018 · Innes 2015 Cochrane · Innes 2011 · AAPD 2025</a:t>
            </a:r>
          </a:p>
        </p:txBody>
      </p:sp>
      <p:sp>
        <p:nvSpPr>
          <p:cNvPr id="32" name="TextBox 31"/>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SELEKSI KASUS</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800" b="0" i="0">
                <a:solidFill>
                  <a:srgbClr val="15323A"/>
                </a:solidFill>
                <a:latin typeface="Georgia"/>
              </a:rPr>
              <a:t>SSC dipilih saat karies melewati line angle atau pulpa sudah diterapi</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5</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37360"/>
            <a:ext cx="5669280" cy="20116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856231"/>
            <a:ext cx="5212080" cy="274320"/>
          </a:xfrm>
          <a:prstGeom prst="rect">
            <a:avLst/>
          </a:prstGeom>
          <a:noFill/>
        </p:spPr>
        <p:txBody>
          <a:bodyPr wrap="square" lIns="0" rIns="0" tIns="0" bIns="0" anchor="t">
            <a:spAutoFit/>
          </a:bodyPr>
          <a:lstStyle/>
          <a:p>
            <a:pPr algn="l">
              <a:lnSpc>
                <a:spcPct val="112000"/>
              </a:lnSpc>
              <a:spcAft>
                <a:spcPts val="0"/>
              </a:spcAft>
            </a:pPr>
            <a:r>
              <a:rPr sz="1200" b="1" i="0">
                <a:solidFill>
                  <a:srgbClr val="C65B45"/>
                </a:solidFill>
                <a:latin typeface="Calibri"/>
              </a:rPr>
              <a:t>Pilih SSC</a:t>
            </a:r>
          </a:p>
        </p:txBody>
      </p:sp>
      <p:sp>
        <p:nvSpPr>
          <p:cNvPr id="10" name="TextBox 9"/>
          <p:cNvSpPr txBox="1"/>
          <p:nvPr/>
        </p:nvSpPr>
        <p:spPr>
          <a:xfrm>
            <a:off x="768096" y="2176272"/>
            <a:ext cx="5257800" cy="1463040"/>
          </a:xfrm>
          <a:prstGeom prst="rect">
            <a:avLst/>
          </a:prstGeom>
          <a:noFill/>
        </p:spPr>
        <p:txBody>
          <a:bodyPr wrap="square" lIns="0" rIns="0" tIns="0" bIns="0" anchor="t">
            <a:spAutoFit/>
          </a:bodyPr>
          <a:lstStyle/>
          <a:p>
            <a:pPr algn="l">
              <a:lnSpc>
                <a:spcPct val="120000"/>
              </a:lnSpc>
              <a:spcAft>
                <a:spcPts val="0"/>
              </a:spcAft>
            </a:pPr>
            <a:r>
              <a:rPr sz="1050" b="0" i="0">
                <a:solidFill>
                  <a:srgbClr val="47646C"/>
                </a:solidFill>
                <a:latin typeface="Calibri"/>
              </a:rPr>
              <a:t>•  Lebih dari 2 permukaan, atau melewati line angle</a:t>
            </a:r>
          </a:p>
          <a:p>
            <a:pPr algn="l">
              <a:lnSpc>
                <a:spcPct val="120000"/>
              </a:lnSpc>
              <a:spcAft>
                <a:spcPts val="0"/>
              </a:spcAft>
            </a:pPr>
            <a:r>
              <a:rPr sz="1050" b="0" i="0">
                <a:solidFill>
                  <a:srgbClr val="47646C"/>
                </a:solidFill>
                <a:latin typeface="Calibri"/>
              </a:rPr>
              <a:t>•  Setelah pulpotomi atau pulpektomi</a:t>
            </a:r>
          </a:p>
          <a:p>
            <a:pPr algn="l">
              <a:lnSpc>
                <a:spcPct val="120000"/>
              </a:lnSpc>
              <a:spcAft>
                <a:spcPts val="0"/>
              </a:spcAft>
            </a:pPr>
            <a:r>
              <a:rPr sz="1050" b="0" i="0">
                <a:solidFill>
                  <a:srgbClr val="47646C"/>
                </a:solidFill>
                <a:latin typeface="Calibri"/>
              </a:rPr>
              <a:t>•  Hipoplasia, MIH, fraktur, atrisi</a:t>
            </a:r>
          </a:p>
          <a:p>
            <a:pPr algn="l">
              <a:lnSpc>
                <a:spcPct val="120000"/>
              </a:lnSpc>
              <a:spcAft>
                <a:spcPts val="0"/>
              </a:spcAft>
            </a:pPr>
            <a:r>
              <a:rPr sz="1050" b="0" i="0">
                <a:solidFill>
                  <a:srgbClr val="47646C"/>
                </a:solidFill>
                <a:latin typeface="Calibri"/>
              </a:rPr>
              <a:t>•  Abutment space maintainer, risiko karies tinggi</a:t>
            </a:r>
          </a:p>
        </p:txBody>
      </p:sp>
      <p:sp>
        <p:nvSpPr>
          <p:cNvPr id="11" name="Rounded Rectangle 10"/>
          <p:cNvSpPr/>
          <p:nvPr/>
        </p:nvSpPr>
        <p:spPr>
          <a:xfrm>
            <a:off x="566928" y="3886200"/>
            <a:ext cx="5669280" cy="14173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4005072"/>
            <a:ext cx="5212080" cy="274320"/>
          </a:xfrm>
          <a:prstGeom prst="rect">
            <a:avLst/>
          </a:prstGeom>
          <a:noFill/>
        </p:spPr>
        <p:txBody>
          <a:bodyPr wrap="square" lIns="0" rIns="0" tIns="0" bIns="0" anchor="t">
            <a:spAutoFit/>
          </a:bodyPr>
          <a:lstStyle/>
          <a:p>
            <a:pPr algn="l">
              <a:lnSpc>
                <a:spcPct val="112000"/>
              </a:lnSpc>
              <a:spcAft>
                <a:spcPts val="0"/>
              </a:spcAft>
            </a:pPr>
            <a:r>
              <a:rPr sz="1200" b="1" i="0">
                <a:solidFill>
                  <a:srgbClr val="2C6E6A"/>
                </a:solidFill>
                <a:latin typeface="Calibri"/>
              </a:rPr>
              <a:t>Batas dan kontraindikasi</a:t>
            </a:r>
          </a:p>
        </p:txBody>
      </p:sp>
      <p:sp>
        <p:nvSpPr>
          <p:cNvPr id="13" name="TextBox 12"/>
          <p:cNvSpPr txBox="1"/>
          <p:nvPr/>
        </p:nvSpPr>
        <p:spPr>
          <a:xfrm>
            <a:off x="768096" y="4315968"/>
            <a:ext cx="5257800" cy="914400"/>
          </a:xfrm>
          <a:prstGeom prst="rect">
            <a:avLst/>
          </a:prstGeom>
          <a:noFill/>
        </p:spPr>
        <p:txBody>
          <a:bodyPr wrap="square" lIns="0" rIns="0" tIns="0" bIns="0" anchor="t">
            <a:spAutoFit/>
          </a:bodyPr>
          <a:lstStyle/>
          <a:p>
            <a:pPr algn="l">
              <a:lnSpc>
                <a:spcPct val="120000"/>
              </a:lnSpc>
              <a:spcAft>
                <a:spcPts val="0"/>
              </a:spcAft>
            </a:pPr>
            <a:r>
              <a:rPr sz="1050" b="0" i="0">
                <a:solidFill>
                  <a:srgbClr val="47646C"/>
                </a:solidFill>
                <a:latin typeface="Calibri"/>
              </a:rPr>
              <a:t>•  Lebih dari setengah akar teresorpsi, alergi nikel</a:t>
            </a:r>
          </a:p>
          <a:p>
            <a:pPr algn="l">
              <a:lnSpc>
                <a:spcPct val="120000"/>
              </a:lnSpc>
              <a:spcAft>
                <a:spcPts val="0"/>
              </a:spcAft>
            </a:pPr>
            <a:r>
              <a:rPr sz="1050" b="0" i="0">
                <a:solidFill>
                  <a:srgbClr val="47646C"/>
                </a:solidFill>
                <a:latin typeface="Calibri"/>
              </a:rPr>
              <a:t>•  Gigi tidak restorable</a:t>
            </a:r>
          </a:p>
          <a:p>
            <a:pPr algn="l">
              <a:lnSpc>
                <a:spcPct val="120000"/>
              </a:lnSpc>
              <a:spcAft>
                <a:spcPts val="0"/>
              </a:spcAft>
            </a:pPr>
            <a:r>
              <a:rPr sz="1050" b="0" i="0">
                <a:solidFill>
                  <a:srgbClr val="47646C"/>
                </a:solidFill>
                <a:latin typeface="Calibri"/>
              </a:rPr>
              <a:t>•  Hall: nyeri spontan, abses, fistula, tanpa dentine bridge</a:t>
            </a:r>
          </a:p>
        </p:txBody>
      </p:sp>
      <p:sp>
        <p:nvSpPr>
          <p:cNvPr id="14" name="TextBox 13"/>
          <p:cNvSpPr txBox="1"/>
          <p:nvPr/>
        </p:nvSpPr>
        <p:spPr>
          <a:xfrm>
            <a:off x="6720840" y="1700784"/>
            <a:ext cx="4572000" cy="274320"/>
          </a:xfrm>
          <a:prstGeom prst="rect">
            <a:avLst/>
          </a:prstGeom>
          <a:noFill/>
        </p:spPr>
        <p:txBody>
          <a:bodyPr wrap="square" lIns="0" rIns="0" tIns="0" bIns="0" anchor="t">
            <a:spAutoFit/>
          </a:bodyPr>
          <a:lstStyle/>
          <a:p>
            <a:pPr algn="l">
              <a:lnSpc>
                <a:spcPct val="112000"/>
              </a:lnSpc>
              <a:spcAft>
                <a:spcPts val="0"/>
              </a:spcAft>
            </a:pPr>
            <a:r>
              <a:rPr sz="850" b="1" i="0" spc="80">
                <a:solidFill>
                  <a:srgbClr val="C65B45"/>
                </a:solidFill>
                <a:latin typeface="Calibri"/>
              </a:rPr>
              <a:t>ALUR KEPUTUSAN</a:t>
            </a:r>
          </a:p>
        </p:txBody>
      </p:sp>
      <p:sp>
        <p:nvSpPr>
          <p:cNvPr id="15" name="Rounded Rectangle 14"/>
          <p:cNvSpPr/>
          <p:nvPr/>
        </p:nvSpPr>
        <p:spPr>
          <a:xfrm>
            <a:off x="6720840" y="2011680"/>
            <a:ext cx="4892040" cy="62179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39712" y="2103120"/>
            <a:ext cx="4663440" cy="457200"/>
          </a:xfrm>
          <a:prstGeom prst="rect">
            <a:avLst/>
          </a:prstGeom>
          <a:noFill/>
        </p:spPr>
        <p:txBody>
          <a:bodyPr wrap="square" lIns="0" rIns="0" tIns="0" bIns="0" anchor="t">
            <a:spAutoFit/>
          </a:bodyPr>
          <a:lstStyle/>
          <a:p>
            <a:pPr algn="l">
              <a:lnSpc>
                <a:spcPct val="105000"/>
              </a:lnSpc>
              <a:spcAft>
                <a:spcPts val="0"/>
              </a:spcAft>
            </a:pPr>
            <a:r>
              <a:rPr sz="840" b="0" i="0">
                <a:solidFill>
                  <a:srgbClr val="15323A"/>
                </a:solidFill>
                <a:latin typeface="Calibri"/>
              </a:rPr>
              <a:t>Karies luas, lebih dari 2 permukaan, atau melewati line angle?</a:t>
            </a:r>
          </a:p>
        </p:txBody>
      </p:sp>
      <p:sp>
        <p:nvSpPr>
          <p:cNvPr id="17" name="Down Arrow 16"/>
          <p:cNvSpPr/>
          <p:nvPr/>
        </p:nvSpPr>
        <p:spPr>
          <a:xfrm>
            <a:off x="9070848" y="2651760"/>
            <a:ext cx="164592" cy="128016"/>
          </a:xfrm>
          <a:prstGeom prst="downArrow">
            <a:avLst/>
          </a:prstGeom>
          <a:solidFill>
            <a:srgbClr val="8F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20840" y="2788920"/>
            <a:ext cx="4892040" cy="621792"/>
          </a:xfrm>
          <a:prstGeom prst="roundRect">
            <a:avLst>
              <a:gd name="adj" fmla="val 9000"/>
            </a:avLst>
          </a:prstGeom>
          <a:solidFill>
            <a:srgbClr val="F7F0E0"/>
          </a:solidFill>
          <a:ln w="12700">
            <a:solidFill>
              <a:srgbClr val="DDC9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39712" y="2880360"/>
            <a:ext cx="4663440" cy="457200"/>
          </a:xfrm>
          <a:prstGeom prst="rect">
            <a:avLst/>
          </a:prstGeom>
          <a:noFill/>
        </p:spPr>
        <p:txBody>
          <a:bodyPr wrap="square" lIns="0" rIns="0" tIns="0" bIns="0" anchor="t">
            <a:spAutoFit/>
          </a:bodyPr>
          <a:lstStyle/>
          <a:p>
            <a:pPr algn="l">
              <a:lnSpc>
                <a:spcPct val="105000"/>
              </a:lnSpc>
              <a:spcAft>
                <a:spcPts val="0"/>
              </a:spcAft>
            </a:pPr>
            <a:r>
              <a:rPr sz="840" b="0" i="0">
                <a:solidFill>
                  <a:srgbClr val="15323A"/>
                </a:solidFill>
                <a:latin typeface="Calibri"/>
              </a:rPr>
              <a:t>Tanda pulpa ireversibel?  Ya: pulpotomi atau pulpektomi, lalu SSC konvensional.</a:t>
            </a:r>
          </a:p>
        </p:txBody>
      </p:sp>
      <p:sp>
        <p:nvSpPr>
          <p:cNvPr id="20" name="Down Arrow 19"/>
          <p:cNvSpPr/>
          <p:nvPr/>
        </p:nvSpPr>
        <p:spPr>
          <a:xfrm>
            <a:off x="9070848" y="3429000"/>
            <a:ext cx="164592" cy="128016"/>
          </a:xfrm>
          <a:prstGeom prst="downArrow">
            <a:avLst/>
          </a:prstGeom>
          <a:solidFill>
            <a:srgbClr val="8F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720840" y="3566160"/>
            <a:ext cx="4892040" cy="621792"/>
          </a:xfrm>
          <a:prstGeom prst="roundRect">
            <a:avLst>
              <a:gd name="adj" fmla="val 9000"/>
            </a:avLst>
          </a:prstGeom>
          <a:solidFill>
            <a:srgbClr val="EEF6F4"/>
          </a:solidFill>
          <a:ln w="12700">
            <a:solidFill>
              <a:srgbClr val="BCD4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9712" y="3657600"/>
            <a:ext cx="4663440" cy="457200"/>
          </a:xfrm>
          <a:prstGeom prst="rect">
            <a:avLst/>
          </a:prstGeom>
          <a:noFill/>
        </p:spPr>
        <p:txBody>
          <a:bodyPr wrap="square" lIns="0" rIns="0" tIns="0" bIns="0" anchor="t">
            <a:spAutoFit/>
          </a:bodyPr>
          <a:lstStyle/>
          <a:p>
            <a:pPr algn="l">
              <a:lnSpc>
                <a:spcPct val="105000"/>
              </a:lnSpc>
              <a:spcAft>
                <a:spcPts val="0"/>
              </a:spcAft>
            </a:pPr>
            <a:r>
              <a:rPr sz="840" b="0" i="0">
                <a:solidFill>
                  <a:srgbClr val="15323A"/>
                </a:solidFill>
                <a:latin typeface="Calibri"/>
              </a:rPr>
              <a:t>Tidak: Hall bila dentine bridge jelas, atau SSC konvensional.</a:t>
            </a:r>
          </a:p>
        </p:txBody>
      </p:sp>
      <p:sp>
        <p:nvSpPr>
          <p:cNvPr id="23" name="Down Arrow 22"/>
          <p:cNvSpPr/>
          <p:nvPr/>
        </p:nvSpPr>
        <p:spPr>
          <a:xfrm>
            <a:off x="9070848" y="4206240"/>
            <a:ext cx="164592" cy="128016"/>
          </a:xfrm>
          <a:prstGeom prst="downArrow">
            <a:avLst/>
          </a:prstGeom>
          <a:solidFill>
            <a:srgbClr val="8F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20840" y="4343400"/>
            <a:ext cx="4892040" cy="62179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39712" y="4434840"/>
            <a:ext cx="4663440" cy="457200"/>
          </a:xfrm>
          <a:prstGeom prst="rect">
            <a:avLst/>
          </a:prstGeom>
          <a:noFill/>
        </p:spPr>
        <p:txBody>
          <a:bodyPr wrap="square" lIns="0" rIns="0" tIns="0" bIns="0" anchor="t">
            <a:spAutoFit/>
          </a:bodyPr>
          <a:lstStyle/>
          <a:p>
            <a:pPr algn="l">
              <a:lnSpc>
                <a:spcPct val="105000"/>
              </a:lnSpc>
              <a:spcAft>
                <a:spcPts val="0"/>
              </a:spcAft>
            </a:pPr>
            <a:r>
              <a:rPr sz="840" b="0" i="0">
                <a:solidFill>
                  <a:srgbClr val="15323A"/>
                </a:solidFill>
                <a:latin typeface="Calibri"/>
              </a:rPr>
              <a:t>Bukan kandidat SSC: gigi tidak restorable, akar teresorpsi, alergi nikel.</a:t>
            </a:r>
          </a:p>
        </p:txBody>
      </p:sp>
      <p:sp>
        <p:nvSpPr>
          <p:cNvPr id="26" name="Rectangle 25"/>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Kindelan 2008 · AAPD 2025 · SDCEP 2025 · Hall Technique Guide 2015</a:t>
            </a:r>
          </a:p>
        </p:txBody>
      </p:sp>
      <p:sp>
        <p:nvSpPr>
          <p:cNvPr id="28" name="TextBox 27"/>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ANATOMI DAN PREPARASI</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800" b="0" i="0">
                <a:solidFill>
                  <a:srgbClr val="15323A"/>
                </a:solidFill>
                <a:latin typeface="Georgia"/>
              </a:rPr>
              <a:t>Bentuk gigi desidui menentukan arah preparasi</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6</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83080"/>
            <a:ext cx="5440680" cy="89611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92807"/>
            <a:ext cx="5029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Retensi ada di servikal</a:t>
            </a:r>
          </a:p>
        </p:txBody>
      </p:sp>
      <p:sp>
        <p:nvSpPr>
          <p:cNvPr id="10" name="TextBox 9"/>
          <p:cNvSpPr txBox="1"/>
          <p:nvPr/>
        </p:nvSpPr>
        <p:spPr>
          <a:xfrm>
            <a:off x="749808" y="2185416"/>
            <a:ext cx="5074920" cy="45720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Undercut di bawah bulbositas menahan crown.</a:t>
            </a:r>
          </a:p>
        </p:txBody>
      </p:sp>
      <p:sp>
        <p:nvSpPr>
          <p:cNvPr id="11" name="Rounded Rectangle 10"/>
          <p:cNvSpPr/>
          <p:nvPr/>
        </p:nvSpPr>
        <p:spPr>
          <a:xfrm>
            <a:off x="566928" y="2807208"/>
            <a:ext cx="5440680" cy="89611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916936"/>
            <a:ext cx="5029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Bukal dan lingual tidak rutin</a:t>
            </a:r>
          </a:p>
        </p:txBody>
      </p:sp>
      <p:sp>
        <p:nvSpPr>
          <p:cNvPr id="13" name="TextBox 12"/>
          <p:cNvSpPr txBox="1"/>
          <p:nvPr/>
        </p:nvSpPr>
        <p:spPr>
          <a:xfrm>
            <a:off x="749808" y="3209544"/>
            <a:ext cx="5074920" cy="45720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Hanya bila kontur menghalangi seating.</a:t>
            </a:r>
          </a:p>
        </p:txBody>
      </p:sp>
      <p:sp>
        <p:nvSpPr>
          <p:cNvPr id="14" name="Rounded Rectangle 13"/>
          <p:cNvSpPr/>
          <p:nvPr/>
        </p:nvSpPr>
        <p:spPr>
          <a:xfrm>
            <a:off x="566928" y="3831336"/>
            <a:ext cx="5440680" cy="89611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941064"/>
            <a:ext cx="5029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Enamel 1 mm</a:t>
            </a:r>
          </a:p>
        </p:txBody>
      </p:sp>
      <p:sp>
        <p:nvSpPr>
          <p:cNvPr id="16" name="TextBox 15"/>
          <p:cNvSpPr txBox="1"/>
          <p:nvPr/>
        </p:nvSpPr>
        <p:spPr>
          <a:xfrm>
            <a:off x="749808" y="4233672"/>
            <a:ext cx="5074920" cy="45720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Reduksi oklusal 1,0–1,5 mm, atau 1,5–2,0 mm menurut sumber lain.</a:t>
            </a:r>
          </a:p>
        </p:txBody>
      </p:sp>
      <p:sp>
        <p:nvSpPr>
          <p:cNvPr id="17" name="Rounded Rectangle 16"/>
          <p:cNvSpPr/>
          <p:nvPr/>
        </p:nvSpPr>
        <p:spPr>
          <a:xfrm>
            <a:off x="566928" y="4855464"/>
            <a:ext cx="5440680" cy="896112"/>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965192"/>
            <a:ext cx="5029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Kontak harus putus</a:t>
            </a:r>
          </a:p>
        </p:txBody>
      </p:sp>
      <p:sp>
        <p:nvSpPr>
          <p:cNvPr id="19" name="TextBox 18"/>
          <p:cNvSpPr txBox="1"/>
          <p:nvPr/>
        </p:nvSpPr>
        <p:spPr>
          <a:xfrm>
            <a:off x="749808" y="5257800"/>
            <a:ext cx="5074920" cy="45720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Probe melewati kontak mesial dan distal.</a:t>
            </a:r>
          </a:p>
        </p:txBody>
      </p:sp>
      <p:sp>
        <p:nvSpPr>
          <p:cNvPr id="20" name="Rounded Rectangle 19"/>
          <p:cNvSpPr/>
          <p:nvPr/>
        </p:nvSpPr>
        <p:spPr>
          <a:xfrm>
            <a:off x="6355080" y="1737360"/>
            <a:ext cx="5257800" cy="4023360"/>
          </a:xfrm>
          <a:prstGeom prst="roundRect">
            <a:avLst>
              <a:gd name="adj" fmla="val 9000"/>
            </a:avLst>
          </a:prstGeom>
          <a:solidFill>
            <a:srgbClr val="FDFAF4"/>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818120" y="2331720"/>
            <a:ext cx="2286000" cy="2651760"/>
          </a:xfrm>
          <a:prstGeom prst="roundRect">
            <a:avLst>
              <a:gd name="adj" fmla="val 16000"/>
            </a:avLst>
          </a:prstGeom>
          <a:solidFill>
            <a:srgbClr val="FAF1DE"/>
          </a:solidFill>
          <a:ln w="15240">
            <a:solidFill>
              <a:srgbClr val="D8C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28431" y="2606040"/>
            <a:ext cx="1865376" cy="2103120"/>
          </a:xfrm>
          <a:prstGeom prst="roundRect">
            <a:avLst>
              <a:gd name="adj" fmla="val 16000"/>
            </a:avLst>
          </a:prstGeom>
          <a:solidFill>
            <a:srgbClr val="F3CDC1"/>
          </a:solidFill>
          <a:ln w="17780">
            <a:solidFill>
              <a:srgbClr val="C65B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8010144" y="2011680"/>
            <a:ext cx="1901952" cy="1653235"/>
          </a:xfrm>
          <a:custGeom>
            <a:avLst/>
            <a:gdLst/>
            <a:ahLst/>
            <a:cxnLst/>
            <a:rect l="l" t="t" r="r" b="b"/>
            <a:pathLst>
              <a:path w="1901952" h="1653235">
                <a:moveTo>
                  <a:pt x="0" y="0"/>
                </a:moveTo>
                <a:lnTo>
                  <a:pt x="0" y="438912"/>
                </a:lnTo>
                <a:lnTo>
                  <a:pt x="190195" y="146304"/>
                </a:lnTo>
                <a:lnTo>
                  <a:pt x="468172" y="234086"/>
                </a:lnTo>
                <a:lnTo>
                  <a:pt x="672998" y="29260"/>
                </a:lnTo>
                <a:lnTo>
                  <a:pt x="907084" y="234086"/>
                </a:lnTo>
                <a:lnTo>
                  <a:pt x="1170432" y="29260"/>
                </a:lnTo>
                <a:lnTo>
                  <a:pt x="1404518" y="234086"/>
                </a:lnTo>
                <a:lnTo>
                  <a:pt x="1697126" y="146304"/>
                </a:lnTo>
                <a:lnTo>
                  <a:pt x="1901952" y="438912"/>
                </a:lnTo>
                <a:lnTo>
                  <a:pt x="1901952" y="1389888"/>
                </a:lnTo>
                <a:lnTo>
                  <a:pt x="1784908" y="1506931"/>
                </a:lnTo>
                <a:lnTo>
                  <a:pt x="1609344" y="1433779"/>
                </a:lnTo>
                <a:lnTo>
                  <a:pt x="1609344" y="1653235"/>
                </a:lnTo>
                <a:lnTo>
                  <a:pt x="1404518" y="1653235"/>
                </a:lnTo>
                <a:lnTo>
                  <a:pt x="1404518" y="1433779"/>
                </a:lnTo>
                <a:lnTo>
                  <a:pt x="497433" y="1433779"/>
                </a:lnTo>
                <a:lnTo>
                  <a:pt x="497433" y="1653235"/>
                </a:lnTo>
                <a:lnTo>
                  <a:pt x="292608" y="1653235"/>
                </a:lnTo>
                <a:lnTo>
                  <a:pt x="292608" y="1433779"/>
                </a:lnTo>
                <a:lnTo>
                  <a:pt x="117043" y="1506931"/>
                </a:lnTo>
                <a:close/>
              </a:path>
            </a:pathLst>
          </a:custGeom>
          <a:solidFill>
            <a:srgbClr val="F6DFD7"/>
          </a:solidFill>
          <a:ln w="25400">
            <a:solidFill>
              <a:srgbClr val="1532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2212848"/>
            <a:ext cx="1371600" cy="457200"/>
          </a:xfrm>
          <a:prstGeom prst="rect">
            <a:avLst/>
          </a:prstGeom>
          <a:noFill/>
        </p:spPr>
        <p:txBody>
          <a:bodyPr wrap="square" lIns="0" rIns="0" tIns="0" bIns="0" anchor="t">
            <a:spAutoFit/>
          </a:bodyPr>
          <a:lstStyle/>
          <a:p>
            <a:pPr algn="l">
              <a:lnSpc>
                <a:spcPct val="112000"/>
              </a:lnSpc>
              <a:spcAft>
                <a:spcPts val="0"/>
              </a:spcAft>
            </a:pPr>
            <a:r>
              <a:rPr sz="850" b="0" i="0">
                <a:solidFill>
                  <a:srgbClr val="15323A"/>
                </a:solidFill>
                <a:latin typeface="Calibri"/>
              </a:rPr>
              <a:t>1,0–1,5 mm</a:t>
            </a:r>
          </a:p>
          <a:p>
            <a:pPr algn="l">
              <a:lnSpc>
                <a:spcPct val="112000"/>
              </a:lnSpc>
              <a:spcAft>
                <a:spcPts val="0"/>
              </a:spcAft>
            </a:pPr>
            <a:r>
              <a:rPr sz="850" b="0" i="0">
                <a:solidFill>
                  <a:srgbClr val="15323A"/>
                </a:solidFill>
                <a:latin typeface="Calibri"/>
              </a:rPr>
              <a:t>reduksi oklusal</a:t>
            </a:r>
          </a:p>
        </p:txBody>
      </p:sp>
      <p:sp>
        <p:nvSpPr>
          <p:cNvPr id="25" name="TextBox 24"/>
          <p:cNvSpPr txBox="1"/>
          <p:nvPr/>
        </p:nvSpPr>
        <p:spPr>
          <a:xfrm>
            <a:off x="6382512" y="3840480"/>
            <a:ext cx="1325880" cy="457200"/>
          </a:xfrm>
          <a:prstGeom prst="rect">
            <a:avLst/>
          </a:prstGeom>
          <a:noFill/>
        </p:spPr>
        <p:txBody>
          <a:bodyPr wrap="square" lIns="0" rIns="0" tIns="0" bIns="0" anchor="t">
            <a:spAutoFit/>
          </a:bodyPr>
          <a:lstStyle/>
          <a:p>
            <a:pPr algn="l">
              <a:lnSpc>
                <a:spcPct val="112000"/>
              </a:lnSpc>
              <a:spcAft>
                <a:spcPts val="0"/>
              </a:spcAft>
            </a:pPr>
            <a:r>
              <a:rPr sz="850" b="0" i="0">
                <a:solidFill>
                  <a:srgbClr val="15323A"/>
                </a:solidFill>
                <a:latin typeface="Calibri"/>
              </a:rPr>
              <a:t>bulbositas</a:t>
            </a:r>
          </a:p>
          <a:p>
            <a:pPr algn="l">
              <a:lnSpc>
                <a:spcPct val="112000"/>
              </a:lnSpc>
              <a:spcAft>
                <a:spcPts val="0"/>
              </a:spcAft>
            </a:pPr>
            <a:r>
              <a:rPr sz="850" b="0" i="0">
                <a:solidFill>
                  <a:srgbClr val="15323A"/>
                </a:solidFill>
                <a:latin typeface="Calibri"/>
              </a:rPr>
              <a:t>servikal</a:t>
            </a:r>
          </a:p>
        </p:txBody>
      </p:sp>
      <p:sp>
        <p:nvSpPr>
          <p:cNvPr id="26" name="TextBox 25"/>
          <p:cNvSpPr txBox="1"/>
          <p:nvPr/>
        </p:nvSpPr>
        <p:spPr>
          <a:xfrm>
            <a:off x="9893808" y="4160520"/>
            <a:ext cx="1554480" cy="457200"/>
          </a:xfrm>
          <a:prstGeom prst="rect">
            <a:avLst/>
          </a:prstGeom>
          <a:noFill/>
        </p:spPr>
        <p:txBody>
          <a:bodyPr wrap="square" lIns="0" rIns="0" tIns="0" bIns="0" anchor="t">
            <a:spAutoFit/>
          </a:bodyPr>
          <a:lstStyle/>
          <a:p>
            <a:pPr algn="l">
              <a:lnSpc>
                <a:spcPct val="112000"/>
              </a:lnSpc>
              <a:spcAft>
                <a:spcPts val="0"/>
              </a:spcAft>
            </a:pPr>
            <a:r>
              <a:rPr sz="850" b="0" i="0">
                <a:solidFill>
                  <a:srgbClr val="15323A"/>
                </a:solidFill>
                <a:latin typeface="Calibri"/>
              </a:rPr>
              <a:t>margin 1 mm</a:t>
            </a:r>
          </a:p>
          <a:p>
            <a:pPr algn="l">
              <a:lnSpc>
                <a:spcPct val="112000"/>
              </a:lnSpc>
              <a:spcAft>
                <a:spcPts val="0"/>
              </a:spcAft>
            </a:pPr>
            <a:r>
              <a:rPr sz="850" b="0" i="0">
                <a:solidFill>
                  <a:srgbClr val="15323A"/>
                </a:solidFill>
                <a:latin typeface="Calibri"/>
              </a:rPr>
              <a:t>subgingiva</a:t>
            </a:r>
          </a:p>
        </p:txBody>
      </p:sp>
      <p:sp>
        <p:nvSpPr>
          <p:cNvPr id="27" name="TextBox 26"/>
          <p:cNvSpPr txBox="1"/>
          <p:nvPr/>
        </p:nvSpPr>
        <p:spPr>
          <a:xfrm>
            <a:off x="9893808" y="3566160"/>
            <a:ext cx="1554480" cy="457200"/>
          </a:xfrm>
          <a:prstGeom prst="rect">
            <a:avLst/>
          </a:prstGeom>
          <a:noFill/>
        </p:spPr>
        <p:txBody>
          <a:bodyPr wrap="square" lIns="0" rIns="0" tIns="0" bIns="0" anchor="t">
            <a:spAutoFit/>
          </a:bodyPr>
          <a:lstStyle/>
          <a:p>
            <a:pPr algn="l">
              <a:lnSpc>
                <a:spcPct val="112000"/>
              </a:lnSpc>
              <a:spcAft>
                <a:spcPts val="0"/>
              </a:spcAft>
            </a:pPr>
            <a:r>
              <a:rPr sz="850" b="0" i="0">
                <a:solidFill>
                  <a:srgbClr val="15323A"/>
                </a:solidFill>
                <a:latin typeface="Calibri"/>
              </a:rPr>
              <a:t>feather edge,</a:t>
            </a:r>
          </a:p>
          <a:p>
            <a:pPr algn="l">
              <a:lnSpc>
                <a:spcPct val="112000"/>
              </a:lnSpc>
              <a:spcAft>
                <a:spcPts val="0"/>
              </a:spcAft>
            </a:pPr>
            <a:r>
              <a:rPr sz="850" b="0" i="0">
                <a:solidFill>
                  <a:srgbClr val="15323A"/>
                </a:solidFill>
                <a:latin typeface="Calibri"/>
              </a:rPr>
              <a:t>tanpa ledge</a:t>
            </a:r>
          </a:p>
        </p:txBody>
      </p:sp>
      <p:sp>
        <p:nvSpPr>
          <p:cNvPr id="28" name="TextBox 27"/>
          <p:cNvSpPr txBox="1"/>
          <p:nvPr/>
        </p:nvSpPr>
        <p:spPr>
          <a:xfrm>
            <a:off x="6382512" y="5394960"/>
            <a:ext cx="4572000" cy="274320"/>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Skema: garis putus-putus adalah permukaan setelah preparasi.</a:t>
            </a:r>
          </a:p>
        </p:txBody>
      </p:sp>
      <p:sp>
        <p:nvSpPr>
          <p:cNvPr id="29" name="Rectangle 28"/>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Kindelan 2008 · Randall 2002 · Amlani &amp; Brizuela 2023</a:t>
            </a:r>
          </a:p>
        </p:txBody>
      </p:sp>
      <p:sp>
        <p:nvSpPr>
          <p:cNvPr id="31" name="TextBox 30"/>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SSC KONVENSIONAL</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800" b="0" i="0">
                <a:solidFill>
                  <a:srgbClr val="15323A"/>
                </a:solidFill>
                <a:latin typeface="Georgia"/>
              </a:rPr>
              <a:t>Sepuluh langkah, satu per satu</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7</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83080"/>
            <a:ext cx="521208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929384"/>
            <a:ext cx="384048" cy="329184"/>
          </a:xfrm>
          <a:prstGeom prst="rect">
            <a:avLst/>
          </a:prstGeom>
          <a:noFill/>
        </p:spPr>
        <p:txBody>
          <a:bodyPr wrap="square" lIns="0" rIns="0" tIns="0" bIns="0" anchor="t">
            <a:spAutoFit/>
          </a:bodyPr>
          <a:lstStyle/>
          <a:p>
            <a:pPr algn="l">
              <a:lnSpc>
                <a:spcPct val="112000"/>
              </a:lnSpc>
              <a:spcAft>
                <a:spcPts val="0"/>
              </a:spcAft>
            </a:pPr>
            <a:r>
              <a:rPr sz="1400" b="1" i="0">
                <a:solidFill>
                  <a:srgbClr val="C65B45"/>
                </a:solidFill>
                <a:latin typeface="Calibri"/>
              </a:rPr>
              <a:t>1</a:t>
            </a:r>
          </a:p>
        </p:txBody>
      </p:sp>
      <p:sp>
        <p:nvSpPr>
          <p:cNvPr id="10" name="TextBox 9"/>
          <p:cNvSpPr txBox="1"/>
          <p:nvPr/>
        </p:nvSpPr>
        <p:spPr>
          <a:xfrm>
            <a:off x="1115568" y="1947672"/>
            <a:ext cx="4480560" cy="310896"/>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Anestesi dan isolasi</a:t>
            </a:r>
          </a:p>
        </p:txBody>
      </p:sp>
      <p:sp>
        <p:nvSpPr>
          <p:cNvPr id="11" name="Rounded Rectangle 10"/>
          <p:cNvSpPr/>
          <p:nvPr/>
        </p:nvSpPr>
        <p:spPr>
          <a:xfrm>
            <a:off x="566928" y="2532888"/>
            <a:ext cx="521208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679192"/>
            <a:ext cx="384048" cy="329184"/>
          </a:xfrm>
          <a:prstGeom prst="rect">
            <a:avLst/>
          </a:prstGeom>
          <a:noFill/>
        </p:spPr>
        <p:txBody>
          <a:bodyPr wrap="square" lIns="0" rIns="0" tIns="0" bIns="0" anchor="t">
            <a:spAutoFit/>
          </a:bodyPr>
          <a:lstStyle/>
          <a:p>
            <a:pPr algn="l">
              <a:lnSpc>
                <a:spcPct val="112000"/>
              </a:lnSpc>
              <a:spcAft>
                <a:spcPts val="0"/>
              </a:spcAft>
            </a:pPr>
            <a:r>
              <a:rPr sz="1400" b="1" i="0">
                <a:solidFill>
                  <a:srgbClr val="C65B45"/>
                </a:solidFill>
                <a:latin typeface="Calibri"/>
              </a:rPr>
              <a:t>2</a:t>
            </a:r>
          </a:p>
        </p:txBody>
      </p:sp>
      <p:sp>
        <p:nvSpPr>
          <p:cNvPr id="13" name="TextBox 12"/>
          <p:cNvSpPr txBox="1"/>
          <p:nvPr/>
        </p:nvSpPr>
        <p:spPr>
          <a:xfrm>
            <a:off x="1115568" y="2697480"/>
            <a:ext cx="4480560" cy="310896"/>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Ukur dan pilih ukuran</a:t>
            </a:r>
          </a:p>
        </p:txBody>
      </p:sp>
      <p:sp>
        <p:nvSpPr>
          <p:cNvPr id="14" name="Rounded Rectangle 13"/>
          <p:cNvSpPr/>
          <p:nvPr/>
        </p:nvSpPr>
        <p:spPr>
          <a:xfrm>
            <a:off x="566928" y="3282696"/>
            <a:ext cx="521208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429000"/>
            <a:ext cx="384048" cy="329184"/>
          </a:xfrm>
          <a:prstGeom prst="rect">
            <a:avLst/>
          </a:prstGeom>
          <a:noFill/>
        </p:spPr>
        <p:txBody>
          <a:bodyPr wrap="square" lIns="0" rIns="0" tIns="0" bIns="0" anchor="t">
            <a:spAutoFit/>
          </a:bodyPr>
          <a:lstStyle/>
          <a:p>
            <a:pPr algn="l">
              <a:lnSpc>
                <a:spcPct val="112000"/>
              </a:lnSpc>
              <a:spcAft>
                <a:spcPts val="0"/>
              </a:spcAft>
            </a:pPr>
            <a:r>
              <a:rPr sz="1400" b="1" i="0">
                <a:solidFill>
                  <a:srgbClr val="C65B45"/>
                </a:solidFill>
                <a:latin typeface="Calibri"/>
              </a:rPr>
              <a:t>3</a:t>
            </a:r>
          </a:p>
        </p:txBody>
      </p:sp>
      <p:sp>
        <p:nvSpPr>
          <p:cNvPr id="16" name="TextBox 15"/>
          <p:cNvSpPr txBox="1"/>
          <p:nvPr/>
        </p:nvSpPr>
        <p:spPr>
          <a:xfrm>
            <a:off x="1115568" y="3447288"/>
            <a:ext cx="4480560" cy="310896"/>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Ekskavasi dan pulp therapy</a:t>
            </a:r>
          </a:p>
        </p:txBody>
      </p:sp>
      <p:sp>
        <p:nvSpPr>
          <p:cNvPr id="17" name="Rounded Rectangle 16"/>
          <p:cNvSpPr/>
          <p:nvPr/>
        </p:nvSpPr>
        <p:spPr>
          <a:xfrm>
            <a:off x="566928" y="4032504"/>
            <a:ext cx="521208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178808"/>
            <a:ext cx="384048" cy="329184"/>
          </a:xfrm>
          <a:prstGeom prst="rect">
            <a:avLst/>
          </a:prstGeom>
          <a:noFill/>
        </p:spPr>
        <p:txBody>
          <a:bodyPr wrap="square" lIns="0" rIns="0" tIns="0" bIns="0" anchor="t">
            <a:spAutoFit/>
          </a:bodyPr>
          <a:lstStyle/>
          <a:p>
            <a:pPr algn="l">
              <a:lnSpc>
                <a:spcPct val="112000"/>
              </a:lnSpc>
              <a:spcAft>
                <a:spcPts val="0"/>
              </a:spcAft>
            </a:pPr>
            <a:r>
              <a:rPr sz="1400" b="1" i="0">
                <a:solidFill>
                  <a:srgbClr val="C65B45"/>
                </a:solidFill>
                <a:latin typeface="Calibri"/>
              </a:rPr>
              <a:t>4</a:t>
            </a:r>
          </a:p>
        </p:txBody>
      </p:sp>
      <p:sp>
        <p:nvSpPr>
          <p:cNvPr id="19" name="TextBox 18"/>
          <p:cNvSpPr txBox="1"/>
          <p:nvPr/>
        </p:nvSpPr>
        <p:spPr>
          <a:xfrm>
            <a:off x="1115568" y="4197096"/>
            <a:ext cx="4480560" cy="310896"/>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Reduksi oklusal</a:t>
            </a:r>
          </a:p>
        </p:txBody>
      </p:sp>
      <p:sp>
        <p:nvSpPr>
          <p:cNvPr id="20" name="Rounded Rectangle 19"/>
          <p:cNvSpPr/>
          <p:nvPr/>
        </p:nvSpPr>
        <p:spPr>
          <a:xfrm>
            <a:off x="566928" y="4782312"/>
            <a:ext cx="521208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928616"/>
            <a:ext cx="384048" cy="329184"/>
          </a:xfrm>
          <a:prstGeom prst="rect">
            <a:avLst/>
          </a:prstGeom>
          <a:noFill/>
        </p:spPr>
        <p:txBody>
          <a:bodyPr wrap="square" lIns="0" rIns="0" tIns="0" bIns="0" anchor="t">
            <a:spAutoFit/>
          </a:bodyPr>
          <a:lstStyle/>
          <a:p>
            <a:pPr algn="l">
              <a:lnSpc>
                <a:spcPct val="112000"/>
              </a:lnSpc>
              <a:spcAft>
                <a:spcPts val="0"/>
              </a:spcAft>
            </a:pPr>
            <a:r>
              <a:rPr sz="1400" b="1" i="0">
                <a:solidFill>
                  <a:srgbClr val="C65B45"/>
                </a:solidFill>
                <a:latin typeface="Calibri"/>
              </a:rPr>
              <a:t>5</a:t>
            </a:r>
          </a:p>
        </p:txBody>
      </p:sp>
      <p:sp>
        <p:nvSpPr>
          <p:cNvPr id="22" name="TextBox 21"/>
          <p:cNvSpPr txBox="1"/>
          <p:nvPr/>
        </p:nvSpPr>
        <p:spPr>
          <a:xfrm>
            <a:off x="1115568" y="4946903"/>
            <a:ext cx="4480560" cy="310896"/>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Reduksi proksimal</a:t>
            </a:r>
          </a:p>
        </p:txBody>
      </p:sp>
      <p:sp>
        <p:nvSpPr>
          <p:cNvPr id="23" name="Rounded Rectangle 22"/>
          <p:cNvSpPr/>
          <p:nvPr/>
        </p:nvSpPr>
        <p:spPr>
          <a:xfrm>
            <a:off x="6099048" y="1783080"/>
            <a:ext cx="521208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81928" y="1929384"/>
            <a:ext cx="384048" cy="329184"/>
          </a:xfrm>
          <a:prstGeom prst="rect">
            <a:avLst/>
          </a:prstGeom>
          <a:noFill/>
        </p:spPr>
        <p:txBody>
          <a:bodyPr wrap="square" lIns="0" rIns="0" tIns="0" bIns="0" anchor="t">
            <a:spAutoFit/>
          </a:bodyPr>
          <a:lstStyle/>
          <a:p>
            <a:pPr algn="l">
              <a:lnSpc>
                <a:spcPct val="112000"/>
              </a:lnSpc>
              <a:spcAft>
                <a:spcPts val="0"/>
              </a:spcAft>
            </a:pPr>
            <a:r>
              <a:rPr sz="1400" b="1" i="0">
                <a:solidFill>
                  <a:srgbClr val="C65B45"/>
                </a:solidFill>
                <a:latin typeface="Calibri"/>
              </a:rPr>
              <a:t>6</a:t>
            </a:r>
          </a:p>
        </p:txBody>
      </p:sp>
      <p:sp>
        <p:nvSpPr>
          <p:cNvPr id="25" name="TextBox 24"/>
          <p:cNvSpPr txBox="1"/>
          <p:nvPr/>
        </p:nvSpPr>
        <p:spPr>
          <a:xfrm>
            <a:off x="6647688" y="1947672"/>
            <a:ext cx="4480560" cy="310896"/>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Haluskan line angle</a:t>
            </a:r>
          </a:p>
        </p:txBody>
      </p:sp>
      <p:sp>
        <p:nvSpPr>
          <p:cNvPr id="26" name="Rounded Rectangle 25"/>
          <p:cNvSpPr/>
          <p:nvPr/>
        </p:nvSpPr>
        <p:spPr>
          <a:xfrm>
            <a:off x="6099048" y="2532888"/>
            <a:ext cx="521208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81928" y="2679192"/>
            <a:ext cx="384048" cy="329184"/>
          </a:xfrm>
          <a:prstGeom prst="rect">
            <a:avLst/>
          </a:prstGeom>
          <a:noFill/>
        </p:spPr>
        <p:txBody>
          <a:bodyPr wrap="square" lIns="0" rIns="0" tIns="0" bIns="0" anchor="t">
            <a:spAutoFit/>
          </a:bodyPr>
          <a:lstStyle/>
          <a:p>
            <a:pPr algn="l">
              <a:lnSpc>
                <a:spcPct val="112000"/>
              </a:lnSpc>
              <a:spcAft>
                <a:spcPts val="0"/>
              </a:spcAft>
            </a:pPr>
            <a:r>
              <a:rPr sz="1400" b="1" i="0">
                <a:solidFill>
                  <a:srgbClr val="C65B45"/>
                </a:solidFill>
                <a:latin typeface="Calibri"/>
              </a:rPr>
              <a:t>7</a:t>
            </a:r>
          </a:p>
        </p:txBody>
      </p:sp>
      <p:sp>
        <p:nvSpPr>
          <p:cNvPr id="28" name="TextBox 27"/>
          <p:cNvSpPr txBox="1"/>
          <p:nvPr/>
        </p:nvSpPr>
        <p:spPr>
          <a:xfrm>
            <a:off x="6647688" y="2697480"/>
            <a:ext cx="4480560" cy="310896"/>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Try-in</a:t>
            </a:r>
          </a:p>
        </p:txBody>
      </p:sp>
      <p:sp>
        <p:nvSpPr>
          <p:cNvPr id="29" name="Rounded Rectangle 28"/>
          <p:cNvSpPr/>
          <p:nvPr/>
        </p:nvSpPr>
        <p:spPr>
          <a:xfrm>
            <a:off x="6099048" y="3282696"/>
            <a:ext cx="521208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81928" y="3429000"/>
            <a:ext cx="384048" cy="329184"/>
          </a:xfrm>
          <a:prstGeom prst="rect">
            <a:avLst/>
          </a:prstGeom>
          <a:noFill/>
        </p:spPr>
        <p:txBody>
          <a:bodyPr wrap="square" lIns="0" rIns="0" tIns="0" bIns="0" anchor="t">
            <a:spAutoFit/>
          </a:bodyPr>
          <a:lstStyle/>
          <a:p>
            <a:pPr algn="l">
              <a:lnSpc>
                <a:spcPct val="112000"/>
              </a:lnSpc>
              <a:spcAft>
                <a:spcPts val="0"/>
              </a:spcAft>
            </a:pPr>
            <a:r>
              <a:rPr sz="1400" b="1" i="0">
                <a:solidFill>
                  <a:srgbClr val="C65B45"/>
                </a:solidFill>
                <a:latin typeface="Calibri"/>
              </a:rPr>
              <a:t>8</a:t>
            </a:r>
          </a:p>
        </p:txBody>
      </p:sp>
      <p:sp>
        <p:nvSpPr>
          <p:cNvPr id="31" name="TextBox 30"/>
          <p:cNvSpPr txBox="1"/>
          <p:nvPr/>
        </p:nvSpPr>
        <p:spPr>
          <a:xfrm>
            <a:off x="6647688" y="3447288"/>
            <a:ext cx="4480560" cy="310896"/>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Trim, crimp, contour</a:t>
            </a:r>
          </a:p>
        </p:txBody>
      </p:sp>
      <p:sp>
        <p:nvSpPr>
          <p:cNvPr id="32" name="Rounded Rectangle 31"/>
          <p:cNvSpPr/>
          <p:nvPr/>
        </p:nvSpPr>
        <p:spPr>
          <a:xfrm>
            <a:off x="6099048" y="4032504"/>
            <a:ext cx="521208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81928" y="4178808"/>
            <a:ext cx="384048" cy="329184"/>
          </a:xfrm>
          <a:prstGeom prst="rect">
            <a:avLst/>
          </a:prstGeom>
          <a:noFill/>
        </p:spPr>
        <p:txBody>
          <a:bodyPr wrap="square" lIns="0" rIns="0" tIns="0" bIns="0" anchor="t">
            <a:spAutoFit/>
          </a:bodyPr>
          <a:lstStyle/>
          <a:p>
            <a:pPr algn="l">
              <a:lnSpc>
                <a:spcPct val="112000"/>
              </a:lnSpc>
              <a:spcAft>
                <a:spcPts val="0"/>
              </a:spcAft>
            </a:pPr>
            <a:r>
              <a:rPr sz="1400" b="1" i="0">
                <a:solidFill>
                  <a:srgbClr val="C65B45"/>
                </a:solidFill>
                <a:latin typeface="Calibri"/>
              </a:rPr>
              <a:t>9</a:t>
            </a:r>
          </a:p>
        </p:txBody>
      </p:sp>
      <p:sp>
        <p:nvSpPr>
          <p:cNvPr id="34" name="TextBox 33"/>
          <p:cNvSpPr txBox="1"/>
          <p:nvPr/>
        </p:nvSpPr>
        <p:spPr>
          <a:xfrm>
            <a:off x="6647688" y="4197096"/>
            <a:ext cx="4480560" cy="310896"/>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Sementasi</a:t>
            </a:r>
          </a:p>
        </p:txBody>
      </p:sp>
      <p:sp>
        <p:nvSpPr>
          <p:cNvPr id="35" name="Rounded Rectangle 34"/>
          <p:cNvSpPr/>
          <p:nvPr/>
        </p:nvSpPr>
        <p:spPr>
          <a:xfrm>
            <a:off x="6099048" y="4782312"/>
            <a:ext cx="521208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81928" y="4928616"/>
            <a:ext cx="384048" cy="329184"/>
          </a:xfrm>
          <a:prstGeom prst="rect">
            <a:avLst/>
          </a:prstGeom>
          <a:noFill/>
        </p:spPr>
        <p:txBody>
          <a:bodyPr wrap="square" lIns="0" rIns="0" tIns="0" bIns="0" anchor="t">
            <a:spAutoFit/>
          </a:bodyPr>
          <a:lstStyle/>
          <a:p>
            <a:pPr algn="l">
              <a:lnSpc>
                <a:spcPct val="112000"/>
              </a:lnSpc>
              <a:spcAft>
                <a:spcPts val="0"/>
              </a:spcAft>
            </a:pPr>
            <a:r>
              <a:rPr sz="1400" b="1" i="0">
                <a:solidFill>
                  <a:srgbClr val="C65B45"/>
                </a:solidFill>
                <a:latin typeface="Calibri"/>
              </a:rPr>
              <a:t>10</a:t>
            </a:r>
          </a:p>
        </p:txBody>
      </p:sp>
      <p:sp>
        <p:nvSpPr>
          <p:cNvPr id="37" name="TextBox 36"/>
          <p:cNvSpPr txBox="1"/>
          <p:nvPr/>
        </p:nvSpPr>
        <p:spPr>
          <a:xfrm>
            <a:off x="6647688" y="4946903"/>
            <a:ext cx="4480560" cy="310896"/>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Cek akhir dan instruksi</a:t>
            </a:r>
          </a:p>
        </p:txBody>
      </p:sp>
      <p:sp>
        <p:nvSpPr>
          <p:cNvPr id="38" name="TextBox 37"/>
          <p:cNvSpPr txBox="1"/>
          <p:nvPr/>
        </p:nvSpPr>
        <p:spPr>
          <a:xfrm>
            <a:off x="566928" y="5623560"/>
            <a:ext cx="10881360" cy="365760"/>
          </a:xfrm>
          <a:prstGeom prst="rect">
            <a:avLst/>
          </a:prstGeom>
          <a:noFill/>
        </p:spPr>
        <p:txBody>
          <a:bodyPr wrap="square" lIns="0" rIns="0" tIns="0" bIns="0" anchor="t">
            <a:spAutoFit/>
          </a:bodyPr>
          <a:lstStyle/>
          <a:p>
            <a:pPr algn="l">
              <a:lnSpc>
                <a:spcPct val="112000"/>
              </a:lnSpc>
              <a:spcAft>
                <a:spcPts val="0"/>
              </a:spcAft>
            </a:pPr>
            <a:r>
              <a:rPr sz="900" b="0" i="0">
                <a:solidFill>
                  <a:srgbClr val="7D8F93"/>
                </a:solidFill>
                <a:latin typeface="Calibri"/>
              </a:rPr>
              <a:t>Rincian tujuan, cara, instrumen, kesalahan, dan tanda benar ada di versi HTML dan protokol_klinis.md.</a:t>
            </a:r>
          </a:p>
        </p:txBody>
      </p:sp>
      <p:sp>
        <p:nvSpPr>
          <p:cNvPr id="39" name="Rectangle 38"/>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Kindelan 2008 · Randall 2002 · AAPD VPT 2024 · AAPD 2023 anestesi</a:t>
            </a:r>
          </a:p>
        </p:txBody>
      </p:sp>
      <p:sp>
        <p:nvSpPr>
          <p:cNvPr id="41" name="TextBox 40"/>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HALL TECHNIQUE</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800" b="0" i="0">
                <a:solidFill>
                  <a:srgbClr val="15323A"/>
                </a:solidFill>
                <a:latin typeface="Georgia"/>
              </a:rPr>
              <a:t>Hall menutup karies tanpa anestesi dan tanpa preparasi</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8</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TextBox 7"/>
          <p:cNvSpPr txBox="1"/>
          <p:nvPr/>
        </p:nvSpPr>
        <p:spPr>
          <a:xfrm>
            <a:off x="566928" y="1737360"/>
            <a:ext cx="365760" cy="320040"/>
          </a:xfrm>
          <a:prstGeom prst="rect">
            <a:avLst/>
          </a:prstGeom>
          <a:noFill/>
        </p:spPr>
        <p:txBody>
          <a:bodyPr wrap="square" lIns="0" rIns="0" tIns="0" bIns="0" anchor="t">
            <a:spAutoFit/>
          </a:bodyPr>
          <a:lstStyle/>
          <a:p>
            <a:pPr algn="l">
              <a:lnSpc>
                <a:spcPct val="112000"/>
              </a:lnSpc>
              <a:spcAft>
                <a:spcPts val="0"/>
              </a:spcAft>
            </a:pPr>
            <a:r>
              <a:rPr sz="1500" b="0" i="0">
                <a:solidFill>
                  <a:srgbClr val="C65B45"/>
                </a:solidFill>
                <a:latin typeface="Georgia"/>
              </a:rPr>
              <a:t>1</a:t>
            </a:r>
          </a:p>
        </p:txBody>
      </p:sp>
      <p:sp>
        <p:nvSpPr>
          <p:cNvPr id="9" name="TextBox 8"/>
          <p:cNvSpPr txBox="1"/>
          <p:nvPr/>
        </p:nvSpPr>
        <p:spPr>
          <a:xfrm>
            <a:off x="914400" y="1737360"/>
            <a:ext cx="5029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Nilai dan radiograf</a:t>
            </a:r>
          </a:p>
        </p:txBody>
      </p:sp>
      <p:sp>
        <p:nvSpPr>
          <p:cNvPr id="10" name="TextBox 9"/>
          <p:cNvSpPr txBox="1"/>
          <p:nvPr/>
        </p:nvSpPr>
        <p:spPr>
          <a:xfrm>
            <a:off x="914400" y="2029967"/>
            <a:ext cx="5029200" cy="365760"/>
          </a:xfrm>
          <a:prstGeom prst="rect">
            <a:avLst/>
          </a:prstGeom>
          <a:noFill/>
        </p:spPr>
        <p:txBody>
          <a:bodyPr wrap="square" lIns="0" rIns="0" tIns="0" bIns="0" anchor="t">
            <a:spAutoFit/>
          </a:bodyPr>
          <a:lstStyle/>
          <a:p>
            <a:pPr algn="l">
              <a:lnSpc>
                <a:spcPct val="112000"/>
              </a:lnSpc>
              <a:spcAft>
                <a:spcPts val="0"/>
              </a:spcAft>
            </a:pPr>
            <a:r>
              <a:rPr sz="980" b="0" i="0">
                <a:solidFill>
                  <a:srgbClr val="47646C"/>
                </a:solidFill>
                <a:latin typeface="Calibri"/>
              </a:rPr>
              <a:t>Vital, dentine bridge jelas. Karies tidak dibuang.</a:t>
            </a:r>
          </a:p>
        </p:txBody>
      </p:sp>
      <p:sp>
        <p:nvSpPr>
          <p:cNvPr id="11" name="Rectangle 10"/>
          <p:cNvSpPr/>
          <p:nvPr/>
        </p:nvSpPr>
        <p:spPr>
          <a:xfrm>
            <a:off x="566928" y="2487168"/>
            <a:ext cx="539496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560320"/>
            <a:ext cx="365760" cy="320040"/>
          </a:xfrm>
          <a:prstGeom prst="rect">
            <a:avLst/>
          </a:prstGeom>
          <a:noFill/>
        </p:spPr>
        <p:txBody>
          <a:bodyPr wrap="square" lIns="0" rIns="0" tIns="0" bIns="0" anchor="t">
            <a:spAutoFit/>
          </a:bodyPr>
          <a:lstStyle/>
          <a:p>
            <a:pPr algn="l">
              <a:lnSpc>
                <a:spcPct val="112000"/>
              </a:lnSpc>
              <a:spcAft>
                <a:spcPts val="0"/>
              </a:spcAft>
            </a:pPr>
            <a:r>
              <a:rPr sz="1500" b="0" i="0">
                <a:solidFill>
                  <a:srgbClr val="C65B45"/>
                </a:solidFill>
                <a:latin typeface="Georgia"/>
              </a:rPr>
              <a:t>2</a:t>
            </a:r>
          </a:p>
        </p:txBody>
      </p:sp>
      <p:sp>
        <p:nvSpPr>
          <p:cNvPr id="13" name="TextBox 12"/>
          <p:cNvSpPr txBox="1"/>
          <p:nvPr/>
        </p:nvSpPr>
        <p:spPr>
          <a:xfrm>
            <a:off x="914400" y="2560320"/>
            <a:ext cx="5029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Separator bila kontak ketat</a:t>
            </a:r>
          </a:p>
        </p:txBody>
      </p:sp>
      <p:sp>
        <p:nvSpPr>
          <p:cNvPr id="14" name="TextBox 13"/>
          <p:cNvSpPr txBox="1"/>
          <p:nvPr/>
        </p:nvSpPr>
        <p:spPr>
          <a:xfrm>
            <a:off x="914400" y="2852927"/>
            <a:ext cx="5029200" cy="365760"/>
          </a:xfrm>
          <a:prstGeom prst="rect">
            <a:avLst/>
          </a:prstGeom>
          <a:noFill/>
        </p:spPr>
        <p:txBody>
          <a:bodyPr wrap="square" lIns="0" rIns="0" tIns="0" bIns="0" anchor="t">
            <a:spAutoFit/>
          </a:bodyPr>
          <a:lstStyle/>
          <a:p>
            <a:pPr algn="l">
              <a:lnSpc>
                <a:spcPct val="112000"/>
              </a:lnSpc>
              <a:spcAft>
                <a:spcPts val="0"/>
              </a:spcAft>
            </a:pPr>
            <a:r>
              <a:rPr sz="980" b="0" i="0">
                <a:solidFill>
                  <a:srgbClr val="47646C"/>
                </a:solidFill>
                <a:latin typeface="Calibri"/>
              </a:rPr>
              <a:t>Mesial dan distal, 3–5 hari.</a:t>
            </a:r>
          </a:p>
        </p:txBody>
      </p:sp>
      <p:sp>
        <p:nvSpPr>
          <p:cNvPr id="15" name="Rectangle 14"/>
          <p:cNvSpPr/>
          <p:nvPr/>
        </p:nvSpPr>
        <p:spPr>
          <a:xfrm>
            <a:off x="566928" y="3310127"/>
            <a:ext cx="539496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383280"/>
            <a:ext cx="365760" cy="320040"/>
          </a:xfrm>
          <a:prstGeom prst="rect">
            <a:avLst/>
          </a:prstGeom>
          <a:noFill/>
        </p:spPr>
        <p:txBody>
          <a:bodyPr wrap="square" lIns="0" rIns="0" tIns="0" bIns="0" anchor="t">
            <a:spAutoFit/>
          </a:bodyPr>
          <a:lstStyle/>
          <a:p>
            <a:pPr algn="l">
              <a:lnSpc>
                <a:spcPct val="112000"/>
              </a:lnSpc>
              <a:spcAft>
                <a:spcPts val="0"/>
              </a:spcAft>
            </a:pPr>
            <a:r>
              <a:rPr sz="1500" b="0" i="0">
                <a:solidFill>
                  <a:srgbClr val="C65B45"/>
                </a:solidFill>
                <a:latin typeface="Georgia"/>
              </a:rPr>
              <a:t>3</a:t>
            </a:r>
          </a:p>
        </p:txBody>
      </p:sp>
      <p:sp>
        <p:nvSpPr>
          <p:cNvPr id="17" name="TextBox 16"/>
          <p:cNvSpPr txBox="1"/>
          <p:nvPr/>
        </p:nvSpPr>
        <p:spPr>
          <a:xfrm>
            <a:off x="914400" y="3383280"/>
            <a:ext cx="5029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Pilih crown</a:t>
            </a:r>
          </a:p>
        </p:txBody>
      </p:sp>
      <p:sp>
        <p:nvSpPr>
          <p:cNvPr id="18" name="TextBox 17"/>
          <p:cNvSpPr txBox="1"/>
          <p:nvPr/>
        </p:nvSpPr>
        <p:spPr>
          <a:xfrm>
            <a:off x="914400" y="3675888"/>
            <a:ext cx="5029200" cy="365760"/>
          </a:xfrm>
          <a:prstGeom prst="rect">
            <a:avLst/>
          </a:prstGeom>
          <a:noFill/>
        </p:spPr>
        <p:txBody>
          <a:bodyPr wrap="square" lIns="0" rIns="0" tIns="0" bIns="0" anchor="t">
            <a:spAutoFit/>
          </a:bodyPr>
          <a:lstStyle/>
          <a:p>
            <a:pPr algn="l">
              <a:lnSpc>
                <a:spcPct val="112000"/>
              </a:lnSpc>
              <a:spcAft>
                <a:spcPts val="0"/>
              </a:spcAft>
            </a:pPr>
            <a:r>
              <a:rPr sz="980" b="0" i="0">
                <a:solidFill>
                  <a:srgbClr val="47646C"/>
                </a:solidFill>
                <a:latin typeface="Calibri"/>
              </a:rPr>
              <a:t>Terkecil, menutup seluruh gigi, spring-back.</a:t>
            </a:r>
          </a:p>
        </p:txBody>
      </p:sp>
      <p:sp>
        <p:nvSpPr>
          <p:cNvPr id="19" name="Rectangle 18"/>
          <p:cNvSpPr/>
          <p:nvPr/>
        </p:nvSpPr>
        <p:spPr>
          <a:xfrm>
            <a:off x="566928" y="4133088"/>
            <a:ext cx="539496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4206240"/>
            <a:ext cx="365760" cy="320040"/>
          </a:xfrm>
          <a:prstGeom prst="rect">
            <a:avLst/>
          </a:prstGeom>
          <a:noFill/>
        </p:spPr>
        <p:txBody>
          <a:bodyPr wrap="square" lIns="0" rIns="0" tIns="0" bIns="0" anchor="t">
            <a:spAutoFit/>
          </a:bodyPr>
          <a:lstStyle/>
          <a:p>
            <a:pPr algn="l">
              <a:lnSpc>
                <a:spcPct val="112000"/>
              </a:lnSpc>
              <a:spcAft>
                <a:spcPts val="0"/>
              </a:spcAft>
            </a:pPr>
            <a:r>
              <a:rPr sz="1500" b="0" i="0">
                <a:solidFill>
                  <a:srgbClr val="C65B45"/>
                </a:solidFill>
                <a:latin typeface="Georgia"/>
              </a:rPr>
              <a:t>4</a:t>
            </a:r>
          </a:p>
        </p:txBody>
      </p:sp>
      <p:sp>
        <p:nvSpPr>
          <p:cNvPr id="21" name="TextBox 20"/>
          <p:cNvSpPr txBox="1"/>
          <p:nvPr/>
        </p:nvSpPr>
        <p:spPr>
          <a:xfrm>
            <a:off x="914400" y="4206240"/>
            <a:ext cx="5029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Isi semen dua pertiga</a:t>
            </a:r>
          </a:p>
        </p:txBody>
      </p:sp>
      <p:sp>
        <p:nvSpPr>
          <p:cNvPr id="22" name="TextBox 21"/>
          <p:cNvSpPr txBox="1"/>
          <p:nvPr/>
        </p:nvSpPr>
        <p:spPr>
          <a:xfrm>
            <a:off x="914400" y="4498848"/>
            <a:ext cx="5029200" cy="365760"/>
          </a:xfrm>
          <a:prstGeom prst="rect">
            <a:avLst/>
          </a:prstGeom>
          <a:noFill/>
        </p:spPr>
        <p:txBody>
          <a:bodyPr wrap="square" lIns="0" rIns="0" tIns="0" bIns="0" anchor="t">
            <a:spAutoFit/>
          </a:bodyPr>
          <a:lstStyle/>
          <a:p>
            <a:pPr algn="l">
              <a:lnSpc>
                <a:spcPct val="112000"/>
              </a:lnSpc>
              <a:spcAft>
                <a:spcPts val="0"/>
              </a:spcAft>
            </a:pPr>
            <a:r>
              <a:rPr sz="980" b="0" i="0">
                <a:solidFill>
                  <a:srgbClr val="47646C"/>
                </a:solidFill>
                <a:latin typeface="Calibri"/>
              </a:rPr>
              <a:t>GIC atau RMGIC, semua dinding terlapisi.</a:t>
            </a:r>
          </a:p>
        </p:txBody>
      </p:sp>
      <p:sp>
        <p:nvSpPr>
          <p:cNvPr id="23" name="Rectangle 22"/>
          <p:cNvSpPr/>
          <p:nvPr/>
        </p:nvSpPr>
        <p:spPr>
          <a:xfrm>
            <a:off x="566928" y="4956048"/>
            <a:ext cx="539496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5029200"/>
            <a:ext cx="365760" cy="320040"/>
          </a:xfrm>
          <a:prstGeom prst="rect">
            <a:avLst/>
          </a:prstGeom>
          <a:noFill/>
        </p:spPr>
        <p:txBody>
          <a:bodyPr wrap="square" lIns="0" rIns="0" tIns="0" bIns="0" anchor="t">
            <a:spAutoFit/>
          </a:bodyPr>
          <a:lstStyle/>
          <a:p>
            <a:pPr algn="l">
              <a:lnSpc>
                <a:spcPct val="112000"/>
              </a:lnSpc>
              <a:spcAft>
                <a:spcPts val="0"/>
              </a:spcAft>
            </a:pPr>
            <a:r>
              <a:rPr sz="1500" b="0" i="0">
                <a:solidFill>
                  <a:srgbClr val="C65B45"/>
                </a:solidFill>
                <a:latin typeface="Georgia"/>
              </a:rPr>
              <a:t>5</a:t>
            </a:r>
          </a:p>
        </p:txBody>
      </p:sp>
      <p:sp>
        <p:nvSpPr>
          <p:cNvPr id="25" name="TextBox 24"/>
          <p:cNvSpPr txBox="1"/>
          <p:nvPr/>
        </p:nvSpPr>
        <p:spPr>
          <a:xfrm>
            <a:off x="914400" y="5029200"/>
            <a:ext cx="5029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Seating dan bite</a:t>
            </a:r>
          </a:p>
        </p:txBody>
      </p:sp>
      <p:sp>
        <p:nvSpPr>
          <p:cNvPr id="26" name="TextBox 25"/>
          <p:cNvSpPr txBox="1"/>
          <p:nvPr/>
        </p:nvSpPr>
        <p:spPr>
          <a:xfrm>
            <a:off x="914400" y="5321808"/>
            <a:ext cx="5029200" cy="365760"/>
          </a:xfrm>
          <a:prstGeom prst="rect">
            <a:avLst/>
          </a:prstGeom>
          <a:noFill/>
        </p:spPr>
        <p:txBody>
          <a:bodyPr wrap="square" lIns="0" rIns="0" tIns="0" bIns="0" anchor="t">
            <a:spAutoFit/>
          </a:bodyPr>
          <a:lstStyle/>
          <a:p>
            <a:pPr algn="l">
              <a:lnSpc>
                <a:spcPct val="112000"/>
              </a:lnSpc>
              <a:spcAft>
                <a:spcPts val="0"/>
              </a:spcAft>
            </a:pPr>
            <a:r>
              <a:rPr sz="980" b="0" i="0">
                <a:solidFill>
                  <a:srgbClr val="47646C"/>
                </a:solidFill>
                <a:latin typeface="Calibri"/>
              </a:rPr>
              <a:t>Lindungi airway, gigit 2–3 menit.</a:t>
            </a:r>
          </a:p>
        </p:txBody>
      </p:sp>
      <p:sp>
        <p:nvSpPr>
          <p:cNvPr id="27" name="Rectangle 26"/>
          <p:cNvSpPr/>
          <p:nvPr/>
        </p:nvSpPr>
        <p:spPr>
          <a:xfrm>
            <a:off x="566928" y="5779008"/>
            <a:ext cx="5394960"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5532120"/>
            <a:ext cx="5394960" cy="566928"/>
          </a:xfrm>
          <a:prstGeom prst="roundRect">
            <a:avLst>
              <a:gd name="adj" fmla="val 9000"/>
            </a:avLst>
          </a:prstGeom>
          <a:solidFill>
            <a:srgbClr val="F7F0E0"/>
          </a:solidFill>
          <a:ln w="12700">
            <a:solidFill>
              <a:srgbClr val="E8D9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 y="5614416"/>
            <a:ext cx="5120640" cy="411480"/>
          </a:xfrm>
          <a:prstGeom prst="rect">
            <a:avLst/>
          </a:prstGeom>
          <a:noFill/>
        </p:spPr>
        <p:txBody>
          <a:bodyPr wrap="square" lIns="0" rIns="0" tIns="0" bIns="0" anchor="t">
            <a:spAutoFit/>
          </a:bodyPr>
          <a:lstStyle/>
          <a:p>
            <a:pPr algn="l">
              <a:lnSpc>
                <a:spcPct val="112000"/>
              </a:lnSpc>
              <a:spcAft>
                <a:spcPts val="0"/>
              </a:spcAft>
            </a:pPr>
            <a:r>
              <a:rPr sz="880" b="0" i="0">
                <a:solidFill>
                  <a:srgbClr val="6B5A3E"/>
                </a:solidFill>
                <a:latin typeface="Calibri"/>
              </a:rPr>
              <a:t>Batas Hall: bukan untuk pulpitis ireversibel, abses, fistula, atau tanpa dentine bridge.</a:t>
            </a:r>
          </a:p>
        </p:txBody>
      </p:sp>
      <p:sp>
        <p:nvSpPr>
          <p:cNvPr id="30" name="Rounded Rectangle 29"/>
          <p:cNvSpPr/>
          <p:nvPr/>
        </p:nvSpPr>
        <p:spPr>
          <a:xfrm>
            <a:off x="6355080" y="1737360"/>
            <a:ext cx="5257800" cy="3840480"/>
          </a:xfrm>
          <a:prstGeom prst="roundRect">
            <a:avLst>
              <a:gd name="adj" fmla="val 9000"/>
            </a:avLst>
          </a:prstGeom>
          <a:solidFill>
            <a:srgbClr val="FDFAF4"/>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949440" y="2743200"/>
            <a:ext cx="1143000" cy="1920240"/>
          </a:xfrm>
          <a:prstGeom prst="roundRect">
            <a:avLst>
              <a:gd name="adj" fmla="val 18000"/>
            </a:avLst>
          </a:prstGeom>
          <a:solidFill>
            <a:srgbClr val="FAF1DE"/>
          </a:solidFill>
          <a:ln w="12700">
            <a:solidFill>
              <a:srgbClr val="D8C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412480" y="2743200"/>
            <a:ext cx="1143000" cy="1920240"/>
          </a:xfrm>
          <a:prstGeom prst="roundRect">
            <a:avLst>
              <a:gd name="adj" fmla="val 18000"/>
            </a:avLst>
          </a:prstGeom>
          <a:solidFill>
            <a:srgbClr val="FAF1DE"/>
          </a:solidFill>
          <a:ln w="12700">
            <a:solidFill>
              <a:srgbClr val="D8C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812280" y="2331720"/>
            <a:ext cx="1417320" cy="914400"/>
          </a:xfrm>
          <a:prstGeom prst="roundRect">
            <a:avLst>
              <a:gd name="adj" fmla="val 12000"/>
            </a:avLst>
          </a:prstGeom>
          <a:solidFill>
            <a:srgbClr val="F6DFD7"/>
          </a:solidFill>
          <a:ln w="20320">
            <a:solidFill>
              <a:srgbClr val="1532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03720" y="2542032"/>
            <a:ext cx="1234440" cy="365760"/>
          </a:xfrm>
          <a:prstGeom prst="rect">
            <a:avLst/>
          </a:prstGeom>
          <a:noFill/>
        </p:spPr>
        <p:txBody>
          <a:bodyPr wrap="square" lIns="0" rIns="0" tIns="0" bIns="0" anchor="t">
            <a:spAutoFit/>
          </a:bodyPr>
          <a:lstStyle/>
          <a:p>
            <a:pPr algn="ctr">
              <a:lnSpc>
                <a:spcPct val="112000"/>
              </a:lnSpc>
              <a:spcAft>
                <a:spcPts val="0"/>
              </a:spcAft>
            </a:pPr>
            <a:r>
              <a:rPr sz="900" b="0" i="0">
                <a:solidFill>
                  <a:srgbClr val="15323A"/>
                </a:solidFill>
                <a:latin typeface="Calibri"/>
              </a:rPr>
              <a:t>crown</a:t>
            </a:r>
          </a:p>
        </p:txBody>
      </p:sp>
      <p:sp>
        <p:nvSpPr>
          <p:cNvPr id="35" name="TextBox 34"/>
          <p:cNvSpPr txBox="1"/>
          <p:nvPr/>
        </p:nvSpPr>
        <p:spPr>
          <a:xfrm>
            <a:off x="8183879" y="3200400"/>
            <a:ext cx="1188720" cy="365760"/>
          </a:xfrm>
          <a:prstGeom prst="rect">
            <a:avLst/>
          </a:prstGeom>
          <a:noFill/>
        </p:spPr>
        <p:txBody>
          <a:bodyPr wrap="square" lIns="0" rIns="0" tIns="0" bIns="0" anchor="t">
            <a:spAutoFit/>
          </a:bodyPr>
          <a:lstStyle/>
          <a:p>
            <a:pPr algn="ctr">
              <a:lnSpc>
                <a:spcPct val="112000"/>
              </a:lnSpc>
              <a:spcAft>
                <a:spcPts val="0"/>
              </a:spcAft>
            </a:pPr>
            <a:r>
              <a:rPr sz="750" b="0" i="0">
                <a:solidFill>
                  <a:srgbClr val="6F5B3F"/>
                </a:solidFill>
                <a:latin typeface="Calibri"/>
              </a:rPr>
              <a:t>separator</a:t>
            </a:r>
          </a:p>
        </p:txBody>
      </p:sp>
      <p:sp>
        <p:nvSpPr>
          <p:cNvPr id="36" name="TextBox 35"/>
          <p:cNvSpPr txBox="1"/>
          <p:nvPr/>
        </p:nvSpPr>
        <p:spPr>
          <a:xfrm>
            <a:off x="6583680" y="4846320"/>
            <a:ext cx="4754880" cy="502920"/>
          </a:xfrm>
          <a:prstGeom prst="rect">
            <a:avLst/>
          </a:prstGeom>
          <a:noFill/>
        </p:spPr>
        <p:txBody>
          <a:bodyPr wrap="square" lIns="0" rIns="0" tIns="0" bIns="0" anchor="t">
            <a:spAutoFit/>
          </a:bodyPr>
          <a:lstStyle/>
          <a:p>
            <a:pPr algn="ctr">
              <a:lnSpc>
                <a:spcPct val="112000"/>
              </a:lnSpc>
              <a:spcAft>
                <a:spcPts val="0"/>
              </a:spcAft>
            </a:pPr>
            <a:r>
              <a:rPr sz="950" b="0" i="0">
                <a:solidFill>
                  <a:srgbClr val="47646C"/>
                </a:solidFill>
                <a:latin typeface="Calibri"/>
              </a:rPr>
              <a:t>Karies tetap di tempatnya dan tertutup dari substrat oral.</a:t>
            </a:r>
          </a:p>
        </p:txBody>
      </p:sp>
      <p:sp>
        <p:nvSpPr>
          <p:cNvPr id="37" name="Rectangle 36"/>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Innes 2007 · Hall Technique Guide 2015 · SDCEP 2025</a:t>
            </a:r>
          </a:p>
        </p:txBody>
      </p:sp>
      <p:sp>
        <p:nvSpPr>
          <p:cNvPr id="39" name="TextBox 38"/>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DUA TEKNIK</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800" b="0" i="0">
                <a:solidFill>
                  <a:srgbClr val="15323A"/>
                </a:solidFill>
                <a:latin typeface="Georgia"/>
              </a:rPr>
              <a:t>Hall lebih cepat, konvensional lebih terkontrol</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9</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37360"/>
            <a:ext cx="5303520" cy="365760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874519"/>
            <a:ext cx="4754880" cy="365760"/>
          </a:xfrm>
          <a:prstGeom prst="rect">
            <a:avLst/>
          </a:prstGeom>
          <a:noFill/>
        </p:spPr>
        <p:txBody>
          <a:bodyPr wrap="square" lIns="0" rIns="0" tIns="0" bIns="0" anchor="t">
            <a:spAutoFit/>
          </a:bodyPr>
          <a:lstStyle/>
          <a:p>
            <a:pPr algn="l">
              <a:lnSpc>
                <a:spcPct val="112000"/>
              </a:lnSpc>
              <a:spcAft>
                <a:spcPts val="0"/>
              </a:spcAft>
            </a:pPr>
            <a:r>
              <a:rPr sz="1600" b="0" i="0">
                <a:solidFill>
                  <a:srgbClr val="15323A"/>
                </a:solidFill>
                <a:latin typeface="Georgia"/>
              </a:rPr>
              <a:t>SSC konvensional</a:t>
            </a:r>
          </a:p>
        </p:txBody>
      </p:sp>
      <p:sp>
        <p:nvSpPr>
          <p:cNvPr id="10" name="TextBox 9"/>
          <p:cNvSpPr txBox="1"/>
          <p:nvPr/>
        </p:nvSpPr>
        <p:spPr>
          <a:xfrm>
            <a:off x="786384" y="2286000"/>
            <a:ext cx="4754880" cy="274320"/>
          </a:xfrm>
          <a:prstGeom prst="rect">
            <a:avLst/>
          </a:prstGeom>
          <a:noFill/>
        </p:spPr>
        <p:txBody>
          <a:bodyPr wrap="square" lIns="0" rIns="0" tIns="0" bIns="0" anchor="t">
            <a:spAutoFit/>
          </a:bodyPr>
          <a:lstStyle/>
          <a:p>
            <a:pPr algn="l">
              <a:lnSpc>
                <a:spcPct val="112000"/>
              </a:lnSpc>
              <a:spcAft>
                <a:spcPts val="0"/>
              </a:spcAft>
            </a:pPr>
            <a:r>
              <a:rPr sz="950" b="0" i="0">
                <a:solidFill>
                  <a:srgbClr val="7D8F93"/>
                </a:solidFill>
                <a:latin typeface="Calibri"/>
              </a:rPr>
              <a:t>Anestesi, preparasi, ekskavasi</a:t>
            </a:r>
          </a:p>
        </p:txBody>
      </p:sp>
      <p:sp>
        <p:nvSpPr>
          <p:cNvPr id="11" name="TextBox 10"/>
          <p:cNvSpPr txBox="1"/>
          <p:nvPr/>
        </p:nvSpPr>
        <p:spPr>
          <a:xfrm>
            <a:off x="786384" y="2697480"/>
            <a:ext cx="1554480" cy="274320"/>
          </a:xfrm>
          <a:prstGeom prst="rect">
            <a:avLst/>
          </a:prstGeom>
          <a:noFill/>
        </p:spPr>
        <p:txBody>
          <a:bodyPr wrap="square" lIns="0" rIns="0" tIns="0" bIns="0" anchor="t">
            <a:spAutoFit/>
          </a:bodyPr>
          <a:lstStyle/>
          <a:p>
            <a:pPr algn="l">
              <a:lnSpc>
                <a:spcPct val="112000"/>
              </a:lnSpc>
              <a:spcAft>
                <a:spcPts val="0"/>
              </a:spcAft>
            </a:pPr>
            <a:r>
              <a:rPr sz="800" b="1" i="0">
                <a:solidFill>
                  <a:srgbClr val="7D8F93"/>
                </a:solidFill>
                <a:latin typeface="Calibri"/>
              </a:rPr>
              <a:t>WAKTU KURSI</a:t>
            </a:r>
          </a:p>
        </p:txBody>
      </p:sp>
      <p:sp>
        <p:nvSpPr>
          <p:cNvPr id="12" name="TextBox 11"/>
          <p:cNvSpPr txBox="1"/>
          <p:nvPr/>
        </p:nvSpPr>
        <p:spPr>
          <a:xfrm>
            <a:off x="2350008" y="2660904"/>
            <a:ext cx="3291840" cy="329184"/>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17,4 ± 2,9 menit</a:t>
            </a:r>
          </a:p>
        </p:txBody>
      </p:sp>
      <p:sp>
        <p:nvSpPr>
          <p:cNvPr id="13" name="TextBox 12"/>
          <p:cNvSpPr txBox="1"/>
          <p:nvPr/>
        </p:nvSpPr>
        <p:spPr>
          <a:xfrm>
            <a:off x="786384" y="3227832"/>
            <a:ext cx="1554480" cy="274320"/>
          </a:xfrm>
          <a:prstGeom prst="rect">
            <a:avLst/>
          </a:prstGeom>
          <a:noFill/>
        </p:spPr>
        <p:txBody>
          <a:bodyPr wrap="square" lIns="0" rIns="0" tIns="0" bIns="0" anchor="t">
            <a:spAutoFit/>
          </a:bodyPr>
          <a:lstStyle/>
          <a:p>
            <a:pPr algn="l">
              <a:lnSpc>
                <a:spcPct val="112000"/>
              </a:lnSpc>
              <a:spcAft>
                <a:spcPts val="0"/>
              </a:spcAft>
            </a:pPr>
            <a:r>
              <a:rPr sz="800" b="1" i="0">
                <a:solidFill>
                  <a:srgbClr val="7D8F93"/>
                </a:solidFill>
                <a:latin typeface="Calibri"/>
              </a:rPr>
              <a:t>ANESTESI</a:t>
            </a:r>
          </a:p>
        </p:txBody>
      </p:sp>
      <p:sp>
        <p:nvSpPr>
          <p:cNvPr id="14" name="TextBox 13"/>
          <p:cNvSpPr txBox="1"/>
          <p:nvPr/>
        </p:nvSpPr>
        <p:spPr>
          <a:xfrm>
            <a:off x="2350008" y="3191256"/>
            <a:ext cx="3291840" cy="329184"/>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Ya</a:t>
            </a:r>
          </a:p>
        </p:txBody>
      </p:sp>
      <p:sp>
        <p:nvSpPr>
          <p:cNvPr id="15" name="TextBox 14"/>
          <p:cNvSpPr txBox="1"/>
          <p:nvPr/>
        </p:nvSpPr>
        <p:spPr>
          <a:xfrm>
            <a:off x="786384" y="3758184"/>
            <a:ext cx="1554480" cy="274320"/>
          </a:xfrm>
          <a:prstGeom prst="rect">
            <a:avLst/>
          </a:prstGeom>
          <a:noFill/>
        </p:spPr>
        <p:txBody>
          <a:bodyPr wrap="square" lIns="0" rIns="0" tIns="0" bIns="0" anchor="t">
            <a:spAutoFit/>
          </a:bodyPr>
          <a:lstStyle/>
          <a:p>
            <a:pPr algn="l">
              <a:lnSpc>
                <a:spcPct val="112000"/>
              </a:lnSpc>
              <a:spcAft>
                <a:spcPts val="0"/>
              </a:spcAft>
            </a:pPr>
            <a:r>
              <a:rPr sz="800" b="1" i="0">
                <a:solidFill>
                  <a:srgbClr val="7D8F93"/>
                </a:solidFill>
                <a:latin typeface="Calibri"/>
              </a:rPr>
              <a:t>PREPARASI</a:t>
            </a:r>
          </a:p>
        </p:txBody>
      </p:sp>
      <p:sp>
        <p:nvSpPr>
          <p:cNvPr id="16" name="TextBox 15"/>
          <p:cNvSpPr txBox="1"/>
          <p:nvPr/>
        </p:nvSpPr>
        <p:spPr>
          <a:xfrm>
            <a:off x="2350008" y="3721608"/>
            <a:ext cx="3291840" cy="329184"/>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Ya</a:t>
            </a:r>
          </a:p>
        </p:txBody>
      </p:sp>
      <p:sp>
        <p:nvSpPr>
          <p:cNvPr id="17" name="TextBox 16"/>
          <p:cNvSpPr txBox="1"/>
          <p:nvPr/>
        </p:nvSpPr>
        <p:spPr>
          <a:xfrm>
            <a:off x="786384" y="4288536"/>
            <a:ext cx="1554480" cy="274320"/>
          </a:xfrm>
          <a:prstGeom prst="rect">
            <a:avLst/>
          </a:prstGeom>
          <a:noFill/>
        </p:spPr>
        <p:txBody>
          <a:bodyPr wrap="square" lIns="0" rIns="0" tIns="0" bIns="0" anchor="t">
            <a:spAutoFit/>
          </a:bodyPr>
          <a:lstStyle/>
          <a:p>
            <a:pPr algn="l">
              <a:lnSpc>
                <a:spcPct val="112000"/>
              </a:lnSpc>
              <a:spcAft>
                <a:spcPts val="0"/>
              </a:spcAft>
            </a:pPr>
            <a:r>
              <a:rPr sz="800" b="1" i="0">
                <a:solidFill>
                  <a:srgbClr val="7D8F93"/>
                </a:solidFill>
                <a:latin typeface="Calibri"/>
              </a:rPr>
              <a:t>KARIES</a:t>
            </a:r>
          </a:p>
        </p:txBody>
      </p:sp>
      <p:sp>
        <p:nvSpPr>
          <p:cNvPr id="18" name="TextBox 17"/>
          <p:cNvSpPr txBox="1"/>
          <p:nvPr/>
        </p:nvSpPr>
        <p:spPr>
          <a:xfrm>
            <a:off x="2350008" y="4251959"/>
            <a:ext cx="3291840" cy="329184"/>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Dibuang</a:t>
            </a:r>
          </a:p>
        </p:txBody>
      </p:sp>
      <p:sp>
        <p:nvSpPr>
          <p:cNvPr id="19" name="Rounded Rectangle 18"/>
          <p:cNvSpPr/>
          <p:nvPr/>
        </p:nvSpPr>
        <p:spPr>
          <a:xfrm>
            <a:off x="786384" y="4846320"/>
            <a:ext cx="4389120" cy="146304"/>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86384" y="4846320"/>
            <a:ext cx="4389120" cy="146304"/>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074920"/>
            <a:ext cx="4754880" cy="274320"/>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Waktu prosedur (Mohamed 2026)</a:t>
            </a:r>
          </a:p>
        </p:txBody>
      </p:sp>
      <p:sp>
        <p:nvSpPr>
          <p:cNvPr id="22" name="Rounded Rectangle 21"/>
          <p:cNvSpPr/>
          <p:nvPr/>
        </p:nvSpPr>
        <p:spPr>
          <a:xfrm>
            <a:off x="6144768" y="1737360"/>
            <a:ext cx="5303520" cy="365760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1874519"/>
            <a:ext cx="4754880" cy="365760"/>
          </a:xfrm>
          <a:prstGeom prst="rect">
            <a:avLst/>
          </a:prstGeom>
          <a:noFill/>
        </p:spPr>
        <p:txBody>
          <a:bodyPr wrap="square" lIns="0" rIns="0" tIns="0" bIns="0" anchor="t">
            <a:spAutoFit/>
          </a:bodyPr>
          <a:lstStyle/>
          <a:p>
            <a:pPr algn="l">
              <a:lnSpc>
                <a:spcPct val="112000"/>
              </a:lnSpc>
              <a:spcAft>
                <a:spcPts val="0"/>
              </a:spcAft>
            </a:pPr>
            <a:r>
              <a:rPr sz="1600" b="0" i="0">
                <a:solidFill>
                  <a:srgbClr val="15323A"/>
                </a:solidFill>
                <a:latin typeface="Georgia"/>
              </a:rPr>
              <a:t>Hall Technique</a:t>
            </a:r>
          </a:p>
        </p:txBody>
      </p:sp>
      <p:sp>
        <p:nvSpPr>
          <p:cNvPr id="24" name="TextBox 23"/>
          <p:cNvSpPr txBox="1"/>
          <p:nvPr/>
        </p:nvSpPr>
        <p:spPr>
          <a:xfrm>
            <a:off x="6364224" y="2286000"/>
            <a:ext cx="4754880" cy="274320"/>
          </a:xfrm>
          <a:prstGeom prst="rect">
            <a:avLst/>
          </a:prstGeom>
          <a:noFill/>
        </p:spPr>
        <p:txBody>
          <a:bodyPr wrap="square" lIns="0" rIns="0" tIns="0" bIns="0" anchor="t">
            <a:spAutoFit/>
          </a:bodyPr>
          <a:lstStyle/>
          <a:p>
            <a:pPr algn="l">
              <a:lnSpc>
                <a:spcPct val="112000"/>
              </a:lnSpc>
              <a:spcAft>
                <a:spcPts val="0"/>
              </a:spcAft>
            </a:pPr>
            <a:r>
              <a:rPr sz="950" b="0" i="0">
                <a:solidFill>
                  <a:srgbClr val="7D8F93"/>
                </a:solidFill>
                <a:latin typeface="Calibri"/>
              </a:rPr>
              <a:t>Tanpa anestesi, tanpa preparasi</a:t>
            </a:r>
          </a:p>
        </p:txBody>
      </p:sp>
      <p:sp>
        <p:nvSpPr>
          <p:cNvPr id="25" name="TextBox 24"/>
          <p:cNvSpPr txBox="1"/>
          <p:nvPr/>
        </p:nvSpPr>
        <p:spPr>
          <a:xfrm>
            <a:off x="6364224" y="2697480"/>
            <a:ext cx="1554480" cy="274320"/>
          </a:xfrm>
          <a:prstGeom prst="rect">
            <a:avLst/>
          </a:prstGeom>
          <a:noFill/>
        </p:spPr>
        <p:txBody>
          <a:bodyPr wrap="square" lIns="0" rIns="0" tIns="0" bIns="0" anchor="t">
            <a:spAutoFit/>
          </a:bodyPr>
          <a:lstStyle/>
          <a:p>
            <a:pPr algn="l">
              <a:lnSpc>
                <a:spcPct val="112000"/>
              </a:lnSpc>
              <a:spcAft>
                <a:spcPts val="0"/>
              </a:spcAft>
            </a:pPr>
            <a:r>
              <a:rPr sz="800" b="1" i="0">
                <a:solidFill>
                  <a:srgbClr val="7D8F93"/>
                </a:solidFill>
                <a:latin typeface="Calibri"/>
              </a:rPr>
              <a:t>WAKTU KURSI</a:t>
            </a:r>
          </a:p>
        </p:txBody>
      </p:sp>
      <p:sp>
        <p:nvSpPr>
          <p:cNvPr id="26" name="TextBox 25"/>
          <p:cNvSpPr txBox="1"/>
          <p:nvPr/>
        </p:nvSpPr>
        <p:spPr>
          <a:xfrm>
            <a:off x="7927848" y="2660904"/>
            <a:ext cx="3291840" cy="329184"/>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7,1 ± 2,8 menit</a:t>
            </a:r>
          </a:p>
        </p:txBody>
      </p:sp>
      <p:sp>
        <p:nvSpPr>
          <p:cNvPr id="27" name="TextBox 26"/>
          <p:cNvSpPr txBox="1"/>
          <p:nvPr/>
        </p:nvSpPr>
        <p:spPr>
          <a:xfrm>
            <a:off x="6364224" y="3227832"/>
            <a:ext cx="1554480" cy="274320"/>
          </a:xfrm>
          <a:prstGeom prst="rect">
            <a:avLst/>
          </a:prstGeom>
          <a:noFill/>
        </p:spPr>
        <p:txBody>
          <a:bodyPr wrap="square" lIns="0" rIns="0" tIns="0" bIns="0" anchor="t">
            <a:spAutoFit/>
          </a:bodyPr>
          <a:lstStyle/>
          <a:p>
            <a:pPr algn="l">
              <a:lnSpc>
                <a:spcPct val="112000"/>
              </a:lnSpc>
              <a:spcAft>
                <a:spcPts val="0"/>
              </a:spcAft>
            </a:pPr>
            <a:r>
              <a:rPr sz="800" b="1" i="0">
                <a:solidFill>
                  <a:srgbClr val="7D8F93"/>
                </a:solidFill>
                <a:latin typeface="Calibri"/>
              </a:rPr>
              <a:t>ANESTESI</a:t>
            </a:r>
          </a:p>
        </p:txBody>
      </p:sp>
      <p:sp>
        <p:nvSpPr>
          <p:cNvPr id="28" name="TextBox 27"/>
          <p:cNvSpPr txBox="1"/>
          <p:nvPr/>
        </p:nvSpPr>
        <p:spPr>
          <a:xfrm>
            <a:off x="7927848" y="3191256"/>
            <a:ext cx="3291840" cy="329184"/>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Tidak</a:t>
            </a:r>
          </a:p>
        </p:txBody>
      </p:sp>
      <p:sp>
        <p:nvSpPr>
          <p:cNvPr id="29" name="TextBox 28"/>
          <p:cNvSpPr txBox="1"/>
          <p:nvPr/>
        </p:nvSpPr>
        <p:spPr>
          <a:xfrm>
            <a:off x="6364224" y="3758184"/>
            <a:ext cx="1554480" cy="274320"/>
          </a:xfrm>
          <a:prstGeom prst="rect">
            <a:avLst/>
          </a:prstGeom>
          <a:noFill/>
        </p:spPr>
        <p:txBody>
          <a:bodyPr wrap="square" lIns="0" rIns="0" tIns="0" bIns="0" anchor="t">
            <a:spAutoFit/>
          </a:bodyPr>
          <a:lstStyle/>
          <a:p>
            <a:pPr algn="l">
              <a:lnSpc>
                <a:spcPct val="112000"/>
              </a:lnSpc>
              <a:spcAft>
                <a:spcPts val="0"/>
              </a:spcAft>
            </a:pPr>
            <a:r>
              <a:rPr sz="800" b="1" i="0">
                <a:solidFill>
                  <a:srgbClr val="7D8F93"/>
                </a:solidFill>
                <a:latin typeface="Calibri"/>
              </a:rPr>
              <a:t>PREPARASI</a:t>
            </a:r>
          </a:p>
        </p:txBody>
      </p:sp>
      <p:sp>
        <p:nvSpPr>
          <p:cNvPr id="30" name="TextBox 29"/>
          <p:cNvSpPr txBox="1"/>
          <p:nvPr/>
        </p:nvSpPr>
        <p:spPr>
          <a:xfrm>
            <a:off x="7927848" y="3721608"/>
            <a:ext cx="3291840" cy="329184"/>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Tidak</a:t>
            </a:r>
          </a:p>
        </p:txBody>
      </p:sp>
      <p:sp>
        <p:nvSpPr>
          <p:cNvPr id="31" name="TextBox 30"/>
          <p:cNvSpPr txBox="1"/>
          <p:nvPr/>
        </p:nvSpPr>
        <p:spPr>
          <a:xfrm>
            <a:off x="6364224" y="4288536"/>
            <a:ext cx="1554480" cy="274320"/>
          </a:xfrm>
          <a:prstGeom prst="rect">
            <a:avLst/>
          </a:prstGeom>
          <a:noFill/>
        </p:spPr>
        <p:txBody>
          <a:bodyPr wrap="square" lIns="0" rIns="0" tIns="0" bIns="0" anchor="t">
            <a:spAutoFit/>
          </a:bodyPr>
          <a:lstStyle/>
          <a:p>
            <a:pPr algn="l">
              <a:lnSpc>
                <a:spcPct val="112000"/>
              </a:lnSpc>
              <a:spcAft>
                <a:spcPts val="0"/>
              </a:spcAft>
            </a:pPr>
            <a:r>
              <a:rPr sz="800" b="1" i="0">
                <a:solidFill>
                  <a:srgbClr val="7D8F93"/>
                </a:solidFill>
                <a:latin typeface="Calibri"/>
              </a:rPr>
              <a:t>KARIES</a:t>
            </a:r>
          </a:p>
        </p:txBody>
      </p:sp>
      <p:sp>
        <p:nvSpPr>
          <p:cNvPr id="32" name="TextBox 31"/>
          <p:cNvSpPr txBox="1"/>
          <p:nvPr/>
        </p:nvSpPr>
        <p:spPr>
          <a:xfrm>
            <a:off x="7927848" y="4251959"/>
            <a:ext cx="3291840" cy="329184"/>
          </a:xfrm>
          <a:prstGeom prst="rect">
            <a:avLst/>
          </a:prstGeom>
          <a:noFill/>
        </p:spPr>
        <p:txBody>
          <a:bodyPr wrap="square" lIns="0" rIns="0" tIns="0" bIns="0" anchor="t">
            <a:spAutoFit/>
          </a:bodyPr>
          <a:lstStyle/>
          <a:p>
            <a:pPr algn="l">
              <a:lnSpc>
                <a:spcPct val="112000"/>
              </a:lnSpc>
              <a:spcAft>
                <a:spcPts val="0"/>
              </a:spcAft>
            </a:pPr>
            <a:r>
              <a:rPr sz="1200" b="0" i="0">
                <a:solidFill>
                  <a:srgbClr val="15323A"/>
                </a:solidFill>
                <a:latin typeface="Calibri"/>
              </a:rPr>
              <a:t>Disegel</a:t>
            </a:r>
          </a:p>
        </p:txBody>
      </p:sp>
      <p:sp>
        <p:nvSpPr>
          <p:cNvPr id="33" name="Rounded Rectangle 32"/>
          <p:cNvSpPr/>
          <p:nvPr/>
        </p:nvSpPr>
        <p:spPr>
          <a:xfrm>
            <a:off x="6364224" y="4846320"/>
            <a:ext cx="4389120" cy="146304"/>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364224" y="4846320"/>
            <a:ext cx="1790962" cy="146304"/>
          </a:xfrm>
          <a:prstGeom prst="roundRect">
            <a:avLst>
              <a:gd name="adj" fmla="val 50000"/>
            </a:avLst>
          </a:prstGeom>
          <a:solidFill>
            <a:srgbClr val="BD9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64224" y="5074920"/>
            <a:ext cx="4754880" cy="274320"/>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Waktu prosedur (Mohamed 2026)</a:t>
            </a:r>
          </a:p>
        </p:txBody>
      </p:sp>
      <p:sp>
        <p:nvSpPr>
          <p:cNvPr id="36" name="TextBox 35"/>
          <p:cNvSpPr txBox="1"/>
          <p:nvPr/>
        </p:nvSpPr>
        <p:spPr>
          <a:xfrm>
            <a:off x="566928" y="5596128"/>
            <a:ext cx="10881360" cy="54864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Tidak ada RCT yang membandingkan Hall dengan SSC konvensional (Cochrane 2015). Penerimaan anak dan orang tua lebih baik pada Hall (Innes 2007).</a:t>
            </a:r>
          </a:p>
        </p:txBody>
      </p:sp>
      <p:sp>
        <p:nvSpPr>
          <p:cNvPr id="37" name="Rectangle 36"/>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Mohamed 2026 · Innes 2007 · Innes 2015 Cochrane</a:t>
            </a:r>
          </a:p>
        </p:txBody>
      </p:sp>
      <p:sp>
        <p:nvSpPr>
          <p:cNvPr id="39" name="TextBox 38"/>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PENYULIT</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800" b="0" i="0">
                <a:solidFill>
                  <a:srgbClr val="15323A"/>
                </a:solidFill>
                <a:latin typeface="Georgia"/>
              </a:rPr>
              <a:t>Penyulit SSC bisa dicegah di langkah preparasi</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10</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37360"/>
            <a:ext cx="3520440" cy="11887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65376"/>
            <a:ext cx="320040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5323A"/>
                </a:solidFill>
                <a:latin typeface="Calibri"/>
              </a:rPr>
              <a:t>Crown longgar</a:t>
            </a:r>
          </a:p>
        </p:txBody>
      </p:sp>
      <p:sp>
        <p:nvSpPr>
          <p:cNvPr id="10" name="TextBox 9"/>
          <p:cNvSpPr txBox="1"/>
          <p:nvPr/>
        </p:nvSpPr>
        <p:spPr>
          <a:xfrm>
            <a:off x="731520" y="2194560"/>
            <a:ext cx="3200400" cy="54864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Ukuran terlalu besar atau crimping kurang.</a:t>
            </a:r>
          </a:p>
        </p:txBody>
      </p:sp>
      <p:sp>
        <p:nvSpPr>
          <p:cNvPr id="11" name="Rounded Rectangle 10"/>
          <p:cNvSpPr/>
          <p:nvPr/>
        </p:nvSpPr>
        <p:spPr>
          <a:xfrm>
            <a:off x="4270248" y="1737360"/>
            <a:ext cx="3520440" cy="11887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865376"/>
            <a:ext cx="320040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5323A"/>
                </a:solidFill>
                <a:latin typeface="Calibri"/>
              </a:rPr>
              <a:t>Crown tidak duduk</a:t>
            </a:r>
          </a:p>
        </p:txBody>
      </p:sp>
      <p:sp>
        <p:nvSpPr>
          <p:cNvPr id="13" name="TextBox 12"/>
          <p:cNvSpPr txBox="1"/>
          <p:nvPr/>
        </p:nvSpPr>
        <p:spPr>
          <a:xfrm>
            <a:off x="4434840" y="2194560"/>
            <a:ext cx="3200400" cy="54864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Ledge atau kontak belum putus.</a:t>
            </a:r>
          </a:p>
        </p:txBody>
      </p:sp>
      <p:sp>
        <p:nvSpPr>
          <p:cNvPr id="14" name="Rounded Rectangle 13"/>
          <p:cNvSpPr/>
          <p:nvPr/>
        </p:nvSpPr>
        <p:spPr>
          <a:xfrm>
            <a:off x="7973567" y="1737360"/>
            <a:ext cx="3520440" cy="11887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59" y="1865376"/>
            <a:ext cx="320040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5323A"/>
                </a:solidFill>
                <a:latin typeface="Calibri"/>
              </a:rPr>
              <a:t>Perdarahan gingiva</a:t>
            </a:r>
          </a:p>
        </p:txBody>
      </p:sp>
      <p:sp>
        <p:nvSpPr>
          <p:cNvPr id="16" name="TextBox 15"/>
          <p:cNvSpPr txBox="1"/>
          <p:nvPr/>
        </p:nvSpPr>
        <p:spPr>
          <a:xfrm>
            <a:off x="8138159" y="2194560"/>
            <a:ext cx="3200400" cy="54864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Margin terlalu panjang atau tepi tajam.</a:t>
            </a:r>
          </a:p>
        </p:txBody>
      </p:sp>
      <p:sp>
        <p:nvSpPr>
          <p:cNvPr id="17" name="Rounded Rectangle 16"/>
          <p:cNvSpPr/>
          <p:nvPr/>
        </p:nvSpPr>
        <p:spPr>
          <a:xfrm>
            <a:off x="566928" y="3108960"/>
            <a:ext cx="3520440" cy="11887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236976"/>
            <a:ext cx="320040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5323A"/>
                </a:solidFill>
                <a:latin typeface="Calibri"/>
              </a:rPr>
              <a:t>Perforasi crown</a:t>
            </a:r>
          </a:p>
        </p:txBody>
      </p:sp>
      <p:sp>
        <p:nvSpPr>
          <p:cNvPr id="19" name="TextBox 18"/>
          <p:cNvSpPr txBox="1"/>
          <p:nvPr/>
        </p:nvSpPr>
        <p:spPr>
          <a:xfrm>
            <a:off x="731520" y="3566160"/>
            <a:ext cx="3200400" cy="54864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Trimming berlebihan atau wear oklusal.</a:t>
            </a:r>
          </a:p>
        </p:txBody>
      </p:sp>
      <p:sp>
        <p:nvSpPr>
          <p:cNvPr id="20" name="Rounded Rectangle 19"/>
          <p:cNvSpPr/>
          <p:nvPr/>
        </p:nvSpPr>
        <p:spPr>
          <a:xfrm>
            <a:off x="4270248" y="3108960"/>
            <a:ext cx="3520440" cy="11887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3236976"/>
            <a:ext cx="320040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5323A"/>
                </a:solidFill>
                <a:latin typeface="Calibri"/>
              </a:rPr>
              <a:t>Crown lepas</a:t>
            </a:r>
          </a:p>
        </p:txBody>
      </p:sp>
      <p:sp>
        <p:nvSpPr>
          <p:cNvPr id="22" name="TextBox 21"/>
          <p:cNvSpPr txBox="1"/>
          <p:nvPr/>
        </p:nvSpPr>
        <p:spPr>
          <a:xfrm>
            <a:off x="4434840" y="3566160"/>
            <a:ext cx="3200400" cy="54864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Retensi buruk atau karies sekunder.</a:t>
            </a:r>
          </a:p>
        </p:txBody>
      </p:sp>
      <p:sp>
        <p:nvSpPr>
          <p:cNvPr id="23" name="Rounded Rectangle 22"/>
          <p:cNvSpPr/>
          <p:nvPr/>
        </p:nvSpPr>
        <p:spPr>
          <a:xfrm>
            <a:off x="7973567" y="3108960"/>
            <a:ext cx="3520440" cy="11887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59" y="3236976"/>
            <a:ext cx="320040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5323A"/>
                </a:solidFill>
                <a:latin typeface="Calibri"/>
              </a:rPr>
              <a:t>Anak tidak kooperatif</a:t>
            </a:r>
          </a:p>
        </p:txBody>
      </p:sp>
      <p:sp>
        <p:nvSpPr>
          <p:cNvPr id="25" name="TextBox 24"/>
          <p:cNvSpPr txBox="1"/>
          <p:nvPr/>
        </p:nvSpPr>
        <p:spPr>
          <a:xfrm>
            <a:off x="8138159" y="3566160"/>
            <a:ext cx="3200400" cy="548640"/>
          </a:xfrm>
          <a:prstGeom prst="rect">
            <a:avLst/>
          </a:prstGeom>
          <a:noFill/>
        </p:spPr>
        <p:txBody>
          <a:bodyPr wrap="square" lIns="0" rIns="0" tIns="0" bIns="0" anchor="t">
            <a:spAutoFit/>
          </a:bodyPr>
          <a:lstStyle/>
          <a:p>
            <a:pPr algn="l">
              <a:lnSpc>
                <a:spcPct val="112000"/>
              </a:lnSpc>
              <a:spcAft>
                <a:spcPts val="0"/>
              </a:spcAft>
            </a:pPr>
            <a:r>
              <a:rPr sz="1000" b="0" i="0">
                <a:solidFill>
                  <a:srgbClr val="47646C"/>
                </a:solidFill>
                <a:latin typeface="Calibri"/>
              </a:rPr>
              <a:t>Cemas atau pengalaman buruk.</a:t>
            </a:r>
          </a:p>
        </p:txBody>
      </p:sp>
      <p:sp>
        <p:nvSpPr>
          <p:cNvPr id="26" name="Rounded Rectangle 25"/>
          <p:cNvSpPr/>
          <p:nvPr/>
        </p:nvSpPr>
        <p:spPr>
          <a:xfrm>
            <a:off x="566928" y="4617720"/>
            <a:ext cx="3520440" cy="1005840"/>
          </a:xfrm>
          <a:prstGeom prst="roundRect">
            <a:avLst>
              <a:gd name="adj" fmla="val 9000"/>
            </a:avLst>
          </a:prstGeom>
          <a:solidFill>
            <a:srgbClr val="FDF8EF"/>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718304"/>
            <a:ext cx="3200400" cy="274320"/>
          </a:xfrm>
          <a:prstGeom prst="rect">
            <a:avLst/>
          </a:prstGeom>
          <a:noFill/>
        </p:spPr>
        <p:txBody>
          <a:bodyPr wrap="square" lIns="0" rIns="0" tIns="0" bIns="0" anchor="t">
            <a:spAutoFit/>
          </a:bodyPr>
          <a:lstStyle/>
          <a:p>
            <a:pPr algn="l">
              <a:lnSpc>
                <a:spcPct val="112000"/>
              </a:lnSpc>
              <a:spcAft>
                <a:spcPts val="0"/>
              </a:spcAft>
            </a:pPr>
            <a:r>
              <a:rPr sz="1050" b="1" i="0">
                <a:solidFill>
                  <a:srgbClr val="C65B45"/>
                </a:solidFill>
                <a:latin typeface="Calibri"/>
              </a:rPr>
              <a:t>Alergi nikel</a:t>
            </a:r>
          </a:p>
        </p:txBody>
      </p:sp>
      <p:sp>
        <p:nvSpPr>
          <p:cNvPr id="28" name="TextBox 27"/>
          <p:cNvSpPr txBox="1"/>
          <p:nvPr/>
        </p:nvSpPr>
        <p:spPr>
          <a:xfrm>
            <a:off x="731520" y="4992624"/>
            <a:ext cx="3200400" cy="548640"/>
          </a:xfrm>
          <a:prstGeom prst="rect">
            <a:avLst/>
          </a:prstGeom>
          <a:noFill/>
        </p:spPr>
        <p:txBody>
          <a:bodyPr wrap="square" lIns="0" rIns="0" tIns="0" bIns="0" anchor="t">
            <a:spAutoFit/>
          </a:bodyPr>
          <a:lstStyle/>
          <a:p>
            <a:pPr algn="l">
              <a:lnSpc>
                <a:spcPct val="112000"/>
              </a:lnSpc>
              <a:spcAft>
                <a:spcPts val="0"/>
              </a:spcAft>
            </a:pPr>
            <a:r>
              <a:rPr sz="950" b="0" i="0">
                <a:solidFill>
                  <a:srgbClr val="47646C"/>
                </a:solidFill>
                <a:latin typeface="Calibri"/>
              </a:rPr>
              <a:t>Kontraindikasi. Pilih zirkonia atau komposit.</a:t>
            </a:r>
          </a:p>
        </p:txBody>
      </p:sp>
      <p:sp>
        <p:nvSpPr>
          <p:cNvPr id="29" name="Rounded Rectangle 28"/>
          <p:cNvSpPr/>
          <p:nvPr/>
        </p:nvSpPr>
        <p:spPr>
          <a:xfrm>
            <a:off x="4270248" y="4617720"/>
            <a:ext cx="3520440" cy="1005840"/>
          </a:xfrm>
          <a:prstGeom prst="roundRect">
            <a:avLst>
              <a:gd name="adj" fmla="val 9000"/>
            </a:avLst>
          </a:prstGeom>
          <a:solidFill>
            <a:srgbClr val="FDF8EF"/>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4840" y="4718304"/>
            <a:ext cx="3200400" cy="274320"/>
          </a:xfrm>
          <a:prstGeom prst="rect">
            <a:avLst/>
          </a:prstGeom>
          <a:noFill/>
        </p:spPr>
        <p:txBody>
          <a:bodyPr wrap="square" lIns="0" rIns="0" tIns="0" bIns="0" anchor="t">
            <a:spAutoFit/>
          </a:bodyPr>
          <a:lstStyle/>
          <a:p>
            <a:pPr algn="l">
              <a:lnSpc>
                <a:spcPct val="112000"/>
              </a:lnSpc>
              <a:spcAft>
                <a:spcPts val="0"/>
              </a:spcAft>
            </a:pPr>
            <a:r>
              <a:rPr sz="1050" b="1" i="0">
                <a:solidFill>
                  <a:srgbClr val="C65B45"/>
                </a:solidFill>
                <a:latin typeface="Calibri"/>
              </a:rPr>
              <a:t>MIH</a:t>
            </a:r>
          </a:p>
        </p:txBody>
      </p:sp>
      <p:sp>
        <p:nvSpPr>
          <p:cNvPr id="31" name="TextBox 30"/>
          <p:cNvSpPr txBox="1"/>
          <p:nvPr/>
        </p:nvSpPr>
        <p:spPr>
          <a:xfrm>
            <a:off x="4434840" y="4992624"/>
            <a:ext cx="3200400" cy="548640"/>
          </a:xfrm>
          <a:prstGeom prst="rect">
            <a:avLst/>
          </a:prstGeom>
          <a:noFill/>
        </p:spPr>
        <p:txBody>
          <a:bodyPr wrap="square" lIns="0" rIns="0" tIns="0" bIns="0" anchor="t">
            <a:spAutoFit/>
          </a:bodyPr>
          <a:lstStyle/>
          <a:p>
            <a:pPr algn="l">
              <a:lnSpc>
                <a:spcPct val="112000"/>
              </a:lnSpc>
              <a:spcAft>
                <a:spcPts val="0"/>
              </a:spcAft>
            </a:pPr>
            <a:r>
              <a:rPr sz="950" b="0" i="0">
                <a:solidFill>
                  <a:srgbClr val="47646C"/>
                </a:solidFill>
                <a:latin typeface="Calibri"/>
              </a:rPr>
              <a:t>Survival 94,4% vs komposit 49,2% pada 24 bulan.</a:t>
            </a:r>
          </a:p>
        </p:txBody>
      </p:sp>
      <p:sp>
        <p:nvSpPr>
          <p:cNvPr id="32" name="Rounded Rectangle 31"/>
          <p:cNvSpPr/>
          <p:nvPr/>
        </p:nvSpPr>
        <p:spPr>
          <a:xfrm>
            <a:off x="7973567" y="4617720"/>
            <a:ext cx="3520440" cy="1005840"/>
          </a:xfrm>
          <a:prstGeom prst="roundRect">
            <a:avLst>
              <a:gd name="adj" fmla="val 9000"/>
            </a:avLst>
          </a:prstGeom>
          <a:solidFill>
            <a:srgbClr val="FDF8EF"/>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59" y="4718304"/>
            <a:ext cx="3200400" cy="274320"/>
          </a:xfrm>
          <a:prstGeom prst="rect">
            <a:avLst/>
          </a:prstGeom>
          <a:noFill/>
        </p:spPr>
        <p:txBody>
          <a:bodyPr wrap="square" lIns="0" rIns="0" tIns="0" bIns="0" anchor="t">
            <a:spAutoFit/>
          </a:bodyPr>
          <a:lstStyle/>
          <a:p>
            <a:pPr algn="l">
              <a:lnSpc>
                <a:spcPct val="112000"/>
              </a:lnSpc>
              <a:spcAft>
                <a:spcPts val="0"/>
              </a:spcAft>
            </a:pPr>
            <a:r>
              <a:rPr sz="1050" b="1" i="0">
                <a:solidFill>
                  <a:srgbClr val="C65B45"/>
                </a:solidFill>
                <a:latin typeface="Calibri"/>
              </a:rPr>
              <a:t>Berkebutuhan khusus</a:t>
            </a:r>
          </a:p>
        </p:txBody>
      </p:sp>
      <p:sp>
        <p:nvSpPr>
          <p:cNvPr id="34" name="TextBox 33"/>
          <p:cNvSpPr txBox="1"/>
          <p:nvPr/>
        </p:nvSpPr>
        <p:spPr>
          <a:xfrm>
            <a:off x="8138159" y="4992624"/>
            <a:ext cx="3200400" cy="548640"/>
          </a:xfrm>
          <a:prstGeom prst="rect">
            <a:avLst/>
          </a:prstGeom>
          <a:noFill/>
        </p:spPr>
        <p:txBody>
          <a:bodyPr wrap="square" lIns="0" rIns="0" tIns="0" bIns="0" anchor="t">
            <a:spAutoFit/>
          </a:bodyPr>
          <a:lstStyle/>
          <a:p>
            <a:pPr algn="l">
              <a:lnSpc>
                <a:spcPct val="112000"/>
              </a:lnSpc>
              <a:spcAft>
                <a:spcPts val="0"/>
              </a:spcAft>
            </a:pPr>
            <a:r>
              <a:rPr sz="950" b="0" i="0">
                <a:solidFill>
                  <a:srgbClr val="47646C"/>
                </a:solidFill>
                <a:latin typeface="Calibri"/>
              </a:rPr>
              <a:t>Lebih sedikit kunjungan.</a:t>
            </a:r>
          </a:p>
        </p:txBody>
      </p:sp>
      <p:sp>
        <p:nvSpPr>
          <p:cNvPr id="35" name="Rectangle 34"/>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Kindelan 2008 · Randall 2002 · Farias 2022 · Ahlström 2019</a:t>
            </a:r>
          </a:p>
        </p:txBody>
      </p:sp>
      <p:sp>
        <p:nvSpPr>
          <p:cNvPr id="37" name="TextBox 36"/>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BUKTI</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800" b="0" i="0">
                <a:solidFill>
                  <a:srgbClr val="15323A"/>
                </a:solidFill>
                <a:latin typeface="Georgia"/>
              </a:rPr>
              <a:t>Bukti terkuat ada pada kegagalan mayor, bukan pada estetika</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11</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37360"/>
            <a:ext cx="5349240" cy="33832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847088"/>
            <a:ext cx="4937760" cy="274320"/>
          </a:xfrm>
          <a:prstGeom prst="rect">
            <a:avLst/>
          </a:prstGeom>
          <a:noFill/>
        </p:spPr>
        <p:txBody>
          <a:bodyPr wrap="square" lIns="0" rIns="0" tIns="0" bIns="0" anchor="t">
            <a:spAutoFit/>
          </a:bodyPr>
          <a:lstStyle/>
          <a:p>
            <a:pPr algn="l">
              <a:lnSpc>
                <a:spcPct val="112000"/>
              </a:lnSpc>
              <a:spcAft>
                <a:spcPts val="0"/>
              </a:spcAft>
            </a:pPr>
            <a:r>
              <a:rPr sz="1150" b="1" i="0">
                <a:solidFill>
                  <a:srgbClr val="15323A"/>
                </a:solidFill>
                <a:latin typeface="Calibri"/>
              </a:rPr>
              <a:t>Hall vs restorasi rutin, 60 bulan</a:t>
            </a:r>
          </a:p>
        </p:txBody>
      </p:sp>
      <p:sp>
        <p:nvSpPr>
          <p:cNvPr id="10" name="TextBox 9"/>
          <p:cNvSpPr txBox="1"/>
          <p:nvPr/>
        </p:nvSpPr>
        <p:spPr>
          <a:xfrm>
            <a:off x="768096" y="2121408"/>
            <a:ext cx="4937760" cy="274320"/>
          </a:xfrm>
          <a:prstGeom prst="rect">
            <a:avLst/>
          </a:prstGeom>
          <a:noFill/>
        </p:spPr>
        <p:txBody>
          <a:bodyPr wrap="square" lIns="0" rIns="0" tIns="0" bIns="0" anchor="t">
            <a:spAutoFit/>
          </a:bodyPr>
          <a:lstStyle/>
          <a:p>
            <a:pPr algn="l">
              <a:lnSpc>
                <a:spcPct val="112000"/>
              </a:lnSpc>
              <a:spcAft>
                <a:spcPts val="0"/>
              </a:spcAft>
            </a:pPr>
            <a:r>
              <a:rPr sz="850" b="0" i="0">
                <a:solidFill>
                  <a:srgbClr val="7D8F93"/>
                </a:solidFill>
                <a:latin typeface="Calibri"/>
              </a:rPr>
              <a:t>RCT split-mouth, 132 anak (Innes 2011)</a:t>
            </a:r>
          </a:p>
        </p:txBody>
      </p:sp>
      <p:sp>
        <p:nvSpPr>
          <p:cNvPr id="11" name="TextBox 10"/>
          <p:cNvSpPr txBox="1"/>
          <p:nvPr/>
        </p:nvSpPr>
        <p:spPr>
          <a:xfrm>
            <a:off x="768096" y="2487168"/>
            <a:ext cx="914400" cy="310896"/>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Hall</a:t>
            </a:r>
          </a:p>
        </p:txBody>
      </p:sp>
      <p:sp>
        <p:nvSpPr>
          <p:cNvPr id="12" name="Rounded Rectangle 11"/>
          <p:cNvSpPr/>
          <p:nvPr/>
        </p:nvSpPr>
        <p:spPr>
          <a:xfrm>
            <a:off x="1682495" y="2574218"/>
            <a:ext cx="3246120" cy="124358"/>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682495" y="2574218"/>
            <a:ext cx="2986430" cy="124358"/>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0638" y="2487168"/>
            <a:ext cx="658368" cy="310896"/>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92%</a:t>
            </a:r>
          </a:p>
        </p:txBody>
      </p:sp>
      <p:sp>
        <p:nvSpPr>
          <p:cNvPr id="15" name="TextBox 14"/>
          <p:cNvSpPr txBox="1"/>
          <p:nvPr/>
        </p:nvSpPr>
        <p:spPr>
          <a:xfrm>
            <a:off x="768096" y="2798064"/>
            <a:ext cx="914400" cy="310896"/>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Kontrol</a:t>
            </a:r>
          </a:p>
        </p:txBody>
      </p:sp>
      <p:sp>
        <p:nvSpPr>
          <p:cNvPr id="16" name="Rounded Rectangle 15"/>
          <p:cNvSpPr/>
          <p:nvPr/>
        </p:nvSpPr>
        <p:spPr>
          <a:xfrm>
            <a:off x="1682495" y="2885114"/>
            <a:ext cx="3246120" cy="124358"/>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682495" y="2885114"/>
            <a:ext cx="1687982" cy="124358"/>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52190" y="2798064"/>
            <a:ext cx="658368" cy="310896"/>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52%</a:t>
            </a:r>
          </a:p>
        </p:txBody>
      </p:sp>
      <p:sp>
        <p:nvSpPr>
          <p:cNvPr id="19" name="TextBox 18"/>
          <p:cNvSpPr txBox="1"/>
          <p:nvPr/>
        </p:nvSpPr>
        <p:spPr>
          <a:xfrm>
            <a:off x="768096" y="4251960"/>
            <a:ext cx="4846320" cy="457200"/>
          </a:xfrm>
          <a:prstGeom prst="rect">
            <a:avLst/>
          </a:prstGeom>
          <a:noFill/>
        </p:spPr>
        <p:txBody>
          <a:bodyPr wrap="square" lIns="0" rIns="0" tIns="0" bIns="0" anchor="t">
            <a:spAutoFit/>
          </a:bodyPr>
          <a:lstStyle/>
          <a:p>
            <a:pPr algn="l">
              <a:lnSpc>
                <a:spcPct val="112000"/>
              </a:lnSpc>
              <a:spcAft>
                <a:spcPts val="0"/>
              </a:spcAft>
            </a:pPr>
            <a:r>
              <a:rPr sz="900" b="0" i="0">
                <a:solidFill>
                  <a:srgbClr val="47646C"/>
                </a:solidFill>
                <a:latin typeface="Calibri"/>
              </a:rPr>
              <a:t>Kegagalan mayor 3% vs 16,5%. NNT 8.</a:t>
            </a:r>
          </a:p>
        </p:txBody>
      </p:sp>
      <p:sp>
        <p:nvSpPr>
          <p:cNvPr id="20" name="Rounded Rectangle 19"/>
          <p:cNvSpPr/>
          <p:nvPr/>
        </p:nvSpPr>
        <p:spPr>
          <a:xfrm>
            <a:off x="6099048" y="1737360"/>
            <a:ext cx="5349240" cy="33832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0216" y="1847088"/>
            <a:ext cx="4937760" cy="274320"/>
          </a:xfrm>
          <a:prstGeom prst="rect">
            <a:avLst/>
          </a:prstGeom>
          <a:noFill/>
        </p:spPr>
        <p:txBody>
          <a:bodyPr wrap="square" lIns="0" rIns="0" tIns="0" bIns="0" anchor="t">
            <a:spAutoFit/>
          </a:bodyPr>
          <a:lstStyle/>
          <a:p>
            <a:pPr algn="l">
              <a:lnSpc>
                <a:spcPct val="112000"/>
              </a:lnSpc>
              <a:spcAft>
                <a:spcPts val="0"/>
              </a:spcAft>
            </a:pPr>
            <a:r>
              <a:rPr sz="1150" b="1" i="0">
                <a:solidFill>
                  <a:srgbClr val="15323A"/>
                </a:solidFill>
                <a:latin typeface="Calibri"/>
              </a:rPr>
              <a:t>Retensi 5 tahun per material</a:t>
            </a:r>
          </a:p>
        </p:txBody>
      </p:sp>
      <p:sp>
        <p:nvSpPr>
          <p:cNvPr id="22" name="TextBox 21"/>
          <p:cNvSpPr txBox="1"/>
          <p:nvPr/>
        </p:nvSpPr>
        <p:spPr>
          <a:xfrm>
            <a:off x="6300216" y="2121408"/>
            <a:ext cx="4937760" cy="274320"/>
          </a:xfrm>
          <a:prstGeom prst="rect">
            <a:avLst/>
          </a:prstGeom>
          <a:noFill/>
        </p:spPr>
        <p:txBody>
          <a:bodyPr wrap="square" lIns="0" rIns="0" tIns="0" bIns="0" anchor="t">
            <a:spAutoFit/>
          </a:bodyPr>
          <a:lstStyle/>
          <a:p>
            <a:pPr algn="l">
              <a:lnSpc>
                <a:spcPct val="112000"/>
              </a:lnSpc>
              <a:spcAft>
                <a:spcPts val="0"/>
              </a:spcAft>
            </a:pPr>
            <a:r>
              <a:rPr sz="850" b="0" i="0">
                <a:solidFill>
                  <a:srgbClr val="7D8F93"/>
                </a:solidFill>
                <a:latin typeface="Calibri"/>
              </a:rPr>
              <a:t>SR/MA 13 RCT + 5 studi klinis (Lampl 2025). Sumbu 80–100%.</a:t>
            </a:r>
          </a:p>
        </p:txBody>
      </p:sp>
      <p:sp>
        <p:nvSpPr>
          <p:cNvPr id="23" name="TextBox 22"/>
          <p:cNvSpPr txBox="1"/>
          <p:nvPr/>
        </p:nvSpPr>
        <p:spPr>
          <a:xfrm>
            <a:off x="6300216" y="2450592"/>
            <a:ext cx="960120" cy="310896"/>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SSC</a:t>
            </a:r>
          </a:p>
        </p:txBody>
      </p:sp>
      <p:sp>
        <p:nvSpPr>
          <p:cNvPr id="24" name="Rounded Rectangle 23"/>
          <p:cNvSpPr/>
          <p:nvPr/>
        </p:nvSpPr>
        <p:spPr>
          <a:xfrm>
            <a:off x="7260336" y="2537642"/>
            <a:ext cx="3246120" cy="124358"/>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0336" y="2537642"/>
            <a:ext cx="3177302" cy="124358"/>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19350" y="2450592"/>
            <a:ext cx="658368" cy="310896"/>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97.88%</a:t>
            </a:r>
          </a:p>
        </p:txBody>
      </p:sp>
      <p:sp>
        <p:nvSpPr>
          <p:cNvPr id="27" name="TextBox 26"/>
          <p:cNvSpPr txBox="1"/>
          <p:nvPr/>
        </p:nvSpPr>
        <p:spPr>
          <a:xfrm>
            <a:off x="6300216" y="2761488"/>
            <a:ext cx="960120" cy="310896"/>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Zirkonia</a:t>
            </a:r>
          </a:p>
        </p:txBody>
      </p:sp>
      <p:sp>
        <p:nvSpPr>
          <p:cNvPr id="28" name="Rounded Rectangle 27"/>
          <p:cNvSpPr/>
          <p:nvPr/>
        </p:nvSpPr>
        <p:spPr>
          <a:xfrm>
            <a:off x="7260336" y="2848538"/>
            <a:ext cx="3246120" cy="124358"/>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260336" y="2848538"/>
            <a:ext cx="3151657" cy="124358"/>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93705" y="2761488"/>
            <a:ext cx="658368" cy="310896"/>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97.09%</a:t>
            </a:r>
          </a:p>
        </p:txBody>
      </p:sp>
      <p:sp>
        <p:nvSpPr>
          <p:cNvPr id="31" name="TextBox 30"/>
          <p:cNvSpPr txBox="1"/>
          <p:nvPr/>
        </p:nvSpPr>
        <p:spPr>
          <a:xfrm>
            <a:off x="6300216" y="3072384"/>
            <a:ext cx="960120" cy="310896"/>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Komposit</a:t>
            </a:r>
          </a:p>
        </p:txBody>
      </p:sp>
      <p:sp>
        <p:nvSpPr>
          <p:cNvPr id="32" name="Rounded Rectangle 31"/>
          <p:cNvSpPr/>
          <p:nvPr/>
        </p:nvSpPr>
        <p:spPr>
          <a:xfrm>
            <a:off x="7260336" y="3159434"/>
            <a:ext cx="3246120" cy="124358"/>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260336" y="3159434"/>
            <a:ext cx="2992273" cy="124358"/>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34321" y="3072384"/>
            <a:ext cx="658368" cy="310896"/>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92.18%</a:t>
            </a:r>
          </a:p>
        </p:txBody>
      </p:sp>
      <p:sp>
        <p:nvSpPr>
          <p:cNvPr id="35" name="TextBox 34"/>
          <p:cNvSpPr txBox="1"/>
          <p:nvPr/>
        </p:nvSpPr>
        <p:spPr>
          <a:xfrm>
            <a:off x="6300216" y="3383280"/>
            <a:ext cx="960120" cy="310896"/>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RMGIC</a:t>
            </a:r>
          </a:p>
        </p:txBody>
      </p:sp>
      <p:sp>
        <p:nvSpPr>
          <p:cNvPr id="36" name="Rounded Rectangle 35"/>
          <p:cNvSpPr/>
          <p:nvPr/>
        </p:nvSpPr>
        <p:spPr>
          <a:xfrm>
            <a:off x="7260336" y="3470330"/>
            <a:ext cx="3246120" cy="124358"/>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260336" y="3470330"/>
            <a:ext cx="2931246" cy="124358"/>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73294" y="3383280"/>
            <a:ext cx="658368" cy="310896"/>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90.3%</a:t>
            </a:r>
          </a:p>
        </p:txBody>
      </p:sp>
      <p:sp>
        <p:nvSpPr>
          <p:cNvPr id="39" name="TextBox 38"/>
          <p:cNvSpPr txBox="1"/>
          <p:nvPr/>
        </p:nvSpPr>
        <p:spPr>
          <a:xfrm>
            <a:off x="6300216" y="3694176"/>
            <a:ext cx="960120" cy="310896"/>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Compomer</a:t>
            </a:r>
          </a:p>
        </p:txBody>
      </p:sp>
      <p:sp>
        <p:nvSpPr>
          <p:cNvPr id="40" name="Rounded Rectangle 39"/>
          <p:cNvSpPr/>
          <p:nvPr/>
        </p:nvSpPr>
        <p:spPr>
          <a:xfrm>
            <a:off x="7260336" y="3781226"/>
            <a:ext cx="3246120" cy="124358"/>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260336" y="3781226"/>
            <a:ext cx="2885800" cy="124358"/>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27848" y="3694176"/>
            <a:ext cx="658368" cy="310896"/>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88.9%</a:t>
            </a:r>
          </a:p>
        </p:txBody>
      </p:sp>
      <p:sp>
        <p:nvSpPr>
          <p:cNvPr id="43" name="TextBox 42"/>
          <p:cNvSpPr txBox="1"/>
          <p:nvPr/>
        </p:nvSpPr>
        <p:spPr>
          <a:xfrm>
            <a:off x="6300216" y="4005072"/>
            <a:ext cx="960120" cy="310896"/>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Strip</a:t>
            </a:r>
          </a:p>
        </p:txBody>
      </p:sp>
      <p:sp>
        <p:nvSpPr>
          <p:cNvPr id="44" name="Rounded Rectangle 43"/>
          <p:cNvSpPr/>
          <p:nvPr/>
        </p:nvSpPr>
        <p:spPr>
          <a:xfrm>
            <a:off x="7260336" y="4092122"/>
            <a:ext cx="3246120" cy="124358"/>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260336" y="4092122"/>
            <a:ext cx="2709860" cy="124358"/>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51908" y="4005072"/>
            <a:ext cx="658368" cy="310896"/>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83.48%</a:t>
            </a:r>
          </a:p>
        </p:txBody>
      </p:sp>
      <p:sp>
        <p:nvSpPr>
          <p:cNvPr id="47" name="TextBox 46"/>
          <p:cNvSpPr txBox="1"/>
          <p:nvPr/>
        </p:nvSpPr>
        <p:spPr>
          <a:xfrm>
            <a:off x="566928" y="5285232"/>
            <a:ext cx="10881360" cy="365760"/>
          </a:xfrm>
          <a:prstGeom prst="rect">
            <a:avLst/>
          </a:prstGeom>
          <a:noFill/>
        </p:spPr>
        <p:txBody>
          <a:bodyPr wrap="square" lIns="0" rIns="0" tIns="0" bIns="0" anchor="t">
            <a:spAutoFit/>
          </a:bodyPr>
          <a:lstStyle/>
          <a:p>
            <a:pPr algn="l">
              <a:lnSpc>
                <a:spcPct val="112000"/>
              </a:lnSpc>
              <a:spcAft>
                <a:spcPts val="0"/>
              </a:spcAft>
            </a:pPr>
            <a:r>
              <a:rPr sz="950" b="0" i="0">
                <a:solidFill>
                  <a:srgbClr val="47646C"/>
                </a:solidFill>
                <a:latin typeface="Calibri"/>
              </a:rPr>
              <a:t>Angka retensi dan success tidak boleh dibandingkan langsung. Definisi kegagalan berbeda antar studi.</a:t>
            </a:r>
          </a:p>
        </p:txBody>
      </p:sp>
      <p:sp>
        <p:nvSpPr>
          <p:cNvPr id="48" name="Rectangle 47"/>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Innes 2011 · Lampl 2025 · Chisini 2018 · Innes 2015 Cochrane</a:t>
            </a:r>
          </a:p>
        </p:txBody>
      </p:sp>
      <p:sp>
        <p:nvSpPr>
          <p:cNvPr id="50" name="TextBox 49"/>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ALTERNATIF ESTETIK</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700" b="0" i="0">
                <a:solidFill>
                  <a:srgbClr val="15323A"/>
                </a:solidFill>
                <a:latin typeface="Georgia"/>
              </a:rPr>
              <a:t>Zirkonia lebih baik pada gingiva, belum pada retensi jangka panjang</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12</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37360"/>
            <a:ext cx="3401568" cy="23317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47088"/>
            <a:ext cx="310896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Zirkonia</a:t>
            </a:r>
          </a:p>
        </p:txBody>
      </p:sp>
      <p:sp>
        <p:nvSpPr>
          <p:cNvPr id="10" name="TextBox 9"/>
          <p:cNvSpPr txBox="1"/>
          <p:nvPr/>
        </p:nvSpPr>
        <p:spPr>
          <a:xfrm>
            <a:off x="731520" y="2212848"/>
            <a:ext cx="3108960" cy="384048"/>
          </a:xfrm>
          <a:prstGeom prst="rect">
            <a:avLst/>
          </a:prstGeom>
          <a:noFill/>
        </p:spPr>
        <p:txBody>
          <a:bodyPr wrap="square" lIns="0" rIns="0" tIns="0" bIns="0" anchor="t">
            <a:spAutoFit/>
          </a:bodyPr>
          <a:lstStyle/>
          <a:p>
            <a:pPr algn="l">
              <a:lnSpc>
                <a:spcPct val="112000"/>
              </a:lnSpc>
              <a:spcAft>
                <a:spcPts val="0"/>
              </a:spcAft>
            </a:pPr>
            <a:r>
              <a:rPr sz="930" b="0" i="0">
                <a:solidFill>
                  <a:srgbClr val="47646C"/>
                </a:solidFill>
                <a:latin typeface="Calibri"/>
              </a:rPr>
              <a:t>•  Kegagalan: RR 0,48 (0,15–1,52)</a:t>
            </a:r>
          </a:p>
        </p:txBody>
      </p:sp>
      <p:sp>
        <p:nvSpPr>
          <p:cNvPr id="11" name="TextBox 10"/>
          <p:cNvSpPr txBox="1"/>
          <p:nvPr/>
        </p:nvSpPr>
        <p:spPr>
          <a:xfrm>
            <a:off x="731520" y="2688336"/>
            <a:ext cx="3108960" cy="384048"/>
          </a:xfrm>
          <a:prstGeom prst="rect">
            <a:avLst/>
          </a:prstGeom>
          <a:noFill/>
        </p:spPr>
        <p:txBody>
          <a:bodyPr wrap="square" lIns="0" rIns="0" tIns="0" bIns="0" anchor="t">
            <a:spAutoFit/>
          </a:bodyPr>
          <a:lstStyle/>
          <a:p>
            <a:pPr algn="l">
              <a:lnSpc>
                <a:spcPct val="112000"/>
              </a:lnSpc>
              <a:spcAft>
                <a:spcPts val="0"/>
              </a:spcAft>
            </a:pPr>
            <a:r>
              <a:rPr sz="930" b="0" i="0">
                <a:solidFill>
                  <a:srgbClr val="47646C"/>
                </a:solidFill>
                <a:latin typeface="Calibri"/>
              </a:rPr>
              <a:t>•  Gingiva: MD −0,32 (−0,42 sampai −0,23)</a:t>
            </a:r>
          </a:p>
        </p:txBody>
      </p:sp>
      <p:sp>
        <p:nvSpPr>
          <p:cNvPr id="12" name="TextBox 11"/>
          <p:cNvSpPr txBox="1"/>
          <p:nvPr/>
        </p:nvSpPr>
        <p:spPr>
          <a:xfrm>
            <a:off x="731520" y="3163824"/>
            <a:ext cx="3108960" cy="384048"/>
          </a:xfrm>
          <a:prstGeom prst="rect">
            <a:avLst/>
          </a:prstGeom>
          <a:noFill/>
        </p:spPr>
        <p:txBody>
          <a:bodyPr wrap="square" lIns="0" rIns="0" tIns="0" bIns="0" anchor="t">
            <a:spAutoFit/>
          </a:bodyPr>
          <a:lstStyle/>
          <a:p>
            <a:pPr algn="l">
              <a:lnSpc>
                <a:spcPct val="112000"/>
              </a:lnSpc>
              <a:spcAft>
                <a:spcPts val="0"/>
              </a:spcAft>
            </a:pPr>
            <a:r>
              <a:rPr sz="930" b="0" i="0">
                <a:solidFill>
                  <a:srgbClr val="47646C"/>
                </a:solidFill>
                <a:latin typeface="Calibri"/>
              </a:rPr>
              <a:t>•  Biaya, wear antagonis, sulit direparasi</a:t>
            </a:r>
          </a:p>
        </p:txBody>
      </p:sp>
      <p:sp>
        <p:nvSpPr>
          <p:cNvPr id="13" name="Rounded Rectangle 12"/>
          <p:cNvSpPr/>
          <p:nvPr/>
        </p:nvSpPr>
        <p:spPr>
          <a:xfrm>
            <a:off x="4151376" y="1737360"/>
            <a:ext cx="3401568" cy="23317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15968" y="1847088"/>
            <a:ext cx="310896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Pre-veneered SSC</a:t>
            </a:r>
          </a:p>
        </p:txBody>
      </p:sp>
      <p:sp>
        <p:nvSpPr>
          <p:cNvPr id="15" name="TextBox 14"/>
          <p:cNvSpPr txBox="1"/>
          <p:nvPr/>
        </p:nvSpPr>
        <p:spPr>
          <a:xfrm>
            <a:off x="4315968" y="2212848"/>
            <a:ext cx="3108960" cy="384048"/>
          </a:xfrm>
          <a:prstGeom prst="rect">
            <a:avLst/>
          </a:prstGeom>
          <a:noFill/>
        </p:spPr>
        <p:txBody>
          <a:bodyPr wrap="square" lIns="0" rIns="0" tIns="0" bIns="0" anchor="t">
            <a:spAutoFit/>
          </a:bodyPr>
          <a:lstStyle/>
          <a:p>
            <a:pPr algn="l">
              <a:lnSpc>
                <a:spcPct val="112000"/>
              </a:lnSpc>
              <a:spcAft>
                <a:spcPts val="0"/>
              </a:spcAft>
            </a:pPr>
            <a:r>
              <a:rPr sz="930" b="0" i="0">
                <a:solidFill>
                  <a:srgbClr val="47646C"/>
                </a:solidFill>
                <a:latin typeface="Calibri"/>
              </a:rPr>
              <a:t>•  Retensi 6 bulan: 95% (Walia 2014)</a:t>
            </a:r>
          </a:p>
        </p:txBody>
      </p:sp>
      <p:sp>
        <p:nvSpPr>
          <p:cNvPr id="16" name="TextBox 15"/>
          <p:cNvSpPr txBox="1"/>
          <p:nvPr/>
        </p:nvSpPr>
        <p:spPr>
          <a:xfrm>
            <a:off x="4315968" y="2688336"/>
            <a:ext cx="3108960" cy="384048"/>
          </a:xfrm>
          <a:prstGeom prst="rect">
            <a:avLst/>
          </a:prstGeom>
          <a:noFill/>
        </p:spPr>
        <p:txBody>
          <a:bodyPr wrap="square" lIns="0" rIns="0" tIns="0" bIns="0" anchor="t">
            <a:spAutoFit/>
          </a:bodyPr>
          <a:lstStyle/>
          <a:p>
            <a:pPr algn="l">
              <a:lnSpc>
                <a:spcPct val="112000"/>
              </a:lnSpc>
              <a:spcAft>
                <a:spcPts val="0"/>
              </a:spcAft>
            </a:pPr>
            <a:r>
              <a:rPr sz="930" b="0" i="0">
                <a:solidFill>
                  <a:srgbClr val="47646C"/>
                </a:solidFill>
                <a:latin typeface="Calibri"/>
              </a:rPr>
              <a:t>•  Veneer bisa fraktur</a:t>
            </a:r>
          </a:p>
        </p:txBody>
      </p:sp>
      <p:sp>
        <p:nvSpPr>
          <p:cNvPr id="17" name="TextBox 16"/>
          <p:cNvSpPr txBox="1"/>
          <p:nvPr/>
        </p:nvSpPr>
        <p:spPr>
          <a:xfrm>
            <a:off x="4315968" y="3163824"/>
            <a:ext cx="3108960" cy="384048"/>
          </a:xfrm>
          <a:prstGeom prst="rect">
            <a:avLst/>
          </a:prstGeom>
          <a:noFill/>
        </p:spPr>
        <p:txBody>
          <a:bodyPr wrap="square" lIns="0" rIns="0" tIns="0" bIns="0" anchor="t">
            <a:spAutoFit/>
          </a:bodyPr>
          <a:lstStyle/>
          <a:p>
            <a:pPr algn="l">
              <a:lnSpc>
                <a:spcPct val="112000"/>
              </a:lnSpc>
              <a:spcAft>
                <a:spcPts val="0"/>
              </a:spcAft>
            </a:pPr>
            <a:r>
              <a:rPr sz="930" b="0" i="0">
                <a:solidFill>
                  <a:srgbClr val="47646C"/>
                </a:solidFill>
                <a:latin typeface="Calibri"/>
              </a:rPr>
              <a:t>•  Bukti belum cukup menggantikan SSC</a:t>
            </a:r>
          </a:p>
        </p:txBody>
      </p:sp>
      <p:sp>
        <p:nvSpPr>
          <p:cNvPr id="18" name="Rounded Rectangle 17"/>
          <p:cNvSpPr/>
          <p:nvPr/>
        </p:nvSpPr>
        <p:spPr>
          <a:xfrm>
            <a:off x="7735823" y="1737360"/>
            <a:ext cx="3401568" cy="23317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415" y="1847088"/>
            <a:ext cx="310896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5323A"/>
                </a:solidFill>
                <a:latin typeface="Calibri"/>
              </a:rPr>
              <a:t>Strip crown</a:t>
            </a:r>
          </a:p>
        </p:txBody>
      </p:sp>
      <p:sp>
        <p:nvSpPr>
          <p:cNvPr id="20" name="TextBox 19"/>
          <p:cNvSpPr txBox="1"/>
          <p:nvPr/>
        </p:nvSpPr>
        <p:spPr>
          <a:xfrm>
            <a:off x="7900415" y="2212848"/>
            <a:ext cx="3108960" cy="384048"/>
          </a:xfrm>
          <a:prstGeom prst="rect">
            <a:avLst/>
          </a:prstGeom>
          <a:noFill/>
        </p:spPr>
        <p:txBody>
          <a:bodyPr wrap="square" lIns="0" rIns="0" tIns="0" bIns="0" anchor="t">
            <a:spAutoFit/>
          </a:bodyPr>
          <a:lstStyle/>
          <a:p>
            <a:pPr algn="l">
              <a:lnSpc>
                <a:spcPct val="112000"/>
              </a:lnSpc>
              <a:spcAft>
                <a:spcPts val="0"/>
              </a:spcAft>
            </a:pPr>
            <a:r>
              <a:rPr sz="930" b="0" i="0">
                <a:solidFill>
                  <a:srgbClr val="47646C"/>
                </a:solidFill>
                <a:latin typeface="Calibri"/>
              </a:rPr>
              <a:t>•  Retensi 6 bulan: 78% (Walia 2014)</a:t>
            </a:r>
          </a:p>
        </p:txBody>
      </p:sp>
      <p:sp>
        <p:nvSpPr>
          <p:cNvPr id="21" name="TextBox 20"/>
          <p:cNvSpPr txBox="1"/>
          <p:nvPr/>
        </p:nvSpPr>
        <p:spPr>
          <a:xfrm>
            <a:off x="7900415" y="2688336"/>
            <a:ext cx="3108960" cy="384048"/>
          </a:xfrm>
          <a:prstGeom prst="rect">
            <a:avLst/>
          </a:prstGeom>
          <a:noFill/>
        </p:spPr>
        <p:txBody>
          <a:bodyPr wrap="square" lIns="0" rIns="0" tIns="0" bIns="0" anchor="t">
            <a:spAutoFit/>
          </a:bodyPr>
          <a:lstStyle/>
          <a:p>
            <a:pPr algn="l">
              <a:lnSpc>
                <a:spcPct val="112000"/>
              </a:lnSpc>
              <a:spcAft>
                <a:spcPts val="0"/>
              </a:spcAft>
            </a:pPr>
            <a:r>
              <a:rPr sz="930" b="0" i="0">
                <a:solidFill>
                  <a:srgbClr val="47646C"/>
                </a:solidFill>
                <a:latin typeface="Calibri"/>
              </a:rPr>
              <a:t>•  Sensitif kelembapan</a:t>
            </a:r>
          </a:p>
        </p:txBody>
      </p:sp>
      <p:sp>
        <p:nvSpPr>
          <p:cNvPr id="22" name="TextBox 21"/>
          <p:cNvSpPr txBox="1"/>
          <p:nvPr/>
        </p:nvSpPr>
        <p:spPr>
          <a:xfrm>
            <a:off x="7900415" y="3163824"/>
            <a:ext cx="3108960" cy="384048"/>
          </a:xfrm>
          <a:prstGeom prst="rect">
            <a:avLst/>
          </a:prstGeom>
          <a:noFill/>
        </p:spPr>
        <p:txBody>
          <a:bodyPr wrap="square" lIns="0" rIns="0" tIns="0" bIns="0" anchor="t">
            <a:spAutoFit/>
          </a:bodyPr>
          <a:lstStyle/>
          <a:p>
            <a:pPr algn="l">
              <a:lnSpc>
                <a:spcPct val="112000"/>
              </a:lnSpc>
              <a:spcAft>
                <a:spcPts val="0"/>
              </a:spcAft>
            </a:pPr>
            <a:r>
              <a:rPr sz="930" b="0" i="0">
                <a:solidFill>
                  <a:srgbClr val="47646C"/>
                </a:solidFill>
                <a:latin typeface="Calibri"/>
              </a:rPr>
              <a:t>•  Bukan pilihan utama molar posterior</a:t>
            </a:r>
          </a:p>
        </p:txBody>
      </p:sp>
      <p:sp>
        <p:nvSpPr>
          <p:cNvPr id="23" name="Rounded Rectangle 22"/>
          <p:cNvSpPr/>
          <p:nvPr/>
        </p:nvSpPr>
        <p:spPr>
          <a:xfrm>
            <a:off x="566928" y="4251960"/>
            <a:ext cx="10561320" cy="141732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343400"/>
            <a:ext cx="4572000" cy="274320"/>
          </a:xfrm>
          <a:prstGeom prst="rect">
            <a:avLst/>
          </a:prstGeom>
          <a:noFill/>
        </p:spPr>
        <p:txBody>
          <a:bodyPr wrap="square" lIns="0" rIns="0" tIns="0" bIns="0" anchor="t">
            <a:spAutoFit/>
          </a:bodyPr>
          <a:lstStyle/>
          <a:p>
            <a:pPr algn="l">
              <a:lnSpc>
                <a:spcPct val="112000"/>
              </a:lnSpc>
              <a:spcAft>
                <a:spcPts val="0"/>
              </a:spcAft>
            </a:pPr>
            <a:r>
              <a:rPr sz="1050" b="1" i="0">
                <a:solidFill>
                  <a:srgbClr val="15323A"/>
                </a:solidFill>
                <a:latin typeface="Calibri"/>
              </a:rPr>
              <a:t>Retensi 6 bulan</a:t>
            </a:r>
          </a:p>
        </p:txBody>
      </p:sp>
      <p:sp>
        <p:nvSpPr>
          <p:cNvPr id="25" name="TextBox 24"/>
          <p:cNvSpPr txBox="1"/>
          <p:nvPr/>
        </p:nvSpPr>
        <p:spPr>
          <a:xfrm>
            <a:off x="749808" y="4590288"/>
            <a:ext cx="5486400" cy="274320"/>
          </a:xfrm>
          <a:prstGeom prst="rect">
            <a:avLst/>
          </a:prstGeom>
          <a:noFill/>
        </p:spPr>
        <p:txBody>
          <a:bodyPr wrap="square" lIns="0" rIns="0" tIns="0" bIns="0" anchor="t">
            <a:spAutoFit/>
          </a:bodyPr>
          <a:lstStyle/>
          <a:p>
            <a:pPr algn="l">
              <a:lnSpc>
                <a:spcPct val="112000"/>
              </a:lnSpc>
              <a:spcAft>
                <a:spcPts val="0"/>
              </a:spcAft>
            </a:pPr>
            <a:r>
              <a:rPr sz="850" b="0" i="0">
                <a:solidFill>
                  <a:srgbClr val="7D8F93"/>
                </a:solidFill>
                <a:latin typeface="Calibri"/>
              </a:rPr>
              <a:t>RCT 129 gigi insisivus desidui (Walia 2014)</a:t>
            </a:r>
          </a:p>
        </p:txBody>
      </p:sp>
      <p:sp>
        <p:nvSpPr>
          <p:cNvPr id="26" name="TextBox 25"/>
          <p:cNvSpPr txBox="1"/>
          <p:nvPr/>
        </p:nvSpPr>
        <p:spPr>
          <a:xfrm>
            <a:off x="749808" y="4828032"/>
            <a:ext cx="822960" cy="259080"/>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Zirkonia</a:t>
            </a:r>
          </a:p>
        </p:txBody>
      </p:sp>
      <p:sp>
        <p:nvSpPr>
          <p:cNvPr id="27" name="Rounded Rectangle 26"/>
          <p:cNvSpPr/>
          <p:nvPr/>
        </p:nvSpPr>
        <p:spPr>
          <a:xfrm>
            <a:off x="1572768" y="4900574"/>
            <a:ext cx="4160520" cy="103632"/>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572768" y="4900574"/>
            <a:ext cx="4160520" cy="103632"/>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15000" y="4828032"/>
            <a:ext cx="658368" cy="259080"/>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100%</a:t>
            </a:r>
          </a:p>
        </p:txBody>
      </p:sp>
      <p:sp>
        <p:nvSpPr>
          <p:cNvPr id="30" name="TextBox 29"/>
          <p:cNvSpPr txBox="1"/>
          <p:nvPr/>
        </p:nvSpPr>
        <p:spPr>
          <a:xfrm>
            <a:off x="749808" y="5087112"/>
            <a:ext cx="822960" cy="259080"/>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PVSSC</a:t>
            </a:r>
          </a:p>
        </p:txBody>
      </p:sp>
      <p:sp>
        <p:nvSpPr>
          <p:cNvPr id="31" name="Rounded Rectangle 30"/>
          <p:cNvSpPr/>
          <p:nvPr/>
        </p:nvSpPr>
        <p:spPr>
          <a:xfrm>
            <a:off x="1572768" y="5159654"/>
            <a:ext cx="4160520" cy="103632"/>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572768" y="5159654"/>
            <a:ext cx="3952494" cy="103632"/>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06974" y="5087112"/>
            <a:ext cx="658368" cy="259080"/>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95%</a:t>
            </a:r>
          </a:p>
        </p:txBody>
      </p:sp>
      <p:sp>
        <p:nvSpPr>
          <p:cNvPr id="34" name="TextBox 33"/>
          <p:cNvSpPr txBox="1"/>
          <p:nvPr/>
        </p:nvSpPr>
        <p:spPr>
          <a:xfrm>
            <a:off x="749808" y="5346192"/>
            <a:ext cx="822960" cy="259080"/>
          </a:xfrm>
          <a:prstGeom prst="rect">
            <a:avLst/>
          </a:prstGeom>
          <a:noFill/>
        </p:spPr>
        <p:txBody>
          <a:bodyPr wrap="square" lIns="0" rIns="0" tIns="0" bIns="0" anchor="ctr">
            <a:spAutoFit/>
          </a:bodyPr>
          <a:lstStyle/>
          <a:p>
            <a:pPr algn="l">
              <a:lnSpc>
                <a:spcPct val="112000"/>
              </a:lnSpc>
              <a:spcAft>
                <a:spcPts val="0"/>
              </a:spcAft>
            </a:pPr>
            <a:r>
              <a:rPr sz="950" b="0" i="0">
                <a:solidFill>
                  <a:srgbClr val="47646C"/>
                </a:solidFill>
                <a:latin typeface="Calibri"/>
              </a:rPr>
              <a:t>Strip</a:t>
            </a:r>
          </a:p>
        </p:txBody>
      </p:sp>
      <p:sp>
        <p:nvSpPr>
          <p:cNvPr id="35" name="Rounded Rectangle 34"/>
          <p:cNvSpPr/>
          <p:nvPr/>
        </p:nvSpPr>
        <p:spPr>
          <a:xfrm>
            <a:off x="1572768" y="5418734"/>
            <a:ext cx="4160520" cy="103632"/>
          </a:xfrm>
          <a:prstGeom prst="roundRect">
            <a:avLst>
              <a:gd name="adj" fmla="val 50000"/>
            </a:avLst>
          </a:prstGeom>
          <a:solidFill>
            <a:srgbClr val="EEE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572768" y="5418734"/>
            <a:ext cx="3245205" cy="103632"/>
          </a:xfrm>
          <a:prstGeom prst="roundRect">
            <a:avLst>
              <a:gd name="adj" fmla="val 50000"/>
            </a:avLst>
          </a:prstGeom>
          <a:solidFill>
            <a:srgbClr val="2C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99685" y="5346192"/>
            <a:ext cx="658368" cy="259080"/>
          </a:xfrm>
          <a:prstGeom prst="rect">
            <a:avLst/>
          </a:prstGeom>
          <a:noFill/>
        </p:spPr>
        <p:txBody>
          <a:bodyPr wrap="square" lIns="0" rIns="0" tIns="0" bIns="0" anchor="ctr">
            <a:spAutoFit/>
          </a:bodyPr>
          <a:lstStyle/>
          <a:p>
            <a:pPr algn="l">
              <a:lnSpc>
                <a:spcPct val="112000"/>
              </a:lnSpc>
              <a:spcAft>
                <a:spcPts val="0"/>
              </a:spcAft>
            </a:pPr>
            <a:r>
              <a:rPr sz="950" b="1" i="0">
                <a:solidFill>
                  <a:srgbClr val="15323A"/>
                </a:solidFill>
                <a:latin typeface="Calibri"/>
              </a:rPr>
              <a:t>78%</a:t>
            </a:r>
          </a:p>
        </p:txBody>
      </p:sp>
      <p:sp>
        <p:nvSpPr>
          <p:cNvPr id="38" name="TextBox 37"/>
          <p:cNvSpPr txBox="1"/>
          <p:nvPr/>
        </p:nvSpPr>
        <p:spPr>
          <a:xfrm>
            <a:off x="6647688" y="4572000"/>
            <a:ext cx="4297680" cy="822960"/>
          </a:xfrm>
          <a:prstGeom prst="rect">
            <a:avLst/>
          </a:prstGeom>
          <a:noFill/>
        </p:spPr>
        <p:txBody>
          <a:bodyPr wrap="square" lIns="0" rIns="0" tIns="0" bIns="0" anchor="t">
            <a:spAutoFit/>
          </a:bodyPr>
          <a:lstStyle/>
          <a:p>
            <a:pPr algn="l">
              <a:lnSpc>
                <a:spcPct val="112000"/>
              </a:lnSpc>
              <a:spcAft>
                <a:spcPts val="0"/>
              </a:spcAft>
            </a:pPr>
            <a:r>
              <a:rPr sz="950" b="0" i="0">
                <a:solidFill>
                  <a:srgbClr val="47646C"/>
                </a:solidFill>
                <a:latin typeface="Calibri"/>
              </a:rPr>
              <a:t>Untuk molar posterior desidui, SSC tetap menjadi pembanding utama dalam SR dan meta-analisis.</a:t>
            </a:r>
          </a:p>
        </p:txBody>
      </p:sp>
      <p:sp>
        <p:nvSpPr>
          <p:cNvPr id="39" name="Rectangle 38"/>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Patnana 2022 · Pei &amp; Chen 2023 · Aiem 2017 · Walia 2014</a:t>
            </a:r>
          </a:p>
        </p:txBody>
      </p:sp>
      <p:sp>
        <p:nvSpPr>
          <p:cNvPr id="41" name="TextBox 40"/>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KASUS ILUSTRATIF</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600" b="0" i="0">
                <a:solidFill>
                  <a:srgbClr val="15323A"/>
                </a:solidFill>
                <a:latin typeface="Georgia"/>
              </a:rPr>
              <a:t>Kasus: molar kedua desidui bawah kanan, karies oklusal-distal</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13</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691640"/>
            <a:ext cx="5486400" cy="1783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10512"/>
            <a:ext cx="5120640" cy="1554480"/>
          </a:xfrm>
          <a:prstGeom prst="rect">
            <a:avLst/>
          </a:prstGeom>
          <a:noFill/>
        </p:spPr>
        <p:txBody>
          <a:bodyPr wrap="square" lIns="0" rIns="0" tIns="0" bIns="0" anchor="t">
            <a:spAutoFit/>
          </a:bodyPr>
          <a:lstStyle/>
          <a:p>
            <a:pPr algn="l">
              <a:lnSpc>
                <a:spcPct val="125000"/>
              </a:lnSpc>
              <a:spcAft>
                <a:spcPts val="0"/>
              </a:spcAft>
            </a:pPr>
            <a:r>
              <a:rPr sz="1019" b="0" i="0">
                <a:solidFill>
                  <a:srgbClr val="47646C"/>
                </a:solidFill>
                <a:latin typeface="Calibri"/>
              </a:rPr>
              <a:t>Anak laki-laki, 7 tahun. Gigi 85, karies oklusal-distal luas.</a:t>
            </a:r>
          </a:p>
          <a:p>
            <a:pPr algn="l">
              <a:lnSpc>
                <a:spcPct val="125000"/>
              </a:lnSpc>
              <a:spcAft>
                <a:spcPts val="0"/>
              </a:spcAft>
            </a:pPr>
            <a:r>
              <a:rPr sz="1019" b="0" i="0">
                <a:solidFill>
                  <a:srgbClr val="47646C"/>
                </a:solidFill>
                <a:latin typeface="Calibri"/>
              </a:rPr>
              <a:t>Tidak ada nyeri spontan, swelling, atau fistula. Vital, perkusi negatif.</a:t>
            </a:r>
          </a:p>
          <a:p>
            <a:pPr algn="l">
              <a:lnSpc>
                <a:spcPct val="125000"/>
              </a:lnSpc>
              <a:spcAft>
                <a:spcPts val="0"/>
              </a:spcAft>
            </a:pPr>
            <a:r>
              <a:rPr sz="1019" b="0" i="0">
                <a:solidFill>
                  <a:srgbClr val="47646C"/>
                </a:solidFill>
                <a:latin typeface="Calibri"/>
              </a:rPr>
              <a:t>Radiograf: lesi mendekati pulpa dengan dentine bridge terlihat.</a:t>
            </a:r>
          </a:p>
        </p:txBody>
      </p:sp>
      <p:sp>
        <p:nvSpPr>
          <p:cNvPr id="10" name="Rounded Rectangle 9"/>
          <p:cNvSpPr/>
          <p:nvPr/>
        </p:nvSpPr>
        <p:spPr>
          <a:xfrm>
            <a:off x="566928" y="3639312"/>
            <a:ext cx="2651760" cy="1325880"/>
          </a:xfrm>
          <a:prstGeom prst="roundRect">
            <a:avLst>
              <a:gd name="adj" fmla="val 8000"/>
            </a:avLst>
          </a:prstGeom>
          <a:solidFill>
            <a:srgbClr val="F6EFE2"/>
          </a:solidFill>
          <a:ln w="12700">
            <a:solidFill>
              <a:srgbClr val="C9B9A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009644"/>
            <a:ext cx="2468879" cy="256032"/>
          </a:xfrm>
          <a:prstGeom prst="rect">
            <a:avLst/>
          </a:prstGeom>
          <a:noFill/>
        </p:spPr>
        <p:txBody>
          <a:bodyPr wrap="square" lIns="0" rIns="0" tIns="0" bIns="0" anchor="t">
            <a:spAutoFit/>
          </a:bodyPr>
          <a:lstStyle/>
          <a:p>
            <a:pPr algn="ctr">
              <a:lnSpc>
                <a:spcPct val="112000"/>
              </a:lnSpc>
              <a:spcAft>
                <a:spcPts val="0"/>
              </a:spcAft>
            </a:pPr>
            <a:r>
              <a:rPr sz="1050" b="1" i="0">
                <a:solidFill>
                  <a:srgbClr val="6F624E"/>
                </a:solidFill>
                <a:latin typeface="Calibri"/>
              </a:rPr>
              <a:t>Foto klinis</a:t>
            </a:r>
          </a:p>
        </p:txBody>
      </p:sp>
      <p:sp>
        <p:nvSpPr>
          <p:cNvPr id="12" name="TextBox 11"/>
          <p:cNvSpPr txBox="1"/>
          <p:nvPr/>
        </p:nvSpPr>
        <p:spPr>
          <a:xfrm>
            <a:off x="676656" y="4283964"/>
            <a:ext cx="2432304" cy="457200"/>
          </a:xfrm>
          <a:prstGeom prst="rect">
            <a:avLst/>
          </a:prstGeom>
          <a:noFill/>
        </p:spPr>
        <p:txBody>
          <a:bodyPr wrap="square" lIns="0" rIns="0" tIns="0" bIns="0" anchor="t">
            <a:spAutoFit/>
          </a:bodyPr>
          <a:lstStyle/>
          <a:p>
            <a:pPr algn="ctr">
              <a:lnSpc>
                <a:spcPct val="112000"/>
              </a:lnSpc>
              <a:spcAft>
                <a:spcPts val="0"/>
              </a:spcAft>
            </a:pPr>
            <a:r>
              <a:rPr sz="850" b="0" i="0">
                <a:solidFill>
                  <a:srgbClr val="8A7A62"/>
                </a:solidFill>
                <a:latin typeface="Calibri"/>
              </a:rPr>
              <a:t>Okusal gigi 85. Ganti dengan foto Anda.</a:t>
            </a:r>
          </a:p>
        </p:txBody>
      </p:sp>
      <p:sp>
        <p:nvSpPr>
          <p:cNvPr id="13" name="Rounded Rectangle 12"/>
          <p:cNvSpPr/>
          <p:nvPr/>
        </p:nvSpPr>
        <p:spPr>
          <a:xfrm>
            <a:off x="3401568" y="3639312"/>
            <a:ext cx="2651760" cy="1325880"/>
          </a:xfrm>
          <a:prstGeom prst="roundRect">
            <a:avLst>
              <a:gd name="adj" fmla="val 8000"/>
            </a:avLst>
          </a:prstGeom>
          <a:solidFill>
            <a:srgbClr val="F6EFE2"/>
          </a:solidFill>
          <a:ln w="12700">
            <a:solidFill>
              <a:srgbClr val="C9B9A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93008" y="4009644"/>
            <a:ext cx="2468879" cy="256032"/>
          </a:xfrm>
          <a:prstGeom prst="rect">
            <a:avLst/>
          </a:prstGeom>
          <a:noFill/>
        </p:spPr>
        <p:txBody>
          <a:bodyPr wrap="square" lIns="0" rIns="0" tIns="0" bIns="0" anchor="t">
            <a:spAutoFit/>
          </a:bodyPr>
          <a:lstStyle/>
          <a:p>
            <a:pPr algn="ctr">
              <a:lnSpc>
                <a:spcPct val="112000"/>
              </a:lnSpc>
              <a:spcAft>
                <a:spcPts val="0"/>
              </a:spcAft>
            </a:pPr>
            <a:r>
              <a:rPr sz="1050" b="1" i="0">
                <a:solidFill>
                  <a:srgbClr val="6F624E"/>
                </a:solidFill>
                <a:latin typeface="Calibri"/>
              </a:rPr>
              <a:t>Radiograf</a:t>
            </a:r>
          </a:p>
        </p:txBody>
      </p:sp>
      <p:sp>
        <p:nvSpPr>
          <p:cNvPr id="15" name="TextBox 14"/>
          <p:cNvSpPr txBox="1"/>
          <p:nvPr/>
        </p:nvSpPr>
        <p:spPr>
          <a:xfrm>
            <a:off x="3511296" y="4283964"/>
            <a:ext cx="2432304" cy="457200"/>
          </a:xfrm>
          <a:prstGeom prst="rect">
            <a:avLst/>
          </a:prstGeom>
          <a:noFill/>
        </p:spPr>
        <p:txBody>
          <a:bodyPr wrap="square" lIns="0" rIns="0" tIns="0" bIns="0" anchor="t">
            <a:spAutoFit/>
          </a:bodyPr>
          <a:lstStyle/>
          <a:p>
            <a:pPr algn="ctr">
              <a:lnSpc>
                <a:spcPct val="112000"/>
              </a:lnSpc>
              <a:spcAft>
                <a:spcPts val="0"/>
              </a:spcAft>
            </a:pPr>
            <a:r>
              <a:rPr sz="850" b="0" i="0">
                <a:solidFill>
                  <a:srgbClr val="8A7A62"/>
                </a:solidFill>
                <a:latin typeface="Calibri"/>
              </a:rPr>
              <a:t>Bitewing gigi 85. Ganti dengan radiograf Anda.</a:t>
            </a:r>
          </a:p>
        </p:txBody>
      </p:sp>
      <p:sp>
        <p:nvSpPr>
          <p:cNvPr id="16" name="TextBox 15"/>
          <p:cNvSpPr txBox="1"/>
          <p:nvPr/>
        </p:nvSpPr>
        <p:spPr>
          <a:xfrm>
            <a:off x="566928" y="5074920"/>
            <a:ext cx="5394960" cy="274320"/>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Data fiktif untuk latihan keputusan.</a:t>
            </a:r>
          </a:p>
        </p:txBody>
      </p:sp>
      <p:sp>
        <p:nvSpPr>
          <p:cNvPr id="17" name="TextBox 16"/>
          <p:cNvSpPr txBox="1"/>
          <p:nvPr/>
        </p:nvSpPr>
        <p:spPr>
          <a:xfrm>
            <a:off x="6355080" y="1691640"/>
            <a:ext cx="521208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5323A"/>
                </a:solidFill>
                <a:latin typeface="Calibri"/>
              </a:rPr>
              <a:t>1. Apa keputusan Anda?</a:t>
            </a:r>
          </a:p>
        </p:txBody>
      </p:sp>
      <p:sp>
        <p:nvSpPr>
          <p:cNvPr id="18" name="Rounded Rectangle 17"/>
          <p:cNvSpPr/>
          <p:nvPr/>
        </p:nvSpPr>
        <p:spPr>
          <a:xfrm>
            <a:off x="6355080" y="2029968"/>
            <a:ext cx="5212080" cy="365760"/>
          </a:xfrm>
          <a:prstGeom prst="roundRect">
            <a:avLst>
              <a:gd name="adj" fmla="val 50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103120"/>
            <a:ext cx="4937760" cy="256032"/>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Hall Technique tanpa anestesi</a:t>
            </a:r>
          </a:p>
        </p:txBody>
      </p:sp>
      <p:sp>
        <p:nvSpPr>
          <p:cNvPr id="20" name="Rounded Rectangle 19"/>
          <p:cNvSpPr/>
          <p:nvPr/>
        </p:nvSpPr>
        <p:spPr>
          <a:xfrm>
            <a:off x="6355080" y="2487168"/>
            <a:ext cx="5212080" cy="365760"/>
          </a:xfrm>
          <a:prstGeom prst="roundRect">
            <a:avLst>
              <a:gd name="adj" fmla="val 50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560320"/>
            <a:ext cx="4937760" cy="256032"/>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SSC konvensional dengan anestesi</a:t>
            </a:r>
          </a:p>
        </p:txBody>
      </p:sp>
      <p:sp>
        <p:nvSpPr>
          <p:cNvPr id="22" name="Rounded Rectangle 21"/>
          <p:cNvSpPr/>
          <p:nvPr/>
        </p:nvSpPr>
        <p:spPr>
          <a:xfrm>
            <a:off x="6355080" y="2944368"/>
            <a:ext cx="5212080" cy="365760"/>
          </a:xfrm>
          <a:prstGeom prst="roundRect">
            <a:avLst>
              <a:gd name="adj" fmla="val 50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017520"/>
            <a:ext cx="4937760" cy="256032"/>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Komposit dua permukaan</a:t>
            </a:r>
          </a:p>
        </p:txBody>
      </p:sp>
      <p:sp>
        <p:nvSpPr>
          <p:cNvPr id="24" name="TextBox 23"/>
          <p:cNvSpPr txBox="1"/>
          <p:nvPr/>
        </p:nvSpPr>
        <p:spPr>
          <a:xfrm>
            <a:off x="6355080" y="3474720"/>
            <a:ext cx="521208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5323A"/>
                </a:solidFill>
                <a:latin typeface="Calibri"/>
              </a:rPr>
              <a:t>2. Crown belum duduk merata saat try-in</a:t>
            </a:r>
          </a:p>
        </p:txBody>
      </p:sp>
      <p:sp>
        <p:nvSpPr>
          <p:cNvPr id="25" name="TextBox 24"/>
          <p:cNvSpPr txBox="1"/>
          <p:nvPr/>
        </p:nvSpPr>
        <p:spPr>
          <a:xfrm>
            <a:off x="6355080" y="3767328"/>
            <a:ext cx="5212080" cy="274320"/>
          </a:xfrm>
          <a:prstGeom prst="rect">
            <a:avLst/>
          </a:prstGeom>
          <a:noFill/>
        </p:spPr>
        <p:txBody>
          <a:bodyPr wrap="square" lIns="0" rIns="0" tIns="0" bIns="0" anchor="t">
            <a:spAutoFit/>
          </a:bodyPr>
          <a:lstStyle/>
          <a:p>
            <a:pPr algn="l">
              <a:lnSpc>
                <a:spcPct val="112000"/>
              </a:lnSpc>
              <a:spcAft>
                <a:spcPts val="0"/>
              </a:spcAft>
            </a:pPr>
            <a:r>
              <a:rPr sz="950" b="0" i="0">
                <a:solidFill>
                  <a:srgbClr val="47646C"/>
                </a:solidFill>
                <a:latin typeface="Calibri"/>
              </a:rPr>
              <a:t>Tepi servikal terangkat di distal. Apa langkah berikutnya?</a:t>
            </a:r>
          </a:p>
        </p:txBody>
      </p:sp>
      <p:sp>
        <p:nvSpPr>
          <p:cNvPr id="26" name="Rounded Rectangle 25"/>
          <p:cNvSpPr/>
          <p:nvPr/>
        </p:nvSpPr>
        <p:spPr>
          <a:xfrm>
            <a:off x="6355080" y="4069080"/>
            <a:ext cx="5212080" cy="365760"/>
          </a:xfrm>
          <a:prstGeom prst="roundRect">
            <a:avLst>
              <a:gd name="adj" fmla="val 50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4142232"/>
            <a:ext cx="4937760" cy="256032"/>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Tekan dengan bite stick sampai duduk</a:t>
            </a:r>
          </a:p>
        </p:txBody>
      </p:sp>
      <p:sp>
        <p:nvSpPr>
          <p:cNvPr id="28" name="Rounded Rectangle 27"/>
          <p:cNvSpPr/>
          <p:nvPr/>
        </p:nvSpPr>
        <p:spPr>
          <a:xfrm>
            <a:off x="6355080" y="4526280"/>
            <a:ext cx="5212080" cy="365760"/>
          </a:xfrm>
          <a:prstGeom prst="roundRect">
            <a:avLst>
              <a:gd name="adj" fmla="val 50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4599432"/>
            <a:ext cx="4937760" cy="256032"/>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Periksa ledge dan sisa kontak distal</a:t>
            </a:r>
          </a:p>
        </p:txBody>
      </p:sp>
      <p:sp>
        <p:nvSpPr>
          <p:cNvPr id="30" name="Rounded Rectangle 29"/>
          <p:cNvSpPr/>
          <p:nvPr/>
        </p:nvSpPr>
        <p:spPr>
          <a:xfrm>
            <a:off x="6355080" y="4983480"/>
            <a:ext cx="5212080" cy="365760"/>
          </a:xfrm>
          <a:prstGeom prst="roundRect">
            <a:avLst>
              <a:gd name="adj" fmla="val 50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5056632"/>
            <a:ext cx="4937760" cy="256032"/>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Ganti crown satu ukuran lebih besar</a:t>
            </a:r>
          </a:p>
        </p:txBody>
      </p:sp>
      <p:sp>
        <p:nvSpPr>
          <p:cNvPr id="32" name="TextBox 31"/>
          <p:cNvSpPr txBox="1"/>
          <p:nvPr/>
        </p:nvSpPr>
        <p:spPr>
          <a:xfrm>
            <a:off x="6355080" y="5532120"/>
            <a:ext cx="5212080" cy="457200"/>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Jawaban dan alasan ada di catatan pembicara versi ini.</a:t>
            </a:r>
          </a:p>
        </p:txBody>
      </p:sp>
      <p:sp>
        <p:nvSpPr>
          <p:cNvPr id="33" name="Rectangle 32"/>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Kindelan 2008 · SDCEP 2025 · Randall 2002</a:t>
            </a:r>
          </a:p>
        </p:txBody>
      </p:sp>
      <p:sp>
        <p:nvSpPr>
          <p:cNvPr id="35" name="TextBox 34"/>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KUIS</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800" b="0" i="0">
                <a:solidFill>
                  <a:srgbClr val="15323A"/>
                </a:solidFill>
                <a:latin typeface="Georgia"/>
              </a:rPr>
              <a:t>Lima pertanyaan untuk diskusi</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14</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37360"/>
            <a:ext cx="1056132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920240"/>
            <a:ext cx="10149840" cy="310896"/>
          </a:xfrm>
          <a:prstGeom prst="rect">
            <a:avLst/>
          </a:prstGeom>
          <a:noFill/>
        </p:spPr>
        <p:txBody>
          <a:bodyPr wrap="square" lIns="0" rIns="0" tIns="0" bIns="0" anchor="t">
            <a:spAutoFit/>
          </a:bodyPr>
          <a:lstStyle/>
          <a:p>
            <a:pPr algn="l">
              <a:lnSpc>
                <a:spcPct val="112000"/>
              </a:lnSpc>
              <a:spcAft>
                <a:spcPts val="0"/>
              </a:spcAft>
            </a:pPr>
            <a:r>
              <a:rPr sz="1150" b="0" i="0">
                <a:solidFill>
                  <a:srgbClr val="15323A"/>
                </a:solidFill>
                <a:latin typeface="Calibri"/>
              </a:rPr>
              <a:t>1. Nyeri spontan malam, molar desidui. Hall atau konvensional?</a:t>
            </a:r>
          </a:p>
        </p:txBody>
      </p:sp>
      <p:sp>
        <p:nvSpPr>
          <p:cNvPr id="10" name="Rounded Rectangle 9"/>
          <p:cNvSpPr/>
          <p:nvPr/>
        </p:nvSpPr>
        <p:spPr>
          <a:xfrm>
            <a:off x="566928" y="2523744"/>
            <a:ext cx="1056132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06624"/>
            <a:ext cx="10149840" cy="310896"/>
          </a:xfrm>
          <a:prstGeom prst="rect">
            <a:avLst/>
          </a:prstGeom>
          <a:noFill/>
        </p:spPr>
        <p:txBody>
          <a:bodyPr wrap="square" lIns="0" rIns="0" tIns="0" bIns="0" anchor="t">
            <a:spAutoFit/>
          </a:bodyPr>
          <a:lstStyle/>
          <a:p>
            <a:pPr algn="l">
              <a:lnSpc>
                <a:spcPct val="112000"/>
              </a:lnSpc>
              <a:spcAft>
                <a:spcPts val="0"/>
              </a:spcAft>
            </a:pPr>
            <a:r>
              <a:rPr sz="1150" b="0" i="0">
                <a:solidFill>
                  <a:srgbClr val="15323A"/>
                </a:solidFill>
                <a:latin typeface="Calibri"/>
              </a:rPr>
              <a:t>2. Berapa reduksi oklusal yang paling banyak dipakai?</a:t>
            </a:r>
          </a:p>
        </p:txBody>
      </p:sp>
      <p:sp>
        <p:nvSpPr>
          <p:cNvPr id="12" name="Rounded Rectangle 11"/>
          <p:cNvSpPr/>
          <p:nvPr/>
        </p:nvSpPr>
        <p:spPr>
          <a:xfrm>
            <a:off x="566928" y="3310128"/>
            <a:ext cx="1056132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3493008"/>
            <a:ext cx="10149840" cy="310896"/>
          </a:xfrm>
          <a:prstGeom prst="rect">
            <a:avLst/>
          </a:prstGeom>
          <a:noFill/>
        </p:spPr>
        <p:txBody>
          <a:bodyPr wrap="square" lIns="0" rIns="0" tIns="0" bIns="0" anchor="t">
            <a:spAutoFit/>
          </a:bodyPr>
          <a:lstStyle/>
          <a:p>
            <a:pPr algn="l">
              <a:lnSpc>
                <a:spcPct val="112000"/>
              </a:lnSpc>
              <a:spcAft>
                <a:spcPts val="0"/>
              </a:spcAft>
            </a:pPr>
            <a:r>
              <a:rPr sz="1150" b="0" i="0">
                <a:solidFill>
                  <a:srgbClr val="15323A"/>
                </a:solidFill>
                <a:latin typeface="Calibri"/>
              </a:rPr>
              <a:t>3. Crown tidak duduk, ada ledge. Apa langkah berikutnya?</a:t>
            </a:r>
          </a:p>
        </p:txBody>
      </p:sp>
      <p:sp>
        <p:nvSpPr>
          <p:cNvPr id="14" name="Rounded Rectangle 13"/>
          <p:cNvSpPr/>
          <p:nvPr/>
        </p:nvSpPr>
        <p:spPr>
          <a:xfrm>
            <a:off x="566928" y="4096512"/>
            <a:ext cx="1056132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4279392"/>
            <a:ext cx="10149840" cy="310896"/>
          </a:xfrm>
          <a:prstGeom prst="rect">
            <a:avLst/>
          </a:prstGeom>
          <a:noFill/>
        </p:spPr>
        <p:txBody>
          <a:bodyPr wrap="square" lIns="0" rIns="0" tIns="0" bIns="0" anchor="t">
            <a:spAutoFit/>
          </a:bodyPr>
          <a:lstStyle/>
          <a:p>
            <a:pPr algn="l">
              <a:lnSpc>
                <a:spcPct val="112000"/>
              </a:lnSpc>
              <a:spcAft>
                <a:spcPts val="0"/>
              </a:spcAft>
            </a:pPr>
            <a:r>
              <a:rPr sz="1150" b="0" i="0">
                <a:solidFill>
                  <a:srgbClr val="15323A"/>
                </a:solidFill>
                <a:latin typeface="Calibri"/>
              </a:rPr>
              <a:t>4. Apa yang paling menentukan retensi jangka panjang?</a:t>
            </a:r>
          </a:p>
        </p:txBody>
      </p:sp>
      <p:sp>
        <p:nvSpPr>
          <p:cNvPr id="16" name="Rounded Rectangle 15"/>
          <p:cNvSpPr/>
          <p:nvPr/>
        </p:nvSpPr>
        <p:spPr>
          <a:xfrm>
            <a:off x="566928" y="4882896"/>
            <a:ext cx="10561320" cy="640080"/>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5065776"/>
            <a:ext cx="10149840" cy="310896"/>
          </a:xfrm>
          <a:prstGeom prst="rect">
            <a:avLst/>
          </a:prstGeom>
          <a:noFill/>
        </p:spPr>
        <p:txBody>
          <a:bodyPr wrap="square" lIns="0" rIns="0" tIns="0" bIns="0" anchor="t">
            <a:spAutoFit/>
          </a:bodyPr>
          <a:lstStyle/>
          <a:p>
            <a:pPr algn="l">
              <a:lnSpc>
                <a:spcPct val="112000"/>
              </a:lnSpc>
              <a:spcAft>
                <a:spcPts val="0"/>
              </a:spcAft>
            </a:pPr>
            <a:r>
              <a:rPr sz="1150" b="0" i="0">
                <a:solidFill>
                  <a:srgbClr val="15323A"/>
                </a:solidFill>
                <a:latin typeface="Calibri"/>
              </a:rPr>
              <a:t>5. MIH berat pada molar permanen. Pilihan dengan bukti terkuat?</a:t>
            </a:r>
          </a:p>
        </p:txBody>
      </p:sp>
      <p:sp>
        <p:nvSpPr>
          <p:cNvPr id="18" name="TextBox 17"/>
          <p:cNvSpPr txBox="1"/>
          <p:nvPr/>
        </p:nvSpPr>
        <p:spPr>
          <a:xfrm>
            <a:off x="566928" y="5669280"/>
            <a:ext cx="10515600" cy="274320"/>
          </a:xfrm>
          <a:prstGeom prst="rect">
            <a:avLst/>
          </a:prstGeom>
          <a:noFill/>
        </p:spPr>
        <p:txBody>
          <a:bodyPr wrap="square" lIns="0" rIns="0" tIns="0" bIns="0" anchor="t">
            <a:spAutoFit/>
          </a:bodyPr>
          <a:lstStyle/>
          <a:p>
            <a:pPr algn="l">
              <a:lnSpc>
                <a:spcPct val="112000"/>
              </a:lnSpc>
              <a:spcAft>
                <a:spcPts val="0"/>
              </a:spcAft>
            </a:pPr>
            <a:r>
              <a:rPr sz="850" b="0" i="0">
                <a:solidFill>
                  <a:srgbClr val="7D8F93"/>
                </a:solidFill>
                <a:latin typeface="Calibri"/>
              </a:rPr>
              <a:t>Jawaban: 1 konvensional, 2 1,0–1,5 mm, 3 periksa ledge, 4 kontur dan crimping, 5 SSC.</a:t>
            </a:r>
          </a:p>
        </p:txBody>
      </p:sp>
      <p:sp>
        <p:nvSpPr>
          <p:cNvPr id="19" name="Rectangle 18"/>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Kindelan 2008 · AAPD 2024 · Farias 2022 · Randall 2002</a:t>
            </a:r>
          </a:p>
        </p:txBody>
      </p:sp>
      <p:sp>
        <p:nvSpPr>
          <p:cNvPr id="21" name="TextBox 20"/>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PENUTUP</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3000" b="0" i="0">
                <a:solidFill>
                  <a:srgbClr val="15323A"/>
                </a:solidFill>
                <a:latin typeface="Georgia"/>
              </a:rPr>
              <a:t>Tiga hal yang harus diingat</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15</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Rounded Rectangle 7"/>
          <p:cNvSpPr/>
          <p:nvPr/>
        </p:nvSpPr>
        <p:spPr>
          <a:xfrm>
            <a:off x="566928" y="1737360"/>
            <a:ext cx="10561320" cy="1133856"/>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20240"/>
            <a:ext cx="640080" cy="731520"/>
          </a:xfrm>
          <a:prstGeom prst="rect">
            <a:avLst/>
          </a:prstGeom>
          <a:noFill/>
        </p:spPr>
        <p:txBody>
          <a:bodyPr wrap="square" lIns="0" rIns="0" tIns="0" bIns="0" anchor="t">
            <a:spAutoFit/>
          </a:bodyPr>
          <a:lstStyle/>
          <a:p>
            <a:pPr algn="l">
              <a:lnSpc>
                <a:spcPct val="112000"/>
              </a:lnSpc>
              <a:spcAft>
                <a:spcPts val="0"/>
              </a:spcAft>
            </a:pPr>
            <a:r>
              <a:rPr sz="3200" b="0" i="0">
                <a:solidFill>
                  <a:srgbClr val="C65B45"/>
                </a:solidFill>
                <a:latin typeface="Georgia"/>
              </a:rPr>
              <a:t>1</a:t>
            </a:r>
          </a:p>
        </p:txBody>
      </p:sp>
      <p:sp>
        <p:nvSpPr>
          <p:cNvPr id="10" name="TextBox 9"/>
          <p:cNvSpPr txBox="1"/>
          <p:nvPr/>
        </p:nvSpPr>
        <p:spPr>
          <a:xfrm>
            <a:off x="1435607" y="1874519"/>
            <a:ext cx="9418320" cy="365760"/>
          </a:xfrm>
          <a:prstGeom prst="rect">
            <a:avLst/>
          </a:prstGeom>
          <a:noFill/>
        </p:spPr>
        <p:txBody>
          <a:bodyPr wrap="square" lIns="0" rIns="0" tIns="0" bIns="0" anchor="t">
            <a:spAutoFit/>
          </a:bodyPr>
          <a:lstStyle/>
          <a:p>
            <a:pPr algn="l">
              <a:lnSpc>
                <a:spcPct val="112000"/>
              </a:lnSpc>
              <a:spcAft>
                <a:spcPts val="0"/>
              </a:spcAft>
            </a:pPr>
            <a:r>
              <a:rPr sz="1500" b="0" i="0">
                <a:solidFill>
                  <a:srgbClr val="15323A"/>
                </a:solidFill>
                <a:latin typeface="Georgia"/>
              </a:rPr>
              <a:t>SSC menutup seluruh mahkota</a:t>
            </a:r>
          </a:p>
        </p:txBody>
      </p:sp>
      <p:sp>
        <p:nvSpPr>
          <p:cNvPr id="11" name="TextBox 10"/>
          <p:cNvSpPr txBox="1"/>
          <p:nvPr/>
        </p:nvSpPr>
        <p:spPr>
          <a:xfrm>
            <a:off x="1435607" y="2304288"/>
            <a:ext cx="9418320" cy="457200"/>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Retensi dari margin dan undercut servikal. Crimping lebih menentukan daripada semen.</a:t>
            </a:r>
          </a:p>
        </p:txBody>
      </p:sp>
      <p:sp>
        <p:nvSpPr>
          <p:cNvPr id="12" name="Rounded Rectangle 11"/>
          <p:cNvSpPr/>
          <p:nvPr/>
        </p:nvSpPr>
        <p:spPr>
          <a:xfrm>
            <a:off x="566928" y="3035808"/>
            <a:ext cx="10561320" cy="1133856"/>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3218688"/>
            <a:ext cx="640080" cy="731520"/>
          </a:xfrm>
          <a:prstGeom prst="rect">
            <a:avLst/>
          </a:prstGeom>
          <a:noFill/>
        </p:spPr>
        <p:txBody>
          <a:bodyPr wrap="square" lIns="0" rIns="0" tIns="0" bIns="0" anchor="t">
            <a:spAutoFit/>
          </a:bodyPr>
          <a:lstStyle/>
          <a:p>
            <a:pPr algn="l">
              <a:lnSpc>
                <a:spcPct val="112000"/>
              </a:lnSpc>
              <a:spcAft>
                <a:spcPts val="0"/>
              </a:spcAft>
            </a:pPr>
            <a:r>
              <a:rPr sz="3200" b="0" i="0">
                <a:solidFill>
                  <a:srgbClr val="C65B45"/>
                </a:solidFill>
                <a:latin typeface="Georgia"/>
              </a:rPr>
              <a:t>2</a:t>
            </a:r>
          </a:p>
        </p:txBody>
      </p:sp>
      <p:sp>
        <p:nvSpPr>
          <p:cNvPr id="14" name="TextBox 13"/>
          <p:cNvSpPr txBox="1"/>
          <p:nvPr/>
        </p:nvSpPr>
        <p:spPr>
          <a:xfrm>
            <a:off x="1435607" y="3172968"/>
            <a:ext cx="9418320" cy="365760"/>
          </a:xfrm>
          <a:prstGeom prst="rect">
            <a:avLst/>
          </a:prstGeom>
          <a:noFill/>
        </p:spPr>
        <p:txBody>
          <a:bodyPr wrap="square" lIns="0" rIns="0" tIns="0" bIns="0" anchor="t">
            <a:spAutoFit/>
          </a:bodyPr>
          <a:lstStyle/>
          <a:p>
            <a:pPr algn="l">
              <a:lnSpc>
                <a:spcPct val="112000"/>
              </a:lnSpc>
              <a:spcAft>
                <a:spcPts val="0"/>
              </a:spcAft>
            </a:pPr>
            <a:r>
              <a:rPr sz="1500" b="0" i="0">
                <a:solidFill>
                  <a:srgbClr val="15323A"/>
                </a:solidFill>
                <a:latin typeface="Georgia"/>
              </a:rPr>
              <a:t>Hall hanya untuk gigi vital dengan dentine bridge jelas</a:t>
            </a:r>
          </a:p>
        </p:txBody>
      </p:sp>
      <p:sp>
        <p:nvSpPr>
          <p:cNvPr id="15" name="TextBox 14"/>
          <p:cNvSpPr txBox="1"/>
          <p:nvPr/>
        </p:nvSpPr>
        <p:spPr>
          <a:xfrm>
            <a:off x="1435607" y="3602736"/>
            <a:ext cx="9418320" cy="457200"/>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Nyeri spontan atau abses mengubah rencana. Pilih konvensional setelah pulp therapy.</a:t>
            </a:r>
          </a:p>
        </p:txBody>
      </p:sp>
      <p:sp>
        <p:nvSpPr>
          <p:cNvPr id="16" name="Rounded Rectangle 15"/>
          <p:cNvSpPr/>
          <p:nvPr/>
        </p:nvSpPr>
        <p:spPr>
          <a:xfrm>
            <a:off x="566928" y="4334256"/>
            <a:ext cx="10561320" cy="1133856"/>
          </a:xfrm>
          <a:prstGeom prst="roundRect">
            <a:avLst>
              <a:gd name="adj" fmla="val 9000"/>
            </a:avLst>
          </a:prstGeom>
          <a:solidFill>
            <a:srgbClr val="FFFDF8"/>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4517136"/>
            <a:ext cx="640080" cy="731520"/>
          </a:xfrm>
          <a:prstGeom prst="rect">
            <a:avLst/>
          </a:prstGeom>
          <a:noFill/>
        </p:spPr>
        <p:txBody>
          <a:bodyPr wrap="square" lIns="0" rIns="0" tIns="0" bIns="0" anchor="t">
            <a:spAutoFit/>
          </a:bodyPr>
          <a:lstStyle/>
          <a:p>
            <a:pPr algn="l">
              <a:lnSpc>
                <a:spcPct val="112000"/>
              </a:lnSpc>
              <a:spcAft>
                <a:spcPts val="0"/>
              </a:spcAft>
            </a:pPr>
            <a:r>
              <a:rPr sz="3200" b="0" i="0">
                <a:solidFill>
                  <a:srgbClr val="C65B45"/>
                </a:solidFill>
                <a:latin typeface="Georgia"/>
              </a:rPr>
              <a:t>3</a:t>
            </a:r>
          </a:p>
        </p:txBody>
      </p:sp>
      <p:sp>
        <p:nvSpPr>
          <p:cNvPr id="18" name="TextBox 17"/>
          <p:cNvSpPr txBox="1"/>
          <p:nvPr/>
        </p:nvSpPr>
        <p:spPr>
          <a:xfrm>
            <a:off x="1435607" y="4471416"/>
            <a:ext cx="9418320" cy="365760"/>
          </a:xfrm>
          <a:prstGeom prst="rect">
            <a:avLst/>
          </a:prstGeom>
          <a:noFill/>
        </p:spPr>
        <p:txBody>
          <a:bodyPr wrap="square" lIns="0" rIns="0" tIns="0" bIns="0" anchor="t">
            <a:spAutoFit/>
          </a:bodyPr>
          <a:lstStyle/>
          <a:p>
            <a:pPr algn="l">
              <a:lnSpc>
                <a:spcPct val="112000"/>
              </a:lnSpc>
              <a:spcAft>
                <a:spcPts val="0"/>
              </a:spcAft>
            </a:pPr>
            <a:r>
              <a:rPr sz="1500" b="0" i="0">
                <a:solidFill>
                  <a:srgbClr val="15323A"/>
                </a:solidFill>
                <a:latin typeface="Georgia"/>
              </a:rPr>
              <a:t>Baca angka sesuai definisinya</a:t>
            </a:r>
          </a:p>
        </p:txBody>
      </p:sp>
      <p:sp>
        <p:nvSpPr>
          <p:cNvPr id="19" name="TextBox 18"/>
          <p:cNvSpPr txBox="1"/>
          <p:nvPr/>
        </p:nvSpPr>
        <p:spPr>
          <a:xfrm>
            <a:off x="1435607" y="4901184"/>
            <a:ext cx="9418320" cy="457200"/>
          </a:xfrm>
          <a:prstGeom prst="rect">
            <a:avLst/>
          </a:prstGeom>
          <a:noFill/>
        </p:spPr>
        <p:txBody>
          <a:bodyPr wrap="square" lIns="0" rIns="0" tIns="0" bIns="0" anchor="t">
            <a:spAutoFit/>
          </a:bodyPr>
          <a:lstStyle/>
          <a:p>
            <a:pPr algn="l">
              <a:lnSpc>
                <a:spcPct val="112000"/>
              </a:lnSpc>
              <a:spcAft>
                <a:spcPts val="0"/>
              </a:spcAft>
            </a:pPr>
            <a:r>
              <a:rPr sz="1050" b="0" i="0">
                <a:solidFill>
                  <a:srgbClr val="47646C"/>
                </a:solidFill>
                <a:latin typeface="Calibri"/>
              </a:rPr>
              <a:t>Success, survival, dan retention bukan hal yang sama.</a:t>
            </a:r>
          </a:p>
        </p:txBody>
      </p:sp>
      <p:sp>
        <p:nvSpPr>
          <p:cNvPr id="20" name="TextBox 19"/>
          <p:cNvSpPr txBox="1"/>
          <p:nvPr/>
        </p:nvSpPr>
        <p:spPr>
          <a:xfrm>
            <a:off x="566928" y="5669280"/>
            <a:ext cx="10515600" cy="365760"/>
          </a:xfrm>
          <a:prstGeom prst="rect">
            <a:avLst/>
          </a:prstGeom>
          <a:noFill/>
        </p:spPr>
        <p:txBody>
          <a:bodyPr wrap="square" lIns="0" rIns="0" tIns="0" bIns="0" anchor="t">
            <a:spAutoFit/>
          </a:bodyPr>
          <a:lstStyle/>
          <a:p>
            <a:pPr algn="l">
              <a:lnSpc>
                <a:spcPct val="112000"/>
              </a:lnSpc>
              <a:spcAft>
                <a:spcPts val="0"/>
              </a:spcAft>
            </a:pPr>
            <a:r>
              <a:rPr sz="900" b="0" i="0">
                <a:solidFill>
                  <a:srgbClr val="7D8F93"/>
                </a:solidFill>
                <a:latin typeface="Calibri"/>
              </a:rPr>
              <a:t>Materi edukasi. Keputusan klinis tetap mempertimbangkan kondisi pasien dan fasilitas.</a:t>
            </a:r>
          </a:p>
        </p:txBody>
      </p:sp>
      <p:sp>
        <p:nvSpPr>
          <p:cNvPr id="21" name="Rectangle 20"/>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Kindelan 2008 · AAPD 2025 · Innes 2015 Cochrane · Lampl 2025</a:t>
            </a:r>
          </a:p>
        </p:txBody>
      </p:sp>
      <p:sp>
        <p:nvSpPr>
          <p:cNvPr id="23" name="TextBox 22"/>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DAFTAR PUSTAKA</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600" b="0" i="0">
                <a:solidFill>
                  <a:srgbClr val="15323A"/>
                </a:solidFill>
                <a:latin typeface="Georgia"/>
              </a:rPr>
              <a:t>Sumber 1–15 (Vancouver)</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16</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TextBox 7"/>
          <p:cNvSpPr txBox="1"/>
          <p:nvPr/>
        </p:nvSpPr>
        <p:spPr>
          <a:xfrm>
            <a:off x="566928" y="1627632"/>
            <a:ext cx="5394960" cy="4480560"/>
          </a:xfrm>
          <a:prstGeom prst="rect">
            <a:avLst/>
          </a:prstGeom>
          <a:noFill/>
        </p:spPr>
        <p:txBody>
          <a:bodyPr wrap="square" lIns="0" rIns="0" tIns="0" bIns="0">
            <a:spAutoFit/>
          </a:bodyPr>
          <a:lstStyle/>
          <a:p>
            <a:pPr>
              <a:lnSpc>
                <a:spcPct val="100000"/>
              </a:lnSpc>
              <a:spcAft>
                <a:spcPts val="900"/>
              </a:spcAft>
            </a:pPr>
            <a:r>
              <a:rPr sz="900">
                <a:solidFill>
                  <a:srgbClr val="47646C"/>
                </a:solidFill>
                <a:latin typeface="Calibri"/>
              </a:rPr>
              <a:t>1. American Academy of Pediatric Dentistry. Pediatric restorative dentistry. Reference Manual. Chicago: AAPD; 2025. p. 473-486.</a:t>
            </a:r>
          </a:p>
          <a:p>
            <a:pPr>
              <a:lnSpc>
                <a:spcPct val="100000"/>
              </a:lnSpc>
              <a:spcAft>
                <a:spcPts val="900"/>
              </a:spcAft>
            </a:pPr>
            <a:r>
              <a:rPr sz="900">
                <a:solidFill>
                  <a:srgbClr val="47646C"/>
                </a:solidFill>
                <a:latin typeface="Calibri"/>
              </a:rPr>
              <a:t>2. Kindelan SA, Day P, Nichol R, Willmott N, Fayle SA. UK National Clinical Guidelines: stainless steel preformed crowns for primary molars. Int J Paediatr Dent. 2008;18(Suppl 1):20-28. doi:10.1111/j.1365-263X.2008.00935.x</a:t>
            </a:r>
          </a:p>
          <a:p>
            <a:pPr>
              <a:lnSpc>
                <a:spcPct val="100000"/>
              </a:lnSpc>
              <a:spcAft>
                <a:spcPts val="900"/>
              </a:spcAft>
            </a:pPr>
            <a:r>
              <a:rPr sz="900">
                <a:solidFill>
                  <a:srgbClr val="47646C"/>
                </a:solidFill>
                <a:latin typeface="Calibri"/>
              </a:rPr>
              <a:t>3. Innes NPT, Ricketts D, Chong LY, Keightley AJ, Lamont T, Santamaria RM. Preformed crowns for decayed primary molar teeth. Cochrane Database Syst Rev. 2015;(12):CD005512. doi:10.1002/14651858.CD005512.pub3</a:t>
            </a:r>
          </a:p>
          <a:p>
            <a:pPr>
              <a:lnSpc>
                <a:spcPct val="100000"/>
              </a:lnSpc>
              <a:spcAft>
                <a:spcPts val="900"/>
              </a:spcAft>
            </a:pPr>
            <a:r>
              <a:rPr sz="900">
                <a:solidFill>
                  <a:srgbClr val="47646C"/>
                </a:solidFill>
                <a:latin typeface="Calibri"/>
              </a:rPr>
              <a:t>4. Innes NPT, Evans DJP, Stirrups DR. Sealing caries in primary molars: randomized control trial, 5-year results. J Dent Res. 2011;90(12):1405-1410. doi:10.1177/0022034511422064</a:t>
            </a:r>
          </a:p>
          <a:p>
            <a:pPr>
              <a:lnSpc>
                <a:spcPct val="100000"/>
              </a:lnSpc>
              <a:spcAft>
                <a:spcPts val="900"/>
              </a:spcAft>
            </a:pPr>
            <a:r>
              <a:rPr sz="900">
                <a:solidFill>
                  <a:srgbClr val="47646C"/>
                </a:solidFill>
                <a:latin typeface="Calibri"/>
              </a:rPr>
              <a:t>5. Innes NPT, Evans DJP, Stirrups DR. The Hall Technique: acceptability and outcomes at 23 months. BMC Oral Health. 2007;7:18. doi:10.1186/1472-6831-7-18</a:t>
            </a:r>
          </a:p>
          <a:p>
            <a:pPr>
              <a:lnSpc>
                <a:spcPct val="100000"/>
              </a:lnSpc>
              <a:spcAft>
                <a:spcPts val="900"/>
              </a:spcAft>
            </a:pPr>
            <a:r>
              <a:rPr sz="900">
                <a:solidFill>
                  <a:srgbClr val="47646C"/>
                </a:solidFill>
                <a:latin typeface="Calibri"/>
              </a:rPr>
              <a:t>6. Tedesco TK, Innes NP, Gallegos CL, et al. Success rate of Hall Technique for restoring carious primary molars: systematic review and meta-analysis. Evid Based Dent. 2025;26(1):65-66. doi:10.1038/s41432-024-01044-0</a:t>
            </a:r>
          </a:p>
          <a:p>
            <a:pPr>
              <a:lnSpc>
                <a:spcPct val="100000"/>
              </a:lnSpc>
              <a:spcAft>
                <a:spcPts val="900"/>
              </a:spcAft>
            </a:pPr>
            <a:r>
              <a:rPr sz="900">
                <a:solidFill>
                  <a:srgbClr val="47646C"/>
                </a:solidFill>
                <a:latin typeface="Calibri"/>
              </a:rPr>
              <a:t>7. Mohamed HA, Abdalla EM, HagOmer NA, Philip N. Conventional versus Hall technique for preformed metal crown restorations of carious primary molars: a randomised controlled trial. Eur Arch Paediatr Dent. 2026;27(2):599-606. doi:10.1007/s40368-025-01128-0</a:t>
            </a:r>
          </a:p>
          <a:p>
            <a:pPr>
              <a:lnSpc>
                <a:spcPct val="100000"/>
              </a:lnSpc>
              <a:spcAft>
                <a:spcPts val="900"/>
              </a:spcAft>
            </a:pPr>
            <a:r>
              <a:rPr sz="900">
                <a:solidFill>
                  <a:srgbClr val="47646C"/>
                </a:solidFill>
                <a:latin typeface="Calibri"/>
              </a:rPr>
              <a:t>8. Chisini LA, Collares K, Cademartori MG, et al. Restorations in primary teeth: a systematic review on survival and reasons for failures. Int J Paediatr Dent. 2018;28(2):123-139. doi:10.1111/ipd.12346</a:t>
            </a:r>
          </a:p>
        </p:txBody>
      </p:sp>
      <p:sp>
        <p:nvSpPr>
          <p:cNvPr id="9" name="TextBox 8"/>
          <p:cNvSpPr txBox="1"/>
          <p:nvPr/>
        </p:nvSpPr>
        <p:spPr>
          <a:xfrm>
            <a:off x="6099048" y="1627632"/>
            <a:ext cx="5394960" cy="4480560"/>
          </a:xfrm>
          <a:prstGeom prst="rect">
            <a:avLst/>
          </a:prstGeom>
          <a:noFill/>
        </p:spPr>
        <p:txBody>
          <a:bodyPr wrap="square" lIns="0" rIns="0" tIns="0" bIns="0">
            <a:spAutoFit/>
          </a:bodyPr>
          <a:lstStyle/>
          <a:p>
            <a:pPr>
              <a:lnSpc>
                <a:spcPct val="100000"/>
              </a:lnSpc>
              <a:spcAft>
                <a:spcPts val="900"/>
              </a:spcAft>
            </a:pPr>
            <a:r>
              <a:rPr sz="900">
                <a:solidFill>
                  <a:srgbClr val="47646C"/>
                </a:solidFill>
                <a:latin typeface="Calibri"/>
              </a:rPr>
              <a:t>9. Joshi RS, Gokhale NS, Hugar SM, et al. Longevity of stainless steel crowns on primary molars: systematic review and meta-analysis. J Sci Soc. 2023;50(1):28-38. doi:10.4103/jss.jss_164_22</a:t>
            </a:r>
          </a:p>
          <a:p>
            <a:pPr>
              <a:lnSpc>
                <a:spcPct val="100000"/>
              </a:lnSpc>
              <a:spcAft>
                <a:spcPts val="900"/>
              </a:spcAft>
            </a:pPr>
            <a:r>
              <a:rPr sz="900">
                <a:solidFill>
                  <a:srgbClr val="47646C"/>
                </a:solidFill>
                <a:latin typeface="Calibri"/>
              </a:rPr>
              <a:t>10. Lampl S, Gurunathan D, Mehta D, Jogikalmat K. Reasons for crown failures in primary teeth: systematic review and meta-analysis. Interact J Med Res. 2025;14:e57958. doi:10.2196/57958</a:t>
            </a:r>
          </a:p>
          <a:p>
            <a:pPr>
              <a:lnSpc>
                <a:spcPct val="100000"/>
              </a:lnSpc>
              <a:spcAft>
                <a:spcPts val="900"/>
              </a:spcAft>
            </a:pPr>
            <a:r>
              <a:rPr sz="900">
                <a:solidFill>
                  <a:srgbClr val="47646C"/>
                </a:solidFill>
                <a:latin typeface="Calibri"/>
              </a:rPr>
              <a:t>11. Randall RC. Preformed metal crowns for primary and permanent molar teeth: review of the literature. Pediatr Dent. 2002;24(5):489-500. PMID 12412964.</a:t>
            </a:r>
          </a:p>
          <a:p>
            <a:pPr>
              <a:lnSpc>
                <a:spcPct val="100000"/>
              </a:lnSpc>
              <a:spcAft>
                <a:spcPts val="900"/>
              </a:spcAft>
            </a:pPr>
            <a:r>
              <a:rPr sz="900">
                <a:solidFill>
                  <a:srgbClr val="47646C"/>
                </a:solidFill>
                <a:latin typeface="Calibri"/>
              </a:rPr>
              <a:t>12. Amlani DV, Brizuela M. Stainless steel crowns in primary dentition. StatPearls. Treasure Island: StatPearls Publishing; 2023. PMID 34662061.</a:t>
            </a:r>
          </a:p>
          <a:p>
            <a:pPr>
              <a:lnSpc>
                <a:spcPct val="100000"/>
              </a:lnSpc>
              <a:spcAft>
                <a:spcPts val="900"/>
              </a:spcAft>
            </a:pPr>
            <a:r>
              <a:rPr sz="900">
                <a:solidFill>
                  <a:srgbClr val="47646C"/>
                </a:solidFill>
                <a:latin typeface="Calibri"/>
              </a:rPr>
              <a:t>13. AAPD. Use of vital pulp therapies in primary teeth with deep caries lesions. Reference Manual. Chicago: AAPD; 2025.</a:t>
            </a:r>
          </a:p>
          <a:p>
            <a:pPr>
              <a:lnSpc>
                <a:spcPct val="100000"/>
              </a:lnSpc>
              <a:spcAft>
                <a:spcPts val="900"/>
              </a:spcAft>
            </a:pPr>
            <a:r>
              <a:rPr sz="900">
                <a:solidFill>
                  <a:srgbClr val="47646C"/>
                </a:solidFill>
                <a:latin typeface="Calibri"/>
              </a:rPr>
              <a:t>14. AAPD. Molar-incisor hypomineralization. Reference Manual. Chicago: AAPD; 2025.</a:t>
            </a:r>
          </a:p>
          <a:p>
            <a:pPr>
              <a:lnSpc>
                <a:spcPct val="100000"/>
              </a:lnSpc>
              <a:spcAft>
                <a:spcPts val="900"/>
              </a:spcAft>
            </a:pPr>
            <a:r>
              <a:rPr sz="900">
                <a:solidFill>
                  <a:srgbClr val="47646C"/>
                </a:solidFill>
                <a:latin typeface="Calibri"/>
              </a:rPr>
              <a:t>15. Farias L, Campos MS, Dantas L, et al. Survival of stainless-steel crowns and composite resin restorations in molars affected by MIH. Int J Paediatr Dent. 2022;32(2):240-250. doi:10.1111/ipd.12849</a:t>
            </a:r>
          </a:p>
        </p:txBody>
      </p:sp>
      <p:sp>
        <p:nvSpPr>
          <p:cNvPr id="10" name="Rectangle 9"/>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Daftar lengkap dengan DOI dan PMID: research_notes.md</a:t>
            </a:r>
          </a:p>
        </p:txBody>
      </p:sp>
      <p:sp>
        <p:nvSpPr>
          <p:cNvPr id="12" name="TextBox 11"/>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DAFTAR PUSTAKA</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600" b="0" i="0">
                <a:solidFill>
                  <a:srgbClr val="15323A"/>
                </a:solidFill>
                <a:latin typeface="Georgia"/>
              </a:rPr>
              <a:t>Sumber 16–33 (Vancouver)</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17</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TextBox 7"/>
          <p:cNvSpPr txBox="1"/>
          <p:nvPr/>
        </p:nvSpPr>
        <p:spPr>
          <a:xfrm>
            <a:off x="566928" y="1627632"/>
            <a:ext cx="3520440" cy="4480560"/>
          </a:xfrm>
          <a:prstGeom prst="rect">
            <a:avLst/>
          </a:prstGeom>
          <a:noFill/>
        </p:spPr>
        <p:txBody>
          <a:bodyPr wrap="square" lIns="0" rIns="0" tIns="0" bIns="0">
            <a:spAutoFit/>
          </a:bodyPr>
          <a:lstStyle/>
          <a:p>
            <a:pPr>
              <a:lnSpc>
                <a:spcPct val="100000"/>
              </a:lnSpc>
              <a:spcAft>
                <a:spcPts val="900"/>
              </a:spcAft>
            </a:pPr>
            <a:r>
              <a:rPr sz="900">
                <a:solidFill>
                  <a:srgbClr val="47646C"/>
                </a:solidFill>
                <a:latin typeface="Calibri"/>
              </a:rPr>
              <a:t>16. Chaipattanawan N, et al. Longevity of stainless steel crowns as interim restorations on young permanent first molars after vital pulp therapy. Int J Paediatr Dent. 2022. doi:10.1111/ipd.12971</a:t>
            </a:r>
          </a:p>
          <a:p>
            <a:pPr>
              <a:lnSpc>
                <a:spcPct val="100000"/>
              </a:lnSpc>
              <a:spcAft>
                <a:spcPts val="900"/>
              </a:spcAft>
            </a:pPr>
            <a:r>
              <a:rPr sz="900">
                <a:solidFill>
                  <a:srgbClr val="47646C"/>
                </a:solidFill>
                <a:latin typeface="Calibri"/>
              </a:rPr>
              <a:t>17. Patnana AK, Chugh VK, Chugh A, Vanga NRV, Kumar P. Effectiveness of zirconia crowns compared with stainless steel crowns in primary posterior teeth: systematic review and meta-analysis. J Am Dent Assoc. 2022;153(2):158-166.e5. doi:10.1016/j.adaj.2021.08.005</a:t>
            </a:r>
          </a:p>
          <a:p>
            <a:pPr>
              <a:lnSpc>
                <a:spcPct val="100000"/>
              </a:lnSpc>
              <a:spcAft>
                <a:spcPts val="900"/>
              </a:spcAft>
            </a:pPr>
            <a:r>
              <a:rPr sz="900">
                <a:solidFill>
                  <a:srgbClr val="47646C"/>
                </a:solidFill>
                <a:latin typeface="Calibri"/>
              </a:rPr>
              <a:t>18. Pei SL, Chen MH. Comparison of periodontal health of primary teeth restored with zirconia and stainless steel crowns: systematic review and meta-analysis. J Formos Med Assoc. 2023;122(2):148-156. doi:10.1016/j.jfma.2022.08.015</a:t>
            </a:r>
          </a:p>
          <a:p>
            <a:pPr>
              <a:lnSpc>
                <a:spcPct val="100000"/>
              </a:lnSpc>
              <a:spcAft>
                <a:spcPts val="900"/>
              </a:spcAft>
            </a:pPr>
            <a:r>
              <a:rPr sz="900">
                <a:solidFill>
                  <a:srgbClr val="47646C"/>
                </a:solidFill>
                <a:latin typeface="Calibri"/>
              </a:rPr>
              <a:t>19. Aiem E, Smaïl-Faugeron V, Muller-Bolla M. Aesthetic preformed paediatric crowns: systematic review. Int J Paediatr Dent. 2017;27(4):273-282. doi:10.1111/ipd.12260</a:t>
            </a:r>
          </a:p>
          <a:p>
            <a:pPr>
              <a:lnSpc>
                <a:spcPct val="100000"/>
              </a:lnSpc>
              <a:spcAft>
                <a:spcPts val="900"/>
              </a:spcAft>
            </a:pPr>
            <a:r>
              <a:rPr sz="900">
                <a:solidFill>
                  <a:srgbClr val="47646C"/>
                </a:solidFill>
                <a:latin typeface="Calibri"/>
              </a:rPr>
              <a:t>20. Walia T, Salami AA, Bashiri R, Hamoodi OM, Rashid F. A randomised controlled trial of three aesthetic full-coronal restorations in primary maxillary teeth. Eur J Paediatr Dent. 2014;15(2):113-118. PMID 25102458.</a:t>
            </a:r>
          </a:p>
          <a:p>
            <a:pPr>
              <a:lnSpc>
                <a:spcPct val="100000"/>
              </a:lnSpc>
              <a:spcAft>
                <a:spcPts val="900"/>
              </a:spcAft>
            </a:pPr>
            <a:r>
              <a:rPr sz="900">
                <a:solidFill>
                  <a:srgbClr val="47646C"/>
                </a:solidFill>
                <a:latin typeface="Calibri"/>
              </a:rPr>
              <a:t>21. Virupaxi S, Pai R, Mandroli P. Retentive strength of luting cements for stainless steel crowns: a systematic review. J Indian Soc Pedod Prev Dent. 2020;38(1):2-7. doi:10.4103/JISPPD.JISPPD_313_19</a:t>
            </a:r>
          </a:p>
          <a:p>
            <a:pPr>
              <a:lnSpc>
                <a:spcPct val="100000"/>
              </a:lnSpc>
              <a:spcAft>
                <a:spcPts val="900"/>
              </a:spcAft>
            </a:pPr>
            <a:r>
              <a:rPr sz="900">
                <a:solidFill>
                  <a:srgbClr val="47646C"/>
                </a:solidFill>
                <a:latin typeface="Calibri"/>
              </a:rPr>
              <a:t>22. Scottish Dental Clinical Effectiveness Programme. Prevention and management of dental caries in children. 3rd ed. Dundee: SDCEP; 2025.</a:t>
            </a:r>
          </a:p>
          <a:p>
            <a:pPr>
              <a:lnSpc>
                <a:spcPct val="100000"/>
              </a:lnSpc>
              <a:spcAft>
                <a:spcPts val="900"/>
              </a:spcAft>
            </a:pPr>
            <a:r>
              <a:rPr sz="900">
                <a:solidFill>
                  <a:srgbClr val="47646C"/>
                </a:solidFill>
                <a:latin typeface="Calibri"/>
              </a:rPr>
              <a:t>23. Innes N, Evans D, Hall N. The Hall Technique. 4th ed. Dundee: University of Dundee; 2015.</a:t>
            </a:r>
          </a:p>
        </p:txBody>
      </p:sp>
      <p:sp>
        <p:nvSpPr>
          <p:cNvPr id="9" name="TextBox 8"/>
          <p:cNvSpPr txBox="1"/>
          <p:nvPr/>
        </p:nvSpPr>
        <p:spPr>
          <a:xfrm>
            <a:off x="4270248" y="1627632"/>
            <a:ext cx="3520440" cy="4480560"/>
          </a:xfrm>
          <a:prstGeom prst="rect">
            <a:avLst/>
          </a:prstGeom>
          <a:noFill/>
        </p:spPr>
        <p:txBody>
          <a:bodyPr wrap="square" lIns="0" rIns="0" tIns="0" bIns="0">
            <a:spAutoFit/>
          </a:bodyPr>
          <a:lstStyle/>
          <a:p>
            <a:pPr>
              <a:lnSpc>
                <a:spcPct val="100000"/>
              </a:lnSpc>
              <a:spcAft>
                <a:spcPts val="900"/>
              </a:spcAft>
            </a:pPr>
            <a:r>
              <a:rPr sz="900">
                <a:solidFill>
                  <a:srgbClr val="47646C"/>
                </a:solidFill>
                <a:latin typeface="Calibri"/>
              </a:rPr>
              <a:t>24. AAPD. Behavior guidance for the pediatric dental patient. Reference Manual. Chicago: AAPD; 2025.</a:t>
            </a:r>
          </a:p>
          <a:p>
            <a:pPr>
              <a:lnSpc>
                <a:spcPct val="100000"/>
              </a:lnSpc>
              <a:spcAft>
                <a:spcPts val="900"/>
              </a:spcAft>
            </a:pPr>
            <a:r>
              <a:rPr sz="900">
                <a:solidFill>
                  <a:srgbClr val="47646C"/>
                </a:solidFill>
                <a:latin typeface="Calibri"/>
              </a:rPr>
              <a:t>25. AAPD. Use of local anesthesia for pediatric dental patients. Reference Manual. Chicago: AAPD; 2025.</a:t>
            </a:r>
          </a:p>
          <a:p>
            <a:pPr>
              <a:lnSpc>
                <a:spcPct val="100000"/>
              </a:lnSpc>
              <a:spcAft>
                <a:spcPts val="900"/>
              </a:spcAft>
            </a:pPr>
            <a:r>
              <a:rPr sz="900">
                <a:solidFill>
                  <a:srgbClr val="47646C"/>
                </a:solidFill>
                <a:latin typeface="Calibri"/>
              </a:rPr>
              <a:t>26. AAPD. Informed consent. Reference Manual. Chicago: AAPD; 2025.</a:t>
            </a:r>
          </a:p>
          <a:p>
            <a:pPr>
              <a:lnSpc>
                <a:spcPct val="100000"/>
              </a:lnSpc>
              <a:spcAft>
                <a:spcPts val="900"/>
              </a:spcAft>
            </a:pPr>
            <a:r>
              <a:rPr sz="900">
                <a:solidFill>
                  <a:srgbClr val="47646C"/>
                </a:solidFill>
                <a:latin typeface="Calibri"/>
              </a:rPr>
              <a:t>27. Ahlström MG, Thyssen JP, Wennervaldt M, Menné T, Johansen JD. Nickel allergy and allergic contact dermatitis. Contact Dermatitis. 2019;81(4):227-241. doi:10.1111/cod.13327</a:t>
            </a:r>
          </a:p>
          <a:p>
            <a:pPr>
              <a:lnSpc>
                <a:spcPct val="100000"/>
              </a:lnSpc>
              <a:spcAft>
                <a:spcPts val="900"/>
              </a:spcAft>
            </a:pPr>
            <a:r>
              <a:rPr sz="900">
                <a:solidFill>
                  <a:srgbClr val="47646C"/>
                </a:solidFill>
                <a:latin typeface="Calibri"/>
              </a:rPr>
              <a:t>28. Kementerian Kesehatan RI. Laporan Nasional Riskesdas 2018. Jakarta: Badan Litbangkes; 2019.</a:t>
            </a:r>
          </a:p>
          <a:p>
            <a:pPr>
              <a:lnSpc>
                <a:spcPct val="100000"/>
              </a:lnSpc>
              <a:spcAft>
                <a:spcPts val="900"/>
              </a:spcAft>
            </a:pPr>
            <a:r>
              <a:rPr sz="900">
                <a:solidFill>
                  <a:srgbClr val="47646C"/>
                </a:solidFill>
                <a:latin typeface="Calibri"/>
              </a:rPr>
              <a:t>29. Kementerian Kesehatan RI. Survei Kesehatan Indonesia 2023. Jakarta: Kemenkes RI; 2024.</a:t>
            </a:r>
          </a:p>
          <a:p>
            <a:pPr>
              <a:lnSpc>
                <a:spcPct val="100000"/>
              </a:lnSpc>
              <a:spcAft>
                <a:spcPts val="900"/>
              </a:spcAft>
            </a:pPr>
            <a:r>
              <a:rPr sz="900">
                <a:solidFill>
                  <a:srgbClr val="47646C"/>
                </a:solidFill>
                <a:latin typeface="Calibri"/>
              </a:rPr>
              <a:t>30. Miao C, Yang J, Zhu H, et al. Rubber dam isolation for restorative treatment in dental patients. Cochrane Database Syst Rev. 2021;5:CD009858. doi:10.1002/14651858.CD009858.pub3</a:t>
            </a:r>
          </a:p>
          <a:p>
            <a:pPr>
              <a:lnSpc>
                <a:spcPct val="100000"/>
              </a:lnSpc>
              <a:spcAft>
                <a:spcPts val="900"/>
              </a:spcAft>
            </a:pPr>
            <a:r>
              <a:rPr sz="900">
                <a:solidFill>
                  <a:srgbClr val="47646C"/>
                </a:solidFill>
                <a:latin typeface="Calibri"/>
              </a:rPr>
              <a:t>31. Seale NS. The use of stainless steel crowns. Pediatr Dent. 2002;24(5):501-505. PMID 12412965.</a:t>
            </a:r>
          </a:p>
        </p:txBody>
      </p:sp>
      <p:sp>
        <p:nvSpPr>
          <p:cNvPr id="10" name="TextBox 9"/>
          <p:cNvSpPr txBox="1"/>
          <p:nvPr/>
        </p:nvSpPr>
        <p:spPr>
          <a:xfrm>
            <a:off x="7973567" y="1627632"/>
            <a:ext cx="3520440" cy="4480560"/>
          </a:xfrm>
          <a:prstGeom prst="rect">
            <a:avLst/>
          </a:prstGeom>
          <a:noFill/>
        </p:spPr>
        <p:txBody>
          <a:bodyPr wrap="square" lIns="0" rIns="0" tIns="0" bIns="0">
            <a:spAutoFit/>
          </a:bodyPr>
          <a:lstStyle/>
          <a:p>
            <a:pPr>
              <a:lnSpc>
                <a:spcPct val="100000"/>
              </a:lnSpc>
              <a:spcAft>
                <a:spcPts val="900"/>
              </a:spcAft>
            </a:pPr>
            <a:r>
              <a:rPr sz="900">
                <a:solidFill>
                  <a:srgbClr val="47646C"/>
                </a:solidFill>
                <a:latin typeface="Calibri"/>
              </a:rPr>
              <a:t>32. Seale NS, Randall R. The use of stainless steel crowns: a systematic literature review. Pediatr Dent. 2015;37(2):145-160. PMID 25905656.</a:t>
            </a:r>
          </a:p>
          <a:p>
            <a:pPr>
              <a:lnSpc>
                <a:spcPct val="100000"/>
              </a:lnSpc>
              <a:spcAft>
                <a:spcPts val="900"/>
              </a:spcAft>
            </a:pPr>
            <a:r>
              <a:rPr sz="900">
                <a:solidFill>
                  <a:srgbClr val="47646C"/>
                </a:solidFill>
                <a:latin typeface="Calibri"/>
              </a:rPr>
              <a:t>33. American Academy of Pediatric Dentistry. Caries-risk assessment and management for infants, children, and adolescents. Reference Manual. Chicago: AAPD; 2025.</a:t>
            </a:r>
          </a:p>
        </p:txBody>
      </p:sp>
      <p:sp>
        <p:nvSpPr>
          <p:cNvPr id="11" name="Rectangle 10"/>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Daftar lengkap dengan DOI dan PMID: research_notes.md</a:t>
            </a:r>
          </a:p>
        </p:txBody>
      </p:sp>
      <p:sp>
        <p:nvSpPr>
          <p:cNvPr id="13" name="TextBox 12"/>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65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9601200" cy="219456"/>
          </a:xfrm>
          <a:prstGeom prst="rect">
            <a:avLst/>
          </a:prstGeom>
          <a:noFill/>
        </p:spPr>
        <p:txBody>
          <a:bodyPr wrap="square" lIns="0" rIns="0" tIns="0" bIns="0" anchor="t">
            <a:spAutoFit/>
          </a:bodyPr>
          <a:lstStyle/>
          <a:p>
            <a:pPr algn="l">
              <a:lnSpc>
                <a:spcPct val="112000"/>
              </a:lnSpc>
              <a:spcAft>
                <a:spcPts val="0"/>
              </a:spcAft>
            </a:pPr>
            <a:r>
              <a:rPr sz="950" b="1" i="0" spc="180">
                <a:solidFill>
                  <a:srgbClr val="C65B45"/>
                </a:solidFill>
                <a:latin typeface="Calibri"/>
              </a:rPr>
              <a:t>LAMPIRAN</a:t>
            </a:r>
          </a:p>
        </p:txBody>
      </p:sp>
      <p:sp>
        <p:nvSpPr>
          <p:cNvPr id="5" name="TextBox 4"/>
          <p:cNvSpPr txBox="1"/>
          <p:nvPr/>
        </p:nvSpPr>
        <p:spPr>
          <a:xfrm>
            <a:off x="566928" y="603504"/>
            <a:ext cx="10607040" cy="960120"/>
          </a:xfrm>
          <a:prstGeom prst="rect">
            <a:avLst/>
          </a:prstGeom>
          <a:noFill/>
        </p:spPr>
        <p:txBody>
          <a:bodyPr wrap="square" lIns="0" rIns="0" tIns="0" bIns="0" anchor="t">
            <a:spAutoFit/>
          </a:bodyPr>
          <a:lstStyle/>
          <a:p>
            <a:pPr algn="l">
              <a:lnSpc>
                <a:spcPct val="103000"/>
              </a:lnSpc>
              <a:spcAft>
                <a:spcPts val="0"/>
              </a:spcAft>
            </a:pPr>
            <a:r>
              <a:rPr sz="2600" b="0" i="0">
                <a:solidFill>
                  <a:srgbClr val="15323A"/>
                </a:solidFill>
                <a:latin typeface="Georgia"/>
              </a:rPr>
              <a:t>Protokol satu halaman untuk dibawa ke klinik</a:t>
            </a:r>
          </a:p>
        </p:txBody>
      </p:sp>
      <p:sp>
        <p:nvSpPr>
          <p:cNvPr id="6" name="TextBox 5"/>
          <p:cNvSpPr txBox="1"/>
          <p:nvPr/>
        </p:nvSpPr>
        <p:spPr>
          <a:xfrm>
            <a:off x="11292840" y="384048"/>
            <a:ext cx="411480" cy="201168"/>
          </a:xfrm>
          <a:prstGeom prst="rect">
            <a:avLst/>
          </a:prstGeom>
          <a:noFill/>
        </p:spPr>
        <p:txBody>
          <a:bodyPr wrap="square" lIns="0" rIns="0" tIns="0" bIns="0" anchor="t">
            <a:spAutoFit/>
          </a:bodyPr>
          <a:lstStyle/>
          <a:p>
            <a:pPr algn="r">
              <a:lnSpc>
                <a:spcPct val="112000"/>
              </a:lnSpc>
              <a:spcAft>
                <a:spcPts val="0"/>
              </a:spcAft>
            </a:pPr>
            <a:r>
              <a:rPr sz="850" b="0" i="0">
                <a:solidFill>
                  <a:srgbClr val="7D8F93"/>
                </a:solidFill>
                <a:latin typeface="Calibri"/>
              </a:rPr>
              <a:t>18</a:t>
            </a:r>
          </a:p>
        </p:txBody>
      </p:sp>
      <p:sp>
        <p:nvSpPr>
          <p:cNvPr id="7" name="Rounded Rectangle 6">
            <a:hlinkClick action="ppaction://hlinksldjump" r:id="rId3"/>
          </p:cNvPr>
          <p:cNvSpPr/>
          <p:nvPr/>
        </p:nvSpPr>
        <p:spPr>
          <a:xfrm>
            <a:off x="10561320" y="310896"/>
            <a:ext cx="713232" cy="274320"/>
          </a:xfrm>
          <a:prstGeom prst="roundRect">
            <a:avLst>
              <a:gd name="adj" fmla="val 50000"/>
            </a:avLst>
          </a:prstGeom>
          <a:noFill/>
          <a:ln w="9525">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47646C"/>
                </a:solidFill>
                <a:latin typeface="Calibri"/>
              </a:rPr>
              <a:t>Agenda</a:t>
            </a:r>
          </a:p>
        </p:txBody>
      </p:sp>
      <p:sp>
        <p:nvSpPr>
          <p:cNvPr id="8" name="TextBox 7"/>
          <p:cNvSpPr txBox="1"/>
          <p:nvPr/>
        </p:nvSpPr>
        <p:spPr>
          <a:xfrm>
            <a:off x="566928" y="1664208"/>
            <a:ext cx="2651760" cy="274320"/>
          </a:xfrm>
          <a:prstGeom prst="rect">
            <a:avLst/>
          </a:prstGeom>
          <a:noFill/>
        </p:spPr>
        <p:txBody>
          <a:bodyPr wrap="square" lIns="0" rIns="0" tIns="0" bIns="0" anchor="t">
            <a:spAutoFit/>
          </a:bodyPr>
          <a:lstStyle/>
          <a:p>
            <a:pPr algn="l">
              <a:lnSpc>
                <a:spcPct val="112000"/>
              </a:lnSpc>
              <a:spcAft>
                <a:spcPts val="0"/>
              </a:spcAft>
            </a:pPr>
            <a:r>
              <a:rPr sz="819" b="1" i="0" spc="50">
                <a:solidFill>
                  <a:srgbClr val="C65B45"/>
                </a:solidFill>
                <a:latin typeface="Calibri"/>
              </a:rPr>
              <a:t>SEBELUM TINDAKAN</a:t>
            </a:r>
          </a:p>
        </p:txBody>
      </p:sp>
      <p:sp>
        <p:nvSpPr>
          <p:cNvPr id="9" name="TextBox 8"/>
          <p:cNvSpPr txBox="1"/>
          <p:nvPr/>
        </p:nvSpPr>
        <p:spPr>
          <a:xfrm>
            <a:off x="566928" y="201168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Riwayat nyeri, swelling, fistula</a:t>
            </a:r>
          </a:p>
        </p:txBody>
      </p:sp>
      <p:sp>
        <p:nvSpPr>
          <p:cNvPr id="10" name="TextBox 9"/>
          <p:cNvSpPr txBox="1"/>
          <p:nvPr/>
        </p:nvSpPr>
        <p:spPr>
          <a:xfrm>
            <a:off x="566928" y="237744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Riwayat medis dan alergi nikel</a:t>
            </a:r>
          </a:p>
        </p:txBody>
      </p:sp>
      <p:sp>
        <p:nvSpPr>
          <p:cNvPr id="11" name="TextBox 10"/>
          <p:cNvSpPr txBox="1"/>
          <p:nvPr/>
        </p:nvSpPr>
        <p:spPr>
          <a:xfrm>
            <a:off x="566928" y="274320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Karies, pulpa, gingiva, oklusi</a:t>
            </a:r>
          </a:p>
        </p:txBody>
      </p:sp>
      <p:sp>
        <p:nvSpPr>
          <p:cNvPr id="12" name="TextBox 11"/>
          <p:cNvSpPr txBox="1"/>
          <p:nvPr/>
        </p:nvSpPr>
        <p:spPr>
          <a:xfrm>
            <a:off x="566928" y="310896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Radiograf dan dentine bridge</a:t>
            </a:r>
          </a:p>
        </p:txBody>
      </p:sp>
      <p:sp>
        <p:nvSpPr>
          <p:cNvPr id="13" name="TextBox 12"/>
          <p:cNvSpPr txBox="1"/>
          <p:nvPr/>
        </p:nvSpPr>
        <p:spPr>
          <a:xfrm>
            <a:off x="566928" y="347472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Pilih teknik dan ukuran</a:t>
            </a:r>
          </a:p>
        </p:txBody>
      </p:sp>
      <p:sp>
        <p:nvSpPr>
          <p:cNvPr id="14" name="TextBox 13"/>
          <p:cNvSpPr txBox="1"/>
          <p:nvPr/>
        </p:nvSpPr>
        <p:spPr>
          <a:xfrm>
            <a:off x="566928" y="384048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Informed consent</a:t>
            </a:r>
          </a:p>
        </p:txBody>
      </p:sp>
      <p:sp>
        <p:nvSpPr>
          <p:cNvPr id="15" name="TextBox 14"/>
          <p:cNvSpPr txBox="1"/>
          <p:nvPr/>
        </p:nvSpPr>
        <p:spPr>
          <a:xfrm>
            <a:off x="566928" y="420624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Rencana behavior guidance</a:t>
            </a:r>
          </a:p>
        </p:txBody>
      </p:sp>
      <p:sp>
        <p:nvSpPr>
          <p:cNvPr id="16" name="TextBox 15"/>
          <p:cNvSpPr txBox="1"/>
          <p:nvPr/>
        </p:nvSpPr>
        <p:spPr>
          <a:xfrm>
            <a:off x="3355848" y="1664208"/>
            <a:ext cx="2651760" cy="274320"/>
          </a:xfrm>
          <a:prstGeom prst="rect">
            <a:avLst/>
          </a:prstGeom>
          <a:noFill/>
        </p:spPr>
        <p:txBody>
          <a:bodyPr wrap="square" lIns="0" rIns="0" tIns="0" bIns="0" anchor="t">
            <a:spAutoFit/>
          </a:bodyPr>
          <a:lstStyle/>
          <a:p>
            <a:pPr algn="l">
              <a:lnSpc>
                <a:spcPct val="112000"/>
              </a:lnSpc>
              <a:spcAft>
                <a:spcPts val="0"/>
              </a:spcAft>
            </a:pPr>
            <a:r>
              <a:rPr sz="819" b="1" i="0" spc="50">
                <a:solidFill>
                  <a:srgbClr val="C65B45"/>
                </a:solidFill>
                <a:latin typeface="Calibri"/>
              </a:rPr>
              <a:t>KONVENSIONAL 1–5</a:t>
            </a:r>
          </a:p>
        </p:txBody>
      </p:sp>
      <p:sp>
        <p:nvSpPr>
          <p:cNvPr id="17" name="TextBox 16"/>
          <p:cNvSpPr txBox="1"/>
          <p:nvPr/>
        </p:nvSpPr>
        <p:spPr>
          <a:xfrm>
            <a:off x="3355848" y="201168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1 Anestesi dan isolasi</a:t>
            </a:r>
          </a:p>
        </p:txBody>
      </p:sp>
      <p:sp>
        <p:nvSpPr>
          <p:cNvPr id="18" name="TextBox 17"/>
          <p:cNvSpPr txBox="1"/>
          <p:nvPr/>
        </p:nvSpPr>
        <p:spPr>
          <a:xfrm>
            <a:off x="3355848" y="237744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2 Ukur dan pilih crown</a:t>
            </a:r>
          </a:p>
        </p:txBody>
      </p:sp>
      <p:sp>
        <p:nvSpPr>
          <p:cNvPr id="19" name="TextBox 18"/>
          <p:cNvSpPr txBox="1"/>
          <p:nvPr/>
        </p:nvSpPr>
        <p:spPr>
          <a:xfrm>
            <a:off x="3355848" y="274320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3 Ekskavasi, pulp therapy</a:t>
            </a:r>
          </a:p>
        </p:txBody>
      </p:sp>
      <p:sp>
        <p:nvSpPr>
          <p:cNvPr id="20" name="TextBox 19"/>
          <p:cNvSpPr txBox="1"/>
          <p:nvPr/>
        </p:nvSpPr>
        <p:spPr>
          <a:xfrm>
            <a:off x="3355848" y="310896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4 Reduksi oklusal 1,0–1,5 mm</a:t>
            </a:r>
          </a:p>
        </p:txBody>
      </p:sp>
      <p:sp>
        <p:nvSpPr>
          <p:cNvPr id="21" name="TextBox 20"/>
          <p:cNvSpPr txBox="1"/>
          <p:nvPr/>
        </p:nvSpPr>
        <p:spPr>
          <a:xfrm>
            <a:off x="3355848" y="347472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5 Reduksi proksimal, feather edge</a:t>
            </a:r>
          </a:p>
        </p:txBody>
      </p:sp>
      <p:sp>
        <p:nvSpPr>
          <p:cNvPr id="22" name="TextBox 21"/>
          <p:cNvSpPr txBox="1"/>
          <p:nvPr/>
        </p:nvSpPr>
        <p:spPr>
          <a:xfrm>
            <a:off x="6144768" y="1664208"/>
            <a:ext cx="2651760" cy="274320"/>
          </a:xfrm>
          <a:prstGeom prst="rect">
            <a:avLst/>
          </a:prstGeom>
          <a:noFill/>
        </p:spPr>
        <p:txBody>
          <a:bodyPr wrap="square" lIns="0" rIns="0" tIns="0" bIns="0" anchor="t">
            <a:spAutoFit/>
          </a:bodyPr>
          <a:lstStyle/>
          <a:p>
            <a:pPr algn="l">
              <a:lnSpc>
                <a:spcPct val="112000"/>
              </a:lnSpc>
              <a:spcAft>
                <a:spcPts val="0"/>
              </a:spcAft>
            </a:pPr>
            <a:r>
              <a:rPr sz="819" b="1" i="0" spc="50">
                <a:solidFill>
                  <a:srgbClr val="C65B45"/>
                </a:solidFill>
                <a:latin typeface="Calibri"/>
              </a:rPr>
              <a:t>KONVENSIONAL 6–10</a:t>
            </a:r>
          </a:p>
        </p:txBody>
      </p:sp>
      <p:sp>
        <p:nvSpPr>
          <p:cNvPr id="23" name="TextBox 22"/>
          <p:cNvSpPr txBox="1"/>
          <p:nvPr/>
        </p:nvSpPr>
        <p:spPr>
          <a:xfrm>
            <a:off x="6144768" y="201168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6 Haluskan line angle</a:t>
            </a:r>
          </a:p>
        </p:txBody>
      </p:sp>
      <p:sp>
        <p:nvSpPr>
          <p:cNvPr id="24" name="TextBox 23"/>
          <p:cNvSpPr txBox="1"/>
          <p:nvPr/>
        </p:nvSpPr>
        <p:spPr>
          <a:xfrm>
            <a:off x="6144768" y="237744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7 Try-in</a:t>
            </a:r>
          </a:p>
        </p:txBody>
      </p:sp>
      <p:sp>
        <p:nvSpPr>
          <p:cNvPr id="25" name="TextBox 24"/>
          <p:cNvSpPr txBox="1"/>
          <p:nvPr/>
        </p:nvSpPr>
        <p:spPr>
          <a:xfrm>
            <a:off x="6144768" y="274320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8 Trim, crimp, contour</a:t>
            </a:r>
          </a:p>
        </p:txBody>
      </p:sp>
      <p:sp>
        <p:nvSpPr>
          <p:cNvPr id="26" name="TextBox 25"/>
          <p:cNvSpPr txBox="1"/>
          <p:nvPr/>
        </p:nvSpPr>
        <p:spPr>
          <a:xfrm>
            <a:off x="6144768" y="310896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9 Sementasi</a:t>
            </a:r>
          </a:p>
        </p:txBody>
      </p:sp>
      <p:sp>
        <p:nvSpPr>
          <p:cNvPr id="27" name="TextBox 26"/>
          <p:cNvSpPr txBox="1"/>
          <p:nvPr/>
        </p:nvSpPr>
        <p:spPr>
          <a:xfrm>
            <a:off x="6144768" y="347472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10 Cek akhir dan instruksi</a:t>
            </a:r>
          </a:p>
        </p:txBody>
      </p:sp>
      <p:sp>
        <p:nvSpPr>
          <p:cNvPr id="28" name="TextBox 27"/>
          <p:cNvSpPr txBox="1"/>
          <p:nvPr/>
        </p:nvSpPr>
        <p:spPr>
          <a:xfrm>
            <a:off x="8933687" y="1664208"/>
            <a:ext cx="2651760" cy="274320"/>
          </a:xfrm>
          <a:prstGeom prst="rect">
            <a:avLst/>
          </a:prstGeom>
          <a:noFill/>
        </p:spPr>
        <p:txBody>
          <a:bodyPr wrap="square" lIns="0" rIns="0" tIns="0" bIns="0" anchor="t">
            <a:spAutoFit/>
          </a:bodyPr>
          <a:lstStyle/>
          <a:p>
            <a:pPr algn="l">
              <a:lnSpc>
                <a:spcPct val="112000"/>
              </a:lnSpc>
              <a:spcAft>
                <a:spcPts val="0"/>
              </a:spcAft>
            </a:pPr>
            <a:r>
              <a:rPr sz="819" b="1" i="0" spc="50">
                <a:solidFill>
                  <a:srgbClr val="C65B45"/>
                </a:solidFill>
                <a:latin typeface="Calibri"/>
              </a:rPr>
              <a:t>HALL, KONTROL, KEGAGALAN</a:t>
            </a:r>
          </a:p>
        </p:txBody>
      </p:sp>
      <p:sp>
        <p:nvSpPr>
          <p:cNvPr id="29" name="TextBox 28"/>
          <p:cNvSpPr txBox="1"/>
          <p:nvPr/>
        </p:nvSpPr>
        <p:spPr>
          <a:xfrm>
            <a:off x="8933687" y="201168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Vital, dentine bridge jelas</a:t>
            </a:r>
          </a:p>
        </p:txBody>
      </p:sp>
      <p:sp>
        <p:nvSpPr>
          <p:cNvPr id="30" name="TextBox 29"/>
          <p:cNvSpPr txBox="1"/>
          <p:nvPr/>
        </p:nvSpPr>
        <p:spPr>
          <a:xfrm>
            <a:off x="8933687" y="237744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Separator 3–5 hari</a:t>
            </a:r>
          </a:p>
        </p:txBody>
      </p:sp>
      <p:sp>
        <p:nvSpPr>
          <p:cNvPr id="31" name="TextBox 30"/>
          <p:cNvSpPr txBox="1"/>
          <p:nvPr/>
        </p:nvSpPr>
        <p:spPr>
          <a:xfrm>
            <a:off x="8933687" y="274320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GIC dua pertiga, bite 2–3 menit</a:t>
            </a:r>
          </a:p>
        </p:txBody>
      </p:sp>
      <p:sp>
        <p:nvSpPr>
          <p:cNvPr id="32" name="TextBox 31"/>
          <p:cNvSpPr txBox="1"/>
          <p:nvPr/>
        </p:nvSpPr>
        <p:spPr>
          <a:xfrm>
            <a:off x="8933687" y="310896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Kontrol 6 bulan</a:t>
            </a:r>
          </a:p>
        </p:txBody>
      </p:sp>
      <p:sp>
        <p:nvSpPr>
          <p:cNvPr id="33" name="TextBox 32"/>
          <p:cNvSpPr txBox="1"/>
          <p:nvPr/>
        </p:nvSpPr>
        <p:spPr>
          <a:xfrm>
            <a:off x="8933687" y="347472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Radiograf 6–12 bulan</a:t>
            </a:r>
          </a:p>
        </p:txBody>
      </p:sp>
      <p:sp>
        <p:nvSpPr>
          <p:cNvPr id="34" name="TextBox 33"/>
          <p:cNvSpPr txBox="1"/>
          <p:nvPr/>
        </p:nvSpPr>
        <p:spPr>
          <a:xfrm>
            <a:off x="8933687" y="3840480"/>
            <a:ext cx="2651760" cy="274320"/>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Sukses, gagal minor, gagal mayor</a:t>
            </a:r>
          </a:p>
        </p:txBody>
      </p:sp>
      <p:sp>
        <p:nvSpPr>
          <p:cNvPr id="35" name="Rounded Rectangle 34"/>
          <p:cNvSpPr/>
          <p:nvPr/>
        </p:nvSpPr>
        <p:spPr>
          <a:xfrm>
            <a:off x="566928" y="4434840"/>
            <a:ext cx="5303520" cy="1170432"/>
          </a:xfrm>
          <a:prstGeom prst="roundRect">
            <a:avLst>
              <a:gd name="adj" fmla="val 9000"/>
            </a:avLst>
          </a:prstGeom>
          <a:solidFill>
            <a:srgbClr val="FDF8EF"/>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8" y="4526280"/>
            <a:ext cx="4937760" cy="256032"/>
          </a:xfrm>
          <a:prstGeom prst="rect">
            <a:avLst/>
          </a:prstGeom>
          <a:noFill/>
        </p:spPr>
        <p:txBody>
          <a:bodyPr wrap="square" lIns="0" rIns="0" tIns="0" bIns="0" anchor="t">
            <a:spAutoFit/>
          </a:bodyPr>
          <a:lstStyle/>
          <a:p>
            <a:pPr algn="l">
              <a:lnSpc>
                <a:spcPct val="112000"/>
              </a:lnSpc>
              <a:spcAft>
                <a:spcPts val="0"/>
              </a:spcAft>
            </a:pPr>
            <a:r>
              <a:rPr sz="819" b="1" i="0" spc="50">
                <a:solidFill>
                  <a:srgbClr val="C65B45"/>
                </a:solidFill>
                <a:latin typeface="Calibri"/>
              </a:rPr>
              <a:t>ANGKA KUNCI</a:t>
            </a:r>
          </a:p>
        </p:txBody>
      </p:sp>
      <p:sp>
        <p:nvSpPr>
          <p:cNvPr id="37" name="TextBox 36"/>
          <p:cNvSpPr txBox="1"/>
          <p:nvPr/>
        </p:nvSpPr>
        <p:spPr>
          <a:xfrm>
            <a:off x="749808" y="4809744"/>
            <a:ext cx="4937760" cy="201168"/>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Success SSC 96,1% (Chisini 2018)</a:t>
            </a:r>
          </a:p>
        </p:txBody>
      </p:sp>
      <p:sp>
        <p:nvSpPr>
          <p:cNvPr id="38" name="TextBox 37"/>
          <p:cNvSpPr txBox="1"/>
          <p:nvPr/>
        </p:nvSpPr>
        <p:spPr>
          <a:xfrm>
            <a:off x="749808" y="4992624"/>
            <a:ext cx="4937760" cy="201168"/>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Gagal mayor RR 0,18 (Cochrane 2015)</a:t>
            </a:r>
          </a:p>
        </p:txBody>
      </p:sp>
      <p:sp>
        <p:nvSpPr>
          <p:cNvPr id="39" name="TextBox 38"/>
          <p:cNvSpPr txBox="1"/>
          <p:nvPr/>
        </p:nvSpPr>
        <p:spPr>
          <a:xfrm>
            <a:off x="749808" y="5175504"/>
            <a:ext cx="4937760" cy="201168"/>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Hall 92% vs 52% (Innes 2011)</a:t>
            </a:r>
          </a:p>
        </p:txBody>
      </p:sp>
      <p:sp>
        <p:nvSpPr>
          <p:cNvPr id="40" name="TextBox 39"/>
          <p:cNvSpPr txBox="1"/>
          <p:nvPr/>
        </p:nvSpPr>
        <p:spPr>
          <a:xfrm>
            <a:off x="749808" y="5358384"/>
            <a:ext cx="4937760" cy="201168"/>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Retensi 5 tahun 97,88% (Lampl 2025)</a:t>
            </a:r>
          </a:p>
        </p:txBody>
      </p:sp>
      <p:sp>
        <p:nvSpPr>
          <p:cNvPr id="41" name="Rounded Rectangle 40"/>
          <p:cNvSpPr/>
          <p:nvPr/>
        </p:nvSpPr>
        <p:spPr>
          <a:xfrm>
            <a:off x="6144768" y="4434840"/>
            <a:ext cx="5303520" cy="1170432"/>
          </a:xfrm>
          <a:prstGeom prst="roundRect">
            <a:avLst>
              <a:gd name="adj" fmla="val 9000"/>
            </a:avLst>
          </a:prstGeom>
          <a:solidFill>
            <a:srgbClr val="FDF8EF"/>
          </a:solidFill>
          <a:ln w="12700">
            <a:solidFill>
              <a:srgbClr val="E3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27648" y="4526280"/>
            <a:ext cx="4937760" cy="256032"/>
          </a:xfrm>
          <a:prstGeom prst="rect">
            <a:avLst/>
          </a:prstGeom>
          <a:noFill/>
        </p:spPr>
        <p:txBody>
          <a:bodyPr wrap="square" lIns="0" rIns="0" tIns="0" bIns="0" anchor="t">
            <a:spAutoFit/>
          </a:bodyPr>
          <a:lstStyle/>
          <a:p>
            <a:pPr algn="l">
              <a:lnSpc>
                <a:spcPct val="112000"/>
              </a:lnSpc>
              <a:spcAft>
                <a:spcPts val="0"/>
              </a:spcAft>
            </a:pPr>
            <a:r>
              <a:rPr sz="819" b="1" i="0" spc="50">
                <a:solidFill>
                  <a:srgbClr val="C65B45"/>
                </a:solidFill>
                <a:latin typeface="Calibri"/>
              </a:rPr>
              <a:t>PENYULIT DAN TINDAKAN</a:t>
            </a:r>
          </a:p>
        </p:txBody>
      </p:sp>
      <p:sp>
        <p:nvSpPr>
          <p:cNvPr id="43" name="TextBox 42"/>
          <p:cNvSpPr txBox="1"/>
          <p:nvPr/>
        </p:nvSpPr>
        <p:spPr>
          <a:xfrm>
            <a:off x="6327648" y="4809744"/>
            <a:ext cx="4937760" cy="201168"/>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Longgar: ukuran lebih kecil, crimp ulang</a:t>
            </a:r>
          </a:p>
        </p:txBody>
      </p:sp>
      <p:sp>
        <p:nvSpPr>
          <p:cNvPr id="44" name="TextBox 43"/>
          <p:cNvSpPr txBox="1"/>
          <p:nvPr/>
        </p:nvSpPr>
        <p:spPr>
          <a:xfrm>
            <a:off x="6327648" y="4992624"/>
            <a:ext cx="4937760" cy="201168"/>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Tidak duduk: periksa ledge dan kontak</a:t>
            </a:r>
          </a:p>
        </p:txBody>
      </p:sp>
      <p:sp>
        <p:nvSpPr>
          <p:cNvPr id="45" name="TextBox 44"/>
          <p:cNvSpPr txBox="1"/>
          <p:nvPr/>
        </p:nvSpPr>
        <p:spPr>
          <a:xfrm>
            <a:off x="6327648" y="5175504"/>
            <a:ext cx="4937760" cy="201168"/>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Perforasi: ganti crown</a:t>
            </a:r>
          </a:p>
        </p:txBody>
      </p:sp>
      <p:sp>
        <p:nvSpPr>
          <p:cNvPr id="46" name="TextBox 45"/>
          <p:cNvSpPr txBox="1"/>
          <p:nvPr/>
        </p:nvSpPr>
        <p:spPr>
          <a:xfrm>
            <a:off x="6327648" y="5358384"/>
            <a:ext cx="4937760" cy="201168"/>
          </a:xfrm>
          <a:prstGeom prst="rect">
            <a:avLst/>
          </a:prstGeom>
          <a:noFill/>
        </p:spPr>
        <p:txBody>
          <a:bodyPr wrap="square" lIns="0" rIns="0" tIns="0" bIns="0" anchor="t">
            <a:spAutoFit/>
          </a:bodyPr>
          <a:lstStyle/>
          <a:p>
            <a:pPr algn="l">
              <a:lnSpc>
                <a:spcPct val="112000"/>
              </a:lnSpc>
              <a:spcAft>
                <a:spcPts val="0"/>
              </a:spcAft>
            </a:pPr>
            <a:r>
              <a:rPr sz="860" b="0" i="0">
                <a:solidFill>
                  <a:srgbClr val="47646C"/>
                </a:solidFill>
                <a:latin typeface="Calibri"/>
              </a:rPr>
              <a:t>•  Lepas: recement bila crown intak</a:t>
            </a:r>
          </a:p>
        </p:txBody>
      </p:sp>
      <p:sp>
        <p:nvSpPr>
          <p:cNvPr id="47" name="TextBox 46"/>
          <p:cNvSpPr txBox="1"/>
          <p:nvPr/>
        </p:nvSpPr>
        <p:spPr>
          <a:xfrm>
            <a:off x="566928" y="5760720"/>
            <a:ext cx="10607040" cy="320040"/>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Protokol lengkap: protokol_klinis.md. Angka dan DOI: research_notes.md.</a:t>
            </a:r>
          </a:p>
        </p:txBody>
      </p:sp>
      <p:sp>
        <p:nvSpPr>
          <p:cNvPr id="48" name="Rectangle 47"/>
          <p:cNvSpPr/>
          <p:nvPr/>
        </p:nvSpPr>
        <p:spPr>
          <a:xfrm>
            <a:off x="566928" y="6272784"/>
            <a:ext cx="11057839" cy="9525"/>
          </a:xfrm>
          <a:prstGeom prst="rect">
            <a:avLst/>
          </a:prstGeom>
          <a:solidFill>
            <a:srgbClr val="E3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6928" y="6355080"/>
            <a:ext cx="9692640" cy="292608"/>
          </a:xfrm>
          <a:prstGeom prst="rect">
            <a:avLst/>
          </a:prstGeom>
          <a:noFill/>
        </p:spPr>
        <p:txBody>
          <a:bodyPr wrap="square" lIns="0" rIns="0" tIns="0" bIns="0" anchor="t">
            <a:spAutoFit/>
          </a:bodyPr>
          <a:lstStyle/>
          <a:p>
            <a:pPr algn="l">
              <a:lnSpc>
                <a:spcPct val="112000"/>
              </a:lnSpc>
              <a:spcAft>
                <a:spcPts val="0"/>
              </a:spcAft>
            </a:pPr>
            <a:r>
              <a:rPr sz="800" b="0" i="0">
                <a:solidFill>
                  <a:srgbClr val="7D8F93"/>
                </a:solidFill>
                <a:latin typeface="Calibri"/>
              </a:rPr>
              <a:t>Kindelan 2008 · Randall 2002 · Hall Technique Guide 2015 · AAPD 2025 · SDCEP 2025</a:t>
            </a:r>
          </a:p>
        </p:txBody>
      </p:sp>
      <p:sp>
        <p:nvSpPr>
          <p:cNvPr id="50" name="TextBox 49"/>
          <p:cNvSpPr txBox="1"/>
          <p:nvPr/>
        </p:nvSpPr>
        <p:spPr>
          <a:xfrm>
            <a:off x="10332720" y="6355080"/>
            <a:ext cx="1280160" cy="292608"/>
          </a:xfrm>
          <a:prstGeom prst="rect">
            <a:avLst/>
          </a:prstGeom>
          <a:noFill/>
        </p:spPr>
        <p:txBody>
          <a:bodyPr wrap="square" lIns="0" rIns="0" tIns="0" bIns="0" anchor="t">
            <a:spAutoFit/>
          </a:bodyPr>
          <a:lstStyle/>
          <a:p>
            <a:pPr algn="r">
              <a:lnSpc>
                <a:spcPct val="112000"/>
              </a:lnSpc>
              <a:spcAft>
                <a:spcPts val="0"/>
              </a:spcAft>
            </a:pPr>
            <a:r>
              <a:rPr sz="800" b="0" i="0">
                <a:solidFill>
                  <a:srgbClr val="7D8F93"/>
                </a:solidFill>
                <a:latin typeface="Calibri"/>
              </a:rPr>
              <a:t>IIK Bhaktiwiyata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