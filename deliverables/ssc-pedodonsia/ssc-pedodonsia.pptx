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 Dalam sembilan menit saya akan membahas satu restorasi yang sering dianggap kuno, padahal buktinya justru kuat: stainless steel crown. Fokusnya tiga hal praktis. Kapan memilih SSC, bagaimana memasangnya dengan dua teknik, dan apa yang membuatnya gagal. Saya akan memakai angka dari Cochrane, meta-analisis, dan RCT, dengan sitasi di tiap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Alurnya dari masalah ke solusi, lalu ke teknik dan bukti. Bagian lima adalah inti keterampilan: sepuluh langkah konvensional yang bisa dibuka satu per satu. Bagian enam membahas komplikasi dan cara mencegahnya, bagian tujuh bukti dan alternatif estetik. Saya akan berhenti di bagian kasus untuk keputusan bersama, jadi sisakan waktu di sana.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Mulai dari pola yang kita semua lihat. Gigi desidui ditambal, beberapa bulan kemudian tepinya terbuka, ditambal lagi, dan akhirnya pulpanya terlibat. Setiap kali kita mengulang, dinding gigi makin tipis. Pada gigi desidui, enamelnya hanya sekitar satu milimeter dan tanduk pulpanya tinggi. Jadi pertanyaannya bergeser: kapan kita berhenti menambal sebagian dan mulai menutup seluruh gigi.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angka ini cukup untuk membawa pesan utama. Chisini melaporkan angka keberhasilan 96,1 persen dari 31 studi, dengan lama follow-up yang berbeda-beda. Cochrane 2015 memberi angka yang lebih kuat: risiko kegagalan mayor 0,18 dibanding tambalan, artinya sekitar seperlima. Dan pada MIH berat, SSC bertahan pada 94,4 persen gigi, sedangkan komposit hanya 49,2 persen setelah 24 bulan. Perhatikan, angka-angka ini memakai definisi berbeda dan populasi berbeda, jadi jangan disatukan.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 ini dipakai untuk memilih restorasi. Kalau karies sudah lebih dari dua permukaan atau melewati line angle, restorasi langsung sulit dipertahankan, jadi arahnya ke SSC. Sebelum menyiapkan gigi, periksa tanda pulpitis ireversibel: nyeri spontan, absen, atau fistula. Bila ada, pulpanya diterapi lebih dulu, baru SSC dipasang bila gigi masih layak dipertahankan. Kalau karies hanya satu permukaan dan risiko kariesnya rendah, restorasi langsung masih wajar. Tiga hal yang harus siap sebelum preparasi: anestesi adekuat, isolasi, dan crown dengan beberapa ukuran.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yang sering salah pada preparasi. Kita cenderung mengurangi bukal dan lingual karena ingin crown mudah masuk, padahal retensi SSC justru berasal dari undercut servikal. Jadi pertahankan bulbositas, potong proksimal sampai kontak putus, dan berhenti dengan feather edge. Perhatikan juga angka reduksi oklusal: sumber UK memakai satu sampai satu setengah milimeter, sedangkan StatPearls dan Randall untuk molar permanen memakai satu setengah sampai dua milimeter.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Sepuluh langkah ini yang akan saya uji di kuis nanti. Klik tiap langkah di kiri. Yang perlu ditekankan: nomor tiga, ekskavasi karies, harus selesai sebelum crown dipilih ulang, karena dinding yang hilang mengubah retensi. Nomor tujuh, try-in, adalah tempat kita berhenti dan memeriksa, bukan memaksa. Kalau crown belum duduk, hampir selalu ada ledge atau sisa kontak, bukan crown yang kurang besar.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Enam komplikasi ini hampir semuanya bisa dilacak ke preparasi atau pemilihan ukuran. Crown longgar berarti crimping kurang, bukan semen kurang. Crown tidak duduk hampir selalu karena ledge atau kontak yang belum putus. Perdarahan saat try-in berarti margin terlalu panjang. Soal MIH, singkat saja: itu kelainan enamel sejak masa perkembangan, molar pertama permanen rapuh dan hipersensitif, dan crown menutup seluruh permukaan gigi. Soal alergi nikel, angkanya sering ditakutkan berlebihan: sensitisasi pada anak Eropa sekitar delapan sampai sepuluh persen, tetapi reaksi klinis terhadap SSC jarang. Yang perlu diingat: jangan menambal masalah adaptasi dengan semen lebih banyak, dan jangan recement gigi yang sudah tidak restorable. Pencegahan paling murah ada di preparasi: putuskan kontak sepenuhnya, haluskan ledge, dan verifikasi dengan probe sebelum crown dicoba. Pada tiap kontrol, periksa margin, oklusi, kontak, gingiva, mobilitas, dan tanda perforasi oklusal.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Grafik ini membandingkan crown yang masih terpasang setelah lima tahun. SSC tertinggi, 97,88 persen, lalu zirkonia 97,09, komposit 92,18, RMGIC 90,30, compomer 88,90, dan strip crown 83,48. Perhatikan sumbunya dipotong pada 80 persen, jadi selisih tiga sampai empat persen terlihat besar. Di sebelah kanan ada tiga angka pendukung, dan tiap angka berasal dari studi berbeda, jadi jangan dijumlahkan. Ingat juga, retensi bukan keberhasilan: crown bisa masih terpasang tetapi gigi di bawahnya sudah nekrotik.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Kalau orang tua keberatan dengan logam, ini pilihannya. Zirkonia punya gingiva yang lebih baik, tetapi angka kegagalan klinisnya belum terbukti lebih rendah: RR nol koma empat delapan dengan rentang kepercayaan yang lebar. Pre-veneered SSC bagus pada retensi enam bulan, tetapi veneernya bisa fraktur. Strip crown paling rendah retensinya. Untuk molar posterior dengan karies luas, SSC masih standar pembandingnya.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Sekarang kita putuskan bersama. Anak tujuh tahun, gigi 85, karies oklusal-distal, vital, tanpa nyeri spontan, dan dentine bridge terlihat. Tanyakan ke audiens: SSC konvensional, komposit, atau pulpotomi lebih dulu? Setelah mereka memilih, lanjut ke pertanyaan kedua. Crown belum duduk di distal. Di sinilah kebanyakan orang langsung memilih crown lebih besar, padahal masalahnya biasanya ledge atau sisa kontak. Kunci: SSC konvensional paling tepat karena gigi masih vital dan dentine bridge terlihat, jadi pulpa belum perlu dibuka. Bila crown tidak duduk, periksa ledge dan sisa kontak, jangan memaksa.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Lima soal ini menguji empat hal: pilihan restorasi, angka reduksi oklusal, penanganan crown yang tidak duduk, dan faktor retensi. Kalau waktu habis, cukup kerjakan soal satu dan tiga. Jawaban yang salah tetap menampilkan penjelasan, jadi bisa dipakai untuk diskusi. Kunci jawaban: 1 SSC konvensional; 2 1,0–1,5 mm; 3 periksa ledge dan sisa kontak; 4 kontur dan crimping margin; 5 SSC.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hal. Satu, SSC adalah restorasi yang menutup seluruh permukaan gigi, dan retensinya ditentukan margin serta undercut servikal, bukan oleh semen. Dua, crown hanya duduk kalau kontak proksimal sudah putus, line angle dihaluskan, dan marginnya berada satu milimeter di bawah gingiva. Tiga, angka keberhasilan, angka gigi yang masih bertahan, dan angka crown yang masih terpasang tidak boleh dicampur karena definisinya berbeda. Kalau tiga hal ini terbawa pulang, presentasi ini berhasil. Protokol lengkap ada di dokumen pendamping. Terima kasih, saya buka sesi tanya jawab.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Daftar pustaka ini memakai Vancouver. Nomor lengkap dengan DOI ada di dokumen research_notes.md yang menyertai presentasi. Sumber yang dipakai untuk angka di slide selalu dicantumkan juga di footer tiap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Referensi 16 sampai 33 melengkapi bagian kasus khusus, alternatif estetik, perilaku, dan epidemiologi Indonesia. Bila ada pertanyaan tentang satu angka, saya bisa tunjukkan halaman atau abstrak sumbernya.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Halaman ini bisa dicetak dan dibawa ke klinik. Semua langkah, kontraindikasi, komplikasi, dan kriteria kontrol ada di satu halaman. Versi lengkap dengan tujuan, cara, instrumen, kesalahan, dan tanda benar ada di protokol_klinis.md.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9.xml"/><Relationship Id="rId10" Type="http://schemas.openxmlformats.org/officeDocument/2006/relationships/slide" Target="slide11.xml"/><Relationship Id="rId11" Type="http://schemas.openxmlformats.org/officeDocument/2006/relationships/slide" Target="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 Id="rId4"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 Id="rId4"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 Id="rId4"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11.xml"/><Relationship Id="rId5"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868680"/>
            <a:ext cx="6400800" cy="228600"/>
          </a:xfrm>
          <a:prstGeom prst="rect">
            <a:avLst/>
          </a:prstGeom>
          <a:noFill/>
        </p:spPr>
        <p:txBody>
          <a:bodyPr wrap="square" lIns="0" rIns="0" tIns="0" bIns="0" anchor="t">
            <a:spAutoFit/>
          </a:bodyPr>
          <a:lstStyle/>
          <a:p>
            <a:pPr algn="l">
              <a:lnSpc>
                <a:spcPct val="112000"/>
              </a:lnSpc>
              <a:spcAft>
                <a:spcPts val="0"/>
              </a:spcAft>
            </a:pPr>
            <a:r>
              <a:rPr sz="950" b="1" i="0" spc="200">
                <a:solidFill>
                  <a:srgbClr val="2C6E6A"/>
                </a:solidFill>
                <a:latin typeface="Calibri"/>
              </a:rPr>
              <a:t>IIK BHAKTIWIYATA, PROGRAM STUDI KEDOKTERAN GIGI</a:t>
            </a:r>
          </a:p>
        </p:txBody>
      </p:sp>
      <p:sp>
        <p:nvSpPr>
          <p:cNvPr id="5" name="Rectangle 4"/>
          <p:cNvSpPr/>
          <p:nvPr/>
        </p:nvSpPr>
        <p:spPr>
          <a:xfrm>
            <a:off x="566928" y="1207008"/>
            <a:ext cx="822960" cy="3175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7406640" cy="1920240"/>
          </a:xfrm>
          <a:prstGeom prst="rect">
            <a:avLst/>
          </a:prstGeom>
          <a:noFill/>
        </p:spPr>
        <p:txBody>
          <a:bodyPr wrap="square" lIns="0" rIns="0" tIns="0" bIns="0" anchor="t">
            <a:spAutoFit/>
          </a:bodyPr>
          <a:lstStyle/>
          <a:p>
            <a:pPr algn="l">
              <a:lnSpc>
                <a:spcPct val="102000"/>
              </a:lnSpc>
              <a:spcAft>
                <a:spcPts val="0"/>
              </a:spcAft>
            </a:pPr>
            <a:r>
              <a:rPr sz="3800" b="0" i="0">
                <a:solidFill>
                  <a:srgbClr val="15323A"/>
                </a:solidFill>
                <a:latin typeface="Georgia"/>
              </a:rPr>
              <a:t>Stainless steel crown pada gigi desidui dan gigi permanen muda</a:t>
            </a:r>
          </a:p>
        </p:txBody>
      </p:sp>
      <p:sp>
        <p:nvSpPr>
          <p:cNvPr id="7" name="TextBox 6"/>
          <p:cNvSpPr txBox="1"/>
          <p:nvPr/>
        </p:nvSpPr>
        <p:spPr>
          <a:xfrm>
            <a:off x="566928" y="3401568"/>
            <a:ext cx="6766560" cy="685800"/>
          </a:xfrm>
          <a:prstGeom prst="rect">
            <a:avLst/>
          </a:prstGeom>
          <a:noFill/>
        </p:spPr>
        <p:txBody>
          <a:bodyPr wrap="square" lIns="0" rIns="0" tIns="0" bIns="0" anchor="t">
            <a:spAutoFit/>
          </a:bodyPr>
          <a:lstStyle/>
          <a:p>
            <a:pPr algn="l">
              <a:lnSpc>
                <a:spcPct val="112000"/>
              </a:lnSpc>
              <a:spcAft>
                <a:spcPts val="0"/>
              </a:spcAft>
            </a:pPr>
            <a:r>
              <a:rPr sz="1500" b="0" i="0">
                <a:solidFill>
                  <a:srgbClr val="47646C"/>
                </a:solidFill>
                <a:latin typeface="Calibri"/>
              </a:rPr>
              <a:t>Indikasi, preparasi, langkah pemasangan, dan bukti klinis dalam sembilan menit</a:t>
            </a:r>
          </a:p>
        </p:txBody>
      </p:sp>
      <p:sp>
        <p:nvSpPr>
          <p:cNvPr id="8" name="Rounded Rectangle 7"/>
          <p:cNvSpPr/>
          <p:nvPr/>
        </p:nvSpPr>
        <p:spPr>
          <a:xfrm>
            <a:off x="566928" y="4224528"/>
            <a:ext cx="96012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261104"/>
            <a:ext cx="96012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9 menit</a:t>
            </a:r>
          </a:p>
        </p:txBody>
      </p:sp>
      <p:sp>
        <p:nvSpPr>
          <p:cNvPr id="10" name="Rounded Rectangle 9"/>
          <p:cNvSpPr/>
          <p:nvPr/>
        </p:nvSpPr>
        <p:spPr>
          <a:xfrm>
            <a:off x="1636776" y="4224528"/>
            <a:ext cx="1901952"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36776" y="4261104"/>
            <a:ext cx="1901952"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Pemateri: Galeka Ali Prasetya</a:t>
            </a:r>
          </a:p>
        </p:txBody>
      </p:sp>
      <p:sp>
        <p:nvSpPr>
          <p:cNvPr id="12" name="Rounded Rectangle 11"/>
          <p:cNvSpPr/>
          <p:nvPr/>
        </p:nvSpPr>
        <p:spPr>
          <a:xfrm>
            <a:off x="3648456" y="4224528"/>
            <a:ext cx="123444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48456" y="4261104"/>
            <a:ext cx="123444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20 Oktober 2026</a:t>
            </a:r>
          </a:p>
        </p:txBody>
      </p:sp>
      <p:sp>
        <p:nvSpPr>
          <p:cNvPr id="14" name="TextBox 13"/>
          <p:cNvSpPr txBox="1"/>
          <p:nvPr/>
        </p:nvSpPr>
        <p:spPr>
          <a:xfrm>
            <a:off x="566928" y="4736592"/>
            <a:ext cx="6583680" cy="45720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Materi edukasi, jadi tidak menggantikan pertimbangan klinis pada pasien tertentu.</a:t>
            </a:r>
          </a:p>
        </p:txBody>
      </p:sp>
      <p:pic>
        <p:nvPicPr>
          <p:cNvPr id="15" name="Picture 14" descr="fig-cover.jpg"/>
          <p:cNvPicPr>
            <a:picLocks noChangeAspect="1"/>
          </p:cNvPicPr>
          <p:nvPr/>
        </p:nvPicPr>
        <p:blipFill>
          <a:blip r:embed="rId2"/>
          <a:stretch>
            <a:fillRect/>
          </a:stretch>
        </p:blipFill>
        <p:spPr>
          <a:xfrm>
            <a:off x="8458200" y="868680"/>
            <a:ext cx="3200400" cy="3635022"/>
          </a:xfrm>
          <a:prstGeom prst="rect">
            <a:avLst/>
          </a:prstGeom>
        </p:spPr>
      </p:pic>
      <p:sp>
        <p:nvSpPr>
          <p:cNvPr id="16" name="Rectangle 1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Sumber angka dan sitasi ada di tiap slide serta di research_notes.md</a:t>
            </a:r>
          </a:p>
        </p:txBody>
      </p:sp>
      <p:sp>
        <p:nvSpPr>
          <p:cNvPr id="18" name="TextBox 1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AGENDA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Delapan bagian, sembilan menit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2</a:t>
            </a:r>
          </a:p>
        </p:txBody>
      </p:sp>
      <p:sp>
        <p:nvSpPr>
          <p:cNvPr id="7" name="Rounded Rectangle 6">
            <a:hlinkClick action="ppaction://hlinksldjump" r:id="rId11"/>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ectangle 7">
            <a:hlinkClick action="ppaction://hlinksldjump" r:id="rId3"/>
          </p:cNvPr>
          <p:cNvSpPr/>
          <p:nvPr/>
        </p:nvSpPr>
        <p:spPr>
          <a:xfrm>
            <a:off x="56692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1</a:t>
            </a:r>
          </a:p>
        </p:txBody>
      </p:sp>
      <p:sp>
        <p:nvSpPr>
          <p:cNvPr id="10" name="TextBox 9"/>
          <p:cNvSpPr txBox="1"/>
          <p:nvPr/>
        </p:nvSpPr>
        <p:spPr>
          <a:xfrm>
            <a:off x="95097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Tambalan yang gagal berulang</a:t>
            </a:r>
          </a:p>
        </p:txBody>
      </p:sp>
      <p:sp>
        <p:nvSpPr>
          <p:cNvPr id="11" name="TextBox 10"/>
          <p:cNvSpPr txBox="1"/>
          <p:nvPr/>
        </p:nvSpPr>
        <p:spPr>
          <a:xfrm>
            <a:off x="486460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2" name="Rectangle 11"/>
          <p:cNvSpPr/>
          <p:nvPr/>
        </p:nvSpPr>
        <p:spPr>
          <a:xfrm>
            <a:off x="56692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a:hlinkClick action="ppaction://hlinksldjump" r:id="rId4"/>
          </p:cNvPr>
          <p:cNvSpPr/>
          <p:nvPr/>
        </p:nvSpPr>
        <p:spPr>
          <a:xfrm>
            <a:off x="56692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2</a:t>
            </a:r>
          </a:p>
        </p:txBody>
      </p:sp>
      <p:sp>
        <p:nvSpPr>
          <p:cNvPr id="15" name="TextBox 14"/>
          <p:cNvSpPr txBox="1"/>
          <p:nvPr/>
        </p:nvSpPr>
        <p:spPr>
          <a:xfrm>
            <a:off x="95097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Mengapa SSC</a:t>
            </a:r>
          </a:p>
        </p:txBody>
      </p:sp>
      <p:sp>
        <p:nvSpPr>
          <p:cNvPr id="16" name="TextBox 15"/>
          <p:cNvSpPr txBox="1"/>
          <p:nvPr/>
        </p:nvSpPr>
        <p:spPr>
          <a:xfrm>
            <a:off x="486460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7" name="Rectangle 16"/>
          <p:cNvSpPr/>
          <p:nvPr/>
        </p:nvSpPr>
        <p:spPr>
          <a:xfrm>
            <a:off x="56692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hlinkClick action="ppaction://hlinksldjump" r:id="rId5"/>
          </p:cNvPr>
          <p:cNvSpPr/>
          <p:nvPr/>
        </p:nvSpPr>
        <p:spPr>
          <a:xfrm>
            <a:off x="56692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3</a:t>
            </a:r>
          </a:p>
        </p:txBody>
      </p:sp>
      <p:sp>
        <p:nvSpPr>
          <p:cNvPr id="20" name="TextBox 19"/>
          <p:cNvSpPr txBox="1"/>
          <p:nvPr/>
        </p:nvSpPr>
        <p:spPr>
          <a:xfrm>
            <a:off x="95097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Indikasi dan batas</a:t>
            </a:r>
          </a:p>
        </p:txBody>
      </p:sp>
      <p:sp>
        <p:nvSpPr>
          <p:cNvPr id="21" name="TextBox 20"/>
          <p:cNvSpPr txBox="1"/>
          <p:nvPr/>
        </p:nvSpPr>
        <p:spPr>
          <a:xfrm>
            <a:off x="486460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22" name="Rectangle 21"/>
          <p:cNvSpPr/>
          <p:nvPr/>
        </p:nvSpPr>
        <p:spPr>
          <a:xfrm>
            <a:off x="56692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a:hlinkClick action="ppaction://hlinksldjump" r:id="rId6"/>
          </p:cNvPr>
          <p:cNvSpPr/>
          <p:nvPr/>
        </p:nvSpPr>
        <p:spPr>
          <a:xfrm>
            <a:off x="566928" y="4050791"/>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105655"/>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4</a:t>
            </a:r>
          </a:p>
        </p:txBody>
      </p:sp>
      <p:sp>
        <p:nvSpPr>
          <p:cNvPr id="25" name="TextBox 24"/>
          <p:cNvSpPr txBox="1"/>
          <p:nvPr/>
        </p:nvSpPr>
        <p:spPr>
          <a:xfrm>
            <a:off x="950976" y="4105655"/>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Anatomi dan preparasi</a:t>
            </a:r>
          </a:p>
        </p:txBody>
      </p:sp>
      <p:sp>
        <p:nvSpPr>
          <p:cNvPr id="26" name="TextBox 25"/>
          <p:cNvSpPr txBox="1"/>
          <p:nvPr/>
        </p:nvSpPr>
        <p:spPr>
          <a:xfrm>
            <a:off x="4864608" y="4123944"/>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27" name="Rectangle 26"/>
          <p:cNvSpPr/>
          <p:nvPr/>
        </p:nvSpPr>
        <p:spPr>
          <a:xfrm>
            <a:off x="566928" y="4709159"/>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a:hlinkClick action="ppaction://hlinksldjump" r:id="rId7"/>
          </p:cNvPr>
          <p:cNvSpPr/>
          <p:nvPr/>
        </p:nvSpPr>
        <p:spPr>
          <a:xfrm>
            <a:off x="566928" y="4837176"/>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892040"/>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5</a:t>
            </a:r>
          </a:p>
        </p:txBody>
      </p:sp>
      <p:sp>
        <p:nvSpPr>
          <p:cNvPr id="30" name="TextBox 29"/>
          <p:cNvSpPr txBox="1"/>
          <p:nvPr/>
        </p:nvSpPr>
        <p:spPr>
          <a:xfrm>
            <a:off x="950976" y="4892040"/>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Sepuluh langkah konvensional</a:t>
            </a:r>
          </a:p>
        </p:txBody>
      </p:sp>
      <p:sp>
        <p:nvSpPr>
          <p:cNvPr id="31" name="TextBox 30"/>
          <p:cNvSpPr txBox="1"/>
          <p:nvPr/>
        </p:nvSpPr>
        <p:spPr>
          <a:xfrm>
            <a:off x="4864608" y="4910328"/>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1:45</a:t>
            </a:r>
          </a:p>
        </p:txBody>
      </p:sp>
      <p:sp>
        <p:nvSpPr>
          <p:cNvPr id="32" name="Rectangle 31"/>
          <p:cNvSpPr/>
          <p:nvPr/>
        </p:nvSpPr>
        <p:spPr>
          <a:xfrm>
            <a:off x="566928" y="5495544"/>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a:hlinkClick action="ppaction://hlinksldjump" r:id="rId8"/>
          </p:cNvPr>
          <p:cNvSpPr/>
          <p:nvPr/>
        </p:nvSpPr>
        <p:spPr>
          <a:xfrm>
            <a:off x="614476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6</a:t>
            </a:r>
          </a:p>
        </p:txBody>
      </p:sp>
      <p:sp>
        <p:nvSpPr>
          <p:cNvPr id="35" name="TextBox 34"/>
          <p:cNvSpPr txBox="1"/>
          <p:nvPr/>
        </p:nvSpPr>
        <p:spPr>
          <a:xfrm>
            <a:off x="652881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Komplikasi dan pencegahan</a:t>
            </a:r>
          </a:p>
        </p:txBody>
      </p:sp>
      <p:sp>
        <p:nvSpPr>
          <p:cNvPr id="36" name="TextBox 35"/>
          <p:cNvSpPr txBox="1"/>
          <p:nvPr/>
        </p:nvSpPr>
        <p:spPr>
          <a:xfrm>
            <a:off x="1044244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1:15</a:t>
            </a:r>
          </a:p>
        </p:txBody>
      </p:sp>
      <p:sp>
        <p:nvSpPr>
          <p:cNvPr id="37" name="Rectangle 36"/>
          <p:cNvSpPr/>
          <p:nvPr/>
        </p:nvSpPr>
        <p:spPr>
          <a:xfrm>
            <a:off x="614476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a:hlinkClick action="ppaction://hlinksldjump" r:id="rId9"/>
          </p:cNvPr>
          <p:cNvSpPr/>
          <p:nvPr/>
        </p:nvSpPr>
        <p:spPr>
          <a:xfrm>
            <a:off x="614476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476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7</a:t>
            </a:r>
          </a:p>
        </p:txBody>
      </p:sp>
      <p:sp>
        <p:nvSpPr>
          <p:cNvPr id="40" name="TextBox 39"/>
          <p:cNvSpPr txBox="1"/>
          <p:nvPr/>
        </p:nvSpPr>
        <p:spPr>
          <a:xfrm>
            <a:off x="652881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Bukti dan alternatif estetik</a:t>
            </a:r>
          </a:p>
        </p:txBody>
      </p:sp>
      <p:sp>
        <p:nvSpPr>
          <p:cNvPr id="41" name="TextBox 40"/>
          <p:cNvSpPr txBox="1"/>
          <p:nvPr/>
        </p:nvSpPr>
        <p:spPr>
          <a:xfrm>
            <a:off x="1044244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1:30</a:t>
            </a:r>
          </a:p>
        </p:txBody>
      </p:sp>
      <p:sp>
        <p:nvSpPr>
          <p:cNvPr id="42" name="Rectangle 41"/>
          <p:cNvSpPr/>
          <p:nvPr/>
        </p:nvSpPr>
        <p:spPr>
          <a:xfrm>
            <a:off x="614476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a:hlinkClick action="ppaction://hlinksldjump" r:id="rId10"/>
          </p:cNvPr>
          <p:cNvSpPr/>
          <p:nvPr/>
        </p:nvSpPr>
        <p:spPr>
          <a:xfrm>
            <a:off x="614476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4476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8</a:t>
            </a:r>
          </a:p>
        </p:txBody>
      </p:sp>
      <p:sp>
        <p:nvSpPr>
          <p:cNvPr id="45" name="TextBox 44"/>
          <p:cNvSpPr txBox="1"/>
          <p:nvPr/>
        </p:nvSpPr>
        <p:spPr>
          <a:xfrm>
            <a:off x="652881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Kasus, kuis, penutup</a:t>
            </a:r>
          </a:p>
        </p:txBody>
      </p:sp>
      <p:sp>
        <p:nvSpPr>
          <p:cNvPr id="46" name="TextBox 45"/>
          <p:cNvSpPr txBox="1"/>
          <p:nvPr/>
        </p:nvSpPr>
        <p:spPr>
          <a:xfrm>
            <a:off x="1044244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47" name="Rectangle 46"/>
          <p:cNvSpPr/>
          <p:nvPr/>
        </p:nvSpPr>
        <p:spPr>
          <a:xfrm>
            <a:off x="614476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6928" y="5715000"/>
            <a:ext cx="10515600" cy="54864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Klik bagian mana pun untuk melompat. Tombol Agenda di kanan atas mengembalikan ke halaman ini. Bagian kasus dan kuis dapat dilewati bila waktu tersisa kurang dari dua menit.</a:t>
            </a:r>
          </a:p>
        </p:txBody>
      </p:sp>
      <p:sp>
        <p:nvSpPr>
          <p:cNvPr id="49" name="Rectangle 4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Total 8 menit 30 detik konten, sekitar 9 menit dengan perpindahan</a:t>
            </a:r>
          </a:p>
        </p:txBody>
      </p:sp>
      <p:sp>
        <p:nvSpPr>
          <p:cNvPr id="51" name="TextBox 5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MASALAH KLINIS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Tambalan yang gagal berulang pada gigi yang sama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211226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191109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pertama</a:t>
            </a:r>
          </a:p>
        </p:txBody>
      </p:sp>
      <p:sp>
        <p:nvSpPr>
          <p:cNvPr id="11" name="TextBox 10"/>
          <p:cNvSpPr txBox="1"/>
          <p:nvPr/>
        </p:nvSpPr>
        <p:spPr>
          <a:xfrm>
            <a:off x="1097280" y="219456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Tepi tambalan terbuka dan karies muncul lagi</a:t>
            </a:r>
          </a:p>
        </p:txBody>
      </p:sp>
      <p:sp>
        <p:nvSpPr>
          <p:cNvPr id="12" name="Rounded Rectangle 11"/>
          <p:cNvSpPr/>
          <p:nvPr/>
        </p:nvSpPr>
        <p:spPr>
          <a:xfrm>
            <a:off x="566928" y="274320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07238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71216"/>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kedua</a:t>
            </a:r>
          </a:p>
        </p:txBody>
      </p:sp>
      <p:sp>
        <p:nvSpPr>
          <p:cNvPr id="15" name="TextBox 14"/>
          <p:cNvSpPr txBox="1"/>
          <p:nvPr/>
        </p:nvSpPr>
        <p:spPr>
          <a:xfrm>
            <a:off x="1097280" y="315468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Karies sekunder terbentuk di bawah tambalan</a:t>
            </a:r>
          </a:p>
        </p:txBody>
      </p:sp>
      <p:sp>
        <p:nvSpPr>
          <p:cNvPr id="16" name="Rounded Rectangle 15"/>
          <p:cNvSpPr/>
          <p:nvPr/>
        </p:nvSpPr>
        <p:spPr>
          <a:xfrm>
            <a:off x="566928" y="370332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03250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83133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ketiga</a:t>
            </a:r>
          </a:p>
        </p:txBody>
      </p:sp>
      <p:sp>
        <p:nvSpPr>
          <p:cNvPr id="19" name="TextBox 18"/>
          <p:cNvSpPr txBox="1"/>
          <p:nvPr/>
        </p:nvSpPr>
        <p:spPr>
          <a:xfrm>
            <a:off x="1097280" y="411480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Nyeri muncul karena pulpa sudah terlibat</a:t>
            </a:r>
          </a:p>
        </p:txBody>
      </p:sp>
      <p:sp>
        <p:nvSpPr>
          <p:cNvPr id="20" name="TextBox 19"/>
          <p:cNvSpPr txBox="1"/>
          <p:nvPr/>
        </p:nvSpPr>
        <p:spPr>
          <a:xfrm>
            <a:off x="566928" y="4800600"/>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Kasus ilustratif, bukan data penelitian.</a:t>
            </a:r>
          </a:p>
        </p:txBody>
      </p:sp>
      <p:sp>
        <p:nvSpPr>
          <p:cNvPr id="21" name="TextBox 20"/>
          <p:cNvSpPr txBox="1"/>
          <p:nvPr/>
        </p:nvSpPr>
        <p:spPr>
          <a:xfrm>
            <a:off x="6355080" y="1600200"/>
            <a:ext cx="5212080" cy="1188720"/>
          </a:xfrm>
          <a:prstGeom prst="rect">
            <a:avLst/>
          </a:prstGeom>
          <a:noFill/>
        </p:spPr>
        <p:txBody>
          <a:bodyPr wrap="square" lIns="0" rIns="0" tIns="0" bIns="0" anchor="t">
            <a:spAutoFit/>
          </a:bodyPr>
          <a:lstStyle/>
          <a:p>
            <a:pPr algn="l">
              <a:lnSpc>
                <a:spcPct val="105000"/>
              </a:lnSpc>
              <a:spcAft>
                <a:spcPts val="0"/>
              </a:spcAft>
            </a:pPr>
            <a:r>
              <a:rPr sz="2500" b="0" i="0">
                <a:solidFill>
                  <a:srgbClr val="15323A"/>
                </a:solidFill>
                <a:latin typeface="Georgia"/>
              </a:rPr>
              <a:t>Setiap pengulangan menghilangkan lebih banyak dentin.</a:t>
            </a:r>
          </a:p>
        </p:txBody>
      </p:sp>
      <p:sp>
        <p:nvSpPr>
          <p:cNvPr id="22" name="TextBox 21"/>
          <p:cNvSpPr txBox="1"/>
          <p:nvPr/>
        </p:nvSpPr>
        <p:spPr>
          <a:xfrm>
            <a:off x="6355080" y="2971800"/>
            <a:ext cx="5074920" cy="1097280"/>
          </a:xfrm>
          <a:prstGeom prst="rect">
            <a:avLst/>
          </a:prstGeom>
          <a:noFill/>
        </p:spPr>
        <p:txBody>
          <a:bodyPr wrap="square" lIns="0" rIns="0" tIns="0" bIns="0" anchor="t">
            <a:spAutoFit/>
          </a:bodyPr>
          <a:lstStyle/>
          <a:p>
            <a:pPr algn="l">
              <a:lnSpc>
                <a:spcPct val="112000"/>
              </a:lnSpc>
              <a:spcAft>
                <a:spcPts val="0"/>
              </a:spcAft>
            </a:pPr>
            <a:r>
              <a:rPr sz="1300" b="0" i="0">
                <a:solidFill>
                  <a:srgbClr val="47646C"/>
                </a:solidFill>
                <a:latin typeface="Calibri"/>
              </a:rPr>
              <a:t>Enamel gigi desidui hanya sekitar 1 mm, dentinnya tipis, dan tanduk pulpanya tinggi. Kapan kita berhenti menambal dan mulai menutup seluruh gigi?</a:t>
            </a:r>
          </a:p>
        </p:txBody>
      </p:sp>
      <p:sp>
        <p:nvSpPr>
          <p:cNvPr id="23" name="Rounded Rectangle 22"/>
          <p:cNvSpPr/>
          <p:nvPr/>
        </p:nvSpPr>
        <p:spPr>
          <a:xfrm>
            <a:off x="6355080" y="4279392"/>
            <a:ext cx="3520440" cy="402336"/>
          </a:xfrm>
          <a:prstGeom prst="roundRect">
            <a:avLst>
              <a:gd name="adj" fmla="val 50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352544"/>
            <a:ext cx="3383280" cy="274320"/>
          </a:xfrm>
          <a:prstGeom prst="rect">
            <a:avLst/>
          </a:prstGeom>
          <a:noFill/>
        </p:spPr>
        <p:txBody>
          <a:bodyPr wrap="square" lIns="0" rIns="0" tIns="0" bIns="0" anchor="t">
            <a:spAutoFit/>
          </a:bodyPr>
          <a:lstStyle/>
          <a:p>
            <a:pPr algn="l">
              <a:lnSpc>
                <a:spcPct val="112000"/>
              </a:lnSpc>
              <a:spcAft>
                <a:spcPts val="0"/>
              </a:spcAft>
            </a:pPr>
            <a:r>
              <a:rPr sz="1000" b="0" i="0">
                <a:solidFill>
                  <a:srgbClr val="22605C"/>
                </a:solidFill>
                <a:latin typeface="Calibri"/>
              </a:rPr>
              <a:t>Karies usia 5–6 tahun: 93%</a:t>
            </a:r>
          </a:p>
        </p:txBody>
      </p:sp>
      <p:sp>
        <p:nvSpPr>
          <p:cNvPr id="25" name="Rectangle 2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Cochrane 2015; Lampl 2025; Riskesdas 2018</a:t>
            </a:r>
          </a:p>
        </p:txBody>
      </p:sp>
      <p:sp>
        <p:nvSpPr>
          <p:cNvPr id="27" name="TextBox 2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PRINSIP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menutup seluruh mahkota dan tidak bergantung pada dinding yang tersisa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4</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96,1%</a:t>
            </a:r>
          </a:p>
        </p:txBody>
      </p:sp>
      <p:sp>
        <p:nvSpPr>
          <p:cNvPr id="10" name="TextBox 9"/>
          <p:cNvSpPr txBox="1"/>
          <p:nvPr/>
        </p:nvSpPr>
        <p:spPr>
          <a:xfrm>
            <a:off x="731520"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SSC, 31 studi</a:t>
            </a:r>
          </a:p>
        </p:txBody>
      </p:sp>
      <p:sp>
        <p:nvSpPr>
          <p:cNvPr id="11" name="TextBox 10"/>
          <p:cNvSpPr txBox="1"/>
          <p:nvPr/>
        </p:nvSpPr>
        <p:spPr>
          <a:xfrm>
            <a:off x="731520"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I</a:t>
            </a:r>
          </a:p>
        </p:txBody>
      </p:sp>
      <p:sp>
        <p:nvSpPr>
          <p:cNvPr id="12" name="Rounded Rectangle 11"/>
          <p:cNvSpPr/>
          <p:nvPr/>
        </p:nvSpPr>
        <p:spPr>
          <a:xfrm>
            <a:off x="4334256"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0,18</a:t>
            </a:r>
          </a:p>
        </p:txBody>
      </p:sp>
      <p:sp>
        <p:nvSpPr>
          <p:cNvPr id="14" name="TextBox 13"/>
          <p:cNvSpPr txBox="1"/>
          <p:nvPr/>
        </p:nvSpPr>
        <p:spPr>
          <a:xfrm>
            <a:off x="4498848"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risiko kegagalan mayor crown dibanding tambalan (95% CI 0,06–0,56)</a:t>
            </a:r>
          </a:p>
        </p:txBody>
      </p:sp>
      <p:sp>
        <p:nvSpPr>
          <p:cNvPr id="15" name="TextBox 14"/>
          <p:cNvSpPr txBox="1"/>
          <p:nvPr/>
        </p:nvSpPr>
        <p:spPr>
          <a:xfrm>
            <a:off x="4498848"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I</a:t>
            </a:r>
          </a:p>
        </p:txBody>
      </p:sp>
      <p:sp>
        <p:nvSpPr>
          <p:cNvPr id="16" name="Rounded Rectangle 15"/>
          <p:cNvSpPr/>
          <p:nvPr/>
        </p:nvSpPr>
        <p:spPr>
          <a:xfrm>
            <a:off x="8101583"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66175"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94,4%</a:t>
            </a:r>
          </a:p>
        </p:txBody>
      </p:sp>
      <p:sp>
        <p:nvSpPr>
          <p:cNvPr id="18" name="TextBox 17"/>
          <p:cNvSpPr txBox="1"/>
          <p:nvPr/>
        </p:nvSpPr>
        <p:spPr>
          <a:xfrm>
            <a:off x="8266175"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bertahan pada MIH, komposit 49,2%, 24 bulan</a:t>
            </a:r>
          </a:p>
        </p:txBody>
      </p:sp>
      <p:sp>
        <p:nvSpPr>
          <p:cNvPr id="19" name="TextBox 18"/>
          <p:cNvSpPr txBox="1"/>
          <p:nvPr/>
        </p:nvSpPr>
        <p:spPr>
          <a:xfrm>
            <a:off x="8266175"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 III</a:t>
            </a:r>
          </a:p>
        </p:txBody>
      </p:sp>
      <p:pic>
        <p:nvPicPr>
          <p:cNvPr id="20" name="Picture 19" descr="fig-why.jpg"/>
          <p:cNvPicPr>
            <a:picLocks noChangeAspect="1"/>
          </p:cNvPicPr>
          <p:nvPr/>
        </p:nvPicPr>
        <p:blipFill>
          <a:blip r:embed="rId2"/>
          <a:stretch>
            <a:fillRect/>
          </a:stretch>
        </p:blipFill>
        <p:spPr>
          <a:xfrm>
            <a:off x="566928" y="3108960"/>
            <a:ext cx="4297680" cy="2817368"/>
          </a:xfrm>
          <a:prstGeom prst="rect">
            <a:avLst/>
          </a:prstGeom>
        </p:spPr>
      </p:pic>
      <p:sp>
        <p:nvSpPr>
          <p:cNvPr id="21" name="TextBox 20"/>
          <p:cNvSpPr txBox="1"/>
          <p:nvPr/>
        </p:nvSpPr>
        <p:spPr>
          <a:xfrm>
            <a:off x="566928" y="5999480"/>
            <a:ext cx="4297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Penampang molar desidui dengan crown terpasang.</a:t>
            </a:r>
          </a:p>
        </p:txBody>
      </p:sp>
      <p:sp>
        <p:nvSpPr>
          <p:cNvPr id="22" name="Rounded Rectangle 21"/>
          <p:cNvSpPr/>
          <p:nvPr/>
        </p:nvSpPr>
        <p:spPr>
          <a:xfrm>
            <a:off x="5623560" y="3127248"/>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06440" y="3255264"/>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Retensi dari servikal</a:t>
            </a:r>
          </a:p>
        </p:txBody>
      </p:sp>
      <p:sp>
        <p:nvSpPr>
          <p:cNvPr id="24" name="TextBox 23"/>
          <p:cNvSpPr txBox="1"/>
          <p:nvPr/>
        </p:nvSpPr>
        <p:spPr>
          <a:xfrm>
            <a:off x="5806440" y="3566160"/>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Undercut di bawah bulbositas servikal menahan crown; semen hanya menutup margin.</a:t>
            </a:r>
          </a:p>
        </p:txBody>
      </p:sp>
      <p:sp>
        <p:nvSpPr>
          <p:cNvPr id="25" name="Rounded Rectangle 24"/>
          <p:cNvSpPr/>
          <p:nvPr/>
        </p:nvSpPr>
        <p:spPr>
          <a:xfrm>
            <a:off x="5623560" y="4160520"/>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4288536"/>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Tahan fraktur</a:t>
            </a:r>
          </a:p>
        </p:txBody>
      </p:sp>
      <p:sp>
        <p:nvSpPr>
          <p:cNvPr id="27" name="TextBox 26"/>
          <p:cNvSpPr txBox="1"/>
          <p:nvPr/>
        </p:nvSpPr>
        <p:spPr>
          <a:xfrm>
            <a:off x="5806440" y="4599431"/>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Logam menahan gaya oklusal pada dinding gigi yang tipis.</a:t>
            </a:r>
          </a:p>
        </p:txBody>
      </p:sp>
      <p:sp>
        <p:nvSpPr>
          <p:cNvPr id="28" name="Rounded Rectangle 27"/>
          <p:cNvSpPr/>
          <p:nvPr/>
        </p:nvSpPr>
        <p:spPr>
          <a:xfrm>
            <a:off x="5623560" y="5193792"/>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06440" y="5321807"/>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Lebih sedikit pengulangan</a:t>
            </a:r>
          </a:p>
        </p:txBody>
      </p:sp>
      <p:sp>
        <p:nvSpPr>
          <p:cNvPr id="30" name="TextBox 29"/>
          <p:cNvSpPr txBox="1"/>
          <p:nvPr/>
        </p:nvSpPr>
        <p:spPr>
          <a:xfrm>
            <a:off x="5806440" y="5632704"/>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Biaya awalnya lebih tinggi, tetapi perawatan ulang lebih jarang.</a:t>
            </a:r>
          </a:p>
        </p:txBody>
      </p:sp>
      <p:sp>
        <p:nvSpPr>
          <p:cNvPr id="31" name="Rectangle 3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Innes 2015 Cochrane; Farias 2022; AAPD 2025</a:t>
            </a:r>
          </a:p>
        </p:txBody>
      </p:sp>
      <p:sp>
        <p:nvSpPr>
          <p:cNvPr id="33" name="TextBox 3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SELEKSI KASUS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dipilih saat karies melewati line angle atau pulpa sudah diterapi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669280" cy="20116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56231"/>
            <a:ext cx="5212080" cy="274320"/>
          </a:xfrm>
          <a:prstGeom prst="rect">
            <a:avLst/>
          </a:prstGeom>
          <a:noFill/>
        </p:spPr>
        <p:txBody>
          <a:bodyPr wrap="square" lIns="0" rIns="0" tIns="0" bIns="0" anchor="t">
            <a:spAutoFit/>
          </a:bodyPr>
          <a:lstStyle/>
          <a:p>
            <a:pPr algn="l">
              <a:lnSpc>
                <a:spcPct val="112000"/>
              </a:lnSpc>
              <a:spcAft>
                <a:spcPts val="0"/>
              </a:spcAft>
            </a:pPr>
            <a:r>
              <a:rPr sz="1000" b="1" i="0" spc="120">
                <a:solidFill>
                  <a:srgbClr val="22605C"/>
                </a:solidFill>
                <a:latin typeface="Calibri"/>
              </a:rPr>
              <a:t>INDIKASI</a:t>
            </a:r>
          </a:p>
        </p:txBody>
      </p:sp>
      <p:sp>
        <p:nvSpPr>
          <p:cNvPr id="10" name="TextBox 9"/>
          <p:cNvSpPr txBox="1"/>
          <p:nvPr/>
        </p:nvSpPr>
        <p:spPr>
          <a:xfrm>
            <a:off x="768096" y="2176272"/>
            <a:ext cx="5257800" cy="1463040"/>
          </a:xfrm>
          <a:prstGeom prst="rect">
            <a:avLst/>
          </a:prstGeom>
          <a:noFill/>
        </p:spPr>
        <p:txBody>
          <a:bodyPr wrap="square" lIns="0" rIns="0" tIns="0" bIns="0" anchor="t">
            <a:spAutoFit/>
          </a:bodyPr>
          <a:lstStyle/>
          <a:p>
            <a:pPr algn="l">
              <a:lnSpc>
                <a:spcPct val="122000"/>
              </a:lnSpc>
              <a:spcAft>
                <a:spcPts val="0"/>
              </a:spcAft>
            </a:pPr>
            <a:r>
              <a:rPr sz="1000" b="0" i="0">
                <a:solidFill>
                  <a:srgbClr val="47646C"/>
                </a:solidFill>
                <a:latin typeface="Calibri"/>
              </a:rPr>
              <a:t>1.  Karies melewati line angle atau lebih dari 2 permukaan</a:t>
            </a:r>
          </a:p>
          <a:p>
            <a:pPr algn="l">
              <a:lnSpc>
                <a:spcPct val="122000"/>
              </a:lnSpc>
              <a:spcAft>
                <a:spcPts val="0"/>
              </a:spcAft>
            </a:pPr>
            <a:r>
              <a:rPr sz="1000" b="0" i="0">
                <a:solidFill>
                  <a:srgbClr val="47646C"/>
                </a:solidFill>
                <a:latin typeface="Calibri"/>
              </a:rPr>
              <a:t>2.  Gigi setelah pulpotomi atau pulpektomi</a:t>
            </a:r>
          </a:p>
          <a:p>
            <a:pPr algn="l">
              <a:lnSpc>
                <a:spcPct val="122000"/>
              </a:lnSpc>
              <a:spcAft>
                <a:spcPts val="0"/>
              </a:spcAft>
            </a:pPr>
            <a:r>
              <a:rPr sz="1000" b="0" i="0">
                <a:solidFill>
                  <a:srgbClr val="47646C"/>
                </a:solidFill>
                <a:latin typeface="Calibri"/>
              </a:rPr>
              <a:t>3.  Hipoplasia, hipomineralisasi molar-insisivus (MIH), fraktur, atau atrisi berat</a:t>
            </a:r>
          </a:p>
          <a:p>
            <a:pPr algn="l">
              <a:lnSpc>
                <a:spcPct val="122000"/>
              </a:lnSpc>
              <a:spcAft>
                <a:spcPts val="0"/>
              </a:spcAft>
            </a:pPr>
            <a:r>
              <a:rPr sz="1000" b="0" i="0">
                <a:solidFill>
                  <a:srgbClr val="47646C"/>
                </a:solidFill>
                <a:latin typeface="Calibri"/>
              </a:rPr>
              <a:t>4.  Abutment space maintainer</a:t>
            </a:r>
          </a:p>
          <a:p>
            <a:pPr algn="l">
              <a:lnSpc>
                <a:spcPct val="122000"/>
              </a:lnSpc>
              <a:spcAft>
                <a:spcPts val="0"/>
              </a:spcAft>
            </a:pPr>
            <a:r>
              <a:rPr sz="1000" b="0" i="0">
                <a:solidFill>
                  <a:srgbClr val="47646C"/>
                </a:solidFill>
                <a:latin typeface="Calibri"/>
              </a:rPr>
              <a:t>5.  Risiko karies tinggi atau perawatan dengan sedasi</a:t>
            </a:r>
          </a:p>
        </p:txBody>
      </p:sp>
      <p:sp>
        <p:nvSpPr>
          <p:cNvPr id="11" name="Rounded Rectangle 10"/>
          <p:cNvSpPr/>
          <p:nvPr/>
        </p:nvSpPr>
        <p:spPr>
          <a:xfrm>
            <a:off x="566928" y="3886200"/>
            <a:ext cx="56692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4005072"/>
            <a:ext cx="5212080" cy="274320"/>
          </a:xfrm>
          <a:prstGeom prst="rect">
            <a:avLst/>
          </a:prstGeom>
          <a:noFill/>
        </p:spPr>
        <p:txBody>
          <a:bodyPr wrap="square" lIns="0" rIns="0" tIns="0" bIns="0" anchor="t">
            <a:spAutoFit/>
          </a:bodyPr>
          <a:lstStyle/>
          <a:p>
            <a:pPr algn="l">
              <a:lnSpc>
                <a:spcPct val="112000"/>
              </a:lnSpc>
              <a:spcAft>
                <a:spcPts val="0"/>
              </a:spcAft>
            </a:pPr>
            <a:r>
              <a:rPr sz="1000" b="1" i="0" spc="120">
                <a:solidFill>
                  <a:srgbClr val="A3462F"/>
                </a:solidFill>
                <a:latin typeface="Calibri"/>
              </a:rPr>
              <a:t>KONTRAINDIKASI</a:t>
            </a:r>
          </a:p>
        </p:txBody>
      </p:sp>
      <p:sp>
        <p:nvSpPr>
          <p:cNvPr id="13" name="TextBox 12"/>
          <p:cNvSpPr txBox="1"/>
          <p:nvPr/>
        </p:nvSpPr>
        <p:spPr>
          <a:xfrm>
            <a:off x="768096" y="4315968"/>
            <a:ext cx="5257800" cy="914400"/>
          </a:xfrm>
          <a:prstGeom prst="rect">
            <a:avLst/>
          </a:prstGeom>
          <a:noFill/>
        </p:spPr>
        <p:txBody>
          <a:bodyPr wrap="square" lIns="0" rIns="0" tIns="0" bIns="0" anchor="t">
            <a:spAutoFit/>
          </a:bodyPr>
          <a:lstStyle/>
          <a:p>
            <a:pPr algn="l">
              <a:lnSpc>
                <a:spcPct val="124000"/>
              </a:lnSpc>
              <a:spcAft>
                <a:spcPts val="0"/>
              </a:spcAft>
            </a:pPr>
            <a:r>
              <a:rPr sz="1000" b="0" i="0">
                <a:solidFill>
                  <a:srgbClr val="47646C"/>
                </a:solidFill>
                <a:latin typeface="Calibri"/>
              </a:rPr>
              <a:t>1.  Resorpsi akar lebih dari setengah</a:t>
            </a:r>
          </a:p>
          <a:p>
            <a:pPr algn="l">
              <a:lnSpc>
                <a:spcPct val="124000"/>
              </a:lnSpc>
              <a:spcAft>
                <a:spcPts val="0"/>
              </a:spcAft>
            </a:pPr>
            <a:r>
              <a:rPr sz="1000" b="0" i="0">
                <a:solidFill>
                  <a:srgbClr val="47646C"/>
                </a:solidFill>
                <a:latin typeface="Calibri"/>
              </a:rPr>
              <a:t>2.  Alergi nikel yang diketahui</a:t>
            </a:r>
          </a:p>
          <a:p>
            <a:pPr algn="l">
              <a:lnSpc>
                <a:spcPct val="124000"/>
              </a:lnSpc>
              <a:spcAft>
                <a:spcPts val="0"/>
              </a:spcAft>
            </a:pPr>
            <a:r>
              <a:rPr sz="1000" b="0" i="0">
                <a:solidFill>
                  <a:srgbClr val="47646C"/>
                </a:solidFill>
                <a:latin typeface="Calibri"/>
              </a:rPr>
              <a:t>3.  Gigi tidak dapat direstorasi</a:t>
            </a:r>
          </a:p>
          <a:p>
            <a:pPr algn="l">
              <a:lnSpc>
                <a:spcPct val="124000"/>
              </a:lnSpc>
              <a:spcAft>
                <a:spcPts val="0"/>
              </a:spcAft>
            </a:pPr>
            <a:r>
              <a:rPr sz="1000" b="0" i="0">
                <a:solidFill>
                  <a:srgbClr val="47646C"/>
                </a:solidFill>
                <a:latin typeface="Calibri"/>
              </a:rPr>
              <a:t>4.  Pulpa ireversibel belum diterapi</a:t>
            </a:r>
          </a:p>
        </p:txBody>
      </p:sp>
      <p:sp>
        <p:nvSpPr>
          <p:cNvPr id="14" name="TextBox 13"/>
          <p:cNvSpPr txBox="1"/>
          <p:nvPr/>
        </p:nvSpPr>
        <p:spPr>
          <a:xfrm>
            <a:off x="6720840" y="1700784"/>
            <a:ext cx="4572000" cy="274320"/>
          </a:xfrm>
          <a:prstGeom prst="rect">
            <a:avLst/>
          </a:prstGeom>
          <a:noFill/>
        </p:spPr>
        <p:txBody>
          <a:bodyPr wrap="square" lIns="0" rIns="0" tIns="0" bIns="0" anchor="t">
            <a:spAutoFit/>
          </a:bodyPr>
          <a:lstStyle/>
          <a:p>
            <a:pPr algn="l">
              <a:lnSpc>
                <a:spcPct val="112000"/>
              </a:lnSpc>
              <a:spcAft>
                <a:spcPts val="0"/>
              </a:spcAft>
            </a:pPr>
            <a:r>
              <a:rPr sz="850" b="1" i="0" spc="80">
                <a:solidFill>
                  <a:srgbClr val="C65B45"/>
                </a:solidFill>
                <a:latin typeface="Calibri"/>
              </a:rPr>
              <a:t>ALUR KEPUTUSAN</a:t>
            </a:r>
          </a:p>
        </p:txBody>
      </p:sp>
      <p:sp>
        <p:nvSpPr>
          <p:cNvPr id="15" name="Rounded Rectangle 14"/>
          <p:cNvSpPr/>
          <p:nvPr/>
        </p:nvSpPr>
        <p:spPr>
          <a:xfrm>
            <a:off x="6720840" y="201168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9712" y="210312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Karies luas, lebih dari 2 permukaan, atau melewati line angle?</a:t>
            </a:r>
          </a:p>
        </p:txBody>
      </p:sp>
      <p:sp>
        <p:nvSpPr>
          <p:cNvPr id="17" name="Down Arrow 16"/>
          <p:cNvSpPr/>
          <p:nvPr/>
        </p:nvSpPr>
        <p:spPr>
          <a:xfrm>
            <a:off x="9070848" y="265176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720840" y="2788920"/>
            <a:ext cx="4892040" cy="621792"/>
          </a:xfrm>
          <a:prstGeom prst="roundRect">
            <a:avLst>
              <a:gd name="adj" fmla="val 9000"/>
            </a:avLst>
          </a:prstGeom>
          <a:solidFill>
            <a:srgbClr val="F7F0E0"/>
          </a:solidFill>
          <a:ln w="12700">
            <a:solidFill>
              <a:srgbClr val="DDC9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9712" y="288036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Tanda pulpa ireversibel? Ya: pulpektomi atau ekstraksi, lalu SSC bila gigi dipertahankan.</a:t>
            </a:r>
          </a:p>
        </p:txBody>
      </p:sp>
      <p:sp>
        <p:nvSpPr>
          <p:cNvPr id="20" name="Down Arrow 19"/>
          <p:cNvSpPr/>
          <p:nvPr/>
        </p:nvSpPr>
        <p:spPr>
          <a:xfrm>
            <a:off x="9070848" y="342900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720840" y="3566160"/>
            <a:ext cx="4892040" cy="621792"/>
          </a:xfrm>
          <a:prstGeom prst="roundRect">
            <a:avLst>
              <a:gd name="adj" fmla="val 9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9712" y="365760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pasang SSC konvensional, cukup satu kunjungan.</a:t>
            </a:r>
          </a:p>
        </p:txBody>
      </p:sp>
      <p:sp>
        <p:nvSpPr>
          <p:cNvPr id="23" name="Down Arrow 22"/>
          <p:cNvSpPr/>
          <p:nvPr/>
        </p:nvSpPr>
        <p:spPr>
          <a:xfrm>
            <a:off x="9070848" y="420624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20840" y="434340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9712" y="443484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memenuhi syarat SSC: gigi tidak dapat direstorasi, akar teresorpsi, atau alergi nikel.</a:t>
            </a:r>
          </a:p>
        </p:txBody>
      </p:sp>
      <p:sp>
        <p:nvSpPr>
          <p:cNvPr id="26" name="Rectangle 2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SDCEP 2025; Randall 2002</a:t>
            </a:r>
          </a:p>
        </p:txBody>
      </p:sp>
      <p:sp>
        <p:nvSpPr>
          <p:cNvPr id="28" name="TextBox 2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ANATOMI DAN PREPARASI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Bentuk gigi desidui menentukan arah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6</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92807"/>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Retensi ada di servikal</a:t>
            </a:r>
          </a:p>
        </p:txBody>
      </p:sp>
      <p:sp>
        <p:nvSpPr>
          <p:cNvPr id="10" name="TextBox 9"/>
          <p:cNvSpPr txBox="1"/>
          <p:nvPr/>
        </p:nvSpPr>
        <p:spPr>
          <a:xfrm>
            <a:off x="749808" y="2185416"/>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Crown ditahan oleh undercut di bawah bulbositas servikal.</a:t>
            </a:r>
          </a:p>
        </p:txBody>
      </p:sp>
      <p:sp>
        <p:nvSpPr>
          <p:cNvPr id="11" name="Rounded Rectangle 10"/>
          <p:cNvSpPr/>
          <p:nvPr/>
        </p:nvSpPr>
        <p:spPr>
          <a:xfrm>
            <a:off x="566928" y="2807208"/>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916936"/>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Bukal dan lingual tidak rutin</a:t>
            </a:r>
          </a:p>
        </p:txBody>
      </p:sp>
      <p:sp>
        <p:nvSpPr>
          <p:cNvPr id="13" name="TextBox 12"/>
          <p:cNvSpPr txBox="1"/>
          <p:nvPr/>
        </p:nvSpPr>
        <p:spPr>
          <a:xfrm>
            <a:off x="749808" y="3209544"/>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Dikurangi hanya bila konturnya menghalangi crown duduk.</a:t>
            </a:r>
          </a:p>
        </p:txBody>
      </p:sp>
      <p:sp>
        <p:nvSpPr>
          <p:cNvPr id="14" name="Rounded Rectangle 13"/>
          <p:cNvSpPr/>
          <p:nvPr/>
        </p:nvSpPr>
        <p:spPr>
          <a:xfrm>
            <a:off x="566928" y="3831336"/>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941064"/>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Enamel hanya 1 mm</a:t>
            </a:r>
          </a:p>
        </p:txBody>
      </p:sp>
      <p:sp>
        <p:nvSpPr>
          <p:cNvPr id="16" name="TextBox 15"/>
          <p:cNvSpPr txBox="1"/>
          <p:nvPr/>
        </p:nvSpPr>
        <p:spPr>
          <a:xfrm>
            <a:off x="749808" y="4233672"/>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Reduksi oklusal 1,0–1,5 mm; sumber lain menyebut 1,5–2,0 mm untuk molar permanen.</a:t>
            </a:r>
          </a:p>
        </p:txBody>
      </p:sp>
      <p:sp>
        <p:nvSpPr>
          <p:cNvPr id="17" name="Rounded Rectangle 16"/>
          <p:cNvSpPr/>
          <p:nvPr/>
        </p:nvSpPr>
        <p:spPr>
          <a:xfrm>
            <a:off x="566928" y="4855464"/>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965192"/>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Kontak harus putus</a:t>
            </a:r>
          </a:p>
        </p:txBody>
      </p:sp>
      <p:sp>
        <p:nvSpPr>
          <p:cNvPr id="19" name="TextBox 18"/>
          <p:cNvSpPr txBox="1"/>
          <p:nvPr/>
        </p:nvSpPr>
        <p:spPr>
          <a:xfrm>
            <a:off x="749808" y="5257800"/>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Probe harus bisa melewati kontak mesial dan distal.</a:t>
            </a:r>
          </a:p>
        </p:txBody>
      </p:sp>
      <p:pic>
        <p:nvPicPr>
          <p:cNvPr id="20" name="Picture 19" descr="fig-prep.jpg"/>
          <p:cNvPicPr>
            <a:picLocks noChangeAspect="1"/>
          </p:cNvPicPr>
          <p:nvPr/>
        </p:nvPicPr>
        <p:blipFill>
          <a:blip r:embed="rId2"/>
          <a:stretch>
            <a:fillRect/>
          </a:stretch>
        </p:blipFill>
        <p:spPr>
          <a:xfrm>
            <a:off x="5989320" y="1719072"/>
            <a:ext cx="5623560" cy="3929374"/>
          </a:xfrm>
          <a:prstGeom prst="rect">
            <a:avLst/>
          </a:prstGeom>
        </p:spPr>
      </p:pic>
      <p:sp>
        <p:nvSpPr>
          <p:cNvPr id="21" name="TextBox 20"/>
          <p:cNvSpPr txBox="1"/>
          <p:nvPr/>
        </p:nvSpPr>
        <p:spPr>
          <a:xfrm>
            <a:off x="5989320" y="5721598"/>
            <a:ext cx="562356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Garis dan angka untuk orientasi, bukan skala.</a:t>
            </a:r>
          </a:p>
        </p:txBody>
      </p:sp>
      <p:sp>
        <p:nvSpPr>
          <p:cNvPr id="22" name="Rectangle 21"/>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Amlani &amp; Brizuela 2023</a:t>
            </a:r>
          </a:p>
        </p:txBody>
      </p:sp>
      <p:sp>
        <p:nvSpPr>
          <p:cNvPr id="24" name="TextBox 23"/>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SSC KONVENSIONAL</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Urutan sepuluh langkah menentukan adaptasi akhir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7</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a:t>
            </a:r>
          </a:p>
        </p:txBody>
      </p:sp>
      <p:sp>
        <p:nvSpPr>
          <p:cNvPr id="10" name="TextBox 9"/>
          <p:cNvSpPr txBox="1"/>
          <p:nvPr/>
        </p:nvSpPr>
        <p:spPr>
          <a:xfrm>
            <a:off x="111556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Anestesi dan isolasi</a:t>
            </a:r>
          </a:p>
        </p:txBody>
      </p:sp>
      <p:sp>
        <p:nvSpPr>
          <p:cNvPr id="11" name="Rounded Rectangle 10"/>
          <p:cNvSpPr/>
          <p:nvPr/>
        </p:nvSpPr>
        <p:spPr>
          <a:xfrm>
            <a:off x="56692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2</a:t>
            </a:r>
          </a:p>
        </p:txBody>
      </p:sp>
      <p:sp>
        <p:nvSpPr>
          <p:cNvPr id="13" name="TextBox 12"/>
          <p:cNvSpPr txBox="1"/>
          <p:nvPr/>
        </p:nvSpPr>
        <p:spPr>
          <a:xfrm>
            <a:off x="111556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Ukur dan pilih ukuran</a:t>
            </a:r>
          </a:p>
        </p:txBody>
      </p:sp>
      <p:sp>
        <p:nvSpPr>
          <p:cNvPr id="14" name="Rounded Rectangle 13"/>
          <p:cNvSpPr/>
          <p:nvPr/>
        </p:nvSpPr>
        <p:spPr>
          <a:xfrm>
            <a:off x="56692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3</a:t>
            </a:r>
          </a:p>
        </p:txBody>
      </p:sp>
      <p:sp>
        <p:nvSpPr>
          <p:cNvPr id="16" name="TextBox 15"/>
          <p:cNvSpPr txBox="1"/>
          <p:nvPr/>
        </p:nvSpPr>
        <p:spPr>
          <a:xfrm>
            <a:off x="111556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Ekskavasi dan pulp therapy</a:t>
            </a:r>
          </a:p>
        </p:txBody>
      </p:sp>
      <p:sp>
        <p:nvSpPr>
          <p:cNvPr id="17" name="Rounded Rectangle 16"/>
          <p:cNvSpPr/>
          <p:nvPr/>
        </p:nvSpPr>
        <p:spPr>
          <a:xfrm>
            <a:off x="56692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4</a:t>
            </a:r>
          </a:p>
        </p:txBody>
      </p:sp>
      <p:sp>
        <p:nvSpPr>
          <p:cNvPr id="19" name="TextBox 18"/>
          <p:cNvSpPr txBox="1"/>
          <p:nvPr/>
        </p:nvSpPr>
        <p:spPr>
          <a:xfrm>
            <a:off x="111556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oklusal</a:t>
            </a:r>
          </a:p>
        </p:txBody>
      </p:sp>
      <p:sp>
        <p:nvSpPr>
          <p:cNvPr id="20" name="Rounded Rectangle 19"/>
          <p:cNvSpPr/>
          <p:nvPr/>
        </p:nvSpPr>
        <p:spPr>
          <a:xfrm>
            <a:off x="56692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5</a:t>
            </a:r>
          </a:p>
        </p:txBody>
      </p:sp>
      <p:sp>
        <p:nvSpPr>
          <p:cNvPr id="22" name="TextBox 21"/>
          <p:cNvSpPr txBox="1"/>
          <p:nvPr/>
        </p:nvSpPr>
        <p:spPr>
          <a:xfrm>
            <a:off x="111556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proksimal</a:t>
            </a:r>
          </a:p>
        </p:txBody>
      </p:sp>
      <p:sp>
        <p:nvSpPr>
          <p:cNvPr id="23" name="Rounded Rectangle 22"/>
          <p:cNvSpPr/>
          <p:nvPr/>
        </p:nvSpPr>
        <p:spPr>
          <a:xfrm>
            <a:off x="609904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8192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6</a:t>
            </a:r>
          </a:p>
        </p:txBody>
      </p:sp>
      <p:sp>
        <p:nvSpPr>
          <p:cNvPr id="25" name="TextBox 24"/>
          <p:cNvSpPr txBox="1"/>
          <p:nvPr/>
        </p:nvSpPr>
        <p:spPr>
          <a:xfrm>
            <a:off x="664768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Haluskan line angle</a:t>
            </a:r>
          </a:p>
        </p:txBody>
      </p:sp>
      <p:sp>
        <p:nvSpPr>
          <p:cNvPr id="26" name="Rounded Rectangle 25"/>
          <p:cNvSpPr/>
          <p:nvPr/>
        </p:nvSpPr>
        <p:spPr>
          <a:xfrm>
            <a:off x="609904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7</a:t>
            </a:r>
          </a:p>
        </p:txBody>
      </p:sp>
      <p:sp>
        <p:nvSpPr>
          <p:cNvPr id="28" name="TextBox 27"/>
          <p:cNvSpPr txBox="1"/>
          <p:nvPr/>
        </p:nvSpPr>
        <p:spPr>
          <a:xfrm>
            <a:off x="664768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Try-in</a:t>
            </a:r>
          </a:p>
        </p:txBody>
      </p:sp>
      <p:sp>
        <p:nvSpPr>
          <p:cNvPr id="29" name="Rounded Rectangle 28"/>
          <p:cNvSpPr/>
          <p:nvPr/>
        </p:nvSpPr>
        <p:spPr>
          <a:xfrm>
            <a:off x="609904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8192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8</a:t>
            </a:r>
          </a:p>
        </p:txBody>
      </p:sp>
      <p:sp>
        <p:nvSpPr>
          <p:cNvPr id="31" name="TextBox 30"/>
          <p:cNvSpPr txBox="1"/>
          <p:nvPr/>
        </p:nvSpPr>
        <p:spPr>
          <a:xfrm>
            <a:off x="664768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Trim, crimp, contour</a:t>
            </a:r>
          </a:p>
        </p:txBody>
      </p:sp>
      <p:sp>
        <p:nvSpPr>
          <p:cNvPr id="32" name="Rounded Rectangle 31"/>
          <p:cNvSpPr/>
          <p:nvPr/>
        </p:nvSpPr>
        <p:spPr>
          <a:xfrm>
            <a:off x="609904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9</a:t>
            </a:r>
          </a:p>
        </p:txBody>
      </p:sp>
      <p:sp>
        <p:nvSpPr>
          <p:cNvPr id="34" name="TextBox 33"/>
          <p:cNvSpPr txBox="1"/>
          <p:nvPr/>
        </p:nvSpPr>
        <p:spPr>
          <a:xfrm>
            <a:off x="664768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Sementasi</a:t>
            </a:r>
          </a:p>
        </p:txBody>
      </p:sp>
      <p:sp>
        <p:nvSpPr>
          <p:cNvPr id="35" name="Rounded Rectangle 34"/>
          <p:cNvSpPr/>
          <p:nvPr/>
        </p:nvSpPr>
        <p:spPr>
          <a:xfrm>
            <a:off x="609904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8192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10</a:t>
            </a:r>
          </a:p>
        </p:txBody>
      </p:sp>
      <p:sp>
        <p:nvSpPr>
          <p:cNvPr id="37" name="TextBox 36"/>
          <p:cNvSpPr txBox="1"/>
          <p:nvPr/>
        </p:nvSpPr>
        <p:spPr>
          <a:xfrm>
            <a:off x="664768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Cek akhir dan instruksi</a:t>
            </a:r>
          </a:p>
        </p:txBody>
      </p:sp>
      <p:sp>
        <p:nvSpPr>
          <p:cNvPr id="38" name="TextBox 37"/>
          <p:cNvSpPr txBox="1"/>
          <p:nvPr/>
        </p:nvSpPr>
        <p:spPr>
          <a:xfrm>
            <a:off x="566928" y="5623560"/>
            <a:ext cx="1088136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Rincian tujuan, cara, instrumen, kesalahan, dan tanda benar ada di versi HTML dan protokol_klinis.md.</a:t>
            </a:r>
          </a:p>
        </p:txBody>
      </p:sp>
      <p:sp>
        <p:nvSpPr>
          <p:cNvPr id="39" name="Rectangle 3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VPT 2024; AAPD 2023 anestesi</a:t>
            </a:r>
          </a:p>
        </p:txBody>
      </p:sp>
      <p:sp>
        <p:nvSpPr>
          <p:cNvPr id="41" name="TextBox 4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KOMPLIKASI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Komplikasi SSC bisa dicegah di langkah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8</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terasa longgar</a:t>
            </a:r>
          </a:p>
        </p:txBody>
      </p:sp>
      <p:sp>
        <p:nvSpPr>
          <p:cNvPr id="10" name="TextBox 9"/>
          <p:cNvSpPr txBox="1"/>
          <p:nvPr/>
        </p:nvSpPr>
        <p:spPr>
          <a:xfrm>
            <a:off x="73152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Biasanya ukuran terlalu besar atau crimping margin kurang rapat.</a:t>
            </a:r>
          </a:p>
        </p:txBody>
      </p:sp>
      <p:sp>
        <p:nvSpPr>
          <p:cNvPr id="11" name="Rounded Rectangle 10"/>
          <p:cNvSpPr/>
          <p:nvPr/>
        </p:nvSpPr>
        <p:spPr>
          <a:xfrm>
            <a:off x="427024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tidak duduk</a:t>
            </a:r>
          </a:p>
        </p:txBody>
      </p:sp>
      <p:sp>
        <p:nvSpPr>
          <p:cNvPr id="13" name="TextBox 12"/>
          <p:cNvSpPr txBox="1"/>
          <p:nvPr/>
        </p:nvSpPr>
        <p:spPr>
          <a:xfrm>
            <a:off x="443484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Ada ledge, atau kontak proksimal belum putus.</a:t>
            </a:r>
          </a:p>
        </p:txBody>
      </p:sp>
      <p:sp>
        <p:nvSpPr>
          <p:cNvPr id="14" name="Rounded Rectangle 13"/>
          <p:cNvSpPr/>
          <p:nvPr/>
        </p:nvSpPr>
        <p:spPr>
          <a:xfrm>
            <a:off x="7973567"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Perdarahan gingiva</a:t>
            </a:r>
          </a:p>
        </p:txBody>
      </p:sp>
      <p:sp>
        <p:nvSpPr>
          <p:cNvPr id="16" name="TextBox 15"/>
          <p:cNvSpPr txBox="1"/>
          <p:nvPr/>
        </p:nvSpPr>
        <p:spPr>
          <a:xfrm>
            <a:off x="8138159"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Margin crown terlalu panjang, atau tepinya tajam.</a:t>
            </a:r>
          </a:p>
        </p:txBody>
      </p:sp>
      <p:sp>
        <p:nvSpPr>
          <p:cNvPr id="17" name="Rounded Rectangle 16"/>
          <p:cNvSpPr/>
          <p:nvPr/>
        </p:nvSpPr>
        <p:spPr>
          <a:xfrm>
            <a:off x="56692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Perforasi crown</a:t>
            </a:r>
          </a:p>
        </p:txBody>
      </p:sp>
      <p:sp>
        <p:nvSpPr>
          <p:cNvPr id="19" name="TextBox 18"/>
          <p:cNvSpPr txBox="1"/>
          <p:nvPr/>
        </p:nvSpPr>
        <p:spPr>
          <a:xfrm>
            <a:off x="73152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Trimming terlalu banyak, atau logam aus di oklusal.</a:t>
            </a:r>
          </a:p>
        </p:txBody>
      </p:sp>
      <p:sp>
        <p:nvSpPr>
          <p:cNvPr id="20" name="Rounded Rectangle 19"/>
          <p:cNvSpPr/>
          <p:nvPr/>
        </p:nvSpPr>
        <p:spPr>
          <a:xfrm>
            <a:off x="427024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lepas</a:t>
            </a:r>
          </a:p>
        </p:txBody>
      </p:sp>
      <p:sp>
        <p:nvSpPr>
          <p:cNvPr id="22" name="TextBox 21"/>
          <p:cNvSpPr txBox="1"/>
          <p:nvPr/>
        </p:nvSpPr>
        <p:spPr>
          <a:xfrm>
            <a:off x="443484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Retensi kurang, atau ada karies sekunder di bawah margin.</a:t>
            </a:r>
          </a:p>
        </p:txBody>
      </p:sp>
      <p:sp>
        <p:nvSpPr>
          <p:cNvPr id="23" name="Rounded Rectangle 22"/>
          <p:cNvSpPr/>
          <p:nvPr/>
        </p:nvSpPr>
        <p:spPr>
          <a:xfrm>
            <a:off x="7973567"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59"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Anak tidak kooperatif</a:t>
            </a:r>
          </a:p>
        </p:txBody>
      </p:sp>
      <p:sp>
        <p:nvSpPr>
          <p:cNvPr id="25" name="TextBox 24"/>
          <p:cNvSpPr txBox="1"/>
          <p:nvPr/>
        </p:nvSpPr>
        <p:spPr>
          <a:xfrm>
            <a:off x="8138159"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Cemas, atau pernah punya pengalaman perawatan buruk.</a:t>
            </a:r>
          </a:p>
        </p:txBody>
      </p:sp>
      <p:sp>
        <p:nvSpPr>
          <p:cNvPr id="26" name="Rounded Rectangle 25"/>
          <p:cNvSpPr/>
          <p:nvPr/>
        </p:nvSpPr>
        <p:spPr>
          <a:xfrm>
            <a:off x="56692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Alergi nikel</a:t>
            </a:r>
          </a:p>
        </p:txBody>
      </p:sp>
      <p:sp>
        <p:nvSpPr>
          <p:cNvPr id="28" name="TextBox 27"/>
          <p:cNvSpPr txBox="1"/>
          <p:nvPr/>
        </p:nvSpPr>
        <p:spPr>
          <a:xfrm>
            <a:off x="73152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Sensitisasi 8–10% pada anak di Eropa, reaksi klinis jarang. Jangan dipakai bila ada riwayat reaksi.</a:t>
            </a:r>
          </a:p>
        </p:txBody>
      </p:sp>
      <p:sp>
        <p:nvSpPr>
          <p:cNvPr id="29" name="Rounded Rectangle 28"/>
          <p:cNvSpPr/>
          <p:nvPr/>
        </p:nvSpPr>
        <p:spPr>
          <a:xfrm>
            <a:off x="427024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4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Hipomineralisasi molar-insisivus (MIH)</a:t>
            </a:r>
          </a:p>
        </p:txBody>
      </p:sp>
      <p:sp>
        <p:nvSpPr>
          <p:cNvPr id="31" name="TextBox 30"/>
          <p:cNvSpPr txBox="1"/>
          <p:nvPr/>
        </p:nvSpPr>
        <p:spPr>
          <a:xfrm>
            <a:off x="443484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Enamel molar pertama permanen rapuh sejak erupsi, sehingga SSC bertahan pada 94,4% gigi, komposit 49,2%, setelah 24 bulan.</a:t>
            </a:r>
          </a:p>
        </p:txBody>
      </p:sp>
      <p:sp>
        <p:nvSpPr>
          <p:cNvPr id="32" name="Rounded Rectangle 31"/>
          <p:cNvSpPr/>
          <p:nvPr/>
        </p:nvSpPr>
        <p:spPr>
          <a:xfrm>
            <a:off x="7973567"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38159"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Anak berkebutuhan khusus</a:t>
            </a:r>
          </a:p>
        </p:txBody>
      </p:sp>
      <p:sp>
        <p:nvSpPr>
          <p:cNvPr id="34" name="TextBox 33"/>
          <p:cNvSpPr txBox="1"/>
          <p:nvPr/>
        </p:nvSpPr>
        <p:spPr>
          <a:xfrm>
            <a:off x="8138159"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Perawatan selesai dalam lebih sedikit kunjungan.</a:t>
            </a:r>
          </a:p>
        </p:txBody>
      </p:sp>
      <p:sp>
        <p:nvSpPr>
          <p:cNvPr id="35" name="Rectangle 3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Farias 2022; Ahlström 2019</a:t>
            </a:r>
          </a:p>
        </p:txBody>
      </p:sp>
      <p:sp>
        <p:nvSpPr>
          <p:cNvPr id="37" name="TextBox 3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BUKTI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unggul pada retensi lima tahun</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9</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48640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47088"/>
            <a:ext cx="512064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Retensi 5 tahun per material</a:t>
            </a:r>
          </a:p>
        </p:txBody>
      </p:sp>
      <p:sp>
        <p:nvSpPr>
          <p:cNvPr id="10" name="TextBox 9"/>
          <p:cNvSpPr txBox="1"/>
          <p:nvPr/>
        </p:nvSpPr>
        <p:spPr>
          <a:xfrm>
            <a:off x="768096" y="2121408"/>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SR/MA 13 RCT + 5 studi klinis (Lampl 2025). Sumbu dipotong 80–100%.</a:t>
            </a:r>
          </a:p>
        </p:txBody>
      </p:sp>
      <p:sp>
        <p:nvSpPr>
          <p:cNvPr id="11" name="TextBox 10"/>
          <p:cNvSpPr txBox="1"/>
          <p:nvPr/>
        </p:nvSpPr>
        <p:spPr>
          <a:xfrm>
            <a:off x="768096" y="254203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SSC</a:t>
            </a:r>
          </a:p>
        </p:txBody>
      </p:sp>
      <p:sp>
        <p:nvSpPr>
          <p:cNvPr id="12" name="Rounded Rectangle 11"/>
          <p:cNvSpPr/>
          <p:nvPr/>
        </p:nvSpPr>
        <p:spPr>
          <a:xfrm>
            <a:off x="1819655" y="262908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819655" y="2629082"/>
            <a:ext cx="3222052"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3420" y="254203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97,88%</a:t>
            </a:r>
          </a:p>
        </p:txBody>
      </p:sp>
      <p:sp>
        <p:nvSpPr>
          <p:cNvPr id="15" name="TextBox 14"/>
          <p:cNvSpPr txBox="1"/>
          <p:nvPr/>
        </p:nvSpPr>
        <p:spPr>
          <a:xfrm>
            <a:off x="768096" y="2852927"/>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16" name="Rounded Rectangle 15"/>
          <p:cNvSpPr/>
          <p:nvPr/>
        </p:nvSpPr>
        <p:spPr>
          <a:xfrm>
            <a:off x="1819655" y="2939978"/>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819655" y="2939978"/>
            <a:ext cx="3196047"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97415" y="2852927"/>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97,09%</a:t>
            </a:r>
          </a:p>
        </p:txBody>
      </p:sp>
      <p:sp>
        <p:nvSpPr>
          <p:cNvPr id="19" name="TextBox 18"/>
          <p:cNvSpPr txBox="1"/>
          <p:nvPr/>
        </p:nvSpPr>
        <p:spPr>
          <a:xfrm>
            <a:off x="768096" y="3163824"/>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Komposit</a:t>
            </a:r>
          </a:p>
        </p:txBody>
      </p:sp>
      <p:sp>
        <p:nvSpPr>
          <p:cNvPr id="20" name="Rounded Rectangle 19"/>
          <p:cNvSpPr/>
          <p:nvPr/>
        </p:nvSpPr>
        <p:spPr>
          <a:xfrm>
            <a:off x="1819655" y="3250874"/>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819655" y="3250874"/>
            <a:ext cx="303441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5786" y="3163824"/>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92,18%</a:t>
            </a:r>
          </a:p>
        </p:txBody>
      </p:sp>
      <p:sp>
        <p:nvSpPr>
          <p:cNvPr id="23" name="TextBox 22"/>
          <p:cNvSpPr txBox="1"/>
          <p:nvPr/>
        </p:nvSpPr>
        <p:spPr>
          <a:xfrm>
            <a:off x="768096" y="3474720"/>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RMGIC</a:t>
            </a:r>
          </a:p>
        </p:txBody>
      </p:sp>
      <p:sp>
        <p:nvSpPr>
          <p:cNvPr id="24" name="Rounded Rectangle 23"/>
          <p:cNvSpPr/>
          <p:nvPr/>
        </p:nvSpPr>
        <p:spPr>
          <a:xfrm>
            <a:off x="1819655" y="3561770"/>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819655" y="3561770"/>
            <a:ext cx="2972531"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73899" y="3474720"/>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90,30%</a:t>
            </a:r>
          </a:p>
        </p:txBody>
      </p:sp>
      <p:sp>
        <p:nvSpPr>
          <p:cNvPr id="27" name="TextBox 26"/>
          <p:cNvSpPr txBox="1"/>
          <p:nvPr/>
        </p:nvSpPr>
        <p:spPr>
          <a:xfrm>
            <a:off x="768096" y="3785615"/>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Compomer</a:t>
            </a:r>
          </a:p>
        </p:txBody>
      </p:sp>
      <p:sp>
        <p:nvSpPr>
          <p:cNvPr id="28" name="Rounded Rectangle 27"/>
          <p:cNvSpPr/>
          <p:nvPr/>
        </p:nvSpPr>
        <p:spPr>
          <a:xfrm>
            <a:off x="1819655" y="3872666"/>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819655" y="3872666"/>
            <a:ext cx="2926445"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27813" y="3785615"/>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88,90%</a:t>
            </a:r>
          </a:p>
        </p:txBody>
      </p:sp>
      <p:sp>
        <p:nvSpPr>
          <p:cNvPr id="31" name="TextBox 30"/>
          <p:cNvSpPr txBox="1"/>
          <p:nvPr/>
        </p:nvSpPr>
        <p:spPr>
          <a:xfrm>
            <a:off x="768096" y="409651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 crown</a:t>
            </a:r>
          </a:p>
        </p:txBody>
      </p:sp>
      <p:sp>
        <p:nvSpPr>
          <p:cNvPr id="32" name="Rounded Rectangle 31"/>
          <p:cNvSpPr/>
          <p:nvPr/>
        </p:nvSpPr>
        <p:spPr>
          <a:xfrm>
            <a:off x="1819655" y="418356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819655" y="4183562"/>
            <a:ext cx="274802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49396" y="409651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83,48%</a:t>
            </a:r>
          </a:p>
        </p:txBody>
      </p:sp>
      <p:sp>
        <p:nvSpPr>
          <p:cNvPr id="35" name="Rounded Rectangle 34"/>
          <p:cNvSpPr/>
          <p:nvPr/>
        </p:nvSpPr>
        <p:spPr>
          <a:xfrm>
            <a:off x="6236208" y="1737360"/>
            <a:ext cx="521208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7376" y="1847088"/>
            <a:ext cx="475488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Angka pendukung untuk SSC</a:t>
            </a:r>
          </a:p>
        </p:txBody>
      </p:sp>
      <p:sp>
        <p:nvSpPr>
          <p:cNvPr id="37" name="TextBox 36"/>
          <p:cNvSpPr txBox="1"/>
          <p:nvPr/>
        </p:nvSpPr>
        <p:spPr>
          <a:xfrm>
            <a:off x="6437376" y="2121408"/>
            <a:ext cx="475488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Ketiganya dari studi berbeda, jadi dibaca terpisah.</a:t>
            </a:r>
          </a:p>
        </p:txBody>
      </p:sp>
      <p:sp>
        <p:nvSpPr>
          <p:cNvPr id="38" name="TextBox 37"/>
          <p:cNvSpPr txBox="1"/>
          <p:nvPr/>
        </p:nvSpPr>
        <p:spPr>
          <a:xfrm>
            <a:off x="6437376" y="2487168"/>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96,1%</a:t>
            </a:r>
          </a:p>
        </p:txBody>
      </p:sp>
      <p:sp>
        <p:nvSpPr>
          <p:cNvPr id="39" name="TextBox 38"/>
          <p:cNvSpPr txBox="1"/>
          <p:nvPr/>
        </p:nvSpPr>
        <p:spPr>
          <a:xfrm>
            <a:off x="6437376" y="2889504"/>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gigi SSC berhasil pada 12 bulan</a:t>
            </a:r>
          </a:p>
        </p:txBody>
      </p:sp>
      <p:sp>
        <p:nvSpPr>
          <p:cNvPr id="40" name="TextBox 39"/>
          <p:cNvSpPr txBox="1"/>
          <p:nvPr/>
        </p:nvSpPr>
        <p:spPr>
          <a:xfrm>
            <a:off x="6437376" y="3255264"/>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31 studi</a:t>
            </a:r>
          </a:p>
        </p:txBody>
      </p:sp>
      <p:sp>
        <p:nvSpPr>
          <p:cNvPr id="41" name="Rectangle 40"/>
          <p:cNvSpPr/>
          <p:nvPr/>
        </p:nvSpPr>
        <p:spPr>
          <a:xfrm>
            <a:off x="6437376" y="3483864"/>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37376" y="3520440"/>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0,18</a:t>
            </a:r>
          </a:p>
        </p:txBody>
      </p:sp>
      <p:sp>
        <p:nvSpPr>
          <p:cNvPr id="43" name="TextBox 42"/>
          <p:cNvSpPr txBox="1"/>
          <p:nvPr/>
        </p:nvSpPr>
        <p:spPr>
          <a:xfrm>
            <a:off x="6437376" y="3922776"/>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risiko kegagalan mayor crown dibanding tambalan</a:t>
            </a:r>
          </a:p>
        </p:txBody>
      </p:sp>
      <p:sp>
        <p:nvSpPr>
          <p:cNvPr id="44" name="TextBox 43"/>
          <p:cNvSpPr txBox="1"/>
          <p:nvPr/>
        </p:nvSpPr>
        <p:spPr>
          <a:xfrm>
            <a:off x="6437376" y="4288536"/>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tinjauan sistematis</a:t>
            </a:r>
          </a:p>
        </p:txBody>
      </p:sp>
      <p:sp>
        <p:nvSpPr>
          <p:cNvPr id="45" name="Rectangle 44"/>
          <p:cNvSpPr/>
          <p:nvPr/>
        </p:nvSpPr>
        <p:spPr>
          <a:xfrm>
            <a:off x="6437376" y="4517136"/>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37376" y="4553712"/>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94,4%</a:t>
            </a:r>
          </a:p>
        </p:txBody>
      </p:sp>
      <p:sp>
        <p:nvSpPr>
          <p:cNvPr id="47" name="TextBox 46"/>
          <p:cNvSpPr txBox="1"/>
          <p:nvPr/>
        </p:nvSpPr>
        <p:spPr>
          <a:xfrm>
            <a:off x="6437376" y="4956048"/>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SSC bertahan pada gigi dengan MIH, komposit 49,2%, 24 bulan</a:t>
            </a:r>
          </a:p>
        </p:txBody>
      </p:sp>
      <p:sp>
        <p:nvSpPr>
          <p:cNvPr id="48" name="TextBox 47"/>
          <p:cNvSpPr txBox="1"/>
          <p:nvPr/>
        </p:nvSpPr>
        <p:spPr>
          <a:xfrm>
            <a:off x="6437376" y="5321808"/>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a:t>
            </a:r>
          </a:p>
        </p:txBody>
      </p:sp>
      <p:sp>
        <p:nvSpPr>
          <p:cNvPr id="49" name="TextBox 48"/>
          <p:cNvSpPr txBox="1"/>
          <p:nvPr/>
        </p:nvSpPr>
        <p:spPr>
          <a:xfrm>
            <a:off x="566928" y="5815584"/>
            <a:ext cx="10881360" cy="329184"/>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Retensi bukan keberhasilan: crown bisa masih terpasang sementara gigi di bawahnya sudah nekrotik.</a:t>
            </a:r>
          </a:p>
        </p:txBody>
      </p:sp>
      <p:sp>
        <p:nvSpPr>
          <p:cNvPr id="50" name="Rectangle 4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Lampl 2025; Chisini 2018; Innes 2015 Cochrane; Farias 2022</a:t>
            </a:r>
          </a:p>
        </p:txBody>
      </p:sp>
      <p:sp>
        <p:nvSpPr>
          <p:cNvPr id="52" name="TextBox 5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ALTERNATIF ESTETIK</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700" b="0" i="0">
                <a:solidFill>
                  <a:srgbClr val="15323A"/>
                </a:solidFill>
                <a:latin typeface="Georgia"/>
              </a:rPr>
              <a:t>Zirkonia lebih baik untuk gingiva, tetapi retensinya belum terbukti lebih unggul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10</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5623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Zirkonia</a:t>
            </a:r>
          </a:p>
        </p:txBody>
      </p:sp>
      <p:sp>
        <p:nvSpPr>
          <p:cNvPr id="10" name="TextBox 9"/>
          <p:cNvSpPr txBox="1"/>
          <p:nvPr/>
        </p:nvSpPr>
        <p:spPr>
          <a:xfrm>
            <a:off x="749808" y="216712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Kegagalan klinis tidak berbeda bermakna dari SSC (RR 0,48; 95% CI 0,15–1,52), tetapi gingiva lebih sehat (MD −0,32). Biayanya lebih tinggi, menimbulkan keausan antagonis, dan sulit direparasi.</a:t>
            </a:r>
          </a:p>
        </p:txBody>
      </p:sp>
      <p:sp>
        <p:nvSpPr>
          <p:cNvPr id="11" name="Rounded Rectangle 10"/>
          <p:cNvSpPr/>
          <p:nvPr/>
        </p:nvSpPr>
        <p:spPr>
          <a:xfrm>
            <a:off x="566928" y="3063239"/>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18211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Pre-veneered SSC</a:t>
            </a:r>
          </a:p>
        </p:txBody>
      </p:sp>
      <p:sp>
        <p:nvSpPr>
          <p:cNvPr id="13" name="TextBox 12"/>
          <p:cNvSpPr txBox="1"/>
          <p:nvPr/>
        </p:nvSpPr>
        <p:spPr>
          <a:xfrm>
            <a:off x="749808" y="3493007"/>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95% gigi setelah 6 bulan (Walia 2014). Veneernya bisa fraktur, dan buktinya belum cukup untuk menggantikan SSC.</a:t>
            </a:r>
          </a:p>
        </p:txBody>
      </p:sp>
      <p:sp>
        <p:nvSpPr>
          <p:cNvPr id="14" name="Rounded Rectangle 13"/>
          <p:cNvSpPr/>
          <p:nvPr/>
        </p:nvSpPr>
        <p:spPr>
          <a:xfrm>
            <a:off x="566928" y="438912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507992"/>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Strip crown</a:t>
            </a:r>
          </a:p>
        </p:txBody>
      </p:sp>
      <p:sp>
        <p:nvSpPr>
          <p:cNvPr id="16" name="TextBox 15"/>
          <p:cNvSpPr txBox="1"/>
          <p:nvPr/>
        </p:nvSpPr>
        <p:spPr>
          <a:xfrm>
            <a:off x="749808" y="481888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78% gigi setelah 6 bulan (Walia 2014). Tekniknya sensitif kelembapan, dan bukan pilihan pertama untuk molar posterior.</a:t>
            </a:r>
          </a:p>
        </p:txBody>
      </p:sp>
      <p:pic>
        <p:nvPicPr>
          <p:cNvPr id="17" name="Picture 16" descr="fig-alternatives.jpg"/>
          <p:cNvPicPr>
            <a:picLocks noChangeAspect="1"/>
          </p:cNvPicPr>
          <p:nvPr/>
        </p:nvPicPr>
        <p:blipFill>
          <a:blip r:embed="rId2"/>
          <a:stretch>
            <a:fillRect/>
          </a:stretch>
        </p:blipFill>
        <p:spPr>
          <a:xfrm>
            <a:off x="6172200" y="1719072"/>
            <a:ext cx="5440680" cy="2365513"/>
          </a:xfrm>
          <a:prstGeom prst="rect">
            <a:avLst/>
          </a:prstGeom>
        </p:spPr>
      </p:pic>
      <p:sp>
        <p:nvSpPr>
          <p:cNvPr id="18" name="TextBox 17"/>
          <p:cNvSpPr txBox="1"/>
          <p:nvPr/>
        </p:nvSpPr>
        <p:spPr>
          <a:xfrm>
            <a:off x="6172200" y="4157736"/>
            <a:ext cx="5440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Zirkonia, pre-veneered SSC, dan SSC logam penuh.</a:t>
            </a:r>
          </a:p>
        </p:txBody>
      </p:sp>
      <p:sp>
        <p:nvSpPr>
          <p:cNvPr id="19" name="Rounded Rectangle 18"/>
          <p:cNvSpPr/>
          <p:nvPr/>
        </p:nvSpPr>
        <p:spPr>
          <a:xfrm>
            <a:off x="6172200" y="4498848"/>
            <a:ext cx="54406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4590288"/>
            <a:ext cx="50292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15323A"/>
                </a:solidFill>
                <a:latin typeface="Calibri"/>
              </a:rPr>
              <a:t>Crown yang masih terpasang setelah 6 bulan</a:t>
            </a:r>
          </a:p>
        </p:txBody>
      </p:sp>
      <p:sp>
        <p:nvSpPr>
          <p:cNvPr id="21" name="TextBox 20"/>
          <p:cNvSpPr txBox="1"/>
          <p:nvPr/>
        </p:nvSpPr>
        <p:spPr>
          <a:xfrm>
            <a:off x="6355080" y="4828032"/>
            <a:ext cx="50292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RCT 129 gigi insisivus desidui (Walia 2014)</a:t>
            </a:r>
          </a:p>
        </p:txBody>
      </p:sp>
      <p:sp>
        <p:nvSpPr>
          <p:cNvPr id="22" name="TextBox 21"/>
          <p:cNvSpPr txBox="1"/>
          <p:nvPr/>
        </p:nvSpPr>
        <p:spPr>
          <a:xfrm>
            <a:off x="6355080" y="507492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23" name="Rounded Rectangle 22"/>
          <p:cNvSpPr/>
          <p:nvPr/>
        </p:nvSpPr>
        <p:spPr>
          <a:xfrm>
            <a:off x="7315200" y="514746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0" y="5147462"/>
            <a:ext cx="3383280"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80192" y="507492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100%</a:t>
            </a:r>
          </a:p>
        </p:txBody>
      </p:sp>
      <p:sp>
        <p:nvSpPr>
          <p:cNvPr id="26" name="TextBox 25"/>
          <p:cNvSpPr txBox="1"/>
          <p:nvPr/>
        </p:nvSpPr>
        <p:spPr>
          <a:xfrm>
            <a:off x="6355080" y="533400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PVSSC</a:t>
            </a:r>
          </a:p>
        </p:txBody>
      </p:sp>
      <p:sp>
        <p:nvSpPr>
          <p:cNvPr id="27" name="Rounded Rectangle 26"/>
          <p:cNvSpPr/>
          <p:nvPr/>
        </p:nvSpPr>
        <p:spPr>
          <a:xfrm>
            <a:off x="7315200" y="540654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15200" y="5406542"/>
            <a:ext cx="3214116"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1028" y="533400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95%</a:t>
            </a:r>
          </a:p>
        </p:txBody>
      </p:sp>
      <p:sp>
        <p:nvSpPr>
          <p:cNvPr id="30" name="TextBox 29"/>
          <p:cNvSpPr txBox="1"/>
          <p:nvPr/>
        </p:nvSpPr>
        <p:spPr>
          <a:xfrm>
            <a:off x="6355080" y="559308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a:t>
            </a:r>
          </a:p>
        </p:txBody>
      </p:sp>
      <p:sp>
        <p:nvSpPr>
          <p:cNvPr id="31" name="Rounded Rectangle 30"/>
          <p:cNvSpPr/>
          <p:nvPr/>
        </p:nvSpPr>
        <p:spPr>
          <a:xfrm>
            <a:off x="7315200" y="566562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315200" y="5665622"/>
            <a:ext cx="2638958"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35870" y="559308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78%</a:t>
            </a:r>
          </a:p>
        </p:txBody>
      </p:sp>
      <p:sp>
        <p:nvSpPr>
          <p:cNvPr id="34" name="Rectangle 33"/>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Patnana 2022; Pei &amp; Chen 2023; Aiem 2017; Walia 2014</a:t>
            </a:r>
          </a:p>
        </p:txBody>
      </p:sp>
      <p:sp>
        <p:nvSpPr>
          <p:cNvPr id="36" name="TextBox 35"/>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KASUS ILUSTRATIF</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Kasus: molar kedua desidui bawah kanan, karies oklusal-distal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11</a:t>
            </a:r>
          </a:p>
        </p:txBody>
      </p:sp>
      <p:sp>
        <p:nvSpPr>
          <p:cNvPr id="7" name="Rounded Rectangle 6">
            <a:hlinkClick action="ppaction://hlinksldjump" r:id="rId5"/>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691640"/>
            <a:ext cx="5486400" cy="1783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10512"/>
            <a:ext cx="5120640" cy="1554480"/>
          </a:xfrm>
          <a:prstGeom prst="rect">
            <a:avLst/>
          </a:prstGeom>
          <a:noFill/>
        </p:spPr>
        <p:txBody>
          <a:bodyPr wrap="square" lIns="0" rIns="0" tIns="0" bIns="0" anchor="t">
            <a:spAutoFit/>
          </a:bodyPr>
          <a:lstStyle/>
          <a:p>
            <a:pPr algn="l">
              <a:lnSpc>
                <a:spcPct val="125000"/>
              </a:lnSpc>
              <a:spcAft>
                <a:spcPts val="0"/>
              </a:spcAft>
            </a:pPr>
            <a:r>
              <a:rPr sz="1019" b="0" i="0">
                <a:solidFill>
                  <a:srgbClr val="47646C"/>
                </a:solidFill>
                <a:latin typeface="Calibri"/>
              </a:rPr>
              <a:t>Anak laki-laki, 7 tahun. Gigi 85, karies oklusal-distal luas.</a:t>
            </a:r>
          </a:p>
          <a:p>
            <a:pPr algn="l">
              <a:lnSpc>
                <a:spcPct val="125000"/>
              </a:lnSpc>
              <a:spcAft>
                <a:spcPts val="0"/>
              </a:spcAft>
            </a:pPr>
            <a:r>
              <a:rPr sz="1019" b="0" i="0">
                <a:solidFill>
                  <a:srgbClr val="47646C"/>
                </a:solidFill>
                <a:latin typeface="Calibri"/>
              </a:rPr>
              <a:t>Tidak ada nyeri spontan, swelling, atau fistula. Vital, perkusi negatif.</a:t>
            </a:r>
          </a:p>
          <a:p>
            <a:pPr algn="l">
              <a:lnSpc>
                <a:spcPct val="125000"/>
              </a:lnSpc>
              <a:spcAft>
                <a:spcPts val="0"/>
              </a:spcAft>
            </a:pPr>
            <a:r>
              <a:rPr sz="1019" b="0" i="0">
                <a:solidFill>
                  <a:srgbClr val="47646C"/>
                </a:solidFill>
                <a:latin typeface="Calibri"/>
              </a:rPr>
              <a:t>Radiograf: lesi mendekati pulpa dengan dentine bridge terlihat.</a:t>
            </a:r>
          </a:p>
        </p:txBody>
      </p:sp>
      <p:pic>
        <p:nvPicPr>
          <p:cNvPr id="10" name="Picture 9" descr="fig-case-oklusal.jpg"/>
          <p:cNvPicPr>
            <a:picLocks noChangeAspect="1"/>
          </p:cNvPicPr>
          <p:nvPr/>
        </p:nvPicPr>
        <p:blipFill>
          <a:blip r:embed="rId2"/>
          <a:stretch>
            <a:fillRect/>
          </a:stretch>
        </p:blipFill>
        <p:spPr>
          <a:xfrm>
            <a:off x="566928" y="3584448"/>
            <a:ext cx="1896237" cy="1444752"/>
          </a:xfrm>
          <a:prstGeom prst="rect">
            <a:avLst/>
          </a:prstGeom>
        </p:spPr>
      </p:pic>
      <p:sp>
        <p:nvSpPr>
          <p:cNvPr id="11" name="TextBox 10"/>
          <p:cNvSpPr txBox="1"/>
          <p:nvPr/>
        </p:nvSpPr>
        <p:spPr>
          <a:xfrm>
            <a:off x="566928" y="5084064"/>
            <a:ext cx="2304288" cy="402336"/>
          </a:xfrm>
          <a:prstGeom prst="rect">
            <a:avLst/>
          </a:prstGeom>
          <a:noFill/>
        </p:spPr>
        <p:txBody>
          <a:bodyPr wrap="square" lIns="0" rIns="0" tIns="0" bIns="0" anchor="t">
            <a:spAutoFit/>
          </a:bodyPr>
          <a:lstStyle/>
          <a:p>
            <a:pPr algn="l">
              <a:lnSpc>
                <a:spcPct val="105000"/>
              </a:lnSpc>
              <a:spcAft>
                <a:spcPts val="0"/>
              </a:spcAft>
            </a:pPr>
            <a:r>
              <a:rPr sz="760" b="0" i="0">
                <a:solidFill>
                  <a:srgbClr val="47646C"/>
                </a:solidFill>
                <a:latin typeface="Calibri"/>
              </a:rPr>
              <a:t>Pandangan oklusal: karies oklusal-distal, dinding mesial utuh.</a:t>
            </a:r>
          </a:p>
        </p:txBody>
      </p:sp>
      <p:pic>
        <p:nvPicPr>
          <p:cNvPr id="12" name="Picture 11" descr="fig-case-bitewing.jpg"/>
          <p:cNvPicPr>
            <a:picLocks noChangeAspect="1"/>
          </p:cNvPicPr>
          <p:nvPr/>
        </p:nvPicPr>
        <p:blipFill>
          <a:blip r:embed="rId3"/>
          <a:stretch>
            <a:fillRect/>
          </a:stretch>
        </p:blipFill>
        <p:spPr>
          <a:xfrm>
            <a:off x="2962656" y="3584448"/>
            <a:ext cx="1896237" cy="1444752"/>
          </a:xfrm>
          <a:prstGeom prst="rect">
            <a:avLst/>
          </a:prstGeom>
        </p:spPr>
      </p:pic>
      <p:sp>
        <p:nvSpPr>
          <p:cNvPr id="13" name="TextBox 12"/>
          <p:cNvSpPr txBox="1"/>
          <p:nvPr/>
        </p:nvSpPr>
        <p:spPr>
          <a:xfrm>
            <a:off x="2962656" y="5084064"/>
            <a:ext cx="2304288" cy="402336"/>
          </a:xfrm>
          <a:prstGeom prst="rect">
            <a:avLst/>
          </a:prstGeom>
          <a:noFill/>
        </p:spPr>
        <p:txBody>
          <a:bodyPr wrap="square" lIns="0" rIns="0" tIns="0" bIns="0" anchor="t">
            <a:spAutoFit/>
          </a:bodyPr>
          <a:lstStyle/>
          <a:p>
            <a:pPr algn="l">
              <a:lnSpc>
                <a:spcPct val="105000"/>
              </a:lnSpc>
              <a:spcAft>
                <a:spcPts val="0"/>
              </a:spcAft>
            </a:pPr>
            <a:r>
              <a:rPr sz="760" b="0" i="0">
                <a:solidFill>
                  <a:srgbClr val="47646C"/>
                </a:solidFill>
                <a:latin typeface="Calibri"/>
              </a:rPr>
              <a:t>Skema bitewing: lesi mendekati pulpa, dentine bridge terlihat.</a:t>
            </a:r>
          </a:p>
        </p:txBody>
      </p:sp>
      <p:sp>
        <p:nvSpPr>
          <p:cNvPr id="14" name="TextBox 13"/>
          <p:cNvSpPr txBox="1"/>
          <p:nvPr/>
        </p:nvSpPr>
        <p:spPr>
          <a:xfrm>
            <a:off x="566928" y="5541264"/>
            <a:ext cx="5394960" cy="274320"/>
          </a:xfrm>
          <a:prstGeom prst="rect">
            <a:avLst/>
          </a:prstGeom>
          <a:noFill/>
        </p:spPr>
        <p:txBody>
          <a:bodyPr wrap="square" lIns="0" rIns="0" tIns="0" bIns="0" anchor="t">
            <a:spAutoFit/>
          </a:bodyPr>
          <a:lstStyle/>
          <a:p>
            <a:pPr algn="l">
              <a:lnSpc>
                <a:spcPct val="112000"/>
              </a:lnSpc>
              <a:spcAft>
                <a:spcPts val="0"/>
              </a:spcAft>
            </a:pPr>
            <a:r>
              <a:rPr sz="760" b="0" i="0">
                <a:solidFill>
                  <a:srgbClr val="7D8F93"/>
                </a:solidFill>
                <a:latin typeface="Calibri"/>
              </a:rPr>
              <a:t>Data fiktif. Gambar ini ilustrasi skematik, bukan foto atau radiograf pasien.</a:t>
            </a:r>
          </a:p>
        </p:txBody>
      </p:sp>
      <p:sp>
        <p:nvSpPr>
          <p:cNvPr id="15" name="TextBox 14"/>
          <p:cNvSpPr txBox="1"/>
          <p:nvPr/>
        </p:nvSpPr>
        <p:spPr>
          <a:xfrm>
            <a:off x="6355080" y="169164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1. Apa keputusan Anda?</a:t>
            </a:r>
          </a:p>
        </p:txBody>
      </p:sp>
      <p:sp>
        <p:nvSpPr>
          <p:cNvPr id="16" name="Rounded Rectangle 15"/>
          <p:cNvSpPr/>
          <p:nvPr/>
        </p:nvSpPr>
        <p:spPr>
          <a:xfrm>
            <a:off x="6355080" y="20299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1031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konvensional dengan anestesi</a:t>
            </a:r>
          </a:p>
        </p:txBody>
      </p:sp>
      <p:sp>
        <p:nvSpPr>
          <p:cNvPr id="18" name="Rounded Rectangle 17"/>
          <p:cNvSpPr/>
          <p:nvPr/>
        </p:nvSpPr>
        <p:spPr>
          <a:xfrm>
            <a:off x="6355080" y="24871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25603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Komposit dua permukaan</a:t>
            </a:r>
          </a:p>
        </p:txBody>
      </p:sp>
      <p:sp>
        <p:nvSpPr>
          <p:cNvPr id="20" name="Rounded Rectangle 19"/>
          <p:cNvSpPr/>
          <p:nvPr/>
        </p:nvSpPr>
        <p:spPr>
          <a:xfrm>
            <a:off x="6355080" y="29443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30175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Pulpotomi lalu SSC</a:t>
            </a:r>
          </a:p>
        </p:txBody>
      </p:sp>
      <p:sp>
        <p:nvSpPr>
          <p:cNvPr id="22" name="TextBox 21"/>
          <p:cNvSpPr txBox="1"/>
          <p:nvPr/>
        </p:nvSpPr>
        <p:spPr>
          <a:xfrm>
            <a:off x="6355080" y="347472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2. Crown belum duduk merata saat try-in</a:t>
            </a:r>
          </a:p>
        </p:txBody>
      </p:sp>
      <p:sp>
        <p:nvSpPr>
          <p:cNvPr id="23" name="TextBox 22"/>
          <p:cNvSpPr txBox="1"/>
          <p:nvPr/>
        </p:nvSpPr>
        <p:spPr>
          <a:xfrm>
            <a:off x="6355080" y="3767328"/>
            <a:ext cx="5212080" cy="27432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Tepi servikal terangkat di distal. Apa langkah berikutnya?</a:t>
            </a:r>
          </a:p>
        </p:txBody>
      </p:sp>
      <p:sp>
        <p:nvSpPr>
          <p:cNvPr id="24" name="Rounded Rectangle 23"/>
          <p:cNvSpPr/>
          <p:nvPr/>
        </p:nvSpPr>
        <p:spPr>
          <a:xfrm>
            <a:off x="6355080" y="40690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41422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Tekan dengan bite stick sampai duduk</a:t>
            </a:r>
          </a:p>
        </p:txBody>
      </p:sp>
      <p:sp>
        <p:nvSpPr>
          <p:cNvPr id="26" name="Rounded Rectangle 25"/>
          <p:cNvSpPr/>
          <p:nvPr/>
        </p:nvSpPr>
        <p:spPr>
          <a:xfrm>
            <a:off x="6355080" y="45262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45994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Periksa ledge dan sisa kontak distal</a:t>
            </a:r>
          </a:p>
        </p:txBody>
      </p:sp>
      <p:sp>
        <p:nvSpPr>
          <p:cNvPr id="28" name="Rounded Rectangle 27"/>
          <p:cNvSpPr/>
          <p:nvPr/>
        </p:nvSpPr>
        <p:spPr>
          <a:xfrm>
            <a:off x="6355080" y="49834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50566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Ganti crown satu ukuran lebih besar</a:t>
            </a:r>
          </a:p>
        </p:txBody>
      </p:sp>
      <p:sp>
        <p:nvSpPr>
          <p:cNvPr id="30" name="TextBox 29"/>
          <p:cNvSpPr txBox="1"/>
          <p:nvPr/>
        </p:nvSpPr>
        <p:spPr>
          <a:xfrm>
            <a:off x="6355080" y="5532120"/>
            <a:ext cx="5212080" cy="45720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Jawaban dan alasan ada di catatan pembicara versi ini.</a:t>
            </a:r>
          </a:p>
        </p:txBody>
      </p:sp>
      <p:sp>
        <p:nvSpPr>
          <p:cNvPr id="31" name="Rectangle 3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SDCEP 2025; Randall 2002</a:t>
            </a:r>
          </a:p>
        </p:txBody>
      </p:sp>
      <p:sp>
        <p:nvSpPr>
          <p:cNvPr id="33" name="TextBox 3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KUIS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Lima soal menguji keputusan saat komplikasi muncul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12</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0240"/>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1. Molar desidui, karies oklusal-distal luas, gigi vital tanpa nyeri spontan. Restorasi mana yang paling tepat?</a:t>
            </a:r>
          </a:p>
        </p:txBody>
      </p:sp>
      <p:sp>
        <p:nvSpPr>
          <p:cNvPr id="10" name="Rounded Rectangle 9"/>
          <p:cNvSpPr/>
          <p:nvPr/>
        </p:nvSpPr>
        <p:spPr>
          <a:xfrm>
            <a:off x="566928" y="2523744"/>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06624"/>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2. Pada molar desidui, berapa reduksi oklusal yang dianjurkan UK guideline?</a:t>
            </a:r>
          </a:p>
        </p:txBody>
      </p:sp>
      <p:sp>
        <p:nvSpPr>
          <p:cNvPr id="12" name="Rounded Rectangle 11"/>
          <p:cNvSpPr/>
          <p:nvPr/>
        </p:nvSpPr>
        <p:spPr>
          <a:xfrm>
            <a:off x="566928" y="3310128"/>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493008"/>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3. Crown tidak duduk, ada ledge. Apa langkah berikutnya?</a:t>
            </a:r>
          </a:p>
        </p:txBody>
      </p:sp>
      <p:sp>
        <p:nvSpPr>
          <p:cNvPr id="14" name="Rounded Rectangle 13"/>
          <p:cNvSpPr/>
          <p:nvPr/>
        </p:nvSpPr>
        <p:spPr>
          <a:xfrm>
            <a:off x="566928" y="4096512"/>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279392"/>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4. Apa yang paling menentukan retensi jangka panjang?</a:t>
            </a:r>
          </a:p>
        </p:txBody>
      </p:sp>
      <p:sp>
        <p:nvSpPr>
          <p:cNvPr id="16" name="Rounded Rectangle 15"/>
          <p:cNvSpPr/>
          <p:nvPr/>
        </p:nvSpPr>
        <p:spPr>
          <a:xfrm>
            <a:off x="566928" y="4882896"/>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65776"/>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5. Anak dengan MIH berat pada molar pertama permanen: perawatan dengan bukti terkuat?</a:t>
            </a:r>
          </a:p>
        </p:txBody>
      </p:sp>
      <p:sp>
        <p:nvSpPr>
          <p:cNvPr id="18" name="TextBox 17"/>
          <p:cNvSpPr txBox="1"/>
          <p:nvPr/>
        </p:nvSpPr>
        <p:spPr>
          <a:xfrm>
            <a:off x="566928" y="5669280"/>
            <a:ext cx="105156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Kunci jawaban: 1 SSC konvensional, 2 reduksi 1,0–1,5 mm, 3 periksa ledge dan sisa kontak, 4 kontur dan crimping margin, 5 SSC.</a:t>
            </a:r>
          </a:p>
        </p:txBody>
      </p:sp>
      <p:sp>
        <p:nvSpPr>
          <p:cNvPr id="19" name="Rectangle 1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2024; Farias 2022; Randall 2002</a:t>
            </a:r>
          </a:p>
        </p:txBody>
      </p:sp>
      <p:sp>
        <p:nvSpPr>
          <p:cNvPr id="21" name="TextBox 2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PENUTUP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Tiga hal yang harus diingat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20240"/>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1</a:t>
            </a:r>
          </a:p>
        </p:txBody>
      </p:sp>
      <p:sp>
        <p:nvSpPr>
          <p:cNvPr id="10" name="TextBox 9"/>
          <p:cNvSpPr txBox="1"/>
          <p:nvPr/>
        </p:nvSpPr>
        <p:spPr>
          <a:xfrm>
            <a:off x="1435607" y="1874519"/>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SSC menutup seluruh permukaan gigi</a:t>
            </a:r>
          </a:p>
        </p:txBody>
      </p:sp>
      <p:sp>
        <p:nvSpPr>
          <p:cNvPr id="11" name="TextBox 10"/>
          <p:cNvSpPr txBox="1"/>
          <p:nvPr/>
        </p:nvSpPr>
        <p:spPr>
          <a:xfrm>
            <a:off x="1435607" y="2304288"/>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Retensinya berasal dari margin dan undercut servikal, dan crimping margin lebih menentukan daripada jenis semen.</a:t>
            </a:r>
          </a:p>
        </p:txBody>
      </p:sp>
      <p:sp>
        <p:nvSpPr>
          <p:cNvPr id="12" name="Rounded Rectangle 11"/>
          <p:cNvSpPr/>
          <p:nvPr/>
        </p:nvSpPr>
        <p:spPr>
          <a:xfrm>
            <a:off x="566928" y="3035808"/>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218688"/>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2</a:t>
            </a:r>
          </a:p>
        </p:txBody>
      </p:sp>
      <p:sp>
        <p:nvSpPr>
          <p:cNvPr id="14" name="TextBox 13"/>
          <p:cNvSpPr txBox="1"/>
          <p:nvPr/>
        </p:nvSpPr>
        <p:spPr>
          <a:xfrm>
            <a:off x="1435607" y="3172968"/>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Preparasi menentukan apakah crown duduk</a:t>
            </a:r>
          </a:p>
        </p:txBody>
      </p:sp>
      <p:sp>
        <p:nvSpPr>
          <p:cNvPr id="15" name="TextBox 14"/>
          <p:cNvSpPr txBox="1"/>
          <p:nvPr/>
        </p:nvSpPr>
        <p:spPr>
          <a:xfrm>
            <a:off x="1435607" y="3602736"/>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Kontak proksimal harus putus, line angle dihaluskan, dan margin berada 1 mm di bawah gingiva.</a:t>
            </a:r>
          </a:p>
        </p:txBody>
      </p:sp>
      <p:sp>
        <p:nvSpPr>
          <p:cNvPr id="16" name="Rounded Rectangle 15"/>
          <p:cNvSpPr/>
          <p:nvPr/>
        </p:nvSpPr>
        <p:spPr>
          <a:xfrm>
            <a:off x="566928" y="4334256"/>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4517136"/>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3</a:t>
            </a:r>
          </a:p>
        </p:txBody>
      </p:sp>
      <p:sp>
        <p:nvSpPr>
          <p:cNvPr id="18" name="TextBox 17"/>
          <p:cNvSpPr txBox="1"/>
          <p:nvPr/>
        </p:nvSpPr>
        <p:spPr>
          <a:xfrm>
            <a:off x="1435607" y="4471416"/>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Baca angka sesuai definisinya</a:t>
            </a:r>
          </a:p>
        </p:txBody>
      </p:sp>
      <p:sp>
        <p:nvSpPr>
          <p:cNvPr id="19" name="TextBox 18"/>
          <p:cNvSpPr txBox="1"/>
          <p:nvPr/>
        </p:nvSpPr>
        <p:spPr>
          <a:xfrm>
            <a:off x="1435607" y="4901184"/>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angka gigi yang masih bertahan, dan angka crown yang masih terpasang mengukur hal berbeda.</a:t>
            </a:r>
          </a:p>
        </p:txBody>
      </p:sp>
      <p:sp>
        <p:nvSpPr>
          <p:cNvPr id="20" name="TextBox 19"/>
          <p:cNvSpPr txBox="1"/>
          <p:nvPr/>
        </p:nvSpPr>
        <p:spPr>
          <a:xfrm>
            <a:off x="566928" y="5669280"/>
            <a:ext cx="1051560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Materi edukasi. Keputusan klinis tetap mempertimbangkan kondisi pasien dan fasilitas.</a:t>
            </a:r>
          </a:p>
        </p:txBody>
      </p:sp>
      <p:sp>
        <p:nvSpPr>
          <p:cNvPr id="21" name="Rectangle 2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Innes 2015 Cochrane; Lampl 2025</a:t>
            </a:r>
          </a:p>
        </p:txBody>
      </p:sp>
      <p:sp>
        <p:nvSpPr>
          <p:cNvPr id="23" name="TextBox 2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1–12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14</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 American Academy of Pediatric Dentistry. Pediatric restorative dentistry. Reference Manual. Chicago: AAPD; 2025.</a:t>
            </a:r>
          </a:p>
          <a:p>
            <a:pPr>
              <a:lnSpc>
                <a:spcPct val="100000"/>
              </a:lnSpc>
              <a:spcAft>
                <a:spcPts val="900"/>
              </a:spcAft>
            </a:pPr>
            <a:r>
              <a:rPr sz="900">
                <a:solidFill>
                  <a:srgbClr val="47646C"/>
                </a:solidFill>
                <a:latin typeface="Calibri"/>
              </a:rPr>
              <a:t>2. Kindelan SA, Day P, Nichol R, Willmott N, Fayle SA. UK National Clinical Guidelines: stainless steel preformed crowns for primary molars. Int J Paediatr Dent. 2008;18(Suppl 1):20-28. doi:10.1111/j.1365-263X.2008.00935.x</a:t>
            </a:r>
          </a:p>
          <a:p>
            <a:pPr>
              <a:lnSpc>
                <a:spcPct val="100000"/>
              </a:lnSpc>
              <a:spcAft>
                <a:spcPts val="900"/>
              </a:spcAft>
            </a:pPr>
            <a:r>
              <a:rPr sz="900">
                <a:solidFill>
                  <a:srgbClr val="47646C"/>
                </a:solidFill>
                <a:latin typeface="Calibri"/>
              </a:rPr>
              <a:t>3. Innes NPT, Ricketts D, Chong LY, Keightley AJ, Lamont T, Santamaria RM. Preformed crowns for decayed primary molar teeth. Cochrane Database Syst Rev. 2015;(12):CD005512. doi:10.1002/14651858.CD005512.pub3</a:t>
            </a:r>
          </a:p>
          <a:p>
            <a:pPr>
              <a:lnSpc>
                <a:spcPct val="100000"/>
              </a:lnSpc>
              <a:spcAft>
                <a:spcPts val="900"/>
              </a:spcAft>
            </a:pPr>
            <a:r>
              <a:rPr sz="900">
                <a:solidFill>
                  <a:srgbClr val="47646C"/>
                </a:solidFill>
                <a:latin typeface="Calibri"/>
              </a:rPr>
              <a:t>4. Seale NS. The use of stainless steel crowns. Pediatr Dent. 2002;24(5):501-505. PMID 12412965.</a:t>
            </a:r>
          </a:p>
          <a:p>
            <a:pPr>
              <a:lnSpc>
                <a:spcPct val="100000"/>
              </a:lnSpc>
              <a:spcAft>
                <a:spcPts val="900"/>
              </a:spcAft>
            </a:pPr>
            <a:r>
              <a:rPr sz="900">
                <a:solidFill>
                  <a:srgbClr val="47646C"/>
                </a:solidFill>
                <a:latin typeface="Calibri"/>
              </a:rPr>
              <a:t>5. Randall RC. Preformed metal crowns for primary and permanent molar teeth: review of the literature. Pediatr Dent. 2002;24(5):489-500. PMID 12412964.</a:t>
            </a:r>
          </a:p>
          <a:p>
            <a:pPr>
              <a:lnSpc>
                <a:spcPct val="100000"/>
              </a:lnSpc>
              <a:spcAft>
                <a:spcPts val="900"/>
              </a:spcAft>
            </a:pPr>
            <a:r>
              <a:rPr sz="900">
                <a:solidFill>
                  <a:srgbClr val="47646C"/>
                </a:solidFill>
                <a:latin typeface="Calibri"/>
              </a:rPr>
              <a:t>6. Seale NS, Randall R. The use of stainless steel crowns: a systematic literature review. Pediatr Dent. 2015;37(2):145-160. PMID 25905656.</a:t>
            </a:r>
          </a:p>
          <a:p>
            <a:pPr>
              <a:lnSpc>
                <a:spcPct val="100000"/>
              </a:lnSpc>
              <a:spcAft>
                <a:spcPts val="900"/>
              </a:spcAft>
            </a:pPr>
            <a:r>
              <a:rPr sz="900">
                <a:solidFill>
                  <a:srgbClr val="47646C"/>
                </a:solidFill>
                <a:latin typeface="Calibri"/>
              </a:rPr>
              <a:t>7. Chisini LA, Collares K, Cademartori MG, et al. Restorations in primary teeth: a systematic review on survival and reasons for failures. Int J Paediatr Dent. 2018;28(2):123-139. doi:10.1111/ipd.12346</a:t>
            </a:r>
          </a:p>
          <a:p>
            <a:pPr>
              <a:lnSpc>
                <a:spcPct val="100000"/>
              </a:lnSpc>
              <a:spcAft>
                <a:spcPts val="900"/>
              </a:spcAft>
            </a:pPr>
            <a:r>
              <a:rPr sz="900">
                <a:solidFill>
                  <a:srgbClr val="47646C"/>
                </a:solidFill>
                <a:latin typeface="Calibri"/>
              </a:rPr>
              <a:t>8. Joshi RS, Gokhale NS, Hugar SM, et al. Longevity of stainless steel crowns on primary molars: systematic review and meta-analysis. J Sci Soc. 2023;50(1):28-38. doi:10.4103/jss.jss_164_22</a:t>
            </a:r>
          </a:p>
        </p:txBody>
      </p:sp>
      <p:sp>
        <p:nvSpPr>
          <p:cNvPr id="9" name="TextBox 8"/>
          <p:cNvSpPr txBox="1"/>
          <p:nvPr/>
        </p:nvSpPr>
        <p:spPr>
          <a:xfrm>
            <a:off x="609904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9. Lampl S, Gurunathan D, Mehta D, Jogikalmat K. Reasons for crown failures in primary teeth: systematic review and meta-analysis. Interact J Med Res. 2025;14:e57958. doi:10.2196/57958</a:t>
            </a:r>
          </a:p>
          <a:p>
            <a:pPr>
              <a:lnSpc>
                <a:spcPct val="100000"/>
              </a:lnSpc>
              <a:spcAft>
                <a:spcPts val="900"/>
              </a:spcAft>
            </a:pPr>
            <a:r>
              <a:rPr sz="900">
                <a:solidFill>
                  <a:srgbClr val="47646C"/>
                </a:solidFill>
                <a:latin typeface="Calibri"/>
              </a:rPr>
              <a:t>10. Farias L, Campos MS, Dantas L, et al. Survival of stainless-steel crowns and composite resin restorations in molars affected by MIH. Int J Paediatr Dent. 2022;32(2):240-250. doi:10.1111/ipd.12849</a:t>
            </a:r>
          </a:p>
          <a:p>
            <a:pPr>
              <a:lnSpc>
                <a:spcPct val="100000"/>
              </a:lnSpc>
              <a:spcAft>
                <a:spcPts val="900"/>
              </a:spcAft>
            </a:pPr>
            <a:r>
              <a:rPr sz="900">
                <a:solidFill>
                  <a:srgbClr val="47646C"/>
                </a:solidFill>
                <a:latin typeface="Calibri"/>
              </a:rPr>
              <a:t>11. Chaipattanawan N, et al. Longevity of stainless steel crowns as interim restorations on young permanent first molars after vital pulp therapy. Int J Paediatr Dent. 2022;32(6):925-937. doi:10.1111/ipd.12971</a:t>
            </a:r>
          </a:p>
          <a:p>
            <a:pPr>
              <a:lnSpc>
                <a:spcPct val="100000"/>
              </a:lnSpc>
              <a:spcAft>
                <a:spcPts val="900"/>
              </a:spcAft>
            </a:pPr>
            <a:r>
              <a:rPr sz="900">
                <a:solidFill>
                  <a:srgbClr val="47646C"/>
                </a:solidFill>
                <a:latin typeface="Calibri"/>
              </a:rPr>
              <a:t>12. AAPD. Molar-incisor hypomineralization. Reference Manual. Chicago: AAPD; 2025.</a:t>
            </a:r>
          </a:p>
        </p:txBody>
      </p:sp>
      <p:sp>
        <p:nvSpPr>
          <p:cNvPr id="10" name="Rectangle 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2" name="TextBox 1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13–28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13. AAPD. Use of local anesthesia for pediatric dental patients. Reference Manual. Chicago: AAPD; 2025.</a:t>
            </a:r>
          </a:p>
          <a:p>
            <a:pPr>
              <a:lnSpc>
                <a:spcPct val="100000"/>
              </a:lnSpc>
              <a:spcAft>
                <a:spcPts val="900"/>
              </a:spcAft>
            </a:pPr>
            <a:r>
              <a:rPr sz="900">
                <a:solidFill>
                  <a:srgbClr val="47646C"/>
                </a:solidFill>
                <a:latin typeface="Calibri"/>
              </a:rPr>
              <a:t>14. AAPD. Behavior guidance for the pediatric dental patient. Reference Manual. Chicago: AAPD; 2025.</a:t>
            </a:r>
          </a:p>
          <a:p>
            <a:pPr>
              <a:lnSpc>
                <a:spcPct val="100000"/>
              </a:lnSpc>
              <a:spcAft>
                <a:spcPts val="900"/>
              </a:spcAft>
            </a:pPr>
            <a:r>
              <a:rPr sz="900">
                <a:solidFill>
                  <a:srgbClr val="47646C"/>
                </a:solidFill>
                <a:latin typeface="Calibri"/>
              </a:rPr>
              <a:t>15. AAPD. Informed consent. Reference Manual. Chicago: AAPD; 2025.</a:t>
            </a:r>
          </a:p>
          <a:p>
            <a:pPr>
              <a:lnSpc>
                <a:spcPct val="100000"/>
              </a:lnSpc>
              <a:spcAft>
                <a:spcPts val="900"/>
              </a:spcAft>
            </a:pPr>
            <a:r>
              <a:rPr sz="900">
                <a:solidFill>
                  <a:srgbClr val="47646C"/>
                </a:solidFill>
                <a:latin typeface="Calibri"/>
              </a:rPr>
              <a:t>16. American Academy of Pediatric Dentistry. Caries-risk assessment and management for infants, children, and adolescents. Reference Manual. Chicago: AAPD; 2025.</a:t>
            </a:r>
          </a:p>
          <a:p>
            <a:pPr>
              <a:lnSpc>
                <a:spcPct val="100000"/>
              </a:lnSpc>
              <a:spcAft>
                <a:spcPts val="900"/>
              </a:spcAft>
            </a:pPr>
            <a:r>
              <a:rPr sz="900">
                <a:solidFill>
                  <a:srgbClr val="47646C"/>
                </a:solidFill>
                <a:latin typeface="Calibri"/>
              </a:rPr>
              <a:t>17. Scottish Dental Clinical Effectiveness Programme. Prevention and management of dental caries in children. 3rd ed. Dundee: SDCEP; 2025.</a:t>
            </a:r>
          </a:p>
          <a:p>
            <a:pPr>
              <a:lnSpc>
                <a:spcPct val="100000"/>
              </a:lnSpc>
              <a:spcAft>
                <a:spcPts val="900"/>
              </a:spcAft>
            </a:pPr>
            <a:r>
              <a:rPr sz="900">
                <a:solidFill>
                  <a:srgbClr val="47646C"/>
                </a:solidFill>
                <a:latin typeface="Calibri"/>
              </a:rPr>
              <a:t>18. Amlani DV, Brizuela M. Stainless steel crowns in primary dentition. StatPearls. Treasure Island: StatPearls Publishing; 2023. PMID 34662061.</a:t>
            </a:r>
          </a:p>
          <a:p>
            <a:pPr>
              <a:lnSpc>
                <a:spcPct val="100000"/>
              </a:lnSpc>
              <a:spcAft>
                <a:spcPts val="900"/>
              </a:spcAft>
            </a:pPr>
            <a:r>
              <a:rPr sz="900">
                <a:solidFill>
                  <a:srgbClr val="47646C"/>
                </a:solidFill>
                <a:latin typeface="Calibri"/>
              </a:rPr>
              <a:t>19. Virupaxi S, Pai R, Mandroli P. Retentive strength of luting cements for stainless steel crowns: a systematic review. J Indian Soc Pedod Prev Dent. 2020;38(1):2-7. doi:10.4103/JISPPD.JISPPD_313_19</a:t>
            </a:r>
          </a:p>
          <a:p>
            <a:pPr>
              <a:lnSpc>
                <a:spcPct val="100000"/>
              </a:lnSpc>
              <a:spcAft>
                <a:spcPts val="900"/>
              </a:spcAft>
            </a:pPr>
            <a:r>
              <a:rPr sz="900">
                <a:solidFill>
                  <a:srgbClr val="47646C"/>
                </a:solidFill>
                <a:latin typeface="Calibri"/>
              </a:rPr>
              <a:t>20. Patnana AK, Chugh VK, Chugh A, Vanga NRV, Kumar P. Effectiveness of zirconia crowns compared with stainless steel crowns in primary posterior teeth: systematic review and meta-analysis. J Am Dent Assoc. 2022;153(2):158-166.e5. doi:10.1016/j.adaj.2021.08.005</a:t>
            </a:r>
          </a:p>
        </p:txBody>
      </p:sp>
      <p:sp>
        <p:nvSpPr>
          <p:cNvPr id="9" name="TextBox 8"/>
          <p:cNvSpPr txBox="1"/>
          <p:nvPr/>
        </p:nvSpPr>
        <p:spPr>
          <a:xfrm>
            <a:off x="427024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21. Pei SL, Chen MH. Comparison of periodontal health of primary teeth restored with zirconia and stainless steel crowns: systematic review and meta-analysis. J Formos Med Assoc. 2023;122(2):148-156. doi:10.1016/j.jfma.2022.08.015</a:t>
            </a:r>
          </a:p>
          <a:p>
            <a:pPr>
              <a:lnSpc>
                <a:spcPct val="100000"/>
              </a:lnSpc>
              <a:spcAft>
                <a:spcPts val="900"/>
              </a:spcAft>
            </a:pPr>
            <a:r>
              <a:rPr sz="900">
                <a:solidFill>
                  <a:srgbClr val="47646C"/>
                </a:solidFill>
                <a:latin typeface="Calibri"/>
              </a:rPr>
              <a:t>22. Aiem E, Smaïl-Faugeron V, Muller-Bolla M. Aesthetic preformed paediatric crowns: systematic review. Int J Paediatr Dent. 2017;27(4):273-282. doi:10.1111/ipd.12260</a:t>
            </a:r>
          </a:p>
          <a:p>
            <a:pPr>
              <a:lnSpc>
                <a:spcPct val="100000"/>
              </a:lnSpc>
              <a:spcAft>
                <a:spcPts val="900"/>
              </a:spcAft>
            </a:pPr>
            <a:r>
              <a:rPr sz="900">
                <a:solidFill>
                  <a:srgbClr val="47646C"/>
                </a:solidFill>
                <a:latin typeface="Calibri"/>
              </a:rPr>
              <a:t>23. Walia T, Salami AA, Bashiri R, Hamoodi OM, Rashid F. A randomised controlled trial of three aesthetic full-coronal restorations in primary maxillary teeth. Eur J Paediatr Dent. 2014;15(2):113-118. PMID 25102458.</a:t>
            </a:r>
          </a:p>
          <a:p>
            <a:pPr>
              <a:lnSpc>
                <a:spcPct val="100000"/>
              </a:lnSpc>
              <a:spcAft>
                <a:spcPts val="900"/>
              </a:spcAft>
            </a:pPr>
            <a:r>
              <a:rPr sz="900">
                <a:solidFill>
                  <a:srgbClr val="47646C"/>
                </a:solidFill>
                <a:latin typeface="Calibri"/>
              </a:rPr>
              <a:t>24. Ahlström MG, Thyssen JP, Wennervaldt M, Menné T, Johansen JD. Nickel allergy and allergic contact dermatitis. Contact Dermatitis. 2019;81(4):227-241. doi:10.1111/cod.13327</a:t>
            </a:r>
          </a:p>
          <a:p>
            <a:pPr>
              <a:lnSpc>
                <a:spcPct val="100000"/>
              </a:lnSpc>
              <a:spcAft>
                <a:spcPts val="900"/>
              </a:spcAft>
            </a:pPr>
            <a:r>
              <a:rPr sz="900">
                <a:solidFill>
                  <a:srgbClr val="47646C"/>
                </a:solidFill>
                <a:latin typeface="Calibri"/>
              </a:rPr>
              <a:t>25. Kementerian Kesehatan RI. Laporan Nasional Riskesdas 2018. Jakarta: Badan Litbangkes; 2019.</a:t>
            </a:r>
          </a:p>
          <a:p>
            <a:pPr>
              <a:lnSpc>
                <a:spcPct val="100000"/>
              </a:lnSpc>
              <a:spcAft>
                <a:spcPts val="900"/>
              </a:spcAft>
            </a:pPr>
            <a:r>
              <a:rPr sz="900">
                <a:solidFill>
                  <a:srgbClr val="47646C"/>
                </a:solidFill>
                <a:latin typeface="Calibri"/>
              </a:rPr>
              <a:t>26. Kementerian Kesehatan RI. Survei Kesehatan Indonesia 2023. Jakarta: Kemenkes RI; 2024.</a:t>
            </a:r>
          </a:p>
          <a:p>
            <a:pPr>
              <a:lnSpc>
                <a:spcPct val="100000"/>
              </a:lnSpc>
              <a:spcAft>
                <a:spcPts val="900"/>
              </a:spcAft>
            </a:pPr>
            <a:r>
              <a:rPr sz="900">
                <a:solidFill>
                  <a:srgbClr val="47646C"/>
                </a:solidFill>
                <a:latin typeface="Calibri"/>
              </a:rPr>
              <a:t>27. AAPD. Use of vital pulp therapies in primary teeth with deep caries lesions. Reference Manual. Chicago: AAPD; 2025.</a:t>
            </a:r>
          </a:p>
          <a:p>
            <a:pPr>
              <a:lnSpc>
                <a:spcPct val="100000"/>
              </a:lnSpc>
              <a:spcAft>
                <a:spcPts val="900"/>
              </a:spcAft>
            </a:pPr>
            <a:r>
              <a:rPr sz="900">
                <a:solidFill>
                  <a:srgbClr val="47646C"/>
                </a:solidFill>
                <a:latin typeface="Calibri"/>
              </a:rPr>
              <a:t>28. Miao C, Yang J, Zhu H, et al. Rubber dam isolation for restorative treatment in dental patients. Cochrane Database Syst Rev. 2021;5:CD009858. doi:10.1002/14651858.CD009858.pub3</a:t>
            </a:r>
          </a:p>
        </p:txBody>
      </p:sp>
      <p:sp>
        <p:nvSpPr>
          <p:cNvPr id="10" name="TextBox 9"/>
          <p:cNvSpPr txBox="1"/>
          <p:nvPr/>
        </p:nvSpPr>
        <p:spPr>
          <a:xfrm>
            <a:off x="7973567" y="1627632"/>
            <a:ext cx="3520440" cy="4480560"/>
          </a:xfrm>
          <a:prstGeom prst="rect">
            <a:avLst/>
          </a:prstGeom>
          <a:noFill/>
        </p:spPr>
        <p:txBody>
          <a:bodyPr wrap="square" lIns="0" rIns="0" tIns="0" bIns="0">
            <a:spAutoFit/>
          </a:bodyPr>
          <a:lstStyle/>
          <a:p/>
        </p:txBody>
      </p:sp>
      <p:sp>
        <p:nvSpPr>
          <p:cNvPr id="11" name="Rectangle 1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3" name="TextBox 1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LAMPIRAN</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Protokol satu halaman untuk dibawa ke klinik</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16</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SEBELUM TINDAKAN</a:t>
            </a:r>
          </a:p>
        </p:txBody>
      </p:sp>
      <p:sp>
        <p:nvSpPr>
          <p:cNvPr id="9" name="TextBox 8"/>
          <p:cNvSpPr txBox="1"/>
          <p:nvPr/>
        </p:nvSpPr>
        <p:spPr>
          <a:xfrm>
            <a:off x="56692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nyeri dan fistula</a:t>
            </a:r>
          </a:p>
        </p:txBody>
      </p:sp>
      <p:sp>
        <p:nvSpPr>
          <p:cNvPr id="10" name="TextBox 9"/>
          <p:cNvSpPr txBox="1"/>
          <p:nvPr/>
        </p:nvSpPr>
        <p:spPr>
          <a:xfrm>
            <a:off x="56692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medis dan alergi nikel</a:t>
            </a:r>
          </a:p>
        </p:txBody>
      </p:sp>
      <p:sp>
        <p:nvSpPr>
          <p:cNvPr id="11" name="TextBox 10"/>
          <p:cNvSpPr txBox="1"/>
          <p:nvPr/>
        </p:nvSpPr>
        <p:spPr>
          <a:xfrm>
            <a:off x="56692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Karies, pulpa, gingiva, oklusi</a:t>
            </a:r>
          </a:p>
        </p:txBody>
      </p:sp>
      <p:sp>
        <p:nvSpPr>
          <p:cNvPr id="12" name="TextBox 11"/>
          <p:cNvSpPr txBox="1"/>
          <p:nvPr/>
        </p:nvSpPr>
        <p:spPr>
          <a:xfrm>
            <a:off x="56692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dan dentine bridge</a:t>
            </a:r>
          </a:p>
        </p:txBody>
      </p:sp>
      <p:sp>
        <p:nvSpPr>
          <p:cNvPr id="13" name="TextBox 12"/>
          <p:cNvSpPr txBox="1"/>
          <p:nvPr/>
        </p:nvSpPr>
        <p:spPr>
          <a:xfrm>
            <a:off x="56692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Pilih teknik dan ukuran</a:t>
            </a:r>
          </a:p>
        </p:txBody>
      </p:sp>
      <p:sp>
        <p:nvSpPr>
          <p:cNvPr id="14" name="TextBox 13"/>
          <p:cNvSpPr txBox="1"/>
          <p:nvPr/>
        </p:nvSpPr>
        <p:spPr>
          <a:xfrm>
            <a:off x="566928"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Informed consent</a:t>
            </a:r>
          </a:p>
        </p:txBody>
      </p:sp>
      <p:sp>
        <p:nvSpPr>
          <p:cNvPr id="15" name="TextBox 14"/>
          <p:cNvSpPr txBox="1"/>
          <p:nvPr/>
        </p:nvSpPr>
        <p:spPr>
          <a:xfrm>
            <a:off x="566928" y="42062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Rencana behavior guidance</a:t>
            </a:r>
          </a:p>
        </p:txBody>
      </p:sp>
      <p:sp>
        <p:nvSpPr>
          <p:cNvPr id="16" name="TextBox 15"/>
          <p:cNvSpPr txBox="1"/>
          <p:nvPr/>
        </p:nvSpPr>
        <p:spPr>
          <a:xfrm>
            <a:off x="335584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1–5</a:t>
            </a:r>
          </a:p>
        </p:txBody>
      </p:sp>
      <p:sp>
        <p:nvSpPr>
          <p:cNvPr id="17" name="TextBox 16"/>
          <p:cNvSpPr txBox="1"/>
          <p:nvPr/>
        </p:nvSpPr>
        <p:spPr>
          <a:xfrm>
            <a:off x="335584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 Anestesi dan isolasi</a:t>
            </a:r>
          </a:p>
        </p:txBody>
      </p:sp>
      <p:sp>
        <p:nvSpPr>
          <p:cNvPr id="18" name="TextBox 17"/>
          <p:cNvSpPr txBox="1"/>
          <p:nvPr/>
        </p:nvSpPr>
        <p:spPr>
          <a:xfrm>
            <a:off x="335584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2 Ukur dan pilih crown</a:t>
            </a:r>
          </a:p>
        </p:txBody>
      </p:sp>
      <p:sp>
        <p:nvSpPr>
          <p:cNvPr id="19" name="TextBox 18"/>
          <p:cNvSpPr txBox="1"/>
          <p:nvPr/>
        </p:nvSpPr>
        <p:spPr>
          <a:xfrm>
            <a:off x="335584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3 Ekskavasi, pulp therapy</a:t>
            </a:r>
          </a:p>
        </p:txBody>
      </p:sp>
      <p:sp>
        <p:nvSpPr>
          <p:cNvPr id="20" name="TextBox 19"/>
          <p:cNvSpPr txBox="1"/>
          <p:nvPr/>
        </p:nvSpPr>
        <p:spPr>
          <a:xfrm>
            <a:off x="335584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4 Reduksi oklusal 1,0–1,5 mm</a:t>
            </a:r>
          </a:p>
        </p:txBody>
      </p:sp>
      <p:sp>
        <p:nvSpPr>
          <p:cNvPr id="21" name="TextBox 20"/>
          <p:cNvSpPr txBox="1"/>
          <p:nvPr/>
        </p:nvSpPr>
        <p:spPr>
          <a:xfrm>
            <a:off x="335584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5 Reduksi proksimal, feather edge</a:t>
            </a:r>
          </a:p>
        </p:txBody>
      </p:sp>
      <p:sp>
        <p:nvSpPr>
          <p:cNvPr id="22" name="TextBox 21"/>
          <p:cNvSpPr txBox="1"/>
          <p:nvPr/>
        </p:nvSpPr>
        <p:spPr>
          <a:xfrm>
            <a:off x="614476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6–10</a:t>
            </a:r>
          </a:p>
        </p:txBody>
      </p:sp>
      <p:sp>
        <p:nvSpPr>
          <p:cNvPr id="23" name="TextBox 22"/>
          <p:cNvSpPr txBox="1"/>
          <p:nvPr/>
        </p:nvSpPr>
        <p:spPr>
          <a:xfrm>
            <a:off x="614476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6 Haluskan line angle</a:t>
            </a:r>
          </a:p>
        </p:txBody>
      </p:sp>
      <p:sp>
        <p:nvSpPr>
          <p:cNvPr id="24" name="TextBox 23"/>
          <p:cNvSpPr txBox="1"/>
          <p:nvPr/>
        </p:nvSpPr>
        <p:spPr>
          <a:xfrm>
            <a:off x="614476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7 Try-in</a:t>
            </a:r>
          </a:p>
        </p:txBody>
      </p:sp>
      <p:sp>
        <p:nvSpPr>
          <p:cNvPr id="25" name="TextBox 24"/>
          <p:cNvSpPr txBox="1"/>
          <p:nvPr/>
        </p:nvSpPr>
        <p:spPr>
          <a:xfrm>
            <a:off x="614476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8 Trim, crimp, contour</a:t>
            </a:r>
          </a:p>
        </p:txBody>
      </p:sp>
      <p:sp>
        <p:nvSpPr>
          <p:cNvPr id="26" name="TextBox 25"/>
          <p:cNvSpPr txBox="1"/>
          <p:nvPr/>
        </p:nvSpPr>
        <p:spPr>
          <a:xfrm>
            <a:off x="614476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9 Sementasi</a:t>
            </a:r>
          </a:p>
        </p:txBody>
      </p:sp>
      <p:sp>
        <p:nvSpPr>
          <p:cNvPr id="27" name="TextBox 26"/>
          <p:cNvSpPr txBox="1"/>
          <p:nvPr/>
        </p:nvSpPr>
        <p:spPr>
          <a:xfrm>
            <a:off x="614476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10 Cek akhir dan instruksi</a:t>
            </a:r>
          </a:p>
        </p:txBody>
      </p:sp>
      <p:sp>
        <p:nvSpPr>
          <p:cNvPr id="28" name="TextBox 27"/>
          <p:cNvSpPr txBox="1"/>
          <p:nvPr/>
        </p:nvSpPr>
        <p:spPr>
          <a:xfrm>
            <a:off x="8933687"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PREPARASI, KONTROL, KEGAGALAN</a:t>
            </a:r>
          </a:p>
        </p:txBody>
      </p:sp>
      <p:sp>
        <p:nvSpPr>
          <p:cNvPr id="29" name="TextBox 28"/>
          <p:cNvSpPr txBox="1"/>
          <p:nvPr/>
        </p:nvSpPr>
        <p:spPr>
          <a:xfrm>
            <a:off x="8933687"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Kontak proksimal putus</a:t>
            </a:r>
          </a:p>
        </p:txBody>
      </p:sp>
      <p:sp>
        <p:nvSpPr>
          <p:cNvPr id="30" name="TextBox 29"/>
          <p:cNvSpPr txBox="1"/>
          <p:nvPr/>
        </p:nvSpPr>
        <p:spPr>
          <a:xfrm>
            <a:off x="8933687"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Line angle dihaluskan</a:t>
            </a:r>
          </a:p>
        </p:txBody>
      </p:sp>
      <p:sp>
        <p:nvSpPr>
          <p:cNvPr id="31" name="TextBox 30"/>
          <p:cNvSpPr txBox="1"/>
          <p:nvPr/>
        </p:nvSpPr>
        <p:spPr>
          <a:xfrm>
            <a:off x="8933687"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Margin 1 mm di bawah gingiva</a:t>
            </a:r>
          </a:p>
        </p:txBody>
      </p:sp>
      <p:sp>
        <p:nvSpPr>
          <p:cNvPr id="32" name="TextBox 31"/>
          <p:cNvSpPr txBox="1"/>
          <p:nvPr/>
        </p:nvSpPr>
        <p:spPr>
          <a:xfrm>
            <a:off x="8933687"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Kontrol 6 bulan</a:t>
            </a:r>
          </a:p>
        </p:txBody>
      </p:sp>
      <p:sp>
        <p:nvSpPr>
          <p:cNvPr id="33" name="TextBox 32"/>
          <p:cNvSpPr txBox="1"/>
          <p:nvPr/>
        </p:nvSpPr>
        <p:spPr>
          <a:xfrm>
            <a:off x="8933687"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6–12 bulan</a:t>
            </a:r>
          </a:p>
        </p:txBody>
      </p:sp>
      <p:sp>
        <p:nvSpPr>
          <p:cNvPr id="34" name="TextBox 33"/>
          <p:cNvSpPr txBox="1"/>
          <p:nvPr/>
        </p:nvSpPr>
        <p:spPr>
          <a:xfrm>
            <a:off x="8933687"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Berhasil, gagal minor, gagal mayor</a:t>
            </a:r>
          </a:p>
        </p:txBody>
      </p:sp>
      <p:sp>
        <p:nvSpPr>
          <p:cNvPr id="35" name="Rounded Rectangle 34"/>
          <p:cNvSpPr/>
          <p:nvPr/>
        </p:nvSpPr>
        <p:spPr>
          <a:xfrm>
            <a:off x="56692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980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ANGKA KUNCI</a:t>
            </a:r>
          </a:p>
        </p:txBody>
      </p:sp>
      <p:sp>
        <p:nvSpPr>
          <p:cNvPr id="37" name="TextBox 36"/>
          <p:cNvSpPr txBox="1"/>
          <p:nvPr/>
        </p:nvSpPr>
        <p:spPr>
          <a:xfrm>
            <a:off x="74980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Keberhasilan SSC 96,1% (Chisini 2018)</a:t>
            </a:r>
          </a:p>
        </p:txBody>
      </p:sp>
      <p:sp>
        <p:nvSpPr>
          <p:cNvPr id="38" name="TextBox 37"/>
          <p:cNvSpPr txBox="1"/>
          <p:nvPr/>
        </p:nvSpPr>
        <p:spPr>
          <a:xfrm>
            <a:off x="74980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Gagal mayor: RR 0,18 (Cochrane 2015)</a:t>
            </a:r>
          </a:p>
        </p:txBody>
      </p:sp>
      <p:sp>
        <p:nvSpPr>
          <p:cNvPr id="39" name="TextBox 38"/>
          <p:cNvSpPr txBox="1"/>
          <p:nvPr/>
        </p:nvSpPr>
        <p:spPr>
          <a:xfrm>
            <a:off x="74980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Retensi 5 tahun 97,88% (Lampl 2025)</a:t>
            </a:r>
          </a:p>
        </p:txBody>
      </p:sp>
      <p:sp>
        <p:nvSpPr>
          <p:cNvPr id="40" name="TextBox 39"/>
          <p:cNvSpPr txBox="1"/>
          <p:nvPr/>
        </p:nvSpPr>
        <p:spPr>
          <a:xfrm>
            <a:off x="74980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MIH: SSC 94,4% dan 49,2% (Farias 2022)</a:t>
            </a:r>
          </a:p>
        </p:txBody>
      </p:sp>
      <p:sp>
        <p:nvSpPr>
          <p:cNvPr id="41" name="Rounded Rectangle 40"/>
          <p:cNvSpPr/>
          <p:nvPr/>
        </p:nvSpPr>
        <p:spPr>
          <a:xfrm>
            <a:off x="614476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2764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KOMPLIKASI DAN TINDAKAN</a:t>
            </a:r>
          </a:p>
        </p:txBody>
      </p:sp>
      <p:sp>
        <p:nvSpPr>
          <p:cNvPr id="43" name="TextBox 42"/>
          <p:cNvSpPr txBox="1"/>
          <p:nvPr/>
        </p:nvSpPr>
        <p:spPr>
          <a:xfrm>
            <a:off x="632764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Longgar: pilih ukuran lebih kecil, crimp ulang</a:t>
            </a:r>
          </a:p>
        </p:txBody>
      </p:sp>
      <p:sp>
        <p:nvSpPr>
          <p:cNvPr id="44" name="TextBox 43"/>
          <p:cNvSpPr txBox="1"/>
          <p:nvPr/>
        </p:nvSpPr>
        <p:spPr>
          <a:xfrm>
            <a:off x="632764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Tidak duduk: periksa ledge dan sisa kontak</a:t>
            </a:r>
          </a:p>
        </p:txBody>
      </p:sp>
      <p:sp>
        <p:nvSpPr>
          <p:cNvPr id="45" name="TextBox 44"/>
          <p:cNvSpPr txBox="1"/>
          <p:nvPr/>
        </p:nvSpPr>
        <p:spPr>
          <a:xfrm>
            <a:off x="632764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Perforasi: ganti crown</a:t>
            </a:r>
          </a:p>
        </p:txBody>
      </p:sp>
      <p:sp>
        <p:nvSpPr>
          <p:cNvPr id="46" name="TextBox 45"/>
          <p:cNvSpPr txBox="1"/>
          <p:nvPr/>
        </p:nvSpPr>
        <p:spPr>
          <a:xfrm>
            <a:off x="632764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Lepas: sementasi ulang bila crown intak</a:t>
            </a:r>
          </a:p>
        </p:txBody>
      </p:sp>
      <p:sp>
        <p:nvSpPr>
          <p:cNvPr id="47" name="TextBox 46"/>
          <p:cNvSpPr txBox="1"/>
          <p:nvPr/>
        </p:nvSpPr>
        <p:spPr>
          <a:xfrm>
            <a:off x="566928" y="5760720"/>
            <a:ext cx="10607040" cy="32004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Protokol lengkap: protokol_klinis.md. Angka dan DOI: research_notes.md.</a:t>
            </a:r>
          </a:p>
        </p:txBody>
      </p:sp>
      <p:sp>
        <p:nvSpPr>
          <p:cNvPr id="48" name="Rectangle 47"/>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2025; SDCEP 2025; Lampl 2025</a:t>
            </a:r>
          </a:p>
        </p:txBody>
      </p:sp>
      <p:sp>
        <p:nvSpPr>
          <p:cNvPr id="50" name="TextBox 49"/>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